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been brought into mandatory use in phases, and the position has changed more than once. Rather than assert a status from the platform, tell them to check the Commission's EUDAMED pages for which modules are mandatory as of the day they are planning — and say that is what you did in preparing this.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government has said it will consult on indefinite recognition of CE marking. So the honest advice for a manufacturer with an MDR route is: do not spend on UKCA now; register, appoint an RP, and watch.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Jurisdiction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Classification system</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What a US “Class II” device typically becomes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United States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European Union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Great Britain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056" b="1" dirty="0">
                          <a:solidFill>
                            <a:srgbClr val="FFFFFF"/>
                          </a:solidFill>
                          <a:latin typeface="Calibri" pitchFamily="34" charset="0"/>
                          <a:ea typeface="Calibri" pitchFamily="34" charset="-122"/>
                          <a:cs typeface="Calibri" pitchFamily="34" charset="-120"/>
                        </a:rPr>
                        <a:t>Japan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FDA itself reviews and clears or approves. There is no third party between you and the agency for a 510(k). The question you answer is comparative: is this substantially equivalent to a device already lawfully marketed?</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529584"/>
          </a:xfrm>
          <a:prstGeom prst="roundRect">
            <a:avLst>
              <a:gd name="adj" fmla="val 1813"/>
            </a:avLst>
          </a:prstGeom>
          <a:solidFill>
            <a:srgbClr val="EAF3F2"/>
          </a:solidFill>
          <a:ln w="12700">
            <a:solidFill>
              <a:srgbClr val="BFD9D6"/>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529584"/>
          </a:xfrm>
          <a:prstGeom prst="roundRect">
            <a:avLst>
              <a:gd name="adj" fmla="val 1813"/>
            </a:avLst>
          </a:prstGeom>
          <a:solidFill>
            <a:srgbClr val="FBEDED"/>
          </a:solidFill>
          <a:ln w="12700">
            <a:solidFill>
              <a:srgbClr val="DFA9A9"/>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classification determination</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submission dossier itself</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Clinical evidence sufficiency</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Labelling and language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980" dirty="0"/>
          </a:p>
          <a:p>
            <a:pPr marL="203200" indent="-203200">
              <a:lnSpc>
                <a:spcPct val="108000"/>
              </a:lnSpc>
              <a:spcAft>
                <a:spcPts val="500"/>
              </a:spcAft>
              <a:buSzPct val="100000"/>
              <a:buChar char="•"/>
            </a:pPr>
            <a:r>
              <a:rPr lang="en-US" sz="980" b="1" dirty="0">
                <a:solidFill>
                  <a:srgbClr val="22333B"/>
                </a:solidFill>
                <a:latin typeface="Calibri" pitchFamily="34" charset="0"/>
                <a:ea typeface="Calibri" pitchFamily="34" charset="-122"/>
                <a:cs typeface="Calibri" pitchFamily="34" charset="-120"/>
              </a:rPr>
              <a:t>The local representative</a:t>
            </a:r>
            <a:endParaRPr lang="en-US" sz="980" dirty="0"/>
          </a:p>
          <a:p>
            <a:pPr marL="203200" indent="-203200">
              <a:lnSpc>
                <a:spcPct val="108000"/>
              </a:lnSpc>
              <a:spcAft>
                <a:spcPts val="500"/>
              </a:spcAft>
              <a:buSzPct val="100000"/>
              <a:buChar char="•"/>
            </a:pPr>
            <a:r>
              <a:rPr lang="en-US" sz="9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25373">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Role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Required when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What they actually carry</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The trap</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US Agent</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EU Authorised Representative</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EU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UK Responsible Person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The manufacturer is outside the UK</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25373">
                <a:tc>
                  <a:txBody>
                    <a:bodyPr/>
                    <a:lstStyle/>
                    <a:p>
                      <a:pPr indent="0" marL="0">
                        <a:buNone/>
                      </a:pPr>
                      <a:r>
                        <a:rPr lang="en-US" sz="1058" b="1" dirty="0">
                          <a:solidFill>
                            <a:srgbClr val="FFFFFF"/>
                          </a:solidFill>
                          <a:latin typeface="Calibri" pitchFamily="34" charset="0"/>
                          <a:ea typeface="Calibri" pitchFamily="34" charset="-122"/>
                          <a:cs typeface="Calibri" pitchFamily="34" charset="-120"/>
                        </a:rPr>
                        <a:t>Japanese MAH or DMAH</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Always, for a foreign manufacturer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599115">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What the software does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The qualifier that changes the answer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The baseline for clinical decision support</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A83A3C"/>
                          </a:solidFill>
                          <a:latin typeface="Calibri" pitchFamily="34" charset="0"/>
                          <a:ea typeface="Calibri" pitchFamily="34" charset="-122"/>
                          <a:cs typeface="Calibri" pitchFamily="34" charset="-120"/>
                        </a:rPr>
                        <a:t>III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882"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8A6D1F"/>
                          </a:solidFill>
                          <a:latin typeface="Calibri" pitchFamily="34" charset="0"/>
                          <a:ea typeface="Calibri" pitchFamily="34" charset="-122"/>
                          <a:cs typeface="Calibri" pitchFamily="34" charset="-120"/>
                        </a:rPr>
                        <a:t>IIb</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Where most triage, detection and alerting software lands</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Intended to monitor physiological processes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C77C1E"/>
                          </a:solidFill>
                          <a:latin typeface="Calibri" pitchFamily="34" charset="0"/>
                          <a:ea typeface="Calibri" pitchFamily="34" charset="-122"/>
                          <a:cs typeface="Calibri" pitchFamily="34" charset="-120"/>
                        </a:rPr>
                        <a:t>IIa</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882"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99115">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other software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1680" b="1" dirty="0">
                          <a:solidFill>
                            <a:srgbClr val="0E7C7B"/>
                          </a:solidFill>
                          <a:latin typeface="Calibri" pitchFamily="34" charset="0"/>
                          <a:ea typeface="Calibri" pitchFamily="34" charset="-122"/>
                          <a:cs typeface="Calibri" pitchFamily="34" charset="-120"/>
                        </a:rPr>
                        <a:t>I</a:t>
                      </a:r>
                      <a:endParaRPr lang="en-US" sz="16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882" i="1" dirty="0">
                          <a:solidFill>
                            <a:srgbClr val="22333B"/>
                          </a:solidFill>
                          <a:latin typeface="Calibri" pitchFamily="34" charset="0"/>
                          <a:ea typeface="Calibri" pitchFamily="34" charset="-122"/>
                          <a:cs typeface="Calibri" pitchFamily="34" charset="-120"/>
                        </a:rPr>
                        <a:t>A much smaller category than manufacturers hope</a:t>
                      </a:r>
                      <a:endParaRPr lang="en-US" sz="88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14477">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IIa</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Class IIb</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Notified body needed</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6" b="1" dirty="0">
                          <a:solidFill>
                            <a:srgbClr val="22333B"/>
                          </a:solidFill>
                          <a:latin typeface="Calibri" pitchFamily="34" charset="0"/>
                          <a:ea typeface="Calibri" pitchFamily="34" charset="-122"/>
                          <a:cs typeface="Calibri" pitchFamily="34" charset="-120"/>
                        </a:rPr>
                        <a:t>Yes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Technical documentation assessment</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Implantable devices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applicable at this class in most cases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Clinical evaluation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 as it is for every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PSUR</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Updated at least every two years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Updated at least annually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966" b="1" dirty="0">
                          <a:solidFill>
                            <a:srgbClr val="1B3A4B"/>
                          </a:solidFill>
                          <a:latin typeface="Calibri" pitchFamily="34" charset="0"/>
                          <a:ea typeface="Calibri" pitchFamily="34" charset="-122"/>
                          <a:cs typeface="Calibri" pitchFamily="34" charset="-120"/>
                        </a:rPr>
                        <a:t>Practical consequence</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 portfolio can share assessment effort across a category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24205">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Type of change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Typically</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matters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Design change affecting safety or performance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to the intended purpose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Change of supplier, material or manufacturing site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Software update</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968" b="1" dirty="0">
                          <a:solidFill>
                            <a:srgbClr val="1B3A4B"/>
                          </a:solidFill>
                          <a:latin typeface="Calibri" pitchFamily="34" charset="0"/>
                          <a:ea typeface="Calibri" pitchFamily="34" charset="-122"/>
                          <a:cs typeface="Calibri" pitchFamily="34" charset="-120"/>
                        </a:rPr>
                        <a:t>Legacy device under the transition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24"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Its modules have been brought into mandatory use on a phased basis — confirm which are mandatory today before you plan around them.</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39348">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your device carries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Accepted in Great Britain until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that means for you</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EU MDR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140" b="1" dirty="0">
                          <a:solidFill>
                            <a:srgbClr val="2A9D8F"/>
                          </a:solidFill>
                          <a:latin typeface="Calibri" pitchFamily="34" charset="0"/>
                          <a:ea typeface="Calibri" pitchFamily="34" charset="-122"/>
                          <a:cs typeface="Calibri" pitchFamily="34" charset="-120"/>
                        </a:rPr>
                        <a:t>30 June 2030</a:t>
                      </a:r>
                      <a:endParaRPr lang="en-US" sz="11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old MDD or AIMDD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988" b="1" dirty="0">
                          <a:solidFill>
                            <a:srgbClr val="C77C1E"/>
                          </a:solidFill>
                          <a:latin typeface="Calibri" pitchFamily="34" charset="0"/>
                          <a:ea typeface="Calibri" pitchFamily="34" charset="-122"/>
                          <a:cs typeface="Calibri" pitchFamily="34" charset="-120"/>
                        </a:rPr>
                        <a:t>the sooner of certificate expiry or 30 June 2028</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CE marking under the IVDD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988" b="1" dirty="0">
                          <a:solidFill>
                            <a:srgbClr val="0E7C7B"/>
                          </a:solidFill>
                          <a:latin typeface="Calibri" pitchFamily="34" charset="0"/>
                          <a:ea typeface="Calibri" pitchFamily="34" charset="-122"/>
                          <a:cs typeface="Calibri" pitchFamily="34" charset="-120"/>
                        </a:rPr>
                        <a:t>the sooner of certificate expiry or 30 June 2030</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9348">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UKCA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988" b="1" dirty="0">
                          <a:solidFill>
                            <a:srgbClr val="1B3A4B"/>
                          </a:solidFill>
                          <a:latin typeface="Calibri" pitchFamily="34" charset="0"/>
                          <a:ea typeface="Calibri" pitchFamily="34" charset="-122"/>
                          <a:cs typeface="Calibri" pitchFamily="34" charset="-120"/>
                        </a:rPr>
                        <a:t>no end date — and not mandatory</a:t>
                      </a:r>
                      <a:endParaRPr lang="en-US" sz="98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6604"/>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government has said it will consult on recognising CE marked devices indefinitely. If that happens, UKCA becomes optional in a much more permanent sense. Until it does,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27644">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Topic</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EU MDR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Great Britain</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Classification rules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MDR Annex VIII — 22 rules, revised and generally stricter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MDD Annex IX via Schedule 2A — the pre-2021 rule set</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Software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Clinical evidence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The directive-era expectations, which are materially lighter</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Post-market surveillance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Annex III: PMS plan, PMCF, PSUR, trend reporting</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Named compliance role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Article 15 PRRC, with defined qualifications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27644">
                <a:tc>
                  <a:txBody>
                    <a:bodyPr/>
                    <a:lstStyle/>
                    <a:p>
                      <a:pPr indent="0" marL="0">
                        <a:buNone/>
                      </a:pPr>
                      <a:r>
                        <a:rPr lang="en-US" sz="1012" b="1" dirty="0">
                          <a:solidFill>
                            <a:srgbClr val="1B3A4B"/>
                          </a:solidFill>
                          <a:latin typeface="Calibri" pitchFamily="34" charset="0"/>
                          <a:ea typeface="Calibri" pitchFamily="34" charset="-122"/>
                          <a:cs typeface="Calibri" pitchFamily="34" charset="-120"/>
                        </a:rPr>
                        <a:t>Database</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EUDAMED</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68"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96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registration applies across the United Kingdom regardless of whether the device carries UKCA or CE marking. The registration is made by the UK Responsible Person where the manufacturer is outside the UK.</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government has said it will consult on indefinite recognition. If that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58368">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Class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Regulatory category</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Who decides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General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Todokede — notification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Submitted to the PMDA</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 Registered Certification Body, or 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III</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As above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algn="ctr" indent="0" marL="0">
                        <a:buNone/>
                      </a:pPr>
                      <a:r>
                        <a:rPr lang="en-US" sz="1440" b="1" dirty="0">
                          <a:solidFill>
                            <a:srgbClr val="FFFFFF"/>
                          </a:solidFill>
                          <a:latin typeface="Calibri" pitchFamily="34" charset="0"/>
                          <a:ea typeface="Calibri" pitchFamily="34" charset="-122"/>
                          <a:cs typeface="Calibri" pitchFamily="34" charset="-120"/>
                        </a:rPr>
                        <a:t>IV</a:t>
                      </a:r>
                      <a:endParaRPr lang="en-US" sz="14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80" dirty="0">
                          <a:solidFill>
                            <a:srgbClr val="22333B"/>
                          </a:solidFill>
                          <a:latin typeface="Calibri" pitchFamily="34" charset="0"/>
                          <a:ea typeface="Calibri" pitchFamily="34" charset="-122"/>
                          <a:cs typeface="Calibri" pitchFamily="34" charset="-120"/>
                        </a:rPr>
                        <a:t>Specially controlled medical device</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80" b="1" dirty="0">
                          <a:solidFill>
                            <a:srgbClr val="22333B"/>
                          </a:solidFill>
                          <a:latin typeface="Calibri" pitchFamily="34" charset="0"/>
                          <a:ea typeface="Calibri" pitchFamily="34" charset="-122"/>
                          <a:cs typeface="Calibri" pitchFamily="34" charset="-120"/>
                        </a:rPr>
                        <a:t>Shonin — approval</a:t>
                      </a:r>
                      <a:endParaRPr lang="en-US" sz="88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40" dirty="0">
                          <a:solidFill>
                            <a:srgbClr val="22333B"/>
                          </a:solidFill>
                          <a:latin typeface="Calibri" pitchFamily="34" charset="0"/>
                          <a:ea typeface="Calibri" pitchFamily="34" charset="-122"/>
                          <a:cs typeface="Calibri" pitchFamily="34" charset="-120"/>
                        </a:rPr>
                        <a:t>MHLW, on PMDA review</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53247">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Jurisdiction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What is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How it is checked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874" b="1" dirty="0">
                          <a:solidFill>
                            <a:srgbClr val="FFFFFF"/>
                          </a:solidFill>
                          <a:latin typeface="Calibri" pitchFamily="34" charset="0"/>
                          <a:ea typeface="Calibri" pitchFamily="34" charset="-122"/>
                          <a:cs typeface="Calibri" pitchFamily="34" charset="-120"/>
                        </a:rPr>
                        <a:t>Does MDSAP help?</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United States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inspection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European Union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QMS under MDR Article 10(9), in practice built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Notified body audit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Great Britain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2002 route you take;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Approved Body, where UKCA is pursued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Check current MHRA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3247">
                <a:tc>
                  <a:txBody>
                    <a:bodyPr/>
                    <a:lstStyle/>
                    <a:p>
                      <a:pPr indent="0" marL="0">
                        <a:buNone/>
                      </a:pPr>
                      <a:r>
                        <a:rPr lang="en-US" sz="874" b="1" dirty="0">
                          <a:solidFill>
                            <a:srgbClr val="FFFFFF"/>
                          </a:solidFill>
                          <a:latin typeface="Calibri" pitchFamily="34" charset="0"/>
                          <a:ea typeface="Calibri" pitchFamily="34" charset="-122"/>
                          <a:cs typeface="Calibri" pitchFamily="34" charset="-120"/>
                        </a:rPr>
                        <a:t>Japan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The QMS Ordinance — ISO 13485 with Japan-specific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conformity assessment, on a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84048">
                <a:tc>
                  <a:txBody>
                    <a:bodyPr/>
                    <a:lstStyle/>
                    <a:p>
                      <a:pPr algn="l" indent="0" marL="0">
                        <a:buNone/>
                      </a:pP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United States</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European Union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Great Britain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966" b="1" dirty="0">
                          <a:solidFill>
                            <a:srgbClr val="FFFFFF"/>
                          </a:solidFill>
                          <a:latin typeface="Calibri" pitchFamily="34" charset="0"/>
                          <a:ea typeface="Calibri" pitchFamily="34" charset="-122"/>
                          <a:cs typeface="Calibri" pitchFamily="34" charset="-120"/>
                        </a:rPr>
                        <a:t>Japan</a:t>
                      </a:r>
                      <a:endParaRPr lang="en-US" sz="96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Class basis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Assigned by regulation per device type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MDR Annex VIII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Derived from MDD Annex IX rules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Follows the JMDN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Who assesses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FDA directly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UK Approved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 Registered Certification Body, or PMDA/MHLW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Premarket route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510(k), De Novo or PMA — or exempt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Conformity assessment under Annex IX, X or XI</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UKCA — or rely on CE marking for now</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Todokede, Ninsho or Shonin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Core question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Substantially equivalent to a predicate?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GSPRs?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directive requirements?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Does it meet the standard for its code?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Clinical evidence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Often none for a 510(k)</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Clinical evaluation for every device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Directive-era expectations — lighter</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Foreign data accepted; bridging may be required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Local role</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US Agent</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Authorised Representative — jointly liable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UK Responsible Person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MAH or DMAH — holds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Registration</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Establishment registration and listing, annual</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EUDAMED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MHRA registration — whatever the marking</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QMS</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QMSR — 21 CFR 820 on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Article 10(9); ISO 13485 in practice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Per the UK MDR route; ISO 13485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QMS Ordinance — ISO 13485 plus additions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MDSAP accepted</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b="1" dirty="0">
                          <a:solidFill>
                            <a:srgbClr val="0E7C7B"/>
                          </a:solidFill>
                          <a:latin typeface="Calibri" pitchFamily="34" charset="0"/>
                          <a:ea typeface="Calibri" pitchFamily="34" charset="-122"/>
                          <a:cs typeface="Calibri" pitchFamily="34" charset="-120"/>
                        </a:rPr>
                        <a:t>Yes, for routine inspections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A83A3C"/>
                          </a:solidFill>
                          <a:latin typeface="Calibri" pitchFamily="34" charset="0"/>
                          <a:ea typeface="Calibri" pitchFamily="34" charset="-122"/>
                          <a:cs typeface="Calibri" pitchFamily="34" charset="-120"/>
                        </a:rPr>
                        <a:t>No</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Not as a substitute — check policy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Participates — confirm scope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1B3A4B"/>
                          </a:solidFill>
                          <a:latin typeface="Calibri" pitchFamily="34" charset="0"/>
                          <a:ea typeface="Calibri" pitchFamily="34" charset="-122"/>
                          <a:cs typeface="Calibri" pitchFamily="34" charset="-120"/>
                        </a:rPr>
                        <a:t>Post-market</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MDR reporting; corrections and removals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Annex III: PMS, PMCF, PSUR, trends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b="1" dirty="0">
                          <a:solidFill>
                            <a:srgbClr val="22333B"/>
                          </a:solidFill>
                          <a:latin typeface="Calibri" pitchFamily="34" charset="0"/>
                          <a:ea typeface="Calibri" pitchFamily="34" charset="-122"/>
                          <a:cs typeface="Calibri" pitchFamily="34" charset="-120"/>
                        </a:rPr>
                        <a:t>PMS regulations in force since Jun 2025</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dirty="0">
                          <a:solidFill>
                            <a:srgbClr val="22333B"/>
                          </a:solidFill>
                          <a:latin typeface="Calibri" pitchFamily="34" charset="0"/>
                          <a:ea typeface="Calibri" pitchFamily="34" charset="-122"/>
                          <a:cs typeface="Calibri" pitchFamily="34" charset="-120"/>
                        </a:rPr>
                        <a:t>Via the MAH, on a QMS cycle</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84048">
                <a:tc>
                  <a:txBody>
                    <a:bodyPr/>
                    <a:lstStyle/>
                    <a:p>
                      <a:pPr indent="0" marL="0">
                        <a:buNone/>
                      </a:pPr>
                      <a:r>
                        <a:rPr lang="en-US" sz="840" b="1" dirty="0">
                          <a:solidFill>
                            <a:srgbClr val="FFFFFF"/>
                          </a:solidFill>
                          <a:latin typeface="Calibri" pitchFamily="34" charset="0"/>
                          <a:ea typeface="Calibri" pitchFamily="34" charset="-122"/>
                          <a:cs typeface="Calibri" pitchFamily="34" charset="-120"/>
                        </a:rPr>
                        <a:t>The trap</a:t>
                      </a:r>
                      <a:endParaRPr lang="en-US" sz="84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Assuming clearance means the file travels</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Building UKCA you may never need</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798" i="1" dirty="0">
                          <a:solidFill>
                            <a:srgbClr val="22333B"/>
                          </a:solidFill>
                          <a:latin typeface="Calibri" pitchFamily="34" charset="0"/>
                          <a:ea typeface="Calibri" pitchFamily="34" charset="-122"/>
                          <a:cs typeface="Calibri" pitchFamily="34" charset="-120"/>
                        </a:rPr>
                        <a:t>Letting your distributor hold the authorisation</a:t>
                      </a:r>
                      <a:endParaRPr lang="en-US" sz="79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2026-09-16T12:48:46Z</dcterms:created>
  <dcterms:modified xsi:type="dcterms:W3CDTF">2026-09-16T12:48:46Z</dcterms:modified>
</cp:coreProperties>
</file>