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(0:00-0:01)
Open on the word in the subtitle that is doing the most work: 'Class II'. Something like — 'Everything we are about to discuss starts from a phrase that only means something in one of the four markets on this slide. Class II is a US regulatory class. It is not a European class, it is not a British class, and it is not a Japanese class. The single most expensive assumption in global market entry is that it travels.'
Then set expectations honestly: in ninety minutes we cannot make anyone an expert in four jurisdictions. What we can do is give them an accurate map — where the four systems genuinely differ, which differences cost money, and which decisions are expensive to reverse.
Housekeeping: interruptions welcome; two working sessions where they do the thinking; the workbook has note pages keyed to each section so they can stop transcribing.
BEFORE YOU PRESENT: regulatory dates in this deck were verified against primary sources when it was prepared. The UK framework and the EU simplification proposal are both moving. Slide 53 lists every source, and the facilitator guide flags exactly which dates to re-check.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(0:01-0:02)
Sixty seconds. Three things worth flagging out loud:
1) The weighting reflects the brief. MDR and UKCA get more than half the session because that is where the work is for most people in the room, and because the EU and UK have diverged in ways that are easy to miss. The US and Japan are here as comparison — enough to plan around, not enough to submit.
2) The two working sessions sit after Part 2 and after Part 4. Tables of four to six. Ask them to sit with people from a different company or function if they can.
3) Part 5 is short deliberately. By then they should be able to do the synthesis themselves — my job there is to give them the sequencing argument and get out of the way.
TIMING DISCIPLINE: Part 2 is the one that overruns, because people have live MDR problems and will want to raise them. Take those to the break rather than into the room. If you are behind entering Part 3, cut slides 25 and 27 — see the facilitator guide's cut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(0:02-0:03)
Do not read all six. Read 1, 4 and 6, and say the rest are in the workbook.
Objective 1 is the spine of the session and the thing most likely to change behaviour. The failure mode is a team that has an FDA clearance and assumes the European submission is a translation exercise.
Objective 4 deserves emphasis because of where we are in 2026. There is a live European Commission proposal to simplify MDR, and the UK has a framework that is half-built. Both generate a lot of noise. A regulatory professional who can say precisely 'that is a proposal under the ordinary legislative procedure, it is not law, and here is what I am planning on instead' is worth a great deal to their organisation. We will come back to this on slides 27 and 37.
Objective 6 licenses them to think about their own product for the next ninety minutes rather than taking general notes. Encourage them to keep a running list on the workbook action page from the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ROOM CALIBRATION (0:03-0:04) — INTERACTIVE
Worth the minute. It tells you how to pitch the next eighty-five, and it makes the room participatory before you have said anything didactic.
How to read the hands:
- Mostly B, few A: a room still living on legacy certificates. Spend more on Part 2's transition material and on what MDR actually demands that MDD did not — particularly clinical evidence and PMS. These are the people with the hardest deadline.
- Many A: a more mature room. Compress the MDR basics, spend the time on UK divergence, on the simplification proposal, and on Japan.
- Row C is the useful one. Note the second sentence: ask them to KEEP their hand up if they can name the marking and the end date. A lot of hands go down. That gap is the whole of Part 3 in one gesture, and it is worth letting the silence sit for a moment.
- Row D: if anyone has Japan experience, ask what surprised them, in thirty seconds. A real story from the room beats my slides, and Japan is the jurisdiction people know least.
Do not let this run long. If a war story starts unspooling, thank them and say you will come back to it — then actually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CHECKPOINT — you should be at 0:04.
If you are past 0:06 you overran the opening; recover by taking slide 7 down to the two models that matter for this room and moving quickly through slide 10.
Set up Part 1 in one line: 'Before any detail, eleven minutes on why this is structurally hard — because almost every expensive mistake in this field comes from assuming the four systems are variations on one theme.'
Part 1's job is to make the rest land. Slide 6 is the one that has to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II DOES NOT TRAVEL (0:04-0:07)
The most important slide in Part 1. Slow down and let the table do its work.
Walk the rows, but land these three points:
1) The US assigns classes to DEVICE TYPES by regulation. If your product matches a classification regulation in 21 CFR 862-892, its class is already decided and you can look it up. Europe does not work that way at all: you apply the Annex VIII rules to YOUR stated intended purpose and derive a class. That is a fundamentally different operation, and it is why 'we are Class II' is not an answer to a European question.
2) The GB row is the one people miss, and it is the pivot for Part 3. Great Britain classifies under the OLD directive rules — MDD Annex IX, carried into UK law through Schedule 2A of the UK MDR 2002. The EU moved to MDR Annex VIII in 2021; GB did not follow. So the two rule sets have genuinely diverged, and the same device can legitimately sit in different classes on either side of the Channel. We prove this concretely in Working Session 1.
3) Japan's class follows the JMDN code. You do not argue your way to a code the way you can argue an intended purpose — you map to an existing generic name. That removes some flexibility and adds a research step at the very start.
THE CALLOUT is the practical instruction: four determinations, one shared input. Which is why the intended purpose statement is the highest-leverage document in the whole programme — slide 11.
Do not adjudicate an attendee's specific product here. Offer the break, and mean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MODELS (0:07-0:09)
This is the conceptual frame that makes the evidence discussion later make sense. Two minutes.
THE KEY CONTRAST is US versus EU, and it is the callout. The 510(k) asks a COMPARATIVE question — is this substantially equivalent to a predicate? That is a question about another device. MDR asks an ABSOLUTE question — does this meet the GSPRs? That is a question about yours.
Make it concrete: a 510(k) can often be carried by bench testing showing your device performs comparably to the predicate. The same bench data does not, by itself, demonstrate conformity with Annex I. You will have GSPRs on biocompatibility, usability, software, electrical safety and clinical benefit that no predicate comparison answers. This is why teams with an FDA clearance are so often surprised by the size of the European gap — they have strong evidence for the wrong question.
THE GB CARD carries the sentence that shapes Part 3: CE marking is still accepted in Great Britain. So for most manufacturers UKCA is currently a strategic choice rather than a requirement. Plant that now; the dates are on slide 32.
JAPAN: the split is worth naming clearly here because it is unusual. Two different bodies, two different processes, and which one you face is a property of the JMDN code you map to. Detail on slide 42.
If the room is EU-heavy, spend the extra thirty seconds on the notified body point — that the regulator does NOT review the file surprises people who assume a competent authority signs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TRANSFERS (0:09-0:11)
Practical planning slide. The message is in the lede: teams overestimate the left column and underestimate the right.
LEFT — the good news is real. The engineering evidence genuinely is reusable, and that is most of the testing budget. A well-run programme tests once and files four times.
But flag the caveat on the first bullet, because it bites: each regulator maintains its own list of recognised or harmonised standards, and they are not synchronised — different editions are recognised at different times. Testing to the current edition of a standard does not guarantee it is the edition a given regulator recognises. Check the list before you book the test, not after.
RIGHT — the third bullet is where programmes get derailed, so spend your time there. A device can go through a 510(k) on bench data alone and then need a clinical evaluation with actual clinical data for MDR. Teams that budgeted 'regulatory' as one line item discover a clinical programme they did not plan. Slide 21 goes into why MDR made this harder than MDD did.
The classification bullet on the right connects straight back to slide 6 and forward to the exercise.
USEFUL QUESTION for the room: 'who has had a test report rejected because it was to the wrong edition of a standard?' Usually a few rueful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REPRESENTATIVES (0:11-0:13)
Commercially the most consequential slide in Part 1, because these are contracts people sign early and regret later. Do not read the table — make two points.
POINT 1 — the liability gradient. Left to right, these roles get heavier. A US Agent is close to a mailbox. An EU Authorised Representative is a legally defined role under Article 11 with real duties — and Article 11(5) makes the AR jointly and severally liable with the manufacturer for defective devices. That is why competent ARs charge what they charge, and why the cheapest AR is rarely the right answer. Ask the room: 'has anyone actually read their AR mandate?' It is usually a quiet moment.
POINT 2 — the Japanese MAH, and this is the one that costs money. In Japan the marketing authorisation is held by an entity established in Japan. If you use a distributor as your Designated MAH, the approval is in their name. Commercially, that means changing distributor means transferring or re-obtaining the approval — and your former partner has every incentive to make that slow. The fix is cheap and must be done at the start: negotiate MAH transfer terms into the original agreement, before there is a dispute. Teams that skip this discover their market access is contractually hostage.
POINT 3 — the UK RP is a SEPARATE appointment from the EU AR. Many service providers offer both, but they are distinct legal roles and the UK one needs a UK address.
If anyone asks about Northern Ireland, hold it for slide 37 — it is genuinely different and worth its own treatment.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TIMELINE REALITY (0:13-0:14)
Deliberately no numbers on this slide, and say why: published review clocks are real but they measure the regulator's time, not yours, and quoting a single figure for 'how long does Europe take' would be dishonest. It depends on class, notified body, file quality and queue.
The pattern to name: in every jurisdiction the long pole is something other than the review.
- US: the clock stops during an Additional Information hold. A team that submits a weak file and takes eight weeks to answer questions has added eight weeks nobody counted.
- EU: the notified body queue and contracting. This is why 'start the notified body conversation before the file is finished' is genuinely good advice rather than a platitude — capacity is allocated to those who asked early.
- GB: if you rely on CE marking the incremental work really is small, which is a strategically important point and the reason Part 3 exists.
- Japan: Shonin plus a bridging data requirement can dwarf everything. If you need Japanese clinical data, that is the programme.
If someone presses for numbers, give ranges with the caveat, and point them at the fee schedules and published performance data in the workbook's resource list rather than committing to a figure from the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INTENDED PURPOSE (0:14-0:15)
Closing slide of Part 1 and the bridge into MDR. High practical value — this is the cheapest intervention available to anyone in the room.
THE WORKED EXAMPLE on card 1 is the one to say aloud, because it is concrete and it previews the exercise. Take the same wearable sensor. Intended purpose A: 'displays physiological parameters for review by a healthcare professional.' Intended purpose B: 'detects clinical deterioration and alerts the care team.' Identical electronics. Under MDR Annex VIII these are not the same device — B is making a claim about driving clinical management, and it will classify higher and carry a much heavier evidence burden.
That is not a loophole to exploit. The point is that the sentence is a DESIGN DECISION with regulatory consequences, and it is usually written late, by marketing, without regulatory input. Written deliberately and early, with regulatory and clinical in the room, it is the highest-leverage hour in the programme.
CARD 3 is worth pressing on. Regulators do read websites, and a mismatch between the cleared or certified intended purpose and the marketing claims is a live enforcement exposure in every one of these four markets.
THE CALLOUT echoes the requirements test from the validation seminar deliberately, if some of this room attended it. If not, it stands on its own.
TRANSITION to Part 2: 'That sentence is the input. For the next twenty-two minutes we follow it through the system that treats it most rigorously — the EU MDR.'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CHECKPOINT — you should be at 0:15.
22 minutes to slide 28, where Working Session 1 starts at 0:37. That is a firm handover: the exercise needs its full 10 minutes and Part 3 needs its full 14.
This is the section people will want to interrupt with live problems. Welcome one or two — they make the material concrete — but take specific product questions to the break, explicitly and warmly. Otherwise you will lose Part 3.
If you are behind by slide 22, drop slide 25 (labelling) to a single sentence and compress slide 24.
Transition line: 'MDR is where the intended purpose sentence gets tested hardest. Follow it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MDR CHANGED (0:15-0:17)
Orientation, not history. Keep it to two minutes and land points 1 and 2.
POINT 1 — the reclassification, and specifically software. Under the MDD there was no dedicated software classification rule; software was generally classified by reference to the device it drove, and a great deal of standalone software sat in Class I where the manufacturer self-certified with no notified body at all. MDR Rule 11 changed that comprehensively. For many software manufacturers the transition was not 'more paperwork' — it was the first time they had ever needed a notified body. That is a different kind of problem, and it is why notified body capacity became the industry's bottleneck.
POINT 2 — set this up but do not spend it here; slide 21 is where it pays off. Simply plant the idea that the MDD equivalence route, which carried an enormous number of legacy devices, largely closed.
POINT 3 connects to the first seminar in this series if some of the room attended: the regulatory system has moved from 'prove it was right at release' to 'prove you keep it right.' Same shift, different regulation.
If the calibration poll showed mostly legacy MDD certificates, slow down here — these five shifts are exactly the gap those teams have to close, and the deadline is on slide 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 VIII MECHANICS (0:17-0:19)
The left column is process; the right is where the classification actually gets decided. Spend your time on the right.
LEFT, POINT 2 is the one people skip. The implementing rules in Chapter II are not preamble — they change the answer. Two in particular: accessories are classified IN THEIR OWN RIGHT, not with the parent device (so an accessory to a Class III device is not automatically Class III); and where more than one rule applies, the STRICTEST applies. Teams that stop at the first rule that seems to fit routinely under-classify.
LEFT, POINT 4: the written rationale. A notified body will ask how you arrived at IIa rather than IIb, and 'it is obviously IIa' is not an answer. A short, reasoned classification memo referencing the specific rules is cheap to write at the time and very expensive to reconstruct two years later.
RIGHT — walk the five determinants briskly. The duration thresholds are worth saying aloud because they are precise and people misremember them: transient is under 60 minutes, short term is 60 minutes to 30 days, long term is over 30 days. A device intended for 29 days and one for 31 days are in different regulatory positions.
The fourth bullet is the pivot to the next slide. Say it: 'the determinant that reclassified most of this industry is the fourth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11 (0:19-0:21)
The highest-value slide in Part 2 for a software-containing product, and the setup for Working Session 1. Take the time.
THE CALLOUT IS THE POINT and it is counterintuitive to engineers, so say it twice if needed. Rule 11 does not care about the technology. It cares about what happens to a patient if the decision the software informs turns out to be wrong. A lookup table and a neural network that both flag sepsis risk classify the same way. Teams arguing 'our algorithm is simple, surely we are Class I' are arguing the wrong axis entirely.
WORK THE LADDER: the first row is the IIa baseline for anything that informs a diagnostic or therapeutic decision. Then read up: if those decisions could cause death or irreversible deterioration, you are Class III. If serious deterioration or a surgical intervention, IIb. Note the ladder is about severity of the CONSEQUENCE, and that most clinically useful decision support lands at IIb once you are honest about what a false negative does.
THE LAST ROW deserves a beat. 'All other software is Class I' sounds like a generous catch-all, and manufacturers reach for it. In practice, once software has a medical purpose at all, one of the limbs above usually bites. If your classification memo concludes Class I under Rule 11, expect to defend it.
FLAG FORWARD, twice:
- Great Britain does NOT have Rule 11. GB classifies under the old MDD rules. Same software, potentially a different class. That is slide 33 and the heart of the exercise.
- The Commission's December 2025 simplification proposal would adapt some classification rules to LOWER classes for certain software. Proposed, not law — slide 27. Do not let anyone plan around it.
If the room is hardware-only, compress this to the callout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IIa VS IIb (0:21-0:23)
Practical slide. People often assume IIa and IIb are 'a bit more of the same'. The difference that costs money is the sampling basis.
THE KEY ROW is technical documentation assessment. Both classes are assessed on a representative basis rather than every device — but the UNIT of representativeness differs. For IIa it is the category; for IIb it is the generic device group, which is a narrower grouping. Narrower grouping means more representative devices, which means more files assessed, more notified body days, more cost and more queue. For a company with a portfolio rather than a single product, that difference compounds.
Be honest about the level of precision here: the exact sampling obligations are set out in Article 52 and Annex IX, and the categories and generic device groups are defined terms. If someone needs to plan a portfolio strategy, send them to the article rather than to this slide. What they should take away is the direction and the reason.
THE IMPLANTABLE ROW: Class IIb implantables are assessed device by device, with a specific list of exceptions — sutures, staples, dental fillings, dental braces, tooth crowns, screws, wedges, plates, wires, pins, clips and connectors. That same list appears again on slide 26 because it also governs which transition deadline applies. Worth flagging the repetition so it lands twice.
THE PSUR ROW is a small but real operational difference: every two years for IIa, annually for IIb. Note the December 2025 proposal would reduce PSUR frequency — slide 27 — but it is not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CONFORMITY ROUTES (0:23-0:24)
Brisk — ninety seconds. Most of the room will end up on Annex IX and should.
THE POINT WORTH MAKING is that this is a genuine choice with a strategic dimension, and most manufacturers never evaluate it. Annex IX means the notified body certifies your QUALITY SYSTEM and samples your technical documentation. That is efficient across a portfolio: one QMS audit covers everything, and only representative files are assessed. Annex X plus XI is device-centric: the type is examined, then production conformity is verified. For a company with one stable product and no plans to expand the range, the second route is occasionally cheaper and more predictable. For anyone with a portfolio or an active roadmap, Annex IX almost always wins.
Be honest about precision: the exact availability of each route by class is set out in Article 52 and the annexes it references, and there are conditions. This slide is orientation; the article governs.
THE CALLOUT is the bridge to change control and the thing people most often misunderstand: a CE certificate is not open-ended permission. Significant changes to the design or intended purpose need to go back to the notified body. That is slide 23, and it is also one of the areas the December 2025 proposal would change.
If short on time, this is a cuttable slide — say 'most of you are on Annex IX, and here is why' in one sentence and move to slide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NOTIFIED BODY (0:24-0:26)
High practical value, especially for anyone not yet contracted. Two minutes, weighted to the right-hand column.
LEFT, FIRST BULLET — say it plainly: check NANDO. Notified bodies are designated for specific device codes, and the designation is public. A body that cannot cover your code cannot certify you, however good the commercial relationship. People discover this late surprisingly often.
LEFT, SECOND BULLET — the phrasing matters. Do not ask 'what is your turnaround time', ask 'what is your current actual time from signed contract to certificate for a device like mine'. The first gets you a target; the second gets you a number you can plan with, or a revealing hesitation.
RIGHT, FIRST BULLET is the expensive mistake and worth dwelling on. Under queue pressure, teams submit a file they know is incomplete to secure a slot. It reliably backfires: the body opens the review, raises a long deficiency list, the clock runs while you do the work you should have done first, and you have spent credibility as well as time.
RIGHT, THIRD BULLET points forward to slide 21. If you remember one operational thing from Part 2: the clinical evaluation is the long pole, and it should lead the file rather than trail it.
A good question for the room: 'who has an individual, by name, who owns your notified body relationship?' Where the answer is a committee, it is nobody.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GSPR (0:26-0:27)
Ninety seconds. The three chapters are orientation; the bottom card is the advice.
THE BOTTOM CARD is the single most actionable thing in Part 2 and costs nothing to act on. The GSPR checklist is a three-column artefact: requirement, applicable yes or no with justification, and the specific evidence with document and section reference. Nearly every manufacturer produces one, because it is required. The ones who produce it EARLY get a different artefact entirely — a gap analysis that drives the test plan and the clinical strategy. The ones who produce it at the end get an inventory of what they did not do.
Make it concrete: if you populate the checklist at design freeze, the empty cells are your remaining work programme, and you still have time and budget. If you populate it the month before submission, the empty cells are findings.
CHAPTER III deserves a sentence of its own because of how often it bites. Labelling and IFU are treated as a downstream marketing task and they are a conformity requirement — every residual risk you accepted in the risk file has to be communicated, in the right languages, on the label or in the IFU. Slide 25.
Note for anyone who attended the validation seminar: the GSPR checklist plays the same role here that the traceability matrix does there. Same discipline, different regulation — and the same failure mode, which is reconstructing it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 II (0:27-0:28)
Reference slide. Do NOT read it — it is reproduced in the workbook. Pick two points.
PICK 1 — the last row. Annex III post-market surveillance documentation is a SEPARATE annex from the Annex II technical documentation, and it is a separate obligation. Teams building a technical file sometimes treat PMS as something that starts after certification. It does not: the PMS plan is part of the documentation the notified body assesses, before you have sold anything. Slide 22.
PICK 2 — the second row, languages. The instructions for use must be provided in the languages accepted by each member state where the device is made available. That is a translation and validation programme, and it is frequently discovered late and costed badly. It also constrains your launch sequence: you cannot supply a market whose language you have not produced.
If you have time, add a third: the design and manufacturing row extends to suppliers and subcontractors and the sites where work happens. Manufacturers who outsource assembly or sterilisation sometimes under-describe this and get a finding.
Say explicitly that this is a summary and Annex II is the authority. Then move on — slide 21 is where the time should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CLINICAL EVALUATION (0:28-0:31)
The most consequential slide in Part 2 in budget terms. Take the full three minutes and make sure the right-hand panel lands.
THE MECHANISM, told as a story: under the MDD, a manufacturer could write a clinical evaluation that said 'our device is equivalent to the market-leading device, here is the published literature on that device, therefore our safety and performance are established.' That was legitimate and extremely common. It is how a great many Class IIa and IIb devices reached the market with no clinical data of their own.
MDR did not ban equivalence. It did something more effective: Article 61(5) says that where the equivalent device was made by someone else, you need a contract giving you full ongoing access to their technical documentation. Ask the room what the chance is that a competitor signs that. The answer is the point — the route is theoretically open and practically shut.
SO WHAT REPLACES IT: your own clinical data. That may mean PMCF on devices already in the field under a legacy certificate, a registry, or a clinical investigation. All three take time and money that a team costing 'CE marking' as a regulatory line item has not budgeted.
THE FDA CONTRAST is the practical headline for this audience, so say it directly: most 510(k)s are cleared without clinical data. Every MDR device needs a clinical evaluation. A company with an FDA clearance and no clinical data is not most of the way to a CE certificate — it may be at the start of a clinical programme.
FLAG FORWARD: the December 2025 proposal would widen what counts as clinical data and make equivalence more flexible again. Slide 27. It is a proposal. Nobody should plan a clinical strategy on it.
If the room is mostly legacy MDD, this is the slide they most need. Let questions run here and take the time from slide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POST-MARKET (0:31-0:32)
Ninety seconds. The callout is the content.
THE CALLOUT is the systems point and it is genuinely under-appreciated. Teams treat PMS as a compliance obligation that runs in parallel with the real work. It is not parallel — it is a feedback loop into the evidence base. PMCF data updates the clinical evaluation. The clinical evaluation supports conformity with Annex I. Conformity is what the certificate attests. So a thin PMCF programme is not merely an audit risk; it is an erosion of the foundation your certificate stands on, and you find out at renewal, when there is no time.
POINT ON CARD 2 worth stating: PMCF is the default expectation. If you are not doing it, you must justify why not, in the PMCF plan, and that justification gets read carefully. 'Our device is well established' is a claim that now has a defined meaning and a high bar.
CARD 3 — the PSUR frequency difference between IIa and IIb is a small operational point but it drives a real calendar. Note again the December 2025 proposal would reduce PSUR frequency; not law.
If anyone attended the validation and cybersecurity seminar, draw the parallel explicitly: same structural shift from a release-gate model to a lifecycle model, in a different regulation. Organisations that have built that muscle once can reuse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CHANGES AFTER CERTIFICATION (0:32-0:33)
Operationally important and often handled badly. Two points.
POINT 1 — the last row, and it is the one to make sure lands. A device riding the extended transition under Regulation 2023/607 must not undergo significant changes in design or intended purpose. So a manufacturer sitting on a legacy MDD certificate has a constrained product: the improvement their customers are asking for, or the component change their supplier is forcing on them, may forfeit the transition and leave them unable to sell at all. Teams discover this when engineering has already done the work.
The operational fix is simple and rarely in place: route every proposed change through a regulatory impact check BEFORE engineering commits, specifically asking whether it threatens transition eligibility. That is a cheap gate that prevents an expensive outcome.
POINT 2 — the software row. There is no useful blanket policy for software changes; it depends on what changed. A security patch, a usability tweak and a new algorithm that makes a new clinical claim are three different regulatory events. What works is a documented per-release impact assessment. Note this is precisely the area the December 2025 proposal addresses, with predetermined change control plans agreed with the notified body — an idea borrowed from the software world and already familiar to anyone who has dealt with FDA PCCPs.
Be careful about precision on 'significant change': the criteria are set out in guidance, and MDCG has published on it. Point people there rather than improvising definitions at the front of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ACCOUNTABILITY AND TRACEABILITY (0:33-0:34)
Four things on one slide because none needs long. Ninety seconds.
PRRC: the micro and small enterprise concession is the detail people get wrong in both directions. Small companies think they are exempt — they are not, they simply need not EMPLOY the person, but must have one permanently and continuously at their disposal. Larger companies sometimes appoint someone without the qualifications the article specifies. Note the December 2025 proposal would relax both the qualification requirements and the 'permanently and continuously' wording for SMEs relying on an external PRRC — proposed, not law.
AR: repeat the Article 11(5) liability point from slide 9 in one sentence. It is worth two mentions.
THE CALLOUT is the practical trap. The Basic UDI-DI is not a barcode and does not go on the label — it is an administrative key that groups devices with the same intended purpose, risk class and essential design characteristics. Draw the grouping wrong at the start and you propagate an error into your declaration of conformity and every EUDAMED registration, and unpicking it later is tedious and visible.
EUDAMED: be careful and be current. The modules have been brought into mandatory use in phases, and the position has changed more than once. Rather than assert a status from the platform, tell them to check the Commission's EUDAMED pages for which modules are mandatory as of the day they are planning — and say that is what you did in preparing this.
VERIFY BEFORE PRESENTING: EUDAMED module mandatory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LABELLING AND LANGUAGE (0:34-0:35)
Sixty seconds, and the first slide to cut if you are behind — but if you cut it, keep point 1.
POINT 1 is the one with programme consequences. The language obligation is set member state by member state, and it is not optional. Practically this means your European launch is not a single event: it is sequenced by which language packs are finished and validated. Teams plan an 'EU launch' and then discover they can supply four countries rather than twenty-seven.
It also has a cost shape people misjudge: translation is cheap, but translation VALIDATION of safety-critical instructions is not, and neither is maintaining twenty-plus language versions through every IFU revision. Every change to the IFU is a change in every language.
POINT 4 is the cheap audit-proofing point: run a consistency check across label, IFU, declaration of conformity, EUDAMED entry and the website before submission. It takes a day and it removes a class of finding that is embarrassing rather than difficult.
If you are short of time: 'languages decide your launch sequence, and everything has to agree with everything else' covers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(0:35-0:36)
Dense and important. Read the deadlines slowly — people write these down.
THE STRUCTURE to explain: the original MDR transition ended 26 May 2024. Because notified body capacity could not absorb the industry in time, Regulation (EU) 2023/607 extended it — but conditionally, and with gates that have already closed.
THE TWO DATES: 31 December 2027 for Class III and Class IIb implantables, 31 December 2028 for everything else in scope — other IIb, all IIa, and the sterile/measuring/reusable-surgical Class I categories. Note the exceptions list on the 2027 side: those specific implantables take the LATER date. It is the same list that governs device-by-device assessment on slide 16, which is a useful mnemonic.
THE CONDITIONS are where the teeth are, and the last two are the ones to emphasise because they are RETROSPECTIVE GATES. A manufacturer had to have a compliant QMS in place by 26 May 2024, had to have lodged a formal application with a notified body by that date, and had to have a signed written agreement by 26 September 2024. If those did not happen, the extension is simply not available — there is no catching up now.
So the practical question for anyone in the room relying on the transition is not 'when is my deadline' but 'did I pass the gates, and can I evidence it?'
THE NO-SIGNIFICANT-CHANGE CONDITION connects back to slide 23 and is worth repeating: relying on the transition constrains what you may do to the product.
VERIFY BEFORE PRESENTING: these dates and conditions are from Regulation (EU) 2023/607. Re-check against EUR-Lex; there is live legislative activity in this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PROPOSAL (0:36-0:37)
Closes Part 2. Keep it to a minute, and let the callout do the heavy lifting.
WHY THIS SLIDE EXISTS: this proposal is generating a great deal of noise in the industry, and some of it reaches boards. A regulatory professional who can characterise it accurately — what it would do, and precisely what its legal status is — is more useful than one who has either ignored it or over-read it.
THE FACTS: COM(2025) 1023 final, 16 December 2025, procedure 2025/0404(COD). It amends MDR and IVDR, and also touches the EMA regulation on expert panel support and the AI Act's Annex I list. It is a legislative proposal under the ordinary legislative procedure.
THE HEADLINE for this audience is the first card: for Class IIa and IIb specifically, notified body involvement would be materially reduced. Given that notified body capacity has been the industry's binding constraint, that is the change with the most commercial significance.
THE THIRD CARD is the one to caveat hardest. If equivalence becomes more flexible again, some of the clinical burden from slide 21 eases. Teams will be tempted to wait. Say plainly: waiting for a proposal is a strategy with no downside protection. If it passes it will pass with amendments and a transition of its own; if it does not, the team that waited has lost two years.
THE CALLOUT is the discipline, and it echoes the theme of the whole session: know whether something is in force, adopted but not yet applicable, or merely proposed. Say the phrase 'published in the Official Journal' — that is the line.
VERIFY BEFORE PRESENTING: check the current stage of procedure 2025/0404(COD) on the EUR-Lex procedure file or the Parliament's legislative observatory. It may have 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1 (0:37-0:47) — 10 MINUTES
SETUP (1 min): tables of 4-6. Workbook page 6. Ask each table to nominate someone to report back, or the debrief stalls. Tell them Q3 is the one you will push on.
RUN (7 min): circulate. Listen for tables that classify the patch and forget the software is separately regulated — that is the most common error and the most instructive. Give a 2-minute warning.
DEBRIEF (3 min): take Q1 from one table, Q2 from another, then spend the remaining time on Q3. Full answer key in the facilitator guide.
HEADLINES:
Q1 — there are at least two regulated things: the patch (an active device that measures physiological parameters) and the early-warning software. Under MDR the implementing rules in Annex VIII Chapter II say software is classified IN ITS OWN RIGHT. Tables that produce one class for 'the system' have missed the central mechanic. The gateway may be an accessory; make them say so.
Q2 — the patch is an active device for monitoring physiological parameters; work the active-device rules. The software is where the argument is: under Rule 11 it provides information used to take decisions for therapeutic or diagnostic purposes, so IIa at minimum — and then ask what happens if it fails to raise an alert on a deteriorating patient. If the consequence is serious deterioration, that reads to IIb. Push on it; there is a genuine judgement here and a defensible answer needs the reasoning written down.
Q3 — THE POINT OF THE EXERCISE. Great Britain classifies under the MDD Annex IX rules via Schedule 2A of the UK MDR 2002. The MDD has no Rule 11. So the software does not get classified by a dedicated software rule at all — it falls to be classified under the active device rules, and it can land LOWER than it does under MDR. Same product, same intended purpose, different class either side of the Channel. Let that land; it is the bridge into Part 3.
Q4 — Annex IX is the expected answer, with the notified body auditing the QMS and assessing technical documentation on a representative basis.
Q5 — the honest answer is 'I cannot answer yet.' Japan's class follows the JMDN code, so the first step is identifying the code, and only then does the Ninsho versus Shonin question resolve. Reward the table that says they need more information rather than guessing — that is the correct professional instinct and it sets up slide 42.
If running behind: drop Q4 and Q5, keep Q1 to Q3.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CHECKPOINT — you should be at 0:47.
14 minutes to slide 38. If you are past 0:50, compress slide 34 and take slide 35 in one sentence.
Open Part 3 on the surprise: for most manufacturers, the correct UK strategy today is NOT to pursue UKCA. That is counterintuitive to a room that has been told for years that Brexit means a separate marking, and it is the most commercially useful thing in this section. Slide 32 is where it lands.
Transition from the exercise: 'You just found that the same software classifies differently in Great Britain. That is not an anomaly — it is the structure of the UK regime, and it tells you most of what you need to know about this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POSITIONS (0:47-0:49)
Foundational and frequently muddled. Two minutes, and make sure the callout lands because it drives the whole strategy.
THE STRUCTURE: Brexit did not produce one UK regulatory market. It produced Great Britain, which has its own regime, and Northern Ireland, which under the Windsor Framework continues to follow EU rules for goods. So the same company selling into Belfast and Birmingham is dealing with two different legal frameworks.
THE CALLOUT IS THE COMMERCIAL POINT and it is the one people have not thought through. Work it slowly:
- A CE marked device meeting EU MDR is acceptable in Northern Ireland, because EU rules apply there.
- A CE marked device is ALSO currently accepted in Great Britain, on the timetable on the next slide.
- Therefore one CE marked product, one label, one supply chain covers the entire United Kingdom.
- A UKCA marked device covers Great Britain only. For Northern Ireland you would still need CE.
So pursuing UKCA today, for a manufacturer who already holds or is pursuing a CE certificate, means doing additional work to reach a SMALLER market than the CE certificate already reaches. Ask the room to sit with that for a second. It is the opposite of what most people assumed Brexit would mean operationally.
Be careful not to overstate: there are manufacturers for whom UKCA is the right answer — UK-only businesses, or those without a route to a notified body. Slide 32's bottom card covers them.
VERIFY BEFORE PRESENTING: the Northern Ireland position and the Windsor Framework arrangements for medical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UKCA REQUIRES (0:49-0:51)
The conceptual key to Part 3. Two minutes.
THE HEADLINE, stated plainly: UKCA is not a new British regulation. It is the old European directives, frozen in UK law at the point of departure. When people hear 'UKCA' they imagine a novel set of requirements to learn. There is no such set. There is the MDD, which anyone who has been in this industry more than five years already knows.
THE MECHANISM is worth naming because it comes up in the exercise debrief: the UK MDR 2002 implemented the directives, and Schedule 2A was inserted to explain how the directive annexes should be read in a UK context. So when you classify for Great Britain you are working MDD Annex IX, as modified — not MDR Annex VIII.
THE RIGHT-HAND PANEL carries the two consequences:
1) An MDR file over-satisfies UKCA. If you have done MDR, the documentation is not your problem. Getting an Approved Body slot is.
2) The divergence is structural and widening. Every MDR amendment the UK does not mirror increases the gap. The Rule 11 example from the exercise is the cleanest illustration and worth repeating here.
THE LAST LINE sets up slide 37 honestly: the UK is not content to sit on 2002 rules indefinitely, and a replacement framework is in progress. But it is in progress, not in force, and that distinction matters for planning.
If someone asks whether UK requirements being lighter is an opportunity: be careful. It is an opportunity in effort terms and a liability in market-access terms, because a UKCA-only device cannot be sold in the EU or in Northern Ireland.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DATES (0:51-0:54)
The slide people photograph. Read the dates slowly and deliberately.
ROW 1 is the headline for most of this room: an EU MDR CE certificate gets you Great Britain until 30 June 2030, with no UK conformity assessment at all. The incremental work is MHRA registration and appointing a UK Responsible Person. That is weeks of administrative effort, not a certification programme.
ROW 2 is the trap, and it is worth working through slowly because it catches people. If you are on a legacy MDD certificate, your Great Britain access ends at the SOONER of your certificate expiring or 30 June 2028. There are two clocks and the earlier one governs. A manufacturer whose MDD certificate expires in 2026 loses GB access in 2026, not 2028. Ask the room: 'does anyone know their certificate expiry date off the top of their head?' — and if the earlier calibration poll showed legacy certificates, this is a genuinely urgent message for them.
ROW 4 and the bottom card together carry the strategy. UKCA is available and not mandatory, and the government has said it will consult on indefinite recognition of CE marking. So the honest advice for a manufacturer with an MDR route is: do not spend on UKCA now; register, appoint an RP, and watch.
WHO SHOULD STILL CONSIDER UKCA: a UK-only business with no EU ambition; a manufacturer who cannot get a notified body slot but can get an Approved Body slot; and anyone who wants insurance against the recognition policy changing. Name those cases so the advice is not read as absolute.
VERIFY BEFORE PRESENTING: all four rows, on gov.uk. This is the single most volatile slide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DIVERGENCE (0:54-0:56)
This is the slide that pays off Working Session 1. Refer back to it explicitly.
THE SOFTWARE ROW is the one to dwell on, because the room just proved it themselves in the exercise. Say it directly: 'You found this twenty minutes ago. Under MDR the early-warning algorithm is classified by Rule 11 and lands at IIa or IIb. In Great Britain there is no Rule 11, so it is classified under the older provisions and can land lower. Same product, same claim, two different answers.'
THE POINT THAT MATTERS is what a practitioner does about it. Two things:
1) Classify separately, in writing, for each jurisdiction. Do not assume the EU answer transfers. Your UK file needs its own classification rationale referencing the UK rules.
2) Do not treat the lower UK class as an opportunity to do less engineering. If you are also going to the EU, you will build to the higher standard anyway. The divergence changes the assessment route and the paperwork, not the product.
THE CLINICAL EVIDENCE ROW deserves a caution: 'materially lighter' is true today and is precisely the sort of thing the future UK framework is expected to change. Do not let anyone build a strategy on the UK staying lighter forever.
THE LAST ROW is a small but real operational point: EUDAMED and MHRA registration are separate systems with separate submissions. There is no read-across, and both need maintaining.
If the room is EU-only and has no UK exposure, this is the slide to compress. Otherwise it is the heart of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APPROVED BODIES (0:56-0:57)
Sixty seconds, and a candidate to compress if you are behind.
THE POINT is the callout. The most common reason a manufacturer starts looking at UKCA is frustration with EU notified body capacity — the thinking being that the UK is a smaller market with a lighter rule set, so it must be quicker. Sometimes it is. But the UK Approved Body pool is small, and a small pool with limited scope coverage can be just as constrained. The check is specific: can an Approved Body designated for MY device code take me, on MY timescale? Ask that before committing budget.
Deliberately no number on the slide. The designated list is published by the MHRA and it changes; quoting a count from the platform invites being out of date by the time someone acts on it. Tell them where to look instead — that is more useful and more honest.
THE SECOND CARD contains the structural oddity worth naming: the UK is asking bodies to build and maintain capability against a rule set the rest of Europe has moved on from, for a market that currently also accepts the newer marking. That is a difficult commercial proposition for a conformity assessment body, and it is part of why the pool is small.
VERIFY BEFORE PRESENTING: the current number of UK Approved Bodies and their designated scopes, on gov.uk.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UK RP AND REGISTRATION (0:57-0:59)
Practical and applies to almost everyone in the room. Ninety seconds.
THE HEADLINE is in the lede: this is the work that applies whatever marking you carry. A manufacturer relying on CE marking in Great Britain is not exempt from UK obligations — they are exempt from UK CONFORMITY ASSESSMENT. Registration and the Responsible Person still apply.
POINT 1 — the separateness from the EU AR. Many service providers offer both, which leads people to assume it is one appointment. It is two legal roles with different duties under different laws, and the UK one needs a UK address. Check your contract actually covers both.
POINT 3 is where these relationships fail in practice. The UK RP must hold the technical documentation available for inspection. A lot of RP agreements are signed on the basis that documentation will be provided on request — and then the MHRA asks, and the manufacturer is in a different time zone, and the clock runs. Give your RP real, standing access to a current file.
POINT 4: complaints reaching the RP need to enter YOUR complaint-handling system, with the same timelines as any other complaint. If they sit in a third party's inbox, your vigilance obligations are being managed by someone who does not work for you.
A good question for the room: 'who here can name their UK Responsible Person?' Then: 'when did you last confirm they hold your current technical documentation?' The second question is the useful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UK PMS (0:59-1:00)
Two minutes. The right-hand panel is the argument.
THE FACTS: the Medical Devices (Post-market Surveillance Requirements) Regulations 2024 came into force on 16 June 2025. They are the first substantial piece of the new UK regime to become law, and they amend the UK MDR 2002 to add a modern PMS framework.
THE STRATEGIC POINT, and it is the one people miss: everything else about relying on CE marking in Great Britain is administrative. Register the device, appoint a Responsible Person, keep the file available. You can hand most of that to a service provider. Post-market surveillance is different in kind — it is a system you operate, with data flowing in, analysis happening, and thresholds triggering action. You cannot delegate that to an RP.
So the sentence to leave them with: 'relying on CE marking does not mean no UK regulatory work any more.'
THE DIRECTIONAL SIGNAL is worth naming too. The MHRA legislated post-market before pre-market. Read that as a statement of priorities, and as advance notice that the pre-market framework is coming.
THE PRACTICAL ADVICE on the last line is what a regulatory lead should do on Monday: take your MDR PMS plan, map it against the UK requirements, and document the delta. Do not build a parallel system — the overlap is large. But do not assume it is total either.
VERIFY BEFORE PRESENTING: confirm the detail of what the regulations require, on gov.uk. I have described their shape; the statutory instrument is the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COMING (1:00-1:01)
Closes Part 3. The bottom card is the takeaway; keep this to ninety seconds.
BE HONEST ABOUT UNCERTAINTY. This is a slide where the temptation is to sound more definite than the evidence supports. The UK has announced intentions and moved timings more than once. What is in force is in force; what is announced is announced. Model that distinction rather than smoothing over it — it is exactly the professional behaviour you are trying to teach.
CARD 1 vs CARD 2 is the contrast to draw: post-market is law, pre-market is expectation. Treat them completely differently in your planning.
CARD 3 is the one with commercial consequences. If CE recognition becomes indefinite, UKCA becomes a niche product for UK-only businesses. That is a plausible future and it argues for patience rather than investment.
CARD 4 — international reliance is worth flagging as the likely shape of things. Regulators in mid-sized markets increasingly prefer to lean on assessments already done by trusted peers rather than duplicate them. If the UK goes that way, holding an FDA clearance or a CE certificate becomes an asset in the UK rather than an irrelevance.
THE BOTTOM CARD is the practical instruction and it applies beyond the UK: comply with what is in force, build nothing speculative, and give someone the job of watching. Name it as a job — 'who owns watching the MHRA?' — because unowned watching does not happen.
VERIFY BEFORE PRESENTING: the status of the future regulations, the CE recognition consultation, and any international reliance routes. All four cards are live.
TRANSITION: 'Two markets down. Thirteen minutes on the other two, and then we put it all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CHECKPOINT — you should be at 1:01.
11 minutes to slide 46, where the tabletop starts at 1:12. This section is deliberately compressed — it is orientation, not a submission course. Resist the urge to teach the 510(k) properly; there is not time and it is not the brief.
If you are behind, slides 40 and 44 are the ones to compress. Do not cut slide 42 — the Japanese route map is the thing this audience is least likely to know and most likely to get wrong.
Transition: 'Two markets where the work is a certificate. Now two where it is a decision by someone else — and they make it very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510(K) (1:01-1:03)
Two minutes. Most of this room knows the 510(k) better than they know MDR, so go fast and spend the time on the callout.
THE STRUCTURAL POINT to restate from slide 7: this is a COMPARATIVE claim. You are not proving your device is safe and effective in the abstract; you are proving it is substantially equivalent to something already on the market. That is why a 510(k) can often be carried on bench data, and why holding one tells a European notified body much less than manufacturers expect.
POINT 1 — the predicate choice is the most consequential decision in the submission and it is often made casually. A predicate with a recall history, or one that has itself been withdrawn, creates problems. Do the due diligence on the predicate before you build around it.
POINT 4 — the clock point matters for planning and echoes slide 10: FDA's review clock stops when they ask a question. A team that takes two months to answer an Additional Information request has added two months nobody scheduled.
THE CALLOUT is the practical one people forget: a great many Class II device types are exempt from premarket notification, subject to limitations set out in the classification regulation. Before anyone builds a 510(k), check the classification regulation for the product code and read the limitations of exemption. It is a cheap check that occasionally saves an entire submission.
Do not attempt to teach the 510(k) properly here. If the room wants that depth, it is a different seminar —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 OBLIGATIONS (1:03-1:04)
Sixty seconds. This is a reference slide for a room that mostly knows it. Pick two points.
PICK 1 — special controls, left panel. For Class II devices the classification regulation often carries special controls: specific performance standards, labelling requirements, or required testing. People read the classification to find the class and stop there. The special controls are binding and they frequently define your test plan. Read the whole regulation.
PICK 2 — the QMSR, right panel. In force since 2 February 2026. The requirements did not fundamentally change but the citations did. If procedures still reference the old 21 CFR 820 clause structure, they are out of date. This is unglamorous documentation work that teams keep deferring, and it is visible to an investigator.
If anyone attended the validation and cybersecurity seminar, this is the same QMSR point made there — worth acknowledging rather than repeating at length.
The last right-hand bullet echoes slide 23's EU change-control discussion: both systems require you to assess and document changes, and both care that the assessment happened. Different criteria, same discipline.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JAPAN ROUTE MAP (1:04-1:07)
The most valuable slide in Part 4, because this is the jurisdiction this audience knows least and the structure genuinely differs. Take the time.
EXPLAIN THE TWO AXES, because people conflate them:
- Class I to IV is the risk classification, and it follows the JMDN code your device maps to.
- The regulatory CATEGORY — general, controlled, specially controlled — is a parallel label that tracks the class.
- The ROUTE then depends on class AND on whether an official certification standard exists for your code.
THE ROW THAT MATTERS is Class II, which is what a US Class II device most often maps to. And the split is the thing to get across: if a certification standard exists for your JMDN code, you go to a Registered Certification Body for Ninsho — third-party certification, faster and more predictable. If no certification standard exists, the same class of device goes to MHLW for Shonin approval, with PMDA conducting the review. That is a materially longer and more demanding path.
So two devices of identical risk can take completely different routes purely on whether a standard has been published for their code.
THE CALLOUT is the practical instruction and the answer to Exercise 1's question 5. Both determinants are lookups. You research the JMDN code, then you check whether a certification standard exists for it. Until you have done that you cannot forecast Japan at all — not the timeline, not the cost, not the evidence. Teams that skip this and assume 'we are Class II so it will be like the US' can be wrong by a year.
If someone asks how to find the JMDN code: point them at the PMDA and MHLW published lists and at their prospective MAH, who will usually do this. Do not improvise a lookup from the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JAPAN STRUCTURE (1:07-1:09)
The callout is the most commercially valuable sentence in Part 4. Build to it.
THE STRUCTURE: Japan requires a Japanese legal entity to hold the marketing authorisation and to carry the quality and safety responsibility. A foreign manufacturer has two options — establish its own Japanese subsidiary, which is expensive and slow, or appoint a Designated MAH, which is fast and creates a dependency.
THE TRAP, worked through slowly because it costs real money:
- Most companies entering Japan use their distributor as DMAH. It is convenient, the distributor is willing, and it bundles regulatory with commercial.
- The marketing authorisation is then held in the distributor's name.
- Two years later the commercial relationship sours, or you want a bigger partner.
- Your market access is in the other party's name, and they have no incentive to release it quickly.
The fix costs nothing if done at the start: negotiate MAH transfer terms into the original agreement — what triggers a transfer, what it costs, what the timeline is, and what cooperation is required. Nobody objects to that clause at the start of a relationship. Everybody objects at the end.
Offer the alternative too: an independent DMAH service provider, separate from the commercial distributor, decouples market access from the commercial relationship entirely. It costs more and it is often the right answer for anyone who expects to be in Japan for a decade.
THE FMR POINT is a scheduling one: registration of the foreign manufacturing site is a separate workstream that can run alongside the product application. Teams that treat it as sequential add months for no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JAPAN PRACTICALITIES (1:09-1:10)
Two minutes. Cards 1 and 4 are the content.
CARD 1 — be accurate rather than alarming. Japan does accept foreign clinical data; the old story that everything must be repeated in a Japanese population is out of date. What is true is that the acceptability depends on whether differences in population, clinical practice or the way the device is used affect the conclusions — and if they do, bridging data may be required. The point for planning is that this question has to be asked at the START. If bridging data is needed, it dominates the timeline and the budget; if it is not, Japan can be quick. You cannot plan Japan until you know which world you are in.
CARD 2 — the translation point is a resourcing one. This is regulatory translation with legal consequence, not marketing localisation, and there are a limited number of people who do it well. Book them.
CARD 4 IS THE CALLOUT and the one most likely to be new to a regulatory audience. Approval and reimbursement are separate processes, run by different parts of the system, on different clocks. A team can celebrate approval and then discover there is no reimbursement category, or that the price set is below their commercial model. The regulatory team's instinct is that their job ends at approval; in Japan that leaves the commercially decisive step unowned.
So the practical advice: whoever owns Japan should own both clocks, and reimbursement strategy should start alongside the regulatory strategy, not after it.
If the room has no Japan exposure, compress this to card 4 alone — it is the transferable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QMS LAYER (1:10-1:11)
Genuinely good news, so deliver it as such. Sixty seconds.
THE HEADLINE: ISO 13485 is the common substrate under all four regimes. One well-built system, with additions, serves everywhere. Companies that grow by acquisition or by adding markets one at a time sometimes end up with parallel systems, and the cost of maintaining them is enormous and entirely self-inflicted.
THE MDSAP COLUMN is the one to read out, because the pattern is not intuitive. MDSAP — the Medical Device Single Audit Program — lets one audit satisfy several regulators. FDA accepts MDSAP reports in place of routine inspections. Japan participates. The EU does NOT — MDSAP does not replace your notified body audit, because the notified body's job is certification against MDR, which is a different thing from a regulatory inspection.
So MDSAP reduces your audit burden meaningfully but not uniformly, and the EU — probably your most demanding audit — is not in scope. Manufacturers who adopt MDSAP expecting it to cover everything are disappointed.
BE CAREFUL on the UK row and say so: MDSAP's status in UK policy is something to confirm on gov.uk rather than assert from a slide.
THE CALLOUT is the instruction. If someone in the room is currently running parallel quality systems, this is their Monday action and it will save more money than anything else in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STANDARDS (1:11-1:12)
Closes Part 4. Sixty seconds, all of it on the right-hand panel.
THE LEFT PANEL is a checklist, not a lecture. Let them read it.
THE RIGHT PANEL is the trap, and it is a costly one because test programmes are expensive and slow to repeat. Every regulator keeps its own list of standards it recognises, and the lists carry EDITIONS. They are not synchronised. So:
- Testing to the latest edition may put you ahead of what a regulator recognises.
- Testing to an older edition may put you outside the current harmonised list in Europe, which costs you the presumption of conformity.
Neither failure is dramatic. Both mean a deficiency, and sometimes a repeat test.
THE RULE on the last line is genuinely actionable and cheap: before booking a test, check the recognised or harmonised list for every jurisdiction you intend to enter, and record the edition you tested to and the reasoning. An hour of work. Teams skip it because the test lab 'knows the standards' — the test lab knows the standard, not your regulatory strategy.
If anyone asks about the EU harmonised standards list being incomplete under MDR: that is a real and well-known issue, and where no harmonised standard exists you demonstrate conformity by another route and justify it. Acknowledge it honestly and move on.
TRANSITION: 'That is the map. Now let us find out whether it is usable.'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2 (1:12-1:22) — 10 MINUTES, FACILITATOR-PACED
The high point of the session. Read the scenario aloud yourself. Keep the clock moving.
SETUP (1 min): same tables, workbook page 9. Stress that there is no clean answer — you want a defensible trade-off, not a correct one. Three rounds of three minutes, and the debrief folds into the opening of Part 5 — so keep the rounds tight.
ROUND 1 (3 min) — WHAT TO LISTEN FOR:
- The conventional answer is Europe first, because it is the largest market and the hardest, so everything else follows. The interesting answer is the opposite: Great Britain first, because a CE certificate is not required there yet and the incremental work is registration and a UK Responsible Person. That produces international revenue in this financial year, which is what the board actually asked for. Reward the table that spots it.
- Push on 'what do you tell the board': the honest answer is that EU revenue this financial year is not achievable, and saying so now is better than saying it in nine months.
- The hire: a table that says 'someone who has taken a device through MDR clinical evaluation' has understood where the risk is. A table that says 'a generalist' has not.
ROUND 2 (3 min):
- The clinical evidence is the crux. Bench testing plus a usability study will not carry an MDR clinical evaluation for a device making a deterioration-detection claim. They need a clinical strategy, and that is measured in quarters.
- 'Earliest realistic EU date': make them add it up — clinical strategy, notified body contracting, queue, assessment, findings. Any table that says under a year has not been listening to Part 2.
- The UK answer should be: rely on CE marking when you have it, but note you cannot sell in GB on a CE mark you do not yet hold. So for GB right now, either UKCA or wait. That is a genuinely interesting decision and it is where the money is.
ROUND 3 (3 min) — the most valuable:
- The DMAH offer. 'At no cost' means the distributor holds your marketing authorisation. The correct response is not to refuse it but to negotiate transfer terms into the agreement now. Listen for tables that spot the dependency.
- 'Next 30 days': classification determinations in writing for each market, a decision on the clinical strategy, and starting a notified body conversation. Everything else can wait.
- 'What would you refuse': this is the professional-judgement question. Good answers include refusing to promise EU revenue this year, refusing to sign a DMAH agreement with no transfer clause, and refusing to make a deterioration-detection claim the evidence will not support.
DEBRIEF: there is no separate debrief slot — take round 3's last question from two or three tables as you transition, and write the answers up. Then: 'Everything you just decided is what Part 5 is about — and the decisions you flagged as irreversible are the ones worth the most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CHECKPOINT — you should be at 1:22.
7 minutes to the end of slide 52, with discussion from 1:29. If you have a hard 90-minute stop, take slides 48, 50 and 51 and let the rest be reading.
Transition straight off the tabletop debrief: 'Everything your tables just argued about is what this last section is for. Three ideas, and then your questions.'
Slide 50 is the payoff and slide 51 is what people repeat to colleagues. Protect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MATRIX (1:22-1:24)
Do NOT read this. It is a reference slide, it is reproduced in the workbook and on the quick-reference card, and people will photograph it. Give them fifteen seconds of silence to scan it, then make two observations.
OBSERVATION 1 — read the 'core question' row across. Four different questions. That row alone explains why the evidence packages differ, why an FDA clearance does not carry Europe, and why the same device can be straightforward in one market and a programme in another. If they remember one row, that is the one.
OBSERVATION 2 — the bottom row. Each market has a characteristic expensive mistake, and they are different mistakes. The US trap is assuming the file travels. The EU trap is discovering the clinical evidence gap after you have signed with a notified body and started the clock. The GB trap is building a UKCA route you may never need. The Japan trap is letting your distributor hold your market authorisation.
Notice that three of the four are decisions made EARLY, cheaply, and usually without much thought. That is the argument for slide 50.
If someone wants to argue with a cell, welcome it — the matrix is a summary and summaries lose nuance. Point them at the fuller treatment in the workbook and at the source list on slide 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FILE (1:24-1:25)
Sixty seconds. Practical architecture advice.
THE CENTRAL IDEA on card 1 is worth stating cleanly because it changes how people organise: your EVIDENCE and your SUBMISSIONS are different things. The evidence — test reports, risk file, clinical data, design records — is a durable asset. A submission is a view of that asset, assembled and formatted for a particular reader. Teams that conflate the two end up copying evidence into submission documents, and then the copies drift.
CARD 2 is the practical trick: index against the strictest requirement set, which is MDR Annex II with the GSPR checklist. If your evidence is organised to satisfy that, then a 510(k) and a UKCA file are subsets and reformats. If you organise around the 510(k) first — which is what companies with US products naturally do — you will be rebuilding for Europe.
CARD 3 is cheap and high-value: four short classification rationale documents, each citing the rules of its own jurisdiction, each dated. Every assessor in every market asks how you got to your class. Having the answer written down at the time is worth many times the two hours it costs.
THE CALLOUT is the failure mode, and anyone who has worked in a company with regional regulatory teams will recognise it immediately: four copies of the risk file, all slightly different, and a genuine argument about which is current. Ask the room whether they have single-source control of their risk file. The pause is often informative.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SEQUENCING (1:25-1:27)
The payoff slide of Part 5 and the answer to Exercise 2's first round. Two minutes.
PRESENT THE CONVENTIONAL CASE FAIRLY FIRST — it is genuinely strong, and for a well-funded company with evidence in hand it is correct. Europe is the hardest, so doing it first means everything afterwards is downhill, and the CE certificate currently carries Great Britain too.
THEN THE HONEST OBJECTION: it is also the slowest and most expensive, revenue arrives last, and the clinical evidence gap lands squarely on the critical path. For a company with eighteen months of runway — the tabletop scenario — 'Europe first' can be a plan that runs out of money before it produces anything.
THE ALTERNATIVE is not 'do the easy market and forget Europe'. It is sequencing for cash flow while building the European evidence in parallel from day one. The distinction matters: the mistake is not entering an easier market first, it is entering it INSTEAD of starting the European work.
THE CALLOUT is the thing to leave them with, and it is the single most useful sentence in Part 5: start the clinical evidence strategy immediately, in every scenario. Almost everything else in a regulatory programme can be accelerated by spending money — more consultants, more parallel workstreams, expedited services. Generating clinical evidence cannot. Patients are enrolled at the rate patients are enrolled. It is the only genuinely incompressible item, which means it must start first regardless of which market you target.
If the room pushes back with 'our board would never accept that' — agree, and say that is precisely why the argument needs to be made early with numbers, before the board has formed an expectation.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TAKEAWAYS (1:27-1:28)
Deliver these deliberately. This is what gets repeated to colleagues, so the phrasing matters more than the coverage.
If you only have time for one, make it number 3 — it is the most actionable, it has come up in Part 2, in the tabletop and in Part 5, so it has been earned three times, and it is the one that changes what someone does next week.
Number 1 is the spine of the whole session and the thing the first exercise proved rather than asserted.
Number 4 is the professional-discipline point and it is worth naming as a skill: the ability to say precisely what legal status something has is valuable to an employer, and it is rarer than it should be. In a year when there is a live MDR simplification proposal and a half-built UK regime, it is the difference between a regulatory function that is trusted and one that is not.
Number 5 is the organisational ask, and if there are executives in the room this is the slide to look at them for. Every one of those four decisions is typically made by someone junior, under time pressure, without anyone realising it is a decision at all.
Then: 'Sources are on the next slide and in your workbook. Then I want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RESOURCES (1:28-1:29)
Do not read this. It is reproduced in the workbook with a note on what each source is actually for.
Say only this: if they read three things, make it
1) the MDR consolidated text on EUR-Lex — the actual regulation, not a consultancy summary, because the articles are more readable than people expect and the summaries lose the conditions;
2) the gov.uk 'Regulating medical devices in the UK' guidance, because it is the authoritative statement of the acceptance dates and it changes;
3) the PMDA's English-language pages on approval and certification, because Japan is the market this audience knows least and the PMDA explains its own system better than any third party.
REPEAT THE CAVEAT in the lede, because it matters for a room that may cite these: confirm current versions. The UK acceptance dates, the EUDAMED module position and the stage of the simplification proposal are all live. Better that they verify than that they quote a seminar slide in a submission.
Then move straight to questions — do not linger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(1:29 onwards, or to time)
The five prompts are there so you are never standing in silence. Use one if nothing comes within about ten seconds — but do not rescue the silence too quickly; people often need a moment.
PROMPT 2 is the best opener for a room with legacy certificates, because it is concrete, urgent and personal.
PROMPT 4 works well if anyone has Japan exposure — it surfaces the DMAH issue in their own situation.
PROMPT 5 is the best closer because it turns the matrix into a self-assessment.
QUESTIONS YOU SHOULD EXPECT:
'Should we do UKCA?' — Walk the logic rather than answering: do you have or expect a CE certificate? do you sell in Northern Ireland? when does your current marking stop being accepted? For most manufacturers with an EU route the answer today is no, but say why rather than asserting it.
'Does our FDA clearance help in Europe?' — It helps with the engineering evidence and not at all with the regulatory question. Be clear and kind about this; it is often unwelcome news.
'Should we wait for the MDR simplification?' — No, and explain the asymmetry: if it passes it will pass amended and with its own transition; if it does not, you have lost two years. Track it, plan on current law.
'How much does it cost?' — Give ranges with heavy caveats or decline politely. Costs vary by class, notified body, file quality and portfolio. A confident number from the platform will be quoted back at you.
'Can our EU Authorised Representative be our UK Responsible Person?' — They are separate legal roles; many providers offer both, but check the contract covers both.
IF YOU DO NOT KNOW, SAY SO. This is a field where a confident wrong answer causes real harm, and the room will respect 'I would want to check that before answering' far more than a guess.
CLOSE: thank them, point at the workbook action page, and ask everyone to write down one thing they will do this week before they leave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32E"/>
        </a:solidFill>
      </p:bgPr>
    </p:bg>
    <p:spTree>
      <p:nvGrpSpPr>
        <p:cNvPr id="1" name=""/>
        <p:cNvGrpSpPr/>
        <p:nvPr/>
      </p:nvGrpSpPr>
      <p:grpSpPr>
        <a:xfrm>
          <a:off x="0" y="0"/>
          <a:ext cx="0" cy="0"/>
          <a:chOff x="0" y="0"/>
          <a:chExt cx="0" cy="0"/>
        </a:xfrm>
      </p:grpSpPr>
      <p:sp>
        <p:nvSpPr>
          <p:cNvPr id="2" name="Text 0"/>
          <p:cNvSpPr txBox="1"/>
          <p:nvPr/>
        </p:nvSpPr>
        <p:spPr>
          <a:xfrm>
            <a:off x="548640" y="1572768"/>
            <a:ext cx="11094415" cy="310896"/>
          </a:xfrm>
          <a:prstGeom prst="rect">
            <a:avLst/>
          </a:prstGeom>
          <a:noFill/>
          <a:ln/>
        </p:spPr>
        <p:txBody>
          <a:bodyPr wrap="square" lIns="0" tIns="0" rIns="0" bIns="0" rtlCol="0" anchor="ctr"/>
          <a:lstStyle/>
          <a:p>
            <a:pPr indent="0" marL="0">
              <a:buNone/>
            </a:pPr>
            <a:r>
              <a:rPr lang="en-US" sz="1300" b="1" spc="260" kern="0" dirty="0">
                <a:solidFill>
                  <a:srgbClr val="2A9D8F"/>
                </a:solidFill>
                <a:latin typeface="Calibri" pitchFamily="34" charset="0"/>
                <a:ea typeface="Calibri" pitchFamily="34" charset="-122"/>
                <a:cs typeface="Calibri" pitchFamily="34" charset="-120"/>
              </a:rPr>
              <a:t>MEDICAL DEVICE SEMINAR</a:t>
            </a:r>
            <a:endParaRPr lang="en-US" sz="1300" dirty="0"/>
          </a:p>
        </p:txBody>
      </p:sp>
      <p:sp>
        <p:nvSpPr>
          <p:cNvPr id="3" name="Text 1"/>
          <p:cNvSpPr txBox="1"/>
          <p:nvPr/>
        </p:nvSpPr>
        <p:spPr>
          <a:xfrm>
            <a:off x="548640" y="1993392"/>
            <a:ext cx="10241280" cy="1005840"/>
          </a:xfrm>
          <a:prstGeom prst="rect">
            <a:avLst/>
          </a:prstGeom>
          <a:noFill/>
          <a:ln/>
        </p:spPr>
        <p:txBody>
          <a:bodyPr wrap="square" lIns="0" tIns="0" rIns="0" bIns="0" rtlCol="0" anchor="ctr"/>
          <a:lstStyle/>
          <a:p>
            <a:pPr indent="0" marL="0">
              <a:lnSpc>
                <a:spcPct val="95000"/>
              </a:lnSpc>
              <a:buNone/>
            </a:pPr>
            <a:r>
              <a:rPr lang="en-US" sz="4800" b="1" dirty="0">
                <a:solidFill>
                  <a:srgbClr val="FFFFFF"/>
                </a:solidFill>
                <a:latin typeface="Cambria" pitchFamily="34" charset="0"/>
                <a:ea typeface="Cambria" pitchFamily="34" charset="-122"/>
                <a:cs typeface="Cambria" pitchFamily="34" charset="-120"/>
              </a:rPr>
              <a:t>Global Market Entry</a:t>
            </a:r>
            <a:endParaRPr lang="en-US" sz="4800" dirty="0"/>
          </a:p>
        </p:txBody>
      </p:sp>
      <p:sp>
        <p:nvSpPr>
          <p:cNvPr id="4" name="Text 2"/>
          <p:cNvSpPr txBox="1"/>
          <p:nvPr/>
        </p:nvSpPr>
        <p:spPr>
          <a:xfrm>
            <a:off x="548640" y="3035808"/>
            <a:ext cx="10241280" cy="457200"/>
          </a:xfrm>
          <a:prstGeom prst="rect">
            <a:avLst/>
          </a:prstGeom>
          <a:noFill/>
          <a:ln/>
        </p:spPr>
        <p:txBody>
          <a:bodyPr wrap="square" lIns="0" tIns="0" rIns="0" bIns="0" rtlCol="0" anchor="ctr"/>
          <a:lstStyle/>
          <a:p>
            <a:pPr indent="0" marL="0">
              <a:buNone/>
            </a:pPr>
            <a:r>
              <a:rPr lang="en-US" sz="1900" dirty="0">
                <a:solidFill>
                  <a:srgbClr val="2A9D8F"/>
                </a:solidFill>
                <a:latin typeface="Calibri" pitchFamily="34" charset="0"/>
                <a:ea typeface="Calibri" pitchFamily="34" charset="-122"/>
                <a:cs typeface="Calibri" pitchFamily="34" charset="-120"/>
              </a:rPr>
              <a:t>United States  ·  European Union  ·  United Kingdom  ·  Japan</a:t>
            </a:r>
            <a:endParaRPr lang="en-US" sz="1900" dirty="0"/>
          </a:p>
        </p:txBody>
      </p:sp>
      <p:sp>
        <p:nvSpPr>
          <p:cNvPr id="5" name="Text 3"/>
          <p:cNvSpPr txBox="1"/>
          <p:nvPr/>
        </p:nvSpPr>
        <p:spPr>
          <a:xfrm>
            <a:off x="548640" y="3694176"/>
            <a:ext cx="9692640" cy="548640"/>
          </a:xfrm>
          <a:prstGeom prst="rect">
            <a:avLst/>
          </a:prstGeom>
          <a:noFill/>
          <a:ln/>
        </p:spPr>
        <p:txBody>
          <a:bodyPr wrap="square" lIns="0" tIns="0" rIns="0" bIns="0" rtlCol="0" anchor="ctr"/>
          <a:lstStyle/>
          <a:p>
            <a:pPr indent="0" marL="0">
              <a:buNone/>
            </a:pPr>
            <a:r>
              <a:rPr lang="en-US" sz="1600" dirty="0">
                <a:solidFill>
                  <a:srgbClr val="BCCCD2"/>
                </a:solidFill>
                <a:latin typeface="Calibri" pitchFamily="34" charset="0"/>
                <a:ea typeface="Calibri" pitchFamily="34" charset="-122"/>
                <a:cs typeface="Calibri" pitchFamily="34" charset="-120"/>
              </a:rPr>
              <a:t>A technical overview of navigating MDR and UKCA requirements for Class II devices</a:t>
            </a:r>
            <a:endParaRPr lang="en-US" sz="1600" dirty="0"/>
          </a:p>
        </p:txBody>
      </p:sp>
      <p:sp>
        <p:nvSpPr>
          <p:cNvPr id="6" name="Shape 4"/>
          <p:cNvSpPr/>
          <p:nvPr/>
        </p:nvSpPr>
        <p:spPr>
          <a:xfrm>
            <a:off x="548640" y="4572000"/>
            <a:ext cx="1920240" cy="32004"/>
          </a:xfrm>
          <a:prstGeom prst="rect">
            <a:avLst/>
          </a:prstGeom>
          <a:solidFill>
            <a:srgbClr val="2A9D8F"/>
          </a:solidFill>
          <a:ln w="12700">
            <a:solidFill>
              <a:srgbClr val="333333"/>
            </a:solidFill>
            <a:prstDash val="solid"/>
          </a:ln>
        </p:spPr>
      </p:sp>
      <p:sp>
        <p:nvSpPr>
          <p:cNvPr id="7" name="Text 5"/>
          <p:cNvSpPr txBox="1"/>
          <p:nvPr/>
        </p:nvSpPr>
        <p:spPr>
          <a:xfrm>
            <a:off x="548640" y="4828032"/>
            <a:ext cx="9144000" cy="329184"/>
          </a:xfrm>
          <a:prstGeom prst="rect">
            <a:avLst/>
          </a:prstGeom>
          <a:noFill/>
          <a:ln/>
        </p:spPr>
        <p:txBody>
          <a:bodyPr wrap="square" lIns="0" tIns="0" rIns="0" bIns="0" rtlCol="0" anchor="ctr"/>
          <a:lstStyle/>
          <a:p>
            <a:pPr indent="0" marL="0">
              <a:buNone/>
            </a:pPr>
            <a:r>
              <a:rPr lang="en-US" sz="1250" dirty="0">
                <a:solidFill>
                  <a:srgbClr val="8FA6AE"/>
                </a:solidFill>
                <a:latin typeface="Calibri" pitchFamily="34" charset="0"/>
                <a:ea typeface="Calibri" pitchFamily="34" charset="-122"/>
                <a:cs typeface="Calibri" pitchFamily="34" charset="-120"/>
              </a:rPr>
              <a:t>90 minutes  ·  Two working sessions  ·  Participant workbook provided</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RUN OF SHOW</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Where we are going</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548640" y="1536192"/>
            <a:ext cx="11094415" cy="841248"/>
          </a:xfrm>
          <a:prstGeom prst="roundRect">
            <a:avLst>
              <a:gd name="adj" fmla="val 7609"/>
            </a:avLst>
          </a:prstGeom>
          <a:solidFill>
            <a:srgbClr val="F1F5F6"/>
          </a:solidFill>
          <a:ln w="12700">
            <a:solidFill>
              <a:srgbClr val="D7E2E5"/>
            </a:solidFill>
            <a:prstDash val="solid"/>
          </a:ln>
        </p:spPr>
      </p:sp>
      <p:sp>
        <p:nvSpPr>
          <p:cNvPr id="7" name="Shape 5"/>
          <p:cNvSpPr/>
          <p:nvPr/>
        </p:nvSpPr>
        <p:spPr>
          <a:xfrm>
            <a:off x="822960" y="1773936"/>
            <a:ext cx="420624" cy="420624"/>
          </a:xfrm>
          <a:prstGeom prst="ellipse">
            <a:avLst/>
          </a:prstGeom>
          <a:solidFill>
            <a:srgbClr val="0E7C7B"/>
          </a:solidFill>
          <a:ln w="12700">
            <a:solidFill>
              <a:srgbClr val="333333"/>
            </a:solidFill>
            <a:prstDash val="solid"/>
          </a:ln>
        </p:spPr>
      </p:sp>
      <p:sp>
        <p:nvSpPr>
          <p:cNvPr id="8" name="Text 6"/>
          <p:cNvSpPr txBox="1"/>
          <p:nvPr/>
        </p:nvSpPr>
        <p:spPr>
          <a:xfrm>
            <a:off x="822960" y="177393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1426464" y="1664208"/>
            <a:ext cx="8716975" cy="585216"/>
          </a:xfrm>
          <a:prstGeom prst="rect">
            <a:avLst/>
          </a:prstGeom>
          <a:noFill/>
          <a:ln/>
        </p:spPr>
        <p:txBody>
          <a:bodyPr wrap="square" lIns="0" tIns="0" rIns="0" bIns="0" rtlCol="0" anchor="ctr"/>
          <a:lstStyle/>
          <a:p>
            <a:pPr indent="0" marL="0">
              <a:lnSpc>
                <a:spcPct val="104000"/>
              </a:lnSpc>
              <a:buNone/>
            </a:pPr>
            <a:r>
              <a:rPr lang="en-US" sz="1450" b="1" dirty="0">
                <a:solidFill>
                  <a:srgbClr val="1B3A4B"/>
                </a:solidFill>
                <a:latin typeface="Calibri" pitchFamily="34" charset="0"/>
                <a:ea typeface="Calibri" pitchFamily="34" charset="-122"/>
                <a:cs typeface="Calibri" pitchFamily="34" charset="-120"/>
              </a:rPr>
              <a:t>Four markets, not four copies</a:t>
            </a:r>
            <a:endParaRPr lang="en-US" sz="1450" dirty="0"/>
          </a:p>
          <a:p>
            <a:pPr indent="0" marL="0">
              <a:lnSpc>
                <a:spcPct val="104000"/>
              </a:lnSpc>
              <a:buNone/>
            </a:pPr>
            <a:r>
              <a:rPr lang="en-US" sz="1150" dirty="0">
                <a:solidFill>
                  <a:srgbClr val="22333B"/>
                </a:solidFill>
                <a:latin typeface="Calibri" pitchFamily="34" charset="0"/>
                <a:ea typeface="Calibri" pitchFamily="34" charset="-122"/>
                <a:cs typeface="Calibri" pitchFamily="34" charset="-120"/>
              </a:rPr>
              <a:t>Why the same device is a different regulatory object in each jurisdiction — and what that costs.</a:t>
            </a:r>
            <a:endParaRPr lang="en-US" sz="1450" dirty="0"/>
          </a:p>
        </p:txBody>
      </p:sp>
      <p:sp>
        <p:nvSpPr>
          <p:cNvPr id="10" name="Text 8"/>
          <p:cNvSpPr txBox="1"/>
          <p:nvPr/>
        </p:nvSpPr>
        <p:spPr>
          <a:xfrm>
            <a:off x="10271455" y="1536192"/>
            <a:ext cx="1097280" cy="841248"/>
          </a:xfrm>
          <a:prstGeom prst="rect">
            <a:avLst/>
          </a:prstGeom>
          <a:noFill/>
          <a:ln/>
        </p:spPr>
        <p:txBody>
          <a:bodyPr wrap="square" lIns="0" tIns="0" rIns="0" bIns="0" rtlCol="0" anchor="ctr"/>
          <a:lstStyle/>
          <a:p>
            <a:pPr algn="r" indent="0" marL="0">
              <a:buNone/>
            </a:pPr>
            <a:r>
              <a:rPr lang="en-US" sz="1250" b="1" dirty="0">
                <a:solidFill>
                  <a:srgbClr val="C77C1E"/>
                </a:solidFill>
                <a:latin typeface="Calibri" pitchFamily="34" charset="0"/>
                <a:ea typeface="Calibri" pitchFamily="34" charset="-122"/>
                <a:cs typeface="Calibri" pitchFamily="34" charset="-120"/>
              </a:rPr>
              <a:t>11 min</a:t>
            </a:r>
            <a:endParaRPr lang="en-US" sz="1250" dirty="0"/>
          </a:p>
        </p:txBody>
      </p:sp>
      <p:sp>
        <p:nvSpPr>
          <p:cNvPr id="11" name="Shape 9"/>
          <p:cNvSpPr/>
          <p:nvPr/>
        </p:nvSpPr>
        <p:spPr>
          <a:xfrm>
            <a:off x="548640" y="2505456"/>
            <a:ext cx="11094415" cy="841248"/>
          </a:xfrm>
          <a:prstGeom prst="roundRect">
            <a:avLst>
              <a:gd name="adj" fmla="val 7609"/>
            </a:avLst>
          </a:prstGeom>
          <a:solidFill>
            <a:srgbClr val="F1F5F6"/>
          </a:solidFill>
          <a:ln w="12700">
            <a:solidFill>
              <a:srgbClr val="D7E2E5"/>
            </a:solidFill>
            <a:prstDash val="solid"/>
          </a:ln>
        </p:spPr>
      </p:sp>
      <p:sp>
        <p:nvSpPr>
          <p:cNvPr id="12" name="Shape 10"/>
          <p:cNvSpPr/>
          <p:nvPr/>
        </p:nvSpPr>
        <p:spPr>
          <a:xfrm>
            <a:off x="822960" y="2743200"/>
            <a:ext cx="420624" cy="420624"/>
          </a:xfrm>
          <a:prstGeom prst="ellipse">
            <a:avLst/>
          </a:prstGeom>
          <a:solidFill>
            <a:srgbClr val="0E7C7B"/>
          </a:solidFill>
          <a:ln w="12700">
            <a:solidFill>
              <a:srgbClr val="333333"/>
            </a:solidFill>
            <a:prstDash val="solid"/>
          </a:ln>
        </p:spPr>
      </p:sp>
      <p:sp>
        <p:nvSpPr>
          <p:cNvPr id="13" name="Text 11"/>
          <p:cNvSpPr txBox="1"/>
          <p:nvPr/>
        </p:nvSpPr>
        <p:spPr>
          <a:xfrm>
            <a:off x="822960" y="274320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1426464" y="2633472"/>
            <a:ext cx="8716975" cy="585216"/>
          </a:xfrm>
          <a:prstGeom prst="rect">
            <a:avLst/>
          </a:prstGeom>
          <a:noFill/>
          <a:ln/>
        </p:spPr>
        <p:txBody>
          <a:bodyPr wrap="square" lIns="0" tIns="0" rIns="0" bIns="0" rtlCol="0" anchor="ctr"/>
          <a:lstStyle/>
          <a:p>
            <a:pPr indent="0" marL="0">
              <a:lnSpc>
                <a:spcPct val="104000"/>
              </a:lnSpc>
              <a:buNone/>
            </a:pPr>
            <a:r>
              <a:rPr lang="en-US" sz="1450" b="1" dirty="0">
                <a:solidFill>
                  <a:srgbClr val="1B3A4B"/>
                </a:solidFill>
                <a:latin typeface="Calibri" pitchFamily="34" charset="0"/>
                <a:ea typeface="Calibri" pitchFamily="34" charset="-122"/>
                <a:cs typeface="Calibri" pitchFamily="34" charset="-120"/>
              </a:rPr>
              <a:t>EU MDR</a:t>
            </a:r>
            <a:endParaRPr lang="en-US" sz="1450" dirty="0"/>
          </a:p>
          <a:p>
            <a:pPr indent="0" marL="0">
              <a:lnSpc>
                <a:spcPct val="104000"/>
              </a:lnSpc>
              <a:buNone/>
            </a:pPr>
            <a:r>
              <a:rPr lang="en-US" sz="1150" dirty="0">
                <a:solidFill>
                  <a:srgbClr val="22333B"/>
                </a:solidFill>
                <a:latin typeface="Calibri" pitchFamily="34" charset="0"/>
                <a:ea typeface="Calibri" pitchFamily="34" charset="-122"/>
                <a:cs typeface="Calibri" pitchFamily="34" charset="-120"/>
              </a:rPr>
              <a:t>Classification, conformity assessment routes, the technical file, clinical evidence, and what is actually in force.</a:t>
            </a:r>
            <a:endParaRPr lang="en-US" sz="1450" dirty="0"/>
          </a:p>
        </p:txBody>
      </p:sp>
      <p:sp>
        <p:nvSpPr>
          <p:cNvPr id="15" name="Text 13"/>
          <p:cNvSpPr txBox="1"/>
          <p:nvPr/>
        </p:nvSpPr>
        <p:spPr>
          <a:xfrm>
            <a:off x="10271455" y="2505456"/>
            <a:ext cx="1097280" cy="841248"/>
          </a:xfrm>
          <a:prstGeom prst="rect">
            <a:avLst/>
          </a:prstGeom>
          <a:noFill/>
          <a:ln/>
        </p:spPr>
        <p:txBody>
          <a:bodyPr wrap="square" lIns="0" tIns="0" rIns="0" bIns="0" rtlCol="0" anchor="ctr"/>
          <a:lstStyle/>
          <a:p>
            <a:pPr algn="r" indent="0" marL="0">
              <a:buNone/>
            </a:pPr>
            <a:r>
              <a:rPr lang="en-US" sz="1250" b="1" dirty="0">
                <a:solidFill>
                  <a:srgbClr val="C77C1E"/>
                </a:solidFill>
                <a:latin typeface="Calibri" pitchFamily="34" charset="0"/>
                <a:ea typeface="Calibri" pitchFamily="34" charset="-122"/>
                <a:cs typeface="Calibri" pitchFamily="34" charset="-120"/>
              </a:rPr>
              <a:t>22 min</a:t>
            </a:r>
            <a:endParaRPr lang="en-US" sz="1250" dirty="0"/>
          </a:p>
        </p:txBody>
      </p:sp>
      <p:sp>
        <p:nvSpPr>
          <p:cNvPr id="16" name="Shape 14"/>
          <p:cNvSpPr/>
          <p:nvPr/>
        </p:nvSpPr>
        <p:spPr>
          <a:xfrm>
            <a:off x="548640" y="3474720"/>
            <a:ext cx="11094415" cy="841248"/>
          </a:xfrm>
          <a:prstGeom prst="roundRect">
            <a:avLst>
              <a:gd name="adj" fmla="val 7609"/>
            </a:avLst>
          </a:prstGeom>
          <a:solidFill>
            <a:srgbClr val="F1F5F6"/>
          </a:solidFill>
          <a:ln w="12700">
            <a:solidFill>
              <a:srgbClr val="D7E2E5"/>
            </a:solidFill>
            <a:prstDash val="solid"/>
          </a:ln>
        </p:spPr>
      </p:sp>
      <p:sp>
        <p:nvSpPr>
          <p:cNvPr id="17" name="Shape 15"/>
          <p:cNvSpPr/>
          <p:nvPr/>
        </p:nvSpPr>
        <p:spPr>
          <a:xfrm>
            <a:off x="822960" y="3712464"/>
            <a:ext cx="420624" cy="420624"/>
          </a:xfrm>
          <a:prstGeom prst="ellipse">
            <a:avLst/>
          </a:prstGeom>
          <a:solidFill>
            <a:srgbClr val="0E7C7B"/>
          </a:solidFill>
          <a:ln w="12700">
            <a:solidFill>
              <a:srgbClr val="333333"/>
            </a:solidFill>
            <a:prstDash val="solid"/>
          </a:ln>
        </p:spPr>
      </p:sp>
      <p:sp>
        <p:nvSpPr>
          <p:cNvPr id="18" name="Text 16"/>
          <p:cNvSpPr txBox="1"/>
          <p:nvPr/>
        </p:nvSpPr>
        <p:spPr>
          <a:xfrm>
            <a:off x="822960" y="37124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1426464" y="3602736"/>
            <a:ext cx="8716975" cy="585216"/>
          </a:xfrm>
          <a:prstGeom prst="rect">
            <a:avLst/>
          </a:prstGeom>
          <a:noFill/>
          <a:ln/>
        </p:spPr>
        <p:txBody>
          <a:bodyPr wrap="square" lIns="0" tIns="0" rIns="0" bIns="0" rtlCol="0" anchor="ctr"/>
          <a:lstStyle/>
          <a:p>
            <a:pPr indent="0" marL="0">
              <a:lnSpc>
                <a:spcPct val="104000"/>
              </a:lnSpc>
              <a:buNone/>
            </a:pPr>
            <a:r>
              <a:rPr lang="en-US" sz="1450" b="1" dirty="0">
                <a:solidFill>
                  <a:srgbClr val="1B3A4B"/>
                </a:solidFill>
                <a:latin typeface="Calibri" pitchFamily="34" charset="0"/>
                <a:ea typeface="Calibri" pitchFamily="34" charset="-122"/>
                <a:cs typeface="Calibri" pitchFamily="34" charset="-120"/>
              </a:rPr>
              <a:t>UKCA and the UK framework</a:t>
            </a:r>
            <a:endParaRPr lang="en-US" sz="1450" dirty="0"/>
          </a:p>
          <a:p>
            <a:pPr indent="0" marL="0">
              <a:lnSpc>
                <a:spcPct val="104000"/>
              </a:lnSpc>
              <a:buNone/>
            </a:pPr>
            <a:r>
              <a:rPr lang="en-US" sz="1150" dirty="0">
                <a:solidFill>
                  <a:srgbClr val="22333B"/>
                </a:solidFill>
                <a:latin typeface="Calibri" pitchFamily="34" charset="0"/>
                <a:ea typeface="Calibri" pitchFamily="34" charset="-122"/>
                <a:cs typeface="Calibri" pitchFamily="34" charset="-120"/>
              </a:rPr>
              <a:t>What UKCA requires, the dates that govern Great Britain, and the divergence from MDR that catches people.</a:t>
            </a:r>
            <a:endParaRPr lang="en-US" sz="1450" dirty="0"/>
          </a:p>
        </p:txBody>
      </p:sp>
      <p:sp>
        <p:nvSpPr>
          <p:cNvPr id="20" name="Text 18"/>
          <p:cNvSpPr txBox="1"/>
          <p:nvPr/>
        </p:nvSpPr>
        <p:spPr>
          <a:xfrm>
            <a:off x="10271455" y="3474720"/>
            <a:ext cx="1097280" cy="841248"/>
          </a:xfrm>
          <a:prstGeom prst="rect">
            <a:avLst/>
          </a:prstGeom>
          <a:noFill/>
          <a:ln/>
        </p:spPr>
        <p:txBody>
          <a:bodyPr wrap="square" lIns="0" tIns="0" rIns="0" bIns="0" rtlCol="0" anchor="ctr"/>
          <a:lstStyle/>
          <a:p>
            <a:pPr algn="r" indent="0" marL="0">
              <a:buNone/>
            </a:pPr>
            <a:r>
              <a:rPr lang="en-US" sz="1250" b="1" dirty="0">
                <a:solidFill>
                  <a:srgbClr val="C77C1E"/>
                </a:solidFill>
                <a:latin typeface="Calibri" pitchFamily="34" charset="0"/>
                <a:ea typeface="Calibri" pitchFamily="34" charset="-122"/>
                <a:cs typeface="Calibri" pitchFamily="34" charset="-120"/>
              </a:rPr>
              <a:t>14 min</a:t>
            </a:r>
            <a:endParaRPr lang="en-US" sz="1250" dirty="0"/>
          </a:p>
        </p:txBody>
      </p:sp>
      <p:sp>
        <p:nvSpPr>
          <p:cNvPr id="21" name="Shape 19"/>
          <p:cNvSpPr/>
          <p:nvPr/>
        </p:nvSpPr>
        <p:spPr>
          <a:xfrm>
            <a:off x="548640" y="4443984"/>
            <a:ext cx="11094415" cy="841248"/>
          </a:xfrm>
          <a:prstGeom prst="roundRect">
            <a:avLst>
              <a:gd name="adj" fmla="val 7609"/>
            </a:avLst>
          </a:prstGeom>
          <a:solidFill>
            <a:srgbClr val="F1F5F6"/>
          </a:solidFill>
          <a:ln w="12700">
            <a:solidFill>
              <a:srgbClr val="D7E2E5"/>
            </a:solidFill>
            <a:prstDash val="solid"/>
          </a:ln>
        </p:spPr>
      </p:sp>
      <p:sp>
        <p:nvSpPr>
          <p:cNvPr id="22" name="Shape 20"/>
          <p:cNvSpPr/>
          <p:nvPr/>
        </p:nvSpPr>
        <p:spPr>
          <a:xfrm>
            <a:off x="822960" y="4681728"/>
            <a:ext cx="420624" cy="420624"/>
          </a:xfrm>
          <a:prstGeom prst="ellipse">
            <a:avLst/>
          </a:prstGeom>
          <a:solidFill>
            <a:srgbClr val="0E7C7B"/>
          </a:solidFill>
          <a:ln w="12700">
            <a:solidFill>
              <a:srgbClr val="333333"/>
            </a:solidFill>
            <a:prstDash val="solid"/>
          </a:ln>
        </p:spPr>
      </p:sp>
      <p:sp>
        <p:nvSpPr>
          <p:cNvPr id="23" name="Text 21"/>
          <p:cNvSpPr txBox="1"/>
          <p:nvPr/>
        </p:nvSpPr>
        <p:spPr>
          <a:xfrm>
            <a:off x="822960" y="468172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txBox="1"/>
          <p:nvPr/>
        </p:nvSpPr>
        <p:spPr>
          <a:xfrm>
            <a:off x="1426464" y="4572000"/>
            <a:ext cx="8716975" cy="585216"/>
          </a:xfrm>
          <a:prstGeom prst="rect">
            <a:avLst/>
          </a:prstGeom>
          <a:noFill/>
          <a:ln/>
        </p:spPr>
        <p:txBody>
          <a:bodyPr wrap="square" lIns="0" tIns="0" rIns="0" bIns="0" rtlCol="0" anchor="ctr"/>
          <a:lstStyle/>
          <a:p>
            <a:pPr indent="0" marL="0">
              <a:lnSpc>
                <a:spcPct val="104000"/>
              </a:lnSpc>
              <a:buNone/>
            </a:pPr>
            <a:r>
              <a:rPr lang="en-US" sz="1450" b="1" dirty="0">
                <a:solidFill>
                  <a:srgbClr val="1B3A4B"/>
                </a:solidFill>
                <a:latin typeface="Calibri" pitchFamily="34" charset="0"/>
                <a:ea typeface="Calibri" pitchFamily="34" charset="-122"/>
                <a:cs typeface="Calibri" pitchFamily="34" charset="-120"/>
              </a:rPr>
              <a:t>United States and Japan</a:t>
            </a:r>
            <a:endParaRPr lang="en-US" sz="1450" dirty="0"/>
          </a:p>
          <a:p>
            <a:pPr indent="0" marL="0">
              <a:lnSpc>
                <a:spcPct val="104000"/>
              </a:lnSpc>
              <a:buNone/>
            </a:pPr>
            <a:r>
              <a:rPr lang="en-US" sz="1150" dirty="0">
                <a:solidFill>
                  <a:srgbClr val="22333B"/>
                </a:solidFill>
                <a:latin typeface="Calibri" pitchFamily="34" charset="0"/>
                <a:ea typeface="Calibri" pitchFamily="34" charset="-122"/>
                <a:cs typeface="Calibri" pitchFamily="34" charset="-120"/>
              </a:rPr>
              <a:t>The 510(k) and the Ninsho/Shonin split, and the quality system layer underneath all four.</a:t>
            </a:r>
            <a:endParaRPr lang="en-US" sz="1450" dirty="0"/>
          </a:p>
        </p:txBody>
      </p:sp>
      <p:sp>
        <p:nvSpPr>
          <p:cNvPr id="25" name="Text 23"/>
          <p:cNvSpPr txBox="1"/>
          <p:nvPr/>
        </p:nvSpPr>
        <p:spPr>
          <a:xfrm>
            <a:off x="10271455" y="4443984"/>
            <a:ext cx="1097280" cy="841248"/>
          </a:xfrm>
          <a:prstGeom prst="rect">
            <a:avLst/>
          </a:prstGeom>
          <a:noFill/>
          <a:ln/>
        </p:spPr>
        <p:txBody>
          <a:bodyPr wrap="square" lIns="0" tIns="0" rIns="0" bIns="0" rtlCol="0" anchor="ctr"/>
          <a:lstStyle/>
          <a:p>
            <a:pPr algn="r" indent="0" marL="0">
              <a:buNone/>
            </a:pPr>
            <a:r>
              <a:rPr lang="en-US" sz="1250" b="1" dirty="0">
                <a:solidFill>
                  <a:srgbClr val="C77C1E"/>
                </a:solidFill>
                <a:latin typeface="Calibri" pitchFamily="34" charset="0"/>
                <a:ea typeface="Calibri" pitchFamily="34" charset="-122"/>
                <a:cs typeface="Calibri" pitchFamily="34" charset="-120"/>
              </a:rPr>
              <a:t>11 min</a:t>
            </a:r>
            <a:endParaRPr lang="en-US" sz="1250" dirty="0"/>
          </a:p>
        </p:txBody>
      </p:sp>
      <p:sp>
        <p:nvSpPr>
          <p:cNvPr id="26" name="Shape 24"/>
          <p:cNvSpPr/>
          <p:nvPr/>
        </p:nvSpPr>
        <p:spPr>
          <a:xfrm>
            <a:off x="548640" y="5413248"/>
            <a:ext cx="11094415" cy="841248"/>
          </a:xfrm>
          <a:prstGeom prst="roundRect">
            <a:avLst>
              <a:gd name="adj" fmla="val 7609"/>
            </a:avLst>
          </a:prstGeom>
          <a:solidFill>
            <a:srgbClr val="F1F5F6"/>
          </a:solidFill>
          <a:ln w="12700">
            <a:solidFill>
              <a:srgbClr val="D7E2E5"/>
            </a:solidFill>
            <a:prstDash val="solid"/>
          </a:ln>
        </p:spPr>
      </p:sp>
      <p:sp>
        <p:nvSpPr>
          <p:cNvPr id="27" name="Shape 25"/>
          <p:cNvSpPr/>
          <p:nvPr/>
        </p:nvSpPr>
        <p:spPr>
          <a:xfrm>
            <a:off x="822960" y="5650992"/>
            <a:ext cx="420624" cy="420624"/>
          </a:xfrm>
          <a:prstGeom prst="ellipse">
            <a:avLst/>
          </a:prstGeom>
          <a:solidFill>
            <a:srgbClr val="0E7C7B"/>
          </a:solidFill>
          <a:ln w="12700">
            <a:solidFill>
              <a:srgbClr val="333333"/>
            </a:solidFill>
            <a:prstDash val="solid"/>
          </a:ln>
        </p:spPr>
      </p:sp>
      <p:sp>
        <p:nvSpPr>
          <p:cNvPr id="28" name="Text 26"/>
          <p:cNvSpPr txBox="1"/>
          <p:nvPr/>
        </p:nvSpPr>
        <p:spPr>
          <a:xfrm>
            <a:off x="822960" y="565099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7"/>
          <p:cNvSpPr txBox="1"/>
          <p:nvPr/>
        </p:nvSpPr>
        <p:spPr>
          <a:xfrm>
            <a:off x="1426464" y="5541264"/>
            <a:ext cx="8716975" cy="585216"/>
          </a:xfrm>
          <a:prstGeom prst="rect">
            <a:avLst/>
          </a:prstGeom>
          <a:noFill/>
          <a:ln/>
        </p:spPr>
        <p:txBody>
          <a:bodyPr wrap="square" lIns="0" tIns="0" rIns="0" bIns="0" rtlCol="0" anchor="ctr"/>
          <a:lstStyle/>
          <a:p>
            <a:pPr indent="0" marL="0">
              <a:lnSpc>
                <a:spcPct val="104000"/>
              </a:lnSpc>
              <a:buNone/>
            </a:pPr>
            <a:r>
              <a:rPr lang="en-US" sz="1450" b="1" dirty="0">
                <a:solidFill>
                  <a:srgbClr val="1B3A4B"/>
                </a:solidFill>
                <a:latin typeface="Calibri" pitchFamily="34" charset="0"/>
                <a:ea typeface="Calibri" pitchFamily="34" charset="-122"/>
                <a:cs typeface="Calibri" pitchFamily="34" charset="-120"/>
              </a:rPr>
              <a:t>Making it work</a:t>
            </a:r>
            <a:endParaRPr lang="en-US" sz="1450" dirty="0"/>
          </a:p>
          <a:p>
            <a:pPr indent="0" marL="0">
              <a:lnSpc>
                <a:spcPct val="104000"/>
              </a:lnSpc>
              <a:buNone/>
            </a:pPr>
            <a:r>
              <a:rPr lang="en-US" sz="1150" dirty="0">
                <a:solidFill>
                  <a:srgbClr val="22333B"/>
                </a:solidFill>
                <a:latin typeface="Calibri" pitchFamily="34" charset="0"/>
                <a:ea typeface="Calibri" pitchFamily="34" charset="-122"/>
                <a:cs typeface="Calibri" pitchFamily="34" charset="-120"/>
              </a:rPr>
              <a:t>One technical file, four submissions. Sequencing, and the decisions you cannot cheaply reverse.</a:t>
            </a:r>
            <a:endParaRPr lang="en-US" sz="1450" dirty="0"/>
          </a:p>
        </p:txBody>
      </p:sp>
      <p:sp>
        <p:nvSpPr>
          <p:cNvPr id="30" name="Text 28"/>
          <p:cNvSpPr txBox="1"/>
          <p:nvPr/>
        </p:nvSpPr>
        <p:spPr>
          <a:xfrm>
            <a:off x="10271455" y="5413248"/>
            <a:ext cx="1097280" cy="841248"/>
          </a:xfrm>
          <a:prstGeom prst="rect">
            <a:avLst/>
          </a:prstGeom>
          <a:noFill/>
          <a:ln/>
        </p:spPr>
        <p:txBody>
          <a:bodyPr wrap="square" lIns="0" tIns="0" rIns="0" bIns="0" rtlCol="0" anchor="ctr"/>
          <a:lstStyle/>
          <a:p>
            <a:pPr algn="r" indent="0" marL="0">
              <a:buNone/>
            </a:pPr>
            <a:r>
              <a:rPr lang="en-US" sz="1250" b="1" dirty="0">
                <a:solidFill>
                  <a:srgbClr val="C77C1E"/>
                </a:solidFill>
                <a:latin typeface="Calibri" pitchFamily="34" charset="0"/>
                <a:ea typeface="Calibri" pitchFamily="34" charset="-122"/>
                <a:cs typeface="Calibri" pitchFamily="34" charset="-120"/>
              </a:rPr>
              <a:t>6 min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OBJECTIVES</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What you should be able to do afterwards</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3</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Not 'be aware of' — be able to do. Hold me to this at the end.</a:t>
            </a:r>
            <a:endParaRPr lang="en-US" sz="1400" dirty="0"/>
          </a:p>
        </p:txBody>
      </p:sp>
      <p:sp>
        <p:nvSpPr>
          <p:cNvPr id="7" name="Shape 5"/>
          <p:cNvSpPr/>
          <p:nvPr/>
        </p:nvSpPr>
        <p:spPr>
          <a:xfrm>
            <a:off x="548640" y="1737360"/>
            <a:ext cx="3515258" cy="2121408"/>
          </a:xfrm>
          <a:prstGeom prst="roundRect">
            <a:avLst>
              <a:gd name="adj" fmla="val 3017"/>
            </a:avLst>
          </a:prstGeom>
          <a:solidFill>
            <a:srgbClr val="F1F5F6"/>
          </a:solidFill>
          <a:ln w="12700">
            <a:solidFill>
              <a:srgbClr val="D7E2E5"/>
            </a:solidFill>
            <a:prstDash val="solid"/>
          </a:ln>
        </p:spPr>
      </p:sp>
      <p:sp>
        <p:nvSpPr>
          <p:cNvPr id="8" name="Shape 6"/>
          <p:cNvSpPr/>
          <p:nvPr/>
        </p:nvSpPr>
        <p:spPr>
          <a:xfrm>
            <a:off x="768096" y="1938528"/>
            <a:ext cx="365760" cy="365760"/>
          </a:xfrm>
          <a:prstGeom prst="ellipse">
            <a:avLst/>
          </a:prstGeom>
          <a:solidFill>
            <a:srgbClr val="0E7C7B"/>
          </a:solidFill>
          <a:ln w="12700">
            <a:solidFill>
              <a:srgbClr val="0E7C7B"/>
            </a:solidFill>
            <a:prstDash val="solid"/>
          </a:ln>
        </p:spPr>
      </p:sp>
      <p:sp>
        <p:nvSpPr>
          <p:cNvPr id="9" name="Text 7"/>
          <p:cNvSpPr txBox="1"/>
          <p:nvPr/>
        </p:nvSpPr>
        <p:spPr>
          <a:xfrm>
            <a:off x="768096" y="19385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768096" y="2414016"/>
            <a:ext cx="3076346" cy="308864"/>
          </a:xfrm>
          <a:prstGeom prst="rect">
            <a:avLst/>
          </a:prstGeom>
          <a:noFill/>
          <a:ln/>
        </p:spPr>
        <p:txBody>
          <a:bodyPr wrap="square" lIns="0" tIns="0" rIns="0" bIns="0" rtlCol="0" anchor="t"/>
          <a:lstStyle/>
          <a:p>
            <a:pPr indent="0" marL="0">
              <a:buNone/>
            </a:pPr>
            <a:r>
              <a:rPr lang="en-US" sz="1400" b="1" dirty="0">
                <a:solidFill>
                  <a:srgbClr val="1B3A4B"/>
                </a:solidFill>
                <a:latin typeface="Calibri" pitchFamily="34" charset="0"/>
                <a:ea typeface="Calibri" pitchFamily="34" charset="-122"/>
                <a:cs typeface="Calibri" pitchFamily="34" charset="-120"/>
              </a:rPr>
              <a:t>Classify in four systems</a:t>
            </a:r>
            <a:endParaRPr lang="en-US" sz="1400" dirty="0"/>
          </a:p>
        </p:txBody>
      </p:sp>
      <p:sp>
        <p:nvSpPr>
          <p:cNvPr id="11" name="Text 9"/>
          <p:cNvSpPr txBox="1"/>
          <p:nvPr/>
        </p:nvSpPr>
        <p:spPr>
          <a:xfrm>
            <a:off x="768096" y="2759456"/>
            <a:ext cx="3076346" cy="953008"/>
          </a:xfrm>
          <a:prstGeom prst="rect">
            <a:avLst/>
          </a:prstGeom>
          <a:noFill/>
          <a:ln/>
        </p:spPr>
        <p:txBody>
          <a:bodyPr wrap="square" lIns="0" tIns="0" rIns="0" bIns="0" rtlCol="0" anchor="t"/>
          <a:lstStyle/>
          <a:p>
            <a:pPr indent="0" marL="0">
              <a:lnSpc>
                <a:spcPct val="106000"/>
              </a:lnSpc>
              <a:buNone/>
            </a:pPr>
            <a:r>
              <a:rPr lang="en-US" sz="1100" dirty="0">
                <a:solidFill>
                  <a:srgbClr val="22333B"/>
                </a:solidFill>
                <a:latin typeface="Calibri" pitchFamily="34" charset="0"/>
                <a:ea typeface="Calibri" pitchFamily="34" charset="-122"/>
                <a:cs typeface="Calibri" pitchFamily="34" charset="-120"/>
              </a:rPr>
              <a:t>Take one device and determine its regulatory class in the US, EU, UK and Japan — and explain why the answers differ rather than assuming one of them is wrong.</a:t>
            </a:r>
            <a:endParaRPr lang="en-US" sz="1100" dirty="0"/>
          </a:p>
        </p:txBody>
      </p:sp>
      <p:sp>
        <p:nvSpPr>
          <p:cNvPr id="12" name="Shape 10"/>
          <p:cNvSpPr/>
          <p:nvPr/>
        </p:nvSpPr>
        <p:spPr>
          <a:xfrm>
            <a:off x="4338218" y="1737360"/>
            <a:ext cx="3515258" cy="2121408"/>
          </a:xfrm>
          <a:prstGeom prst="roundRect">
            <a:avLst>
              <a:gd name="adj" fmla="val 3017"/>
            </a:avLst>
          </a:prstGeom>
          <a:solidFill>
            <a:srgbClr val="F1F5F6"/>
          </a:solidFill>
          <a:ln w="12700">
            <a:solidFill>
              <a:srgbClr val="D7E2E5"/>
            </a:solidFill>
            <a:prstDash val="solid"/>
          </a:ln>
        </p:spPr>
      </p:sp>
      <p:sp>
        <p:nvSpPr>
          <p:cNvPr id="13" name="Shape 11"/>
          <p:cNvSpPr/>
          <p:nvPr/>
        </p:nvSpPr>
        <p:spPr>
          <a:xfrm>
            <a:off x="4557674" y="1938528"/>
            <a:ext cx="365760" cy="365760"/>
          </a:xfrm>
          <a:prstGeom prst="ellipse">
            <a:avLst/>
          </a:prstGeom>
          <a:solidFill>
            <a:srgbClr val="0E7C7B"/>
          </a:solidFill>
          <a:ln w="12700">
            <a:solidFill>
              <a:srgbClr val="0E7C7B"/>
            </a:solidFill>
            <a:prstDash val="solid"/>
          </a:ln>
        </p:spPr>
      </p:sp>
      <p:sp>
        <p:nvSpPr>
          <p:cNvPr id="14" name="Text 12"/>
          <p:cNvSpPr txBox="1"/>
          <p:nvPr/>
        </p:nvSpPr>
        <p:spPr>
          <a:xfrm>
            <a:off x="4557674" y="19385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4557674" y="2414016"/>
            <a:ext cx="3076346" cy="308864"/>
          </a:xfrm>
          <a:prstGeom prst="rect">
            <a:avLst/>
          </a:prstGeom>
          <a:noFill/>
          <a:ln/>
        </p:spPr>
        <p:txBody>
          <a:bodyPr wrap="square" lIns="0" tIns="0" rIns="0" bIns="0" rtlCol="0" anchor="t"/>
          <a:lstStyle/>
          <a:p>
            <a:pPr indent="0" marL="0">
              <a:buNone/>
            </a:pPr>
            <a:r>
              <a:rPr lang="en-US" sz="1400" b="1" dirty="0">
                <a:solidFill>
                  <a:srgbClr val="1B3A4B"/>
                </a:solidFill>
                <a:latin typeface="Calibri" pitchFamily="34" charset="0"/>
                <a:ea typeface="Calibri" pitchFamily="34" charset="-122"/>
                <a:cs typeface="Calibri" pitchFamily="34" charset="-120"/>
              </a:rPr>
              <a:t>Pick the right route</a:t>
            </a:r>
            <a:endParaRPr lang="en-US" sz="1400" dirty="0"/>
          </a:p>
        </p:txBody>
      </p:sp>
      <p:sp>
        <p:nvSpPr>
          <p:cNvPr id="16" name="Text 14"/>
          <p:cNvSpPr txBox="1"/>
          <p:nvPr/>
        </p:nvSpPr>
        <p:spPr>
          <a:xfrm>
            <a:off x="4557674" y="2759456"/>
            <a:ext cx="3076346" cy="953008"/>
          </a:xfrm>
          <a:prstGeom prst="rect">
            <a:avLst/>
          </a:prstGeom>
          <a:noFill/>
          <a:ln/>
        </p:spPr>
        <p:txBody>
          <a:bodyPr wrap="square" lIns="0" tIns="0" rIns="0" bIns="0" rtlCol="0" anchor="t"/>
          <a:lstStyle/>
          <a:p>
            <a:pPr indent="0" marL="0">
              <a:lnSpc>
                <a:spcPct val="106000"/>
              </a:lnSpc>
              <a:buNone/>
            </a:pPr>
            <a:r>
              <a:rPr lang="en-US" sz="1100" dirty="0">
                <a:solidFill>
                  <a:srgbClr val="22333B"/>
                </a:solidFill>
                <a:latin typeface="Calibri" pitchFamily="34" charset="0"/>
                <a:ea typeface="Calibri" pitchFamily="34" charset="-122"/>
                <a:cs typeface="Calibri" pitchFamily="34" charset="-120"/>
              </a:rPr>
              <a:t>Choose a conformity assessment route under MDR and UK MDR 2002, and identify whether a Japanese device needs Ninsho or Shonin.</a:t>
            </a:r>
            <a:endParaRPr lang="en-US" sz="1100" dirty="0"/>
          </a:p>
        </p:txBody>
      </p:sp>
      <p:sp>
        <p:nvSpPr>
          <p:cNvPr id="17" name="Shape 15"/>
          <p:cNvSpPr/>
          <p:nvPr/>
        </p:nvSpPr>
        <p:spPr>
          <a:xfrm>
            <a:off x="8127797" y="1737360"/>
            <a:ext cx="3515258" cy="2121408"/>
          </a:xfrm>
          <a:prstGeom prst="roundRect">
            <a:avLst>
              <a:gd name="adj" fmla="val 3017"/>
            </a:avLst>
          </a:prstGeom>
          <a:solidFill>
            <a:srgbClr val="F1F5F6"/>
          </a:solidFill>
          <a:ln w="12700">
            <a:solidFill>
              <a:srgbClr val="D7E2E5"/>
            </a:solidFill>
            <a:prstDash val="solid"/>
          </a:ln>
        </p:spPr>
      </p:sp>
      <p:sp>
        <p:nvSpPr>
          <p:cNvPr id="18" name="Shape 16"/>
          <p:cNvSpPr/>
          <p:nvPr/>
        </p:nvSpPr>
        <p:spPr>
          <a:xfrm>
            <a:off x="8347253" y="1938528"/>
            <a:ext cx="365760" cy="365760"/>
          </a:xfrm>
          <a:prstGeom prst="ellipse">
            <a:avLst/>
          </a:prstGeom>
          <a:solidFill>
            <a:srgbClr val="0E7C7B"/>
          </a:solidFill>
          <a:ln w="12700">
            <a:solidFill>
              <a:srgbClr val="0E7C7B"/>
            </a:solidFill>
            <a:prstDash val="solid"/>
          </a:ln>
        </p:spPr>
      </p:sp>
      <p:sp>
        <p:nvSpPr>
          <p:cNvPr id="19" name="Text 17"/>
          <p:cNvSpPr txBox="1"/>
          <p:nvPr/>
        </p:nvSpPr>
        <p:spPr>
          <a:xfrm>
            <a:off x="8347253" y="19385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8347253" y="2414016"/>
            <a:ext cx="3076346" cy="308864"/>
          </a:xfrm>
          <a:prstGeom prst="rect">
            <a:avLst/>
          </a:prstGeom>
          <a:noFill/>
          <a:ln/>
        </p:spPr>
        <p:txBody>
          <a:bodyPr wrap="square" lIns="0" tIns="0" rIns="0" bIns="0" rtlCol="0" anchor="t"/>
          <a:lstStyle/>
          <a:p>
            <a:pPr indent="0" marL="0">
              <a:buNone/>
            </a:pPr>
            <a:r>
              <a:rPr lang="en-US" sz="1400" b="1" dirty="0">
                <a:solidFill>
                  <a:srgbClr val="1B3A4B"/>
                </a:solidFill>
                <a:latin typeface="Calibri" pitchFamily="34" charset="0"/>
                <a:ea typeface="Calibri" pitchFamily="34" charset="-122"/>
                <a:cs typeface="Calibri" pitchFamily="34" charset="-120"/>
              </a:rPr>
              <a:t>Scope the technical file</a:t>
            </a:r>
            <a:endParaRPr lang="en-US" sz="1400" dirty="0"/>
          </a:p>
        </p:txBody>
      </p:sp>
      <p:sp>
        <p:nvSpPr>
          <p:cNvPr id="21" name="Text 19"/>
          <p:cNvSpPr txBox="1"/>
          <p:nvPr/>
        </p:nvSpPr>
        <p:spPr>
          <a:xfrm>
            <a:off x="8347253" y="2759456"/>
            <a:ext cx="3076346" cy="953008"/>
          </a:xfrm>
          <a:prstGeom prst="rect">
            <a:avLst/>
          </a:prstGeom>
          <a:noFill/>
          <a:ln/>
        </p:spPr>
        <p:txBody>
          <a:bodyPr wrap="square" lIns="0" tIns="0" rIns="0" bIns="0" rtlCol="0" anchor="t"/>
          <a:lstStyle/>
          <a:p>
            <a:pPr indent="0" marL="0">
              <a:lnSpc>
                <a:spcPct val="106000"/>
              </a:lnSpc>
              <a:buNone/>
            </a:pPr>
            <a:r>
              <a:rPr lang="en-US" sz="1100" dirty="0">
                <a:solidFill>
                  <a:srgbClr val="22333B"/>
                </a:solidFill>
                <a:latin typeface="Calibri" pitchFamily="34" charset="0"/>
                <a:ea typeface="Calibri" pitchFamily="34" charset="-122"/>
                <a:cs typeface="Calibri" pitchFamily="34" charset="-120"/>
              </a:rPr>
              <a:t>Name what Annex II requires, what a 510(k) requires, and which parts of one package genuinely serve the other.</a:t>
            </a:r>
            <a:endParaRPr lang="en-US" sz="1100" dirty="0"/>
          </a:p>
        </p:txBody>
      </p:sp>
      <p:sp>
        <p:nvSpPr>
          <p:cNvPr id="22" name="Shape 20"/>
          <p:cNvSpPr/>
          <p:nvPr/>
        </p:nvSpPr>
        <p:spPr>
          <a:xfrm>
            <a:off x="548640" y="4133088"/>
            <a:ext cx="3515258" cy="2121408"/>
          </a:xfrm>
          <a:prstGeom prst="roundRect">
            <a:avLst>
              <a:gd name="adj" fmla="val 3017"/>
            </a:avLst>
          </a:prstGeom>
          <a:solidFill>
            <a:srgbClr val="F1F5F6"/>
          </a:solidFill>
          <a:ln w="12700">
            <a:solidFill>
              <a:srgbClr val="D7E2E5"/>
            </a:solidFill>
            <a:prstDash val="solid"/>
          </a:ln>
        </p:spPr>
      </p:sp>
      <p:sp>
        <p:nvSpPr>
          <p:cNvPr id="23" name="Shape 21"/>
          <p:cNvSpPr/>
          <p:nvPr/>
        </p:nvSpPr>
        <p:spPr>
          <a:xfrm>
            <a:off x="768096" y="4334256"/>
            <a:ext cx="365760" cy="365760"/>
          </a:xfrm>
          <a:prstGeom prst="ellipse">
            <a:avLst/>
          </a:prstGeom>
          <a:solidFill>
            <a:srgbClr val="0E7C7B"/>
          </a:solidFill>
          <a:ln w="12700">
            <a:solidFill>
              <a:srgbClr val="0E7C7B"/>
            </a:solidFill>
            <a:prstDash val="solid"/>
          </a:ln>
        </p:spPr>
      </p:sp>
      <p:sp>
        <p:nvSpPr>
          <p:cNvPr id="24" name="Text 22"/>
          <p:cNvSpPr txBox="1"/>
          <p:nvPr/>
        </p:nvSpPr>
        <p:spPr>
          <a:xfrm>
            <a:off x="768096" y="43342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txBox="1"/>
          <p:nvPr/>
        </p:nvSpPr>
        <p:spPr>
          <a:xfrm>
            <a:off x="768096" y="4809744"/>
            <a:ext cx="3076346" cy="308864"/>
          </a:xfrm>
          <a:prstGeom prst="rect">
            <a:avLst/>
          </a:prstGeom>
          <a:noFill/>
          <a:ln/>
        </p:spPr>
        <p:txBody>
          <a:bodyPr wrap="square" lIns="0" tIns="0" rIns="0" bIns="0" rtlCol="0" anchor="t"/>
          <a:lstStyle/>
          <a:p>
            <a:pPr indent="0" marL="0">
              <a:buNone/>
            </a:pPr>
            <a:r>
              <a:rPr lang="en-US" sz="1400" b="1" dirty="0">
                <a:solidFill>
                  <a:srgbClr val="1B3A4B"/>
                </a:solidFill>
                <a:latin typeface="Calibri" pitchFamily="34" charset="0"/>
                <a:ea typeface="Calibri" pitchFamily="34" charset="-122"/>
                <a:cs typeface="Calibri" pitchFamily="34" charset="-120"/>
              </a:rPr>
              <a:t>Separate law from proposal</a:t>
            </a:r>
            <a:endParaRPr lang="en-US" sz="1400" dirty="0"/>
          </a:p>
        </p:txBody>
      </p:sp>
      <p:sp>
        <p:nvSpPr>
          <p:cNvPr id="26" name="Text 24"/>
          <p:cNvSpPr txBox="1"/>
          <p:nvPr/>
        </p:nvSpPr>
        <p:spPr>
          <a:xfrm>
            <a:off x="768096" y="5155184"/>
            <a:ext cx="3076346" cy="953008"/>
          </a:xfrm>
          <a:prstGeom prst="rect">
            <a:avLst/>
          </a:prstGeom>
          <a:noFill/>
          <a:ln/>
        </p:spPr>
        <p:txBody>
          <a:bodyPr wrap="square" lIns="0" tIns="0" rIns="0" bIns="0" rtlCol="0" anchor="t"/>
          <a:lstStyle/>
          <a:p>
            <a:pPr indent="0" marL="0">
              <a:lnSpc>
                <a:spcPct val="106000"/>
              </a:lnSpc>
              <a:buNone/>
            </a:pPr>
            <a:r>
              <a:rPr lang="en-US" sz="1100" dirty="0">
                <a:solidFill>
                  <a:srgbClr val="22333B"/>
                </a:solidFill>
                <a:latin typeface="Calibri" pitchFamily="34" charset="0"/>
                <a:ea typeface="Calibri" pitchFamily="34" charset="-122"/>
                <a:cs typeface="Calibri" pitchFamily="34" charset="-120"/>
              </a:rPr>
              <a:t>State what is in force today, what is adopted but not yet applicable, and what is only proposed — and plan accordingly.</a:t>
            </a:r>
            <a:endParaRPr lang="en-US" sz="1100" dirty="0"/>
          </a:p>
        </p:txBody>
      </p:sp>
      <p:sp>
        <p:nvSpPr>
          <p:cNvPr id="27" name="Shape 25"/>
          <p:cNvSpPr/>
          <p:nvPr/>
        </p:nvSpPr>
        <p:spPr>
          <a:xfrm>
            <a:off x="4338218" y="4133088"/>
            <a:ext cx="3515258" cy="2121408"/>
          </a:xfrm>
          <a:prstGeom prst="roundRect">
            <a:avLst>
              <a:gd name="adj" fmla="val 3017"/>
            </a:avLst>
          </a:prstGeom>
          <a:solidFill>
            <a:srgbClr val="F1F5F6"/>
          </a:solidFill>
          <a:ln w="12700">
            <a:solidFill>
              <a:srgbClr val="D7E2E5"/>
            </a:solidFill>
            <a:prstDash val="solid"/>
          </a:ln>
        </p:spPr>
      </p:sp>
      <p:sp>
        <p:nvSpPr>
          <p:cNvPr id="28" name="Shape 26"/>
          <p:cNvSpPr/>
          <p:nvPr/>
        </p:nvSpPr>
        <p:spPr>
          <a:xfrm>
            <a:off x="4557674" y="4334256"/>
            <a:ext cx="365760" cy="365760"/>
          </a:xfrm>
          <a:prstGeom prst="ellipse">
            <a:avLst/>
          </a:prstGeom>
          <a:solidFill>
            <a:srgbClr val="0E7C7B"/>
          </a:solidFill>
          <a:ln w="12700">
            <a:solidFill>
              <a:srgbClr val="0E7C7B"/>
            </a:solidFill>
            <a:prstDash val="solid"/>
          </a:ln>
        </p:spPr>
      </p:sp>
      <p:sp>
        <p:nvSpPr>
          <p:cNvPr id="29" name="Text 27"/>
          <p:cNvSpPr txBox="1"/>
          <p:nvPr/>
        </p:nvSpPr>
        <p:spPr>
          <a:xfrm>
            <a:off x="4557674" y="43342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8"/>
          <p:cNvSpPr txBox="1"/>
          <p:nvPr/>
        </p:nvSpPr>
        <p:spPr>
          <a:xfrm>
            <a:off x="4557674" y="4809744"/>
            <a:ext cx="3076346" cy="308864"/>
          </a:xfrm>
          <a:prstGeom prst="rect">
            <a:avLst/>
          </a:prstGeom>
          <a:noFill/>
          <a:ln/>
        </p:spPr>
        <p:txBody>
          <a:bodyPr wrap="square" lIns="0" tIns="0" rIns="0" bIns="0" rtlCol="0" anchor="t"/>
          <a:lstStyle/>
          <a:p>
            <a:pPr indent="0" marL="0">
              <a:buNone/>
            </a:pPr>
            <a:r>
              <a:rPr lang="en-US" sz="1400" b="1" dirty="0">
                <a:solidFill>
                  <a:srgbClr val="1B3A4B"/>
                </a:solidFill>
                <a:latin typeface="Calibri" pitchFamily="34" charset="0"/>
                <a:ea typeface="Calibri" pitchFamily="34" charset="-122"/>
                <a:cs typeface="Calibri" pitchFamily="34" charset="-120"/>
              </a:rPr>
              <a:t>Place the representatives</a:t>
            </a:r>
            <a:endParaRPr lang="en-US" sz="1400" dirty="0"/>
          </a:p>
        </p:txBody>
      </p:sp>
      <p:sp>
        <p:nvSpPr>
          <p:cNvPr id="31" name="Text 29"/>
          <p:cNvSpPr txBox="1"/>
          <p:nvPr/>
        </p:nvSpPr>
        <p:spPr>
          <a:xfrm>
            <a:off x="4557674" y="5155184"/>
            <a:ext cx="3076346" cy="953008"/>
          </a:xfrm>
          <a:prstGeom prst="rect">
            <a:avLst/>
          </a:prstGeom>
          <a:noFill/>
          <a:ln/>
        </p:spPr>
        <p:txBody>
          <a:bodyPr wrap="square" lIns="0" tIns="0" rIns="0" bIns="0" rtlCol="0" anchor="t"/>
          <a:lstStyle/>
          <a:p>
            <a:pPr indent="0" marL="0">
              <a:lnSpc>
                <a:spcPct val="106000"/>
              </a:lnSpc>
              <a:buNone/>
            </a:pPr>
            <a:r>
              <a:rPr lang="en-US" sz="1100" dirty="0">
                <a:solidFill>
                  <a:srgbClr val="22333B"/>
                </a:solidFill>
                <a:latin typeface="Calibri" pitchFamily="34" charset="0"/>
                <a:ea typeface="Calibri" pitchFamily="34" charset="-122"/>
                <a:cs typeface="Calibri" pitchFamily="34" charset="-120"/>
              </a:rPr>
              <a:t>Explain what a US Agent, EU Authorised Representative, UK Responsible Person and Japanese MAH each carry — the liability differences are not cosmetic.</a:t>
            </a:r>
            <a:endParaRPr lang="en-US" sz="1100" dirty="0"/>
          </a:p>
        </p:txBody>
      </p:sp>
      <p:sp>
        <p:nvSpPr>
          <p:cNvPr id="32" name="Shape 30"/>
          <p:cNvSpPr/>
          <p:nvPr/>
        </p:nvSpPr>
        <p:spPr>
          <a:xfrm>
            <a:off x="8127797" y="4133088"/>
            <a:ext cx="3515258" cy="2121408"/>
          </a:xfrm>
          <a:prstGeom prst="roundRect">
            <a:avLst>
              <a:gd name="adj" fmla="val 3017"/>
            </a:avLst>
          </a:prstGeom>
          <a:solidFill>
            <a:srgbClr val="F1F5F6"/>
          </a:solidFill>
          <a:ln w="12700">
            <a:solidFill>
              <a:srgbClr val="D7E2E5"/>
            </a:solidFill>
            <a:prstDash val="solid"/>
          </a:ln>
        </p:spPr>
      </p:sp>
      <p:sp>
        <p:nvSpPr>
          <p:cNvPr id="33" name="Shape 31"/>
          <p:cNvSpPr/>
          <p:nvPr/>
        </p:nvSpPr>
        <p:spPr>
          <a:xfrm>
            <a:off x="8347253" y="4334256"/>
            <a:ext cx="365760" cy="365760"/>
          </a:xfrm>
          <a:prstGeom prst="ellipse">
            <a:avLst/>
          </a:prstGeom>
          <a:solidFill>
            <a:srgbClr val="0E7C7B"/>
          </a:solidFill>
          <a:ln w="12700">
            <a:solidFill>
              <a:srgbClr val="0E7C7B"/>
            </a:solidFill>
            <a:prstDash val="solid"/>
          </a:ln>
        </p:spPr>
      </p:sp>
      <p:sp>
        <p:nvSpPr>
          <p:cNvPr id="34" name="Text 32"/>
          <p:cNvSpPr txBox="1"/>
          <p:nvPr/>
        </p:nvSpPr>
        <p:spPr>
          <a:xfrm>
            <a:off x="8347253" y="43342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5" name="Text 33"/>
          <p:cNvSpPr txBox="1"/>
          <p:nvPr/>
        </p:nvSpPr>
        <p:spPr>
          <a:xfrm>
            <a:off x="8347253" y="4809744"/>
            <a:ext cx="3076346" cy="308864"/>
          </a:xfrm>
          <a:prstGeom prst="rect">
            <a:avLst/>
          </a:prstGeom>
          <a:noFill/>
          <a:ln/>
        </p:spPr>
        <p:txBody>
          <a:bodyPr wrap="square" lIns="0" tIns="0" rIns="0" bIns="0" rtlCol="0" anchor="t"/>
          <a:lstStyle/>
          <a:p>
            <a:pPr indent="0" marL="0">
              <a:buNone/>
            </a:pPr>
            <a:r>
              <a:rPr lang="en-US" sz="1400" b="1" dirty="0">
                <a:solidFill>
                  <a:srgbClr val="1B3A4B"/>
                </a:solidFill>
                <a:latin typeface="Calibri" pitchFamily="34" charset="0"/>
                <a:ea typeface="Calibri" pitchFamily="34" charset="-122"/>
                <a:cs typeface="Calibri" pitchFamily="34" charset="-120"/>
              </a:rPr>
              <a:t>Sequence the programme</a:t>
            </a:r>
            <a:endParaRPr lang="en-US" sz="1400" dirty="0"/>
          </a:p>
        </p:txBody>
      </p:sp>
      <p:sp>
        <p:nvSpPr>
          <p:cNvPr id="36" name="Text 34"/>
          <p:cNvSpPr txBox="1"/>
          <p:nvPr/>
        </p:nvSpPr>
        <p:spPr>
          <a:xfrm>
            <a:off x="8347253" y="5155184"/>
            <a:ext cx="3076346" cy="953008"/>
          </a:xfrm>
          <a:prstGeom prst="rect">
            <a:avLst/>
          </a:prstGeom>
          <a:noFill/>
          <a:ln/>
        </p:spPr>
        <p:txBody>
          <a:bodyPr wrap="square" lIns="0" tIns="0" rIns="0" bIns="0" rtlCol="0" anchor="t"/>
          <a:lstStyle/>
          <a:p>
            <a:pPr indent="0" marL="0">
              <a:lnSpc>
                <a:spcPct val="106000"/>
              </a:lnSpc>
              <a:buNone/>
            </a:pPr>
            <a:r>
              <a:rPr lang="en-US" sz="1100" dirty="0">
                <a:solidFill>
                  <a:srgbClr val="22333B"/>
                </a:solidFill>
                <a:latin typeface="Calibri" pitchFamily="34" charset="0"/>
                <a:ea typeface="Calibri" pitchFamily="34" charset="-122"/>
                <a:cs typeface="Calibri" pitchFamily="34" charset="-120"/>
              </a:rPr>
              <a:t>Argue for a market entry order with reasons, and identify the decisions that are expensive to reverse later.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CALIBRATION</a:t>
            </a:r>
            <a:endParaRPr lang="en-US" sz="1100" dirty="0"/>
          </a:p>
        </p:txBody>
      </p:sp>
      <p:sp>
        <p:nvSpPr>
          <p:cNvPr id="3" name="Text 1"/>
          <p:cNvSpPr txBox="1"/>
          <p:nvPr/>
        </p:nvSpPr>
        <p:spPr>
          <a:xfrm>
            <a:off x="548640" y="566928"/>
            <a:ext cx="10058400"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Before we start: who is in the room?</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4</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Hands up. I will adjust depth as we go — this tells me where to spend the time.</a:t>
            </a:r>
            <a:endParaRPr lang="en-US" sz="1400" dirty="0"/>
          </a:p>
        </p:txBody>
      </p:sp>
      <p:sp>
        <p:nvSpPr>
          <p:cNvPr id="7" name="Shape 5"/>
          <p:cNvSpPr/>
          <p:nvPr/>
        </p:nvSpPr>
        <p:spPr>
          <a:xfrm>
            <a:off x="548640" y="1755648"/>
            <a:ext cx="11094415" cy="1028700"/>
          </a:xfrm>
          <a:prstGeom prst="roundRect">
            <a:avLst>
              <a:gd name="adj" fmla="val 6222"/>
            </a:avLst>
          </a:prstGeom>
          <a:solidFill>
            <a:srgbClr val="F1F5F6"/>
          </a:solidFill>
          <a:ln w="12700">
            <a:solidFill>
              <a:srgbClr val="D7E2E5"/>
            </a:solidFill>
            <a:prstDash val="solid"/>
          </a:ln>
        </p:spPr>
      </p:sp>
      <p:sp>
        <p:nvSpPr>
          <p:cNvPr id="8" name="Shape 6"/>
          <p:cNvSpPr/>
          <p:nvPr/>
        </p:nvSpPr>
        <p:spPr>
          <a:xfrm>
            <a:off x="786384" y="2068830"/>
            <a:ext cx="402336" cy="402336"/>
          </a:xfrm>
          <a:prstGeom prst="ellipse">
            <a:avLst/>
          </a:prstGeom>
          <a:solidFill>
            <a:srgbClr val="0E7C7B"/>
          </a:solidFill>
          <a:ln w="12700">
            <a:solidFill>
              <a:srgbClr val="0E7C7B"/>
            </a:solidFill>
            <a:prstDash val="solid"/>
          </a:ln>
        </p:spPr>
      </p:sp>
      <p:sp>
        <p:nvSpPr>
          <p:cNvPr id="9" name="Text 7"/>
          <p:cNvSpPr txBox="1"/>
          <p:nvPr/>
        </p:nvSpPr>
        <p:spPr>
          <a:xfrm>
            <a:off x="786384" y="206883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0" name="Text 8"/>
          <p:cNvSpPr txBox="1"/>
          <p:nvPr/>
        </p:nvSpPr>
        <p:spPr>
          <a:xfrm>
            <a:off x="1335024" y="1874520"/>
            <a:ext cx="10033711" cy="790956"/>
          </a:xfrm>
          <a:prstGeom prst="rect">
            <a:avLst/>
          </a:prstGeom>
          <a:noFill/>
          <a:ln/>
        </p:spPr>
        <p:txBody>
          <a:bodyPr wrap="square" lIns="0" tIns="0" rIns="0" bIns="0" rtlCol="0" anchor="ctr"/>
          <a:lstStyle/>
          <a:p>
            <a:pPr indent="0" marL="0">
              <a:lnSpc>
                <a:spcPct val="105000"/>
              </a:lnSpc>
              <a:buNone/>
            </a:pPr>
            <a:r>
              <a:rPr lang="en-US" sz="1450" b="1" dirty="0">
                <a:solidFill>
                  <a:srgbClr val="1B3A4B"/>
                </a:solidFill>
                <a:latin typeface="Calibri" pitchFamily="34" charset="0"/>
                <a:ea typeface="Calibri" pitchFamily="34" charset="-122"/>
                <a:cs typeface="Calibri" pitchFamily="34" charset="-120"/>
              </a:rPr>
              <a:t>You already hold a CE certificate under MDR</a:t>
            </a:r>
            <a:endParaRPr lang="en-US" sz="1450" dirty="0"/>
          </a:p>
          <a:p>
            <a:pPr indent="0" marL="0">
              <a:lnSpc>
                <a:spcPct val="105000"/>
              </a:lnSpc>
              <a:buNone/>
            </a:pPr>
            <a:r>
              <a:rPr lang="en-US" sz="1150" dirty="0">
                <a:solidFill>
                  <a:srgbClr val="22333B"/>
                </a:solidFill>
                <a:latin typeface="Calibri" pitchFamily="34" charset="0"/>
                <a:ea typeface="Calibri" pitchFamily="34" charset="-122"/>
                <a:cs typeface="Calibri" pitchFamily="34" charset="-120"/>
              </a:rPr>
              <a:t>Not a legacy MDD certificate riding the transition — a certificate issued against Regulation 2017/745 itself.</a:t>
            </a:r>
            <a:endParaRPr lang="en-US" sz="1450" dirty="0"/>
          </a:p>
        </p:txBody>
      </p:sp>
      <p:sp>
        <p:nvSpPr>
          <p:cNvPr id="11" name="Shape 9"/>
          <p:cNvSpPr/>
          <p:nvPr/>
        </p:nvSpPr>
        <p:spPr>
          <a:xfrm>
            <a:off x="548640" y="2912364"/>
            <a:ext cx="11094415" cy="1028700"/>
          </a:xfrm>
          <a:prstGeom prst="roundRect">
            <a:avLst>
              <a:gd name="adj" fmla="val 6222"/>
            </a:avLst>
          </a:prstGeom>
          <a:solidFill>
            <a:srgbClr val="F1F5F6"/>
          </a:solidFill>
          <a:ln w="12700">
            <a:solidFill>
              <a:srgbClr val="D7E2E5"/>
            </a:solidFill>
            <a:prstDash val="solid"/>
          </a:ln>
        </p:spPr>
      </p:sp>
      <p:sp>
        <p:nvSpPr>
          <p:cNvPr id="12" name="Shape 10"/>
          <p:cNvSpPr/>
          <p:nvPr/>
        </p:nvSpPr>
        <p:spPr>
          <a:xfrm>
            <a:off x="786384" y="3225546"/>
            <a:ext cx="402336" cy="402336"/>
          </a:xfrm>
          <a:prstGeom prst="ellipse">
            <a:avLst/>
          </a:prstGeom>
          <a:solidFill>
            <a:srgbClr val="2A9D8F"/>
          </a:solidFill>
          <a:ln w="12700">
            <a:solidFill>
              <a:srgbClr val="2A9D8F"/>
            </a:solidFill>
            <a:prstDash val="solid"/>
          </a:ln>
        </p:spPr>
      </p:sp>
      <p:sp>
        <p:nvSpPr>
          <p:cNvPr id="13" name="Text 11"/>
          <p:cNvSpPr txBox="1"/>
          <p:nvPr/>
        </p:nvSpPr>
        <p:spPr>
          <a:xfrm>
            <a:off x="786384" y="322554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4" name="Text 12"/>
          <p:cNvSpPr txBox="1"/>
          <p:nvPr/>
        </p:nvSpPr>
        <p:spPr>
          <a:xfrm>
            <a:off x="1335024" y="3031236"/>
            <a:ext cx="10033711" cy="790956"/>
          </a:xfrm>
          <a:prstGeom prst="rect">
            <a:avLst/>
          </a:prstGeom>
          <a:noFill/>
          <a:ln/>
        </p:spPr>
        <p:txBody>
          <a:bodyPr wrap="square" lIns="0" tIns="0" rIns="0" bIns="0" rtlCol="0" anchor="ctr"/>
          <a:lstStyle/>
          <a:p>
            <a:pPr indent="0" marL="0">
              <a:lnSpc>
                <a:spcPct val="105000"/>
              </a:lnSpc>
              <a:buNone/>
            </a:pPr>
            <a:r>
              <a:rPr lang="en-US" sz="1450" b="1" dirty="0">
                <a:solidFill>
                  <a:srgbClr val="1B3A4B"/>
                </a:solidFill>
                <a:latin typeface="Calibri" pitchFamily="34" charset="0"/>
                <a:ea typeface="Calibri" pitchFamily="34" charset="-122"/>
                <a:cs typeface="Calibri" pitchFamily="34" charset="-120"/>
              </a:rPr>
              <a:t>You are still on a legacy MDD certificate</a:t>
            </a:r>
            <a:endParaRPr lang="en-US" sz="1450" dirty="0"/>
          </a:p>
          <a:p>
            <a:pPr indent="0" marL="0">
              <a:lnSpc>
                <a:spcPct val="105000"/>
              </a:lnSpc>
              <a:buNone/>
            </a:pPr>
            <a:r>
              <a:rPr lang="en-US" sz="1150" dirty="0">
                <a:solidFill>
                  <a:srgbClr val="22333B"/>
                </a:solidFill>
                <a:latin typeface="Calibri" pitchFamily="34" charset="0"/>
                <a:ea typeface="Calibri" pitchFamily="34" charset="-122"/>
                <a:cs typeface="Calibri" pitchFamily="34" charset="-120"/>
              </a:rPr>
              <a:t>Placed on the market under the extended transition in Regulation 2023/607. We will spend real time on what that does and does not buy you.</a:t>
            </a:r>
            <a:endParaRPr lang="en-US" sz="1450" dirty="0"/>
          </a:p>
        </p:txBody>
      </p:sp>
      <p:sp>
        <p:nvSpPr>
          <p:cNvPr id="15" name="Shape 13"/>
          <p:cNvSpPr/>
          <p:nvPr/>
        </p:nvSpPr>
        <p:spPr>
          <a:xfrm>
            <a:off x="548640" y="4069080"/>
            <a:ext cx="11094415" cy="1028700"/>
          </a:xfrm>
          <a:prstGeom prst="roundRect">
            <a:avLst>
              <a:gd name="adj" fmla="val 6222"/>
            </a:avLst>
          </a:prstGeom>
          <a:solidFill>
            <a:srgbClr val="F1F5F6"/>
          </a:solidFill>
          <a:ln w="12700">
            <a:solidFill>
              <a:srgbClr val="D7E2E5"/>
            </a:solidFill>
            <a:prstDash val="solid"/>
          </a:ln>
        </p:spPr>
      </p:sp>
      <p:sp>
        <p:nvSpPr>
          <p:cNvPr id="16" name="Shape 14"/>
          <p:cNvSpPr/>
          <p:nvPr/>
        </p:nvSpPr>
        <p:spPr>
          <a:xfrm>
            <a:off x="786384" y="4382262"/>
            <a:ext cx="402336" cy="402336"/>
          </a:xfrm>
          <a:prstGeom prst="ellipse">
            <a:avLst/>
          </a:prstGeom>
          <a:solidFill>
            <a:srgbClr val="C77C1E"/>
          </a:solidFill>
          <a:ln w="12700">
            <a:solidFill>
              <a:srgbClr val="C77C1E"/>
            </a:solidFill>
            <a:prstDash val="solid"/>
          </a:ln>
        </p:spPr>
      </p:sp>
      <p:sp>
        <p:nvSpPr>
          <p:cNvPr id="17" name="Text 15"/>
          <p:cNvSpPr txBox="1"/>
          <p:nvPr/>
        </p:nvSpPr>
        <p:spPr>
          <a:xfrm>
            <a:off x="786384" y="438226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8" name="Text 16"/>
          <p:cNvSpPr txBox="1"/>
          <p:nvPr/>
        </p:nvSpPr>
        <p:spPr>
          <a:xfrm>
            <a:off x="1335024" y="4187952"/>
            <a:ext cx="10033711" cy="790956"/>
          </a:xfrm>
          <a:prstGeom prst="rect">
            <a:avLst/>
          </a:prstGeom>
          <a:noFill/>
          <a:ln/>
        </p:spPr>
        <p:txBody>
          <a:bodyPr wrap="square" lIns="0" tIns="0" rIns="0" bIns="0" rtlCol="0" anchor="ctr"/>
          <a:lstStyle/>
          <a:p>
            <a:pPr indent="0" marL="0">
              <a:lnSpc>
                <a:spcPct val="105000"/>
              </a:lnSpc>
              <a:buNone/>
            </a:pPr>
            <a:r>
              <a:rPr lang="en-US" sz="1450" b="1" dirty="0">
                <a:solidFill>
                  <a:srgbClr val="1B3A4B"/>
                </a:solidFill>
                <a:latin typeface="Calibri" pitchFamily="34" charset="0"/>
                <a:ea typeface="Calibri" pitchFamily="34" charset="-122"/>
                <a:cs typeface="Calibri" pitchFamily="34" charset="-120"/>
              </a:rPr>
              <a:t>You sell in Great Britain today</a:t>
            </a:r>
            <a:endParaRPr lang="en-US" sz="1450" dirty="0"/>
          </a:p>
          <a:p>
            <a:pPr indent="0" marL="0">
              <a:lnSpc>
                <a:spcPct val="105000"/>
              </a:lnSpc>
              <a:buNone/>
            </a:pPr>
            <a:r>
              <a:rPr lang="en-US" sz="1150" dirty="0">
                <a:solidFill>
                  <a:srgbClr val="22333B"/>
                </a:solidFill>
                <a:latin typeface="Calibri" pitchFamily="34" charset="0"/>
                <a:ea typeface="Calibri" pitchFamily="34" charset="-122"/>
                <a:cs typeface="Calibri" pitchFamily="34" charset="-120"/>
              </a:rPr>
              <a:t>Under any marking. Keep your hand up if you know which marking your product carries there, and until when it is accepted.</a:t>
            </a:r>
            <a:endParaRPr lang="en-US" sz="1450" dirty="0"/>
          </a:p>
        </p:txBody>
      </p:sp>
      <p:sp>
        <p:nvSpPr>
          <p:cNvPr id="19" name="Shape 17"/>
          <p:cNvSpPr/>
          <p:nvPr/>
        </p:nvSpPr>
        <p:spPr>
          <a:xfrm>
            <a:off x="548640" y="5225796"/>
            <a:ext cx="11094415" cy="1028700"/>
          </a:xfrm>
          <a:prstGeom prst="roundRect">
            <a:avLst>
              <a:gd name="adj" fmla="val 6222"/>
            </a:avLst>
          </a:prstGeom>
          <a:solidFill>
            <a:srgbClr val="F1F5F6"/>
          </a:solidFill>
          <a:ln w="12700">
            <a:solidFill>
              <a:srgbClr val="D7E2E5"/>
            </a:solidFill>
            <a:prstDash val="solid"/>
          </a:ln>
        </p:spPr>
      </p:sp>
      <p:sp>
        <p:nvSpPr>
          <p:cNvPr id="20" name="Shape 18"/>
          <p:cNvSpPr/>
          <p:nvPr/>
        </p:nvSpPr>
        <p:spPr>
          <a:xfrm>
            <a:off x="786384" y="5538978"/>
            <a:ext cx="402336" cy="402336"/>
          </a:xfrm>
          <a:prstGeom prst="ellipse">
            <a:avLst/>
          </a:prstGeom>
          <a:solidFill>
            <a:srgbClr val="A83A3C"/>
          </a:solidFill>
          <a:ln w="12700">
            <a:solidFill>
              <a:srgbClr val="A83A3C"/>
            </a:solidFill>
            <a:prstDash val="solid"/>
          </a:ln>
        </p:spPr>
      </p:sp>
      <p:sp>
        <p:nvSpPr>
          <p:cNvPr id="21" name="Text 19"/>
          <p:cNvSpPr txBox="1"/>
          <p:nvPr/>
        </p:nvSpPr>
        <p:spPr>
          <a:xfrm>
            <a:off x="786384" y="553897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2" name="Text 20"/>
          <p:cNvSpPr txBox="1"/>
          <p:nvPr/>
        </p:nvSpPr>
        <p:spPr>
          <a:xfrm>
            <a:off x="1335024" y="5344668"/>
            <a:ext cx="10033711" cy="790956"/>
          </a:xfrm>
          <a:prstGeom prst="rect">
            <a:avLst/>
          </a:prstGeom>
          <a:noFill/>
          <a:ln/>
        </p:spPr>
        <p:txBody>
          <a:bodyPr wrap="square" lIns="0" tIns="0" rIns="0" bIns="0" rtlCol="0" anchor="ctr"/>
          <a:lstStyle/>
          <a:p>
            <a:pPr indent="0" marL="0">
              <a:lnSpc>
                <a:spcPct val="105000"/>
              </a:lnSpc>
              <a:buNone/>
            </a:pPr>
            <a:r>
              <a:rPr lang="en-US" sz="1450" b="1" dirty="0">
                <a:solidFill>
                  <a:srgbClr val="1B3A4B"/>
                </a:solidFill>
                <a:latin typeface="Calibri" pitchFamily="34" charset="0"/>
                <a:ea typeface="Calibri" pitchFamily="34" charset="-122"/>
                <a:cs typeface="Calibri" pitchFamily="34" charset="-120"/>
              </a:rPr>
              <a:t>You have a product in Japan, or are trying to</a:t>
            </a:r>
            <a:endParaRPr lang="en-US" sz="1450" dirty="0"/>
          </a:p>
          <a:p>
            <a:pPr indent="0" marL="0">
              <a:lnSpc>
                <a:spcPct val="105000"/>
              </a:lnSpc>
              <a:buNone/>
            </a:pPr>
            <a:r>
              <a:rPr lang="en-US" sz="1150" dirty="0">
                <a:solidFill>
                  <a:srgbClr val="22333B"/>
                </a:solidFill>
                <a:latin typeface="Calibri" pitchFamily="34" charset="0"/>
                <a:ea typeface="Calibri" pitchFamily="34" charset="-122"/>
                <a:cs typeface="Calibri" pitchFamily="34" charset="-120"/>
              </a:rPr>
              <a:t>Through a Marketing Authorization Holder, a Designated MAH, or a distributor arrangement you are not certain about.</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232E"/>
        </a:solidFill>
      </p:bgPr>
    </p:bg>
    <p:spTree>
      <p:nvGrpSpPr>
        <p:cNvPr id="1" name=""/>
        <p:cNvGrpSpPr/>
        <p:nvPr/>
      </p:nvGrpSpPr>
      <p:grpSpPr>
        <a:xfrm>
          <a:off x="0" y="0"/>
          <a:ext cx="0" cy="0"/>
          <a:chOff x="0" y="0"/>
          <a:chExt cx="0" cy="0"/>
        </a:xfrm>
      </p:grpSpPr>
      <p:sp>
        <p:nvSpPr>
          <p:cNvPr id="2" name="Text 0"/>
          <p:cNvSpPr txBox="1"/>
          <p:nvPr/>
        </p:nvSpPr>
        <p:spPr>
          <a:xfrm>
            <a:off x="548640" y="2057400"/>
            <a:ext cx="11094415" cy="292608"/>
          </a:xfrm>
          <a:prstGeom prst="rect">
            <a:avLst/>
          </a:prstGeom>
          <a:noFill/>
          <a:ln/>
        </p:spPr>
        <p:txBody>
          <a:bodyPr wrap="square" lIns="0" tIns="0" rIns="0" bIns="0" rtlCol="0" anchor="ctr"/>
          <a:lstStyle/>
          <a:p>
            <a:pPr indent="0" marL="0">
              <a:buNone/>
            </a:pPr>
            <a:r>
              <a:rPr lang="en-US" sz="1300" b="1" spc="220" kern="0" dirty="0">
                <a:solidFill>
                  <a:srgbClr val="2A9D8F"/>
                </a:solidFill>
                <a:latin typeface="Calibri" pitchFamily="34" charset="0"/>
                <a:ea typeface="Calibri" pitchFamily="34" charset="-122"/>
                <a:cs typeface="Calibri" pitchFamily="34" charset="-120"/>
              </a:rPr>
              <a:t>PART ONE</a:t>
            </a:r>
            <a:endParaRPr lang="en-US" sz="1300" dirty="0"/>
          </a:p>
        </p:txBody>
      </p:sp>
      <p:sp>
        <p:nvSpPr>
          <p:cNvPr id="3" name="Text 1"/>
          <p:cNvSpPr txBox="1"/>
          <p:nvPr/>
        </p:nvSpPr>
        <p:spPr>
          <a:xfrm>
            <a:off x="548640" y="2450592"/>
            <a:ext cx="9692640" cy="11430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Four markets, not four copies</a:t>
            </a:r>
            <a:endParaRPr lang="en-US" sz="4000" dirty="0"/>
          </a:p>
        </p:txBody>
      </p:sp>
      <p:sp>
        <p:nvSpPr>
          <p:cNvPr id="4" name="Text 2"/>
          <p:cNvSpPr txBox="1"/>
          <p:nvPr/>
        </p:nvSpPr>
        <p:spPr>
          <a:xfrm>
            <a:off x="548640" y="3657600"/>
            <a:ext cx="8961120" cy="822960"/>
          </a:xfrm>
          <a:prstGeom prst="rect">
            <a:avLst/>
          </a:prstGeom>
          <a:noFill/>
          <a:ln/>
        </p:spPr>
        <p:txBody>
          <a:bodyPr wrap="square" lIns="0" tIns="0" rIns="0" bIns="0" rtlCol="0" anchor="ctr"/>
          <a:lstStyle/>
          <a:p>
            <a:pPr indent="0" marL="0">
              <a:buNone/>
            </a:pPr>
            <a:r>
              <a:rPr lang="en-US" sz="1500" dirty="0">
                <a:solidFill>
                  <a:srgbClr val="BCCCD2"/>
                </a:solidFill>
                <a:latin typeface="Calibri" pitchFamily="34" charset="0"/>
                <a:ea typeface="Calibri" pitchFamily="34" charset="-122"/>
                <a:cs typeface="Calibri" pitchFamily="34" charset="-120"/>
              </a:rPr>
              <a:t>The same device is a different regulatory object in each jurisdiction. That is the whole problem.</a:t>
            </a:r>
            <a:endParaRPr lang="en-US" sz="1500" dirty="0"/>
          </a:p>
        </p:txBody>
      </p:sp>
      <p:sp>
        <p:nvSpPr>
          <p:cNvPr id="5" name="Text 3"/>
          <p:cNvSpPr txBox="1"/>
          <p:nvPr/>
        </p:nvSpPr>
        <p:spPr>
          <a:xfrm>
            <a:off x="548640" y="4617720"/>
            <a:ext cx="5486400" cy="320040"/>
          </a:xfrm>
          <a:prstGeom prst="rect">
            <a:avLst/>
          </a:prstGeom>
          <a:noFill/>
          <a:ln/>
        </p:spPr>
        <p:txBody>
          <a:bodyPr wrap="square" lIns="0" tIns="0" rIns="0" bIns="0" rtlCol="0" anchor="ctr"/>
          <a:lstStyle/>
          <a:p>
            <a:pPr indent="0" marL="0">
              <a:buNone/>
            </a:pPr>
            <a:r>
              <a:rPr lang="en-US" sz="1200" b="1" spc="100" kern="0" dirty="0">
                <a:solidFill>
                  <a:srgbClr val="C77C1E"/>
                </a:solidFill>
                <a:latin typeface="Calibri" pitchFamily="34" charset="0"/>
                <a:ea typeface="Calibri" pitchFamily="34" charset="-122"/>
                <a:cs typeface="Calibri" pitchFamily="34" charset="-120"/>
              </a:rPr>
              <a:t>11 minutes</a:t>
            </a:r>
            <a:endParaRPr lang="en-US" sz="1200" dirty="0"/>
          </a:p>
        </p:txBody>
      </p:sp>
      <p:sp>
        <p:nvSpPr>
          <p:cNvPr id="6" name="Text 4"/>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809AA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THE CENTRAL PROBLEM</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2900" b="1" dirty="0">
                <a:solidFill>
                  <a:srgbClr val="1B3A4B"/>
                </a:solidFill>
                <a:latin typeface="Cambria" pitchFamily="34" charset="0"/>
                <a:ea typeface="Cambria" pitchFamily="34" charset="-122"/>
                <a:cs typeface="Cambria" pitchFamily="34" charset="-120"/>
              </a:rPr>
              <a:t>“Class II” is a US term. It does not travel.</a:t>
            </a:r>
            <a:endParaRPr lang="en-US" sz="29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6</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Four regulators, four classification systems, four different answers for the same physical product.</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914400"/>
        </p:xfrm>
        <a:graphic>
          <a:graphicData uri="http://schemas.openxmlformats.org/drawingml/2006/table">
            <a:tbl>
              <a:tblPr/>
              <a:tblGrid>
                <a:gridCol w="1920240"/>
                <a:gridCol w="4754880"/>
                <a:gridCol w="4416552"/>
              </a:tblGrid>
              <a:tr h="724205">
                <a:tc>
                  <a:txBody>
                    <a:bodyPr/>
                    <a:lstStyle/>
                    <a:p>
                      <a:pPr algn="l" indent="0" marL="0">
                        <a:buNone/>
                      </a:pPr>
                      <a:r>
                        <a:rPr lang="en-US" sz="1012" b="1" dirty="0">
                          <a:solidFill>
                            <a:srgbClr val="FFFFFF"/>
                          </a:solidFill>
                          <a:latin typeface="Calibri" pitchFamily="34" charset="0"/>
                          <a:ea typeface="Calibri" pitchFamily="34" charset="-122"/>
                          <a:cs typeface="Calibri" pitchFamily="34" charset="-120"/>
                        </a:rPr>
                        <a:t>Jurisdiction</a:t>
                      </a:r>
                      <a:endParaRPr lang="en-US" sz="1012"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1012" b="1" dirty="0">
                          <a:solidFill>
                            <a:srgbClr val="FFFFFF"/>
                          </a:solidFill>
                          <a:latin typeface="Calibri" pitchFamily="34" charset="0"/>
                          <a:ea typeface="Calibri" pitchFamily="34" charset="-122"/>
                          <a:cs typeface="Calibri" pitchFamily="34" charset="-120"/>
                        </a:rPr>
                        <a:t>Classification system</a:t>
                      </a:r>
                      <a:endParaRPr lang="en-US" sz="1012"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1012" b="1" dirty="0">
                          <a:solidFill>
                            <a:srgbClr val="FFFFFF"/>
                          </a:solidFill>
                          <a:latin typeface="Calibri" pitchFamily="34" charset="0"/>
                          <a:ea typeface="Calibri" pitchFamily="34" charset="-122"/>
                          <a:cs typeface="Calibri" pitchFamily="34" charset="-120"/>
                        </a:rPr>
                        <a:t>What a US “Class II” device typically becomes</a:t>
                      </a:r>
                      <a:endParaRPr lang="en-US" sz="1012"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r>
              <a:tr h="724205">
                <a:tc>
                  <a:txBody>
                    <a:bodyPr/>
                    <a:lstStyle/>
                    <a:p>
                      <a:pPr indent="0" marL="0">
                        <a:buNone/>
                      </a:pPr>
                      <a:r>
                        <a:rPr lang="en-US" sz="1056" b="1" dirty="0">
                          <a:solidFill>
                            <a:srgbClr val="FFFFFF"/>
                          </a:solidFill>
                          <a:latin typeface="Calibri" pitchFamily="34" charset="0"/>
                          <a:ea typeface="Calibri" pitchFamily="34" charset="-122"/>
                          <a:cs typeface="Calibri" pitchFamily="34" charset="-120"/>
                        </a:rPr>
                        <a:t>United States</a:t>
                      </a:r>
                      <a:endParaRPr lang="en-US" sz="105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0E7C7B"/>
                    </a:solidFill>
                  </a:tcPr>
                </a:tc>
                <a:tc>
                  <a:txBody>
                    <a:bodyPr/>
                    <a:lstStyle/>
                    <a:p>
                      <a:pPr indent="0" marL="0">
                        <a:buNone/>
                      </a:pPr>
                      <a:r>
                        <a:rPr lang="en-US" sz="968" dirty="0">
                          <a:solidFill>
                            <a:srgbClr val="22333B"/>
                          </a:solidFill>
                          <a:latin typeface="Calibri" pitchFamily="34" charset="0"/>
                          <a:ea typeface="Calibri" pitchFamily="34" charset="-122"/>
                          <a:cs typeface="Calibri" pitchFamily="34" charset="-120"/>
                        </a:rPr>
                        <a:t>Three classes (I / II / III), assigned by regulation per device type and listed in 21 CFR parts 862-892</a:t>
                      </a:r>
                      <a:endParaRPr lang="en-US" sz="96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968" dirty="0">
                          <a:solidFill>
                            <a:srgbClr val="22333B"/>
                          </a:solidFill>
                          <a:latin typeface="Calibri" pitchFamily="34" charset="0"/>
                          <a:ea typeface="Calibri" pitchFamily="34" charset="-122"/>
                          <a:cs typeface="Calibri" pitchFamily="34" charset="-120"/>
                        </a:rPr>
                        <a:t>Class II by definition — the starting point, and usually a 510(k)</a:t>
                      </a:r>
                      <a:endParaRPr lang="en-US" sz="96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724205">
                <a:tc>
                  <a:txBody>
                    <a:bodyPr/>
                    <a:lstStyle/>
                    <a:p>
                      <a:pPr indent="0" marL="0">
                        <a:buNone/>
                      </a:pPr>
                      <a:r>
                        <a:rPr lang="en-US" sz="1056" b="1" dirty="0">
                          <a:solidFill>
                            <a:srgbClr val="FFFFFF"/>
                          </a:solidFill>
                          <a:latin typeface="Calibri" pitchFamily="34" charset="0"/>
                          <a:ea typeface="Calibri" pitchFamily="34" charset="-122"/>
                          <a:cs typeface="Calibri" pitchFamily="34" charset="-120"/>
                        </a:rPr>
                        <a:t>European Union</a:t>
                      </a:r>
                      <a:endParaRPr lang="en-US" sz="105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E7A6E"/>
                    </a:solidFill>
                  </a:tcPr>
                </a:tc>
                <a:tc>
                  <a:txBody>
                    <a:bodyPr/>
                    <a:lstStyle/>
                    <a:p>
                      <a:pPr indent="0" marL="0">
                        <a:buNone/>
                      </a:pPr>
                      <a:r>
                        <a:rPr lang="en-US" sz="968" dirty="0">
                          <a:solidFill>
                            <a:srgbClr val="22333B"/>
                          </a:solidFill>
                          <a:latin typeface="Calibri" pitchFamily="34" charset="0"/>
                          <a:ea typeface="Calibri" pitchFamily="34" charset="-122"/>
                          <a:cs typeface="Calibri" pitchFamily="34" charset="-120"/>
                        </a:rPr>
                        <a:t>Four classes (I / IIa / IIb / III), derived by applying the 22 rules in MDR Annex VIII to the intended purpose</a:t>
                      </a:r>
                      <a:endParaRPr lang="en-US" sz="96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968" b="1" dirty="0">
                          <a:solidFill>
                            <a:srgbClr val="A83A3C"/>
                          </a:solidFill>
                          <a:latin typeface="Calibri" pitchFamily="34" charset="0"/>
                          <a:ea typeface="Calibri" pitchFamily="34" charset="-122"/>
                          <a:cs typeface="Calibri" pitchFamily="34" charset="-120"/>
                        </a:rPr>
                        <a:t>Anywhere from Class I to Class III. Most land in IIa or IIb — but the rules, not the US class, decide</a:t>
                      </a:r>
                      <a:endParaRPr lang="en-US" sz="96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724205">
                <a:tc>
                  <a:txBody>
                    <a:bodyPr/>
                    <a:lstStyle/>
                    <a:p>
                      <a:pPr indent="0" marL="0">
                        <a:buNone/>
                      </a:pPr>
                      <a:r>
                        <a:rPr lang="en-US" sz="1056" b="1" dirty="0">
                          <a:solidFill>
                            <a:srgbClr val="FFFFFF"/>
                          </a:solidFill>
                          <a:latin typeface="Calibri" pitchFamily="34" charset="0"/>
                          <a:ea typeface="Calibri" pitchFamily="34" charset="-122"/>
                          <a:cs typeface="Calibri" pitchFamily="34" charset="-120"/>
                        </a:rPr>
                        <a:t>Great Britain</a:t>
                      </a:r>
                      <a:endParaRPr lang="en-US" sz="105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A06318"/>
                    </a:solidFill>
                  </a:tcPr>
                </a:tc>
                <a:tc>
                  <a:txBody>
                    <a:bodyPr/>
                    <a:lstStyle/>
                    <a:p>
                      <a:pPr indent="0" marL="0">
                        <a:buNone/>
                      </a:pPr>
                      <a:r>
                        <a:rPr lang="en-US" sz="968" dirty="0">
                          <a:solidFill>
                            <a:srgbClr val="22333B"/>
                          </a:solidFill>
                          <a:latin typeface="Calibri" pitchFamily="34" charset="0"/>
                          <a:ea typeface="Calibri" pitchFamily="34" charset="-122"/>
                          <a:cs typeface="Calibri" pitchFamily="34" charset="-120"/>
                        </a:rPr>
                        <a:t>Four classes, derived from the MDD Annex IX rules as modified by Schedule 2A of the UK MDR 2002</a:t>
                      </a:r>
                      <a:endParaRPr lang="en-US" sz="96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968" b="1" dirty="0">
                          <a:solidFill>
                            <a:srgbClr val="A83A3C"/>
                          </a:solidFill>
                          <a:latin typeface="Calibri" pitchFamily="34" charset="0"/>
                          <a:ea typeface="Calibri" pitchFamily="34" charset="-122"/>
                          <a:cs typeface="Calibri" pitchFamily="34" charset="-120"/>
                        </a:rPr>
                        <a:t>Usually the same as the EU — but NOT always, because GB still uses the older rule set</a:t>
                      </a:r>
                      <a:endParaRPr lang="en-US" sz="96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724205">
                <a:tc>
                  <a:txBody>
                    <a:bodyPr/>
                    <a:lstStyle/>
                    <a:p>
                      <a:pPr indent="0" marL="0">
                        <a:buNone/>
                      </a:pPr>
                      <a:r>
                        <a:rPr lang="en-US" sz="1056" b="1" dirty="0">
                          <a:solidFill>
                            <a:srgbClr val="FFFFFF"/>
                          </a:solidFill>
                          <a:latin typeface="Calibri" pitchFamily="34" charset="0"/>
                          <a:ea typeface="Calibri" pitchFamily="34" charset="-122"/>
                          <a:cs typeface="Calibri" pitchFamily="34" charset="-120"/>
                        </a:rPr>
                        <a:t>Japan</a:t>
                      </a:r>
                      <a:endParaRPr lang="en-US" sz="105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A83A3C"/>
                    </a:solidFill>
                  </a:tcPr>
                </a:tc>
                <a:tc>
                  <a:txBody>
                    <a:bodyPr/>
                    <a:lstStyle/>
                    <a:p>
                      <a:pPr indent="0" marL="0">
                        <a:buNone/>
                      </a:pPr>
                      <a:r>
                        <a:rPr lang="en-US" sz="968" dirty="0">
                          <a:solidFill>
                            <a:srgbClr val="22333B"/>
                          </a:solidFill>
                          <a:latin typeface="Calibri" pitchFamily="34" charset="0"/>
                          <a:ea typeface="Calibri" pitchFamily="34" charset="-122"/>
                          <a:cs typeface="Calibri" pitchFamily="34" charset="-120"/>
                        </a:rPr>
                        <a:t>Four classes (I-IV) tied to a JMDN code, with a separate regulatory category: general, controlled, specially controlled</a:t>
                      </a:r>
                      <a:endParaRPr lang="en-US" sz="96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968" dirty="0">
                          <a:solidFill>
                            <a:srgbClr val="22333B"/>
                          </a:solidFill>
                          <a:latin typeface="Calibri" pitchFamily="34" charset="0"/>
                          <a:ea typeface="Calibri" pitchFamily="34" charset="-122"/>
                          <a:cs typeface="Calibri" pitchFamily="34" charset="-120"/>
                        </a:rPr>
                        <a:t>Determined by the JMDN code the product maps to — which you do not get to choose</a:t>
                      </a:r>
                      <a:endParaRPr lang="en-US" sz="96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bl>
          </a:graphicData>
        </a:graphic>
      </p:graphicFrame>
      <p:sp>
        <p:nvSpPr>
          <p:cNvPr id="8" name="Shape 5"/>
          <p:cNvSpPr/>
          <p:nvPr/>
        </p:nvSpPr>
        <p:spPr>
          <a:xfrm>
            <a:off x="548640" y="5559552"/>
            <a:ext cx="11094415" cy="694944"/>
          </a:xfrm>
          <a:prstGeom prst="roundRect">
            <a:avLst>
              <a:gd name="adj" fmla="val 7895"/>
            </a:avLst>
          </a:prstGeom>
          <a:solidFill>
            <a:srgbClr val="EAF3F2"/>
          </a:solidFill>
          <a:ln w="12700">
            <a:solidFill>
              <a:srgbClr val="BFD9D6"/>
            </a:solidFill>
            <a:prstDash val="solid"/>
          </a:ln>
        </p:spPr>
      </p:sp>
      <p:sp>
        <p:nvSpPr>
          <p:cNvPr id="9" name="Text 6"/>
          <p:cNvSpPr txBox="1"/>
          <p:nvPr/>
        </p:nvSpPr>
        <p:spPr>
          <a:xfrm>
            <a:off x="786384" y="5559552"/>
            <a:ext cx="10618927" cy="694944"/>
          </a:xfrm>
          <a:prstGeom prst="rect">
            <a:avLst/>
          </a:prstGeom>
          <a:noFill/>
          <a:ln/>
        </p:spPr>
        <p:txBody>
          <a:bodyPr wrap="square" lIns="0" tIns="0" rIns="0" bIns="0" rtlCol="0" anchor="ctr"/>
          <a:lstStyle/>
          <a:p>
            <a:pPr indent="0" marL="0">
              <a:buNone/>
            </a:pPr>
            <a:r>
              <a:rPr lang="en-US" sz="1250" b="1" dirty="0">
                <a:solidFill>
                  <a:srgbClr val="1B3A4B"/>
                </a:solidFill>
                <a:latin typeface="Calibri" pitchFamily="34" charset="0"/>
                <a:ea typeface="Calibri" pitchFamily="34" charset="-122"/>
                <a:cs typeface="Calibri" pitchFamily="34" charset="-120"/>
              </a:rPr>
              <a:t>The consequence: classification is not a lookup. It is four separate determinations from the same intended purpose — and the intended purpose is the one input you control.</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STRUCTURE</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Four regulatory models, not one</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548640" y="1627632"/>
            <a:ext cx="5410048" cy="1746504"/>
          </a:xfrm>
          <a:prstGeom prst="roundRect">
            <a:avLst>
              <a:gd name="adj" fmla="val 3665"/>
            </a:avLst>
          </a:prstGeom>
          <a:solidFill>
            <a:srgbClr val="F1F5F6"/>
          </a:solidFill>
          <a:ln w="12700">
            <a:solidFill>
              <a:srgbClr val="D7E2E5"/>
            </a:solidFill>
            <a:prstDash val="solid"/>
          </a:ln>
        </p:spPr>
      </p:sp>
      <p:sp>
        <p:nvSpPr>
          <p:cNvPr id="7" name="Text 5"/>
          <p:cNvSpPr txBox="1"/>
          <p:nvPr/>
        </p:nvSpPr>
        <p:spPr>
          <a:xfrm>
            <a:off x="768096" y="1828800"/>
            <a:ext cx="4971136" cy="550672"/>
          </a:xfrm>
          <a:prstGeom prst="rect">
            <a:avLst/>
          </a:prstGeom>
          <a:noFill/>
          <a:ln/>
        </p:spPr>
        <p:txBody>
          <a:bodyPr wrap="square" lIns="0" tIns="0" rIns="0" bIns="0" rtlCol="0" anchor="t"/>
          <a:lstStyle/>
          <a:p>
            <a:pPr indent="0" marL="0">
              <a:buNone/>
            </a:pPr>
            <a:r>
              <a:rPr lang="en-US" sz="1550" b="1" dirty="0">
                <a:solidFill>
                  <a:srgbClr val="0E7C7B"/>
                </a:solidFill>
                <a:latin typeface="Calibri" pitchFamily="34" charset="0"/>
                <a:ea typeface="Calibri" pitchFamily="34" charset="-122"/>
                <a:cs typeface="Calibri" pitchFamily="34" charset="-120"/>
              </a:rPr>
              <a:t>US — premarket review by the regulator</a:t>
            </a:r>
            <a:endParaRPr lang="en-US" sz="1550" dirty="0"/>
          </a:p>
        </p:txBody>
      </p:sp>
      <p:sp>
        <p:nvSpPr>
          <p:cNvPr id="8" name="Text 6"/>
          <p:cNvSpPr txBox="1"/>
          <p:nvPr/>
        </p:nvSpPr>
        <p:spPr>
          <a:xfrm>
            <a:off x="768096" y="2416048"/>
            <a:ext cx="4971136" cy="811784"/>
          </a:xfrm>
          <a:prstGeom prst="rect">
            <a:avLst/>
          </a:prstGeom>
          <a:noFill/>
          <a:ln/>
        </p:spPr>
        <p:txBody>
          <a:bodyPr wrap="square" lIns="0" tIns="0" rIns="0" bIns="0" rtlCol="0" anchor="t"/>
          <a:lstStyle/>
          <a:p>
            <a:pPr indent="0" marL="0">
              <a:lnSpc>
                <a:spcPct val="106000"/>
              </a:lnSpc>
              <a:buNone/>
            </a:pPr>
            <a:r>
              <a:rPr lang="en-US" sz="1100" dirty="0">
                <a:solidFill>
                  <a:srgbClr val="22333B"/>
                </a:solidFill>
                <a:latin typeface="Calibri" pitchFamily="34" charset="0"/>
                <a:ea typeface="Calibri" pitchFamily="34" charset="-122"/>
                <a:cs typeface="Calibri" pitchFamily="34" charset="-120"/>
              </a:rPr>
              <a:t>FDA itself reviews and clears or approves. There is no third party between you and the agency for a 510(k). The question you answer is comparative: is this substantially equivalent to a device already lawfully marketed?</a:t>
            </a:r>
            <a:endParaRPr lang="en-US" sz="1100" dirty="0"/>
          </a:p>
        </p:txBody>
      </p:sp>
      <p:sp>
        <p:nvSpPr>
          <p:cNvPr id="9" name="Shape 7"/>
          <p:cNvSpPr/>
          <p:nvPr/>
        </p:nvSpPr>
        <p:spPr>
          <a:xfrm>
            <a:off x="6233008" y="1627632"/>
            <a:ext cx="5410048" cy="1746504"/>
          </a:xfrm>
          <a:prstGeom prst="roundRect">
            <a:avLst>
              <a:gd name="adj" fmla="val 3665"/>
            </a:avLst>
          </a:prstGeom>
          <a:solidFill>
            <a:srgbClr val="F1F5F6"/>
          </a:solidFill>
          <a:ln w="12700">
            <a:solidFill>
              <a:srgbClr val="D7E2E5"/>
            </a:solidFill>
            <a:prstDash val="solid"/>
          </a:ln>
        </p:spPr>
      </p:sp>
      <p:sp>
        <p:nvSpPr>
          <p:cNvPr id="10" name="Text 8"/>
          <p:cNvSpPr txBox="1"/>
          <p:nvPr/>
        </p:nvSpPr>
        <p:spPr>
          <a:xfrm>
            <a:off x="6452464" y="1828800"/>
            <a:ext cx="4971136" cy="550672"/>
          </a:xfrm>
          <a:prstGeom prst="rect">
            <a:avLst/>
          </a:prstGeom>
          <a:noFill/>
          <a:ln/>
        </p:spPr>
        <p:txBody>
          <a:bodyPr wrap="square" lIns="0" tIns="0" rIns="0" bIns="0" rtlCol="0" anchor="t"/>
          <a:lstStyle/>
          <a:p>
            <a:pPr indent="0" marL="0">
              <a:buNone/>
            </a:pPr>
            <a:r>
              <a:rPr lang="en-US" sz="1550" b="1" dirty="0">
                <a:solidFill>
                  <a:srgbClr val="2A9D8F"/>
                </a:solidFill>
                <a:latin typeface="Calibri" pitchFamily="34" charset="0"/>
                <a:ea typeface="Calibri" pitchFamily="34" charset="-122"/>
                <a:cs typeface="Calibri" pitchFamily="34" charset="-120"/>
              </a:rPr>
              <a:t>EU — third-party certification against requirements</a:t>
            </a:r>
            <a:endParaRPr lang="en-US" sz="1550" dirty="0"/>
          </a:p>
        </p:txBody>
      </p:sp>
      <p:sp>
        <p:nvSpPr>
          <p:cNvPr id="11" name="Text 9"/>
          <p:cNvSpPr txBox="1"/>
          <p:nvPr/>
        </p:nvSpPr>
        <p:spPr>
          <a:xfrm>
            <a:off x="6452464" y="2416048"/>
            <a:ext cx="4971136" cy="811784"/>
          </a:xfrm>
          <a:prstGeom prst="rect">
            <a:avLst/>
          </a:prstGeom>
          <a:noFill/>
          <a:ln/>
        </p:spPr>
        <p:txBody>
          <a:bodyPr wrap="square" lIns="0" tIns="0" rIns="0" bIns="0" rtlCol="0" anchor="t"/>
          <a:lstStyle/>
          <a:p>
            <a:pPr indent="0" marL="0">
              <a:lnSpc>
                <a:spcPct val="106000"/>
              </a:lnSpc>
              <a:buNone/>
            </a:pPr>
            <a:r>
              <a:rPr lang="en-US" sz="1100" dirty="0">
                <a:solidFill>
                  <a:srgbClr val="22333B"/>
                </a:solidFill>
                <a:latin typeface="Calibri" pitchFamily="34" charset="0"/>
                <a:ea typeface="Calibri" pitchFamily="34" charset="-122"/>
                <a:cs typeface="Calibri" pitchFamily="34" charset="-120"/>
              </a:rPr>
              <a:t>A notified body, a private organisation designated by a member state, assesses you against the General Safety and Performance Requirements. The regulator does not review your file. The question is absolute: do you meet the requirements?</a:t>
            </a:r>
            <a:endParaRPr lang="en-US" sz="1100" dirty="0"/>
          </a:p>
        </p:txBody>
      </p:sp>
      <p:sp>
        <p:nvSpPr>
          <p:cNvPr id="12" name="Shape 10"/>
          <p:cNvSpPr/>
          <p:nvPr/>
        </p:nvSpPr>
        <p:spPr>
          <a:xfrm>
            <a:off x="548640" y="3648456"/>
            <a:ext cx="5410048" cy="1746504"/>
          </a:xfrm>
          <a:prstGeom prst="roundRect">
            <a:avLst>
              <a:gd name="adj" fmla="val 3665"/>
            </a:avLst>
          </a:prstGeom>
          <a:solidFill>
            <a:srgbClr val="F1F5F6"/>
          </a:solidFill>
          <a:ln w="12700">
            <a:solidFill>
              <a:srgbClr val="D7E2E5"/>
            </a:solidFill>
            <a:prstDash val="solid"/>
          </a:ln>
        </p:spPr>
      </p:sp>
      <p:sp>
        <p:nvSpPr>
          <p:cNvPr id="13" name="Text 11"/>
          <p:cNvSpPr txBox="1"/>
          <p:nvPr/>
        </p:nvSpPr>
        <p:spPr>
          <a:xfrm>
            <a:off x="768096" y="3849624"/>
            <a:ext cx="4971136" cy="550672"/>
          </a:xfrm>
          <a:prstGeom prst="rect">
            <a:avLst/>
          </a:prstGeom>
          <a:noFill/>
          <a:ln/>
        </p:spPr>
        <p:txBody>
          <a:bodyPr wrap="square" lIns="0" tIns="0" rIns="0" bIns="0" rtlCol="0" anchor="t"/>
          <a:lstStyle/>
          <a:p>
            <a:pPr indent="0" marL="0">
              <a:buNone/>
            </a:pPr>
            <a:r>
              <a:rPr lang="en-US" sz="1550" b="1" dirty="0">
                <a:solidFill>
                  <a:srgbClr val="C77C1E"/>
                </a:solidFill>
                <a:latin typeface="Calibri" pitchFamily="34" charset="0"/>
                <a:ea typeface="Calibri" pitchFamily="34" charset="-122"/>
                <a:cs typeface="Calibri" pitchFamily="34" charset="-120"/>
              </a:rPr>
              <a:t>GB — the same model, an older rule set</a:t>
            </a:r>
            <a:endParaRPr lang="en-US" sz="1550" dirty="0"/>
          </a:p>
        </p:txBody>
      </p:sp>
      <p:sp>
        <p:nvSpPr>
          <p:cNvPr id="14" name="Text 12"/>
          <p:cNvSpPr txBox="1"/>
          <p:nvPr/>
        </p:nvSpPr>
        <p:spPr>
          <a:xfrm>
            <a:off x="768096" y="4436872"/>
            <a:ext cx="4971136" cy="811784"/>
          </a:xfrm>
          <a:prstGeom prst="rect">
            <a:avLst/>
          </a:prstGeom>
          <a:noFill/>
          <a:ln/>
        </p:spPr>
        <p:txBody>
          <a:bodyPr wrap="square" lIns="0" tIns="0" rIns="0" bIns="0" rtlCol="0" anchor="t"/>
          <a:lstStyle/>
          <a:p>
            <a:pPr indent="0" marL="0">
              <a:lnSpc>
                <a:spcPct val="106000"/>
              </a:lnSpc>
              <a:buNone/>
            </a:pPr>
            <a:r>
              <a:rPr lang="en-US" sz="1100" dirty="0">
                <a:solidFill>
                  <a:srgbClr val="22333B"/>
                </a:solidFill>
                <a:latin typeface="Calibri" pitchFamily="34" charset="0"/>
                <a:ea typeface="Calibri" pitchFamily="34" charset="-122"/>
                <a:cs typeface="Calibri" pitchFamily="34" charset="-120"/>
              </a:rPr>
              <a:t>A UK Approved Body assesses against the UK MDR 2002, which carries the old directives into UK law. Structurally like the EU; substantively a different, older set of requirements. And CE marking is still accepted, which changes the calculation entirely.</a:t>
            </a:r>
            <a:endParaRPr lang="en-US" sz="1100" dirty="0"/>
          </a:p>
        </p:txBody>
      </p:sp>
      <p:sp>
        <p:nvSpPr>
          <p:cNvPr id="15" name="Shape 13"/>
          <p:cNvSpPr/>
          <p:nvPr/>
        </p:nvSpPr>
        <p:spPr>
          <a:xfrm>
            <a:off x="6233008" y="3648456"/>
            <a:ext cx="5410048" cy="1746504"/>
          </a:xfrm>
          <a:prstGeom prst="roundRect">
            <a:avLst>
              <a:gd name="adj" fmla="val 3665"/>
            </a:avLst>
          </a:prstGeom>
          <a:solidFill>
            <a:srgbClr val="F1F5F6"/>
          </a:solidFill>
          <a:ln w="12700">
            <a:solidFill>
              <a:srgbClr val="D7E2E5"/>
            </a:solidFill>
            <a:prstDash val="solid"/>
          </a:ln>
        </p:spPr>
      </p:sp>
      <p:sp>
        <p:nvSpPr>
          <p:cNvPr id="16" name="Text 14"/>
          <p:cNvSpPr txBox="1"/>
          <p:nvPr/>
        </p:nvSpPr>
        <p:spPr>
          <a:xfrm>
            <a:off x="6452464" y="3849624"/>
            <a:ext cx="4971136" cy="550672"/>
          </a:xfrm>
          <a:prstGeom prst="rect">
            <a:avLst/>
          </a:prstGeom>
          <a:noFill/>
          <a:ln/>
        </p:spPr>
        <p:txBody>
          <a:bodyPr wrap="square" lIns="0" tIns="0" rIns="0" bIns="0" rtlCol="0" anchor="t"/>
          <a:lstStyle/>
          <a:p>
            <a:pPr indent="0" marL="0">
              <a:buNone/>
            </a:pPr>
            <a:r>
              <a:rPr lang="en-US" sz="1550" b="1" dirty="0">
                <a:solidFill>
                  <a:srgbClr val="A83A3C"/>
                </a:solidFill>
                <a:latin typeface="Calibri" pitchFamily="34" charset="0"/>
                <a:ea typeface="Calibri" pitchFamily="34" charset="-122"/>
                <a:cs typeface="Calibri" pitchFamily="34" charset="-120"/>
              </a:rPr>
              <a:t>Japan — a split system, by class and by standard</a:t>
            </a:r>
            <a:endParaRPr lang="en-US" sz="1550" dirty="0"/>
          </a:p>
        </p:txBody>
      </p:sp>
      <p:sp>
        <p:nvSpPr>
          <p:cNvPr id="17" name="Text 15"/>
          <p:cNvSpPr txBox="1"/>
          <p:nvPr/>
        </p:nvSpPr>
        <p:spPr>
          <a:xfrm>
            <a:off x="6452464" y="4436872"/>
            <a:ext cx="4971136" cy="811784"/>
          </a:xfrm>
          <a:prstGeom prst="rect">
            <a:avLst/>
          </a:prstGeom>
          <a:noFill/>
          <a:ln/>
        </p:spPr>
        <p:txBody>
          <a:bodyPr wrap="square" lIns="0" tIns="0" rIns="0" bIns="0" rtlCol="0" anchor="t"/>
          <a:lstStyle/>
          <a:p>
            <a:pPr indent="0" marL="0">
              <a:lnSpc>
                <a:spcPct val="106000"/>
              </a:lnSpc>
              <a:buNone/>
            </a:pPr>
            <a:r>
              <a:rPr lang="en-US" sz="1100" dirty="0">
                <a:solidFill>
                  <a:srgbClr val="22333B"/>
                </a:solidFill>
                <a:latin typeface="Calibri" pitchFamily="34" charset="0"/>
                <a:ea typeface="Calibri" pitchFamily="34" charset="-122"/>
                <a:cs typeface="Calibri" pitchFamily="34" charset="-120"/>
              </a:rPr>
              <a:t>A Registered Certification Body certifies where an official certification standard exists; where one does not, PMDA reviews and MHLW approves. Which branch you are on is determined by your JMDN code, not by negotiation.</a:t>
            </a:r>
            <a:endParaRPr lang="en-US" sz="1100" dirty="0"/>
          </a:p>
        </p:txBody>
      </p:sp>
      <p:sp>
        <p:nvSpPr>
          <p:cNvPr id="18" name="Shape 16"/>
          <p:cNvSpPr/>
          <p:nvPr/>
        </p:nvSpPr>
        <p:spPr>
          <a:xfrm>
            <a:off x="548640" y="5504688"/>
            <a:ext cx="11094415" cy="749808"/>
          </a:xfrm>
          <a:prstGeom prst="roundRect">
            <a:avLst>
              <a:gd name="adj" fmla="val 7317"/>
            </a:avLst>
          </a:prstGeom>
          <a:solidFill>
            <a:srgbClr val="EAF3F2"/>
          </a:solidFill>
          <a:ln w="12700">
            <a:solidFill>
              <a:srgbClr val="BFD9D6"/>
            </a:solidFill>
            <a:prstDash val="solid"/>
          </a:ln>
        </p:spPr>
      </p:sp>
      <p:sp>
        <p:nvSpPr>
          <p:cNvPr id="19" name="Text 17"/>
          <p:cNvSpPr txBox="1"/>
          <p:nvPr/>
        </p:nvSpPr>
        <p:spPr>
          <a:xfrm>
            <a:off x="786384" y="5504688"/>
            <a:ext cx="10618927" cy="749808"/>
          </a:xfrm>
          <a:prstGeom prst="rect">
            <a:avLst/>
          </a:prstGeom>
          <a:noFill/>
          <a:ln/>
        </p:spPr>
        <p:txBody>
          <a:bodyPr wrap="square" lIns="0" tIns="0" rIns="0" bIns="0" rtlCol="0" anchor="ctr"/>
          <a:lstStyle/>
          <a:p>
            <a:pPr indent="0" marL="0">
              <a:buNone/>
            </a:pPr>
            <a:r>
              <a:rPr lang="en-US" sz="1250" b="1" dirty="0">
                <a:solidFill>
                  <a:srgbClr val="1B3A4B"/>
                </a:solidFill>
                <a:latin typeface="Calibri" pitchFamily="34" charset="0"/>
                <a:ea typeface="Calibri" pitchFamily="34" charset="-122"/>
                <a:cs typeface="Calibri" pitchFamily="34" charset="-120"/>
              </a:rPr>
              <a:t>These are different questions, not different paperwork. “Substantially equivalent to an existing device” and “meets the general safety and performance requirements” can be answered by genuinely different evidence.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REUSE</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What transfers between jurisdictions</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8</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Plan the programme around this table. Most teams overestimate the left column and underestimate the right.</a:t>
            </a:r>
            <a:endParaRPr lang="en-US" sz="1400" dirty="0"/>
          </a:p>
        </p:txBody>
      </p:sp>
      <p:sp>
        <p:nvSpPr>
          <p:cNvPr id="7" name="Text 5"/>
          <p:cNvSpPr txBox="1"/>
          <p:nvPr/>
        </p:nvSpPr>
        <p:spPr>
          <a:xfrm>
            <a:off x="548640" y="1847088"/>
            <a:ext cx="5394960" cy="256032"/>
          </a:xfrm>
          <a:prstGeom prst="rect">
            <a:avLst/>
          </a:prstGeom>
          <a:noFill/>
          <a:ln/>
        </p:spPr>
        <p:txBody>
          <a:bodyPr wrap="square" lIns="0" tIns="0" rIns="0" bIns="0" rtlCol="0" anchor="ctr"/>
          <a:lstStyle/>
          <a:p>
            <a:pPr indent="0" marL="0">
              <a:buNone/>
            </a:pPr>
            <a:r>
              <a:rPr lang="en-US" sz="1100" b="1" spc="120" kern="0" dirty="0">
                <a:solidFill>
                  <a:srgbClr val="0E7C7B"/>
                </a:solidFill>
                <a:latin typeface="Calibri" pitchFamily="34" charset="0"/>
                <a:ea typeface="Calibri" pitchFamily="34" charset="-122"/>
                <a:cs typeface="Calibri" pitchFamily="34" charset="-120"/>
              </a:rPr>
              <a:t>TRAVELS WELL — BUILD ONCE</a:t>
            </a:r>
            <a:endParaRPr lang="en-US" sz="1100" dirty="0"/>
          </a:p>
        </p:txBody>
      </p:sp>
      <p:sp>
        <p:nvSpPr>
          <p:cNvPr id="8" name="Shape 6"/>
          <p:cNvSpPr/>
          <p:nvPr/>
        </p:nvSpPr>
        <p:spPr>
          <a:xfrm>
            <a:off x="548640" y="2157984"/>
            <a:ext cx="5394960" cy="3529584"/>
          </a:xfrm>
          <a:prstGeom prst="roundRect">
            <a:avLst>
              <a:gd name="adj" fmla="val 1813"/>
            </a:avLst>
          </a:prstGeom>
          <a:solidFill>
            <a:srgbClr val="EAF3F2"/>
          </a:solidFill>
          <a:ln w="12700">
            <a:solidFill>
              <a:srgbClr val="BFD9D6"/>
            </a:solidFill>
            <a:prstDash val="solid"/>
          </a:ln>
        </p:spPr>
      </p:sp>
      <p:sp>
        <p:nvSpPr>
          <p:cNvPr id="9" name="Text 7"/>
          <p:cNvSpPr txBox="1"/>
          <p:nvPr/>
        </p:nvSpPr>
        <p:spPr>
          <a:xfrm>
            <a:off x="786384" y="2340864"/>
            <a:ext cx="4919472" cy="3200400"/>
          </a:xfrm>
          <a:prstGeom prst="rect">
            <a:avLst/>
          </a:prstGeom>
          <a:noFill/>
          <a:ln/>
        </p:spPr>
        <p:txBody>
          <a:bodyPr wrap="square" lIns="0" tIns="0" rIns="0" bIns="0" rtlCol="0" anchor="t"/>
          <a:lstStyle/>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Bench and performance testing</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Electrical safety, EMC, mechanical, environmental. Test once to the IEC/ISO standard and the report is usable everywhere — subject to each regulator's recognised-standard list and edition.</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Biocompatibility</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An ISO 10993 programme serves all four, provided the test article represents the final, sterilised product.</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Risk management file</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ISO 14971 underpins all four regimes. One file, maintained.</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Software lifecycle evidence</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IEC 62304 outputs serve all four. The documentation LEVEL expected differs; the engineering does not.</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The quality system</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One ISO 13485 system can satisfy all four — with jurisdiction-specific additions. Slide 45.</a:t>
            </a:r>
            <a:endParaRPr lang="en-US" sz="1080" dirty="0"/>
          </a:p>
        </p:txBody>
      </p:sp>
      <p:sp>
        <p:nvSpPr>
          <p:cNvPr id="10" name="Text 8"/>
          <p:cNvSpPr txBox="1"/>
          <p:nvPr/>
        </p:nvSpPr>
        <p:spPr>
          <a:xfrm>
            <a:off x="6245352" y="1847088"/>
            <a:ext cx="5394960" cy="256032"/>
          </a:xfrm>
          <a:prstGeom prst="rect">
            <a:avLst/>
          </a:prstGeom>
          <a:noFill/>
          <a:ln/>
        </p:spPr>
        <p:txBody>
          <a:bodyPr wrap="square" lIns="0" tIns="0" rIns="0" bIns="0" rtlCol="0" anchor="ctr"/>
          <a:lstStyle/>
          <a:p>
            <a:pPr indent="0" marL="0">
              <a:buNone/>
            </a:pPr>
            <a:r>
              <a:rPr lang="en-US" sz="1100" b="1" spc="120" kern="0" dirty="0">
                <a:solidFill>
                  <a:srgbClr val="A83A3C"/>
                </a:solidFill>
                <a:latin typeface="Calibri" pitchFamily="34" charset="0"/>
                <a:ea typeface="Calibri" pitchFamily="34" charset="-122"/>
                <a:cs typeface="Calibri" pitchFamily="34" charset="-120"/>
              </a:rPr>
              <a:t>DOES NOT TRAVEL — BUDGET FOR EACH</a:t>
            </a:r>
            <a:endParaRPr lang="en-US" sz="1100" dirty="0"/>
          </a:p>
        </p:txBody>
      </p:sp>
      <p:sp>
        <p:nvSpPr>
          <p:cNvPr id="11" name="Shape 9"/>
          <p:cNvSpPr/>
          <p:nvPr/>
        </p:nvSpPr>
        <p:spPr>
          <a:xfrm>
            <a:off x="6245352" y="2157984"/>
            <a:ext cx="5394960" cy="3529584"/>
          </a:xfrm>
          <a:prstGeom prst="roundRect">
            <a:avLst>
              <a:gd name="adj" fmla="val 1813"/>
            </a:avLst>
          </a:prstGeom>
          <a:solidFill>
            <a:srgbClr val="FBEDED"/>
          </a:solidFill>
          <a:ln w="12700">
            <a:solidFill>
              <a:srgbClr val="DFA9A9"/>
            </a:solidFill>
            <a:prstDash val="solid"/>
          </a:ln>
        </p:spPr>
      </p:sp>
      <p:sp>
        <p:nvSpPr>
          <p:cNvPr id="12" name="Text 10"/>
          <p:cNvSpPr txBox="1"/>
          <p:nvPr/>
        </p:nvSpPr>
        <p:spPr>
          <a:xfrm>
            <a:off x="6483096" y="2340864"/>
            <a:ext cx="4919472" cy="3200400"/>
          </a:xfrm>
          <a:prstGeom prst="rect">
            <a:avLst/>
          </a:prstGeom>
          <a:noFill/>
          <a:ln/>
        </p:spPr>
        <p:txBody>
          <a:bodyPr wrap="square" lIns="0" tIns="0" rIns="0" bIns="0" rtlCol="0" anchor="t"/>
          <a:lstStyle/>
          <a:p>
            <a:pPr marL="203200" indent="-203200">
              <a:lnSpc>
                <a:spcPct val="108000"/>
              </a:lnSpc>
              <a:spcAft>
                <a:spcPts val="500"/>
              </a:spcAft>
              <a:buSzPct val="100000"/>
              <a:buChar char="•"/>
            </a:pPr>
            <a:r>
              <a:rPr lang="en-US" sz="980" b="1" dirty="0">
                <a:solidFill>
                  <a:srgbClr val="22333B"/>
                </a:solidFill>
                <a:latin typeface="Calibri" pitchFamily="34" charset="0"/>
                <a:ea typeface="Calibri" pitchFamily="34" charset="-122"/>
                <a:cs typeface="Calibri" pitchFamily="34" charset="-120"/>
              </a:rPr>
              <a:t>The classification determination</a:t>
            </a:r>
            <a:endParaRPr lang="en-US" sz="980" dirty="0"/>
          </a:p>
          <a:p>
            <a:pPr marL="203200" indent="-203200">
              <a:lnSpc>
                <a:spcPct val="108000"/>
              </a:lnSpc>
              <a:spcAft>
                <a:spcPts val="500"/>
              </a:spcAft>
              <a:buSzPct val="100000"/>
              <a:buChar char="•"/>
            </a:pPr>
            <a:r>
              <a:rPr lang="en-US" sz="980" dirty="0">
                <a:solidFill>
                  <a:srgbClr val="22333B"/>
                </a:solidFill>
                <a:latin typeface="Calibri" pitchFamily="34" charset="0"/>
                <a:ea typeface="Calibri" pitchFamily="34" charset="-122"/>
                <a:cs typeface="Calibri" pitchFamily="34" charset="-120"/>
              </a:rPr>
              <a:t>Four separate analyses from the same intended purpose. Document the reasoning for each.</a:t>
            </a:r>
            <a:endParaRPr lang="en-US" sz="980" dirty="0"/>
          </a:p>
          <a:p>
            <a:pPr marL="203200" indent="-203200">
              <a:lnSpc>
                <a:spcPct val="108000"/>
              </a:lnSpc>
              <a:spcAft>
                <a:spcPts val="500"/>
              </a:spcAft>
              <a:buSzPct val="100000"/>
              <a:buChar char="•"/>
            </a:pPr>
            <a:r>
              <a:rPr lang="en-US" sz="980" b="1" dirty="0">
                <a:solidFill>
                  <a:srgbClr val="22333B"/>
                </a:solidFill>
                <a:latin typeface="Calibri" pitchFamily="34" charset="0"/>
                <a:ea typeface="Calibri" pitchFamily="34" charset="-122"/>
                <a:cs typeface="Calibri" pitchFamily="34" charset="-120"/>
              </a:rPr>
              <a:t>The submission dossier itself</a:t>
            </a:r>
            <a:endParaRPr lang="en-US" sz="980" dirty="0"/>
          </a:p>
          <a:p>
            <a:pPr marL="203200" indent="-203200">
              <a:lnSpc>
                <a:spcPct val="108000"/>
              </a:lnSpc>
              <a:spcAft>
                <a:spcPts val="500"/>
              </a:spcAft>
              <a:buSzPct val="100000"/>
              <a:buChar char="•"/>
            </a:pPr>
            <a:r>
              <a:rPr lang="en-US" sz="980" dirty="0">
                <a:solidFill>
                  <a:srgbClr val="22333B"/>
                </a:solidFill>
                <a:latin typeface="Calibri" pitchFamily="34" charset="0"/>
                <a:ea typeface="Calibri" pitchFamily="34" charset="-122"/>
                <a:cs typeface="Calibri" pitchFamily="34" charset="-120"/>
              </a:rPr>
              <a:t>Annex II technical documentation, an eSTAR 510(k), a Ninsho application and a UKCA file are different documents with different structures — even where the underlying evidence overlaps.</a:t>
            </a:r>
            <a:endParaRPr lang="en-US" sz="980" dirty="0"/>
          </a:p>
          <a:p>
            <a:pPr marL="203200" indent="-203200">
              <a:lnSpc>
                <a:spcPct val="108000"/>
              </a:lnSpc>
              <a:spcAft>
                <a:spcPts val="500"/>
              </a:spcAft>
              <a:buSzPct val="100000"/>
              <a:buChar char="•"/>
            </a:pPr>
            <a:r>
              <a:rPr lang="en-US" sz="980" b="1" dirty="0">
                <a:solidFill>
                  <a:srgbClr val="22333B"/>
                </a:solidFill>
                <a:latin typeface="Calibri" pitchFamily="34" charset="0"/>
                <a:ea typeface="Calibri" pitchFamily="34" charset="-122"/>
                <a:cs typeface="Calibri" pitchFamily="34" charset="-120"/>
              </a:rPr>
              <a:t>Clinical evidence sufficiency</a:t>
            </a:r>
            <a:endParaRPr lang="en-US" sz="980" dirty="0"/>
          </a:p>
          <a:p>
            <a:pPr marL="203200" indent="-203200">
              <a:lnSpc>
                <a:spcPct val="108000"/>
              </a:lnSpc>
              <a:spcAft>
                <a:spcPts val="500"/>
              </a:spcAft>
              <a:buSzPct val="100000"/>
              <a:buChar char="•"/>
            </a:pPr>
            <a:r>
              <a:rPr lang="en-US" sz="980" dirty="0">
                <a:solidFill>
                  <a:srgbClr val="22333B"/>
                </a:solidFill>
                <a:latin typeface="Calibri" pitchFamily="34" charset="0"/>
                <a:ea typeface="Calibri" pitchFamily="34" charset="-122"/>
                <a:cs typeface="Calibri" pitchFamily="34" charset="-120"/>
              </a:rPr>
              <a:t>A 510(k) may need none. MDR requires a clinical evaluation for every device. Japan may want bridging data for a Japanese population. Same product, genuinely different burden.</a:t>
            </a:r>
            <a:endParaRPr lang="en-US" sz="980" dirty="0"/>
          </a:p>
          <a:p>
            <a:pPr marL="203200" indent="-203200">
              <a:lnSpc>
                <a:spcPct val="108000"/>
              </a:lnSpc>
              <a:spcAft>
                <a:spcPts val="500"/>
              </a:spcAft>
              <a:buSzPct val="100000"/>
              <a:buChar char="•"/>
            </a:pPr>
            <a:r>
              <a:rPr lang="en-US" sz="980" b="1" dirty="0">
                <a:solidFill>
                  <a:srgbClr val="22333B"/>
                </a:solidFill>
                <a:latin typeface="Calibri" pitchFamily="34" charset="0"/>
                <a:ea typeface="Calibri" pitchFamily="34" charset="-122"/>
                <a:cs typeface="Calibri" pitchFamily="34" charset="-120"/>
              </a:rPr>
              <a:t>Labelling and language</a:t>
            </a:r>
            <a:endParaRPr lang="en-US" sz="980" dirty="0"/>
          </a:p>
          <a:p>
            <a:pPr marL="203200" indent="-203200">
              <a:lnSpc>
                <a:spcPct val="108000"/>
              </a:lnSpc>
              <a:spcAft>
                <a:spcPts val="500"/>
              </a:spcAft>
              <a:buSzPct val="100000"/>
              <a:buChar char="•"/>
            </a:pPr>
            <a:r>
              <a:rPr lang="en-US" sz="980" dirty="0">
                <a:solidFill>
                  <a:srgbClr val="22333B"/>
                </a:solidFill>
                <a:latin typeface="Calibri" pitchFamily="34" charset="0"/>
                <a:ea typeface="Calibri" pitchFamily="34" charset="-122"/>
                <a:cs typeface="Calibri" pitchFamily="34" charset="-120"/>
              </a:rPr>
              <a:t>Symbols, warnings, UDI carriers, and the official languages of every member state you supply.</a:t>
            </a:r>
            <a:endParaRPr lang="en-US" sz="980" dirty="0"/>
          </a:p>
          <a:p>
            <a:pPr marL="203200" indent="-203200">
              <a:lnSpc>
                <a:spcPct val="108000"/>
              </a:lnSpc>
              <a:spcAft>
                <a:spcPts val="500"/>
              </a:spcAft>
              <a:buSzPct val="100000"/>
              <a:buChar char="•"/>
            </a:pPr>
            <a:r>
              <a:rPr lang="en-US" sz="980" b="1" dirty="0">
                <a:solidFill>
                  <a:srgbClr val="22333B"/>
                </a:solidFill>
                <a:latin typeface="Calibri" pitchFamily="34" charset="0"/>
                <a:ea typeface="Calibri" pitchFamily="34" charset="-122"/>
                <a:cs typeface="Calibri" pitchFamily="34" charset="-120"/>
              </a:rPr>
              <a:t>The local representative</a:t>
            </a:r>
            <a:endParaRPr lang="en-US" sz="980" dirty="0"/>
          </a:p>
          <a:p>
            <a:pPr marL="203200" indent="-203200">
              <a:lnSpc>
                <a:spcPct val="108000"/>
              </a:lnSpc>
              <a:spcAft>
                <a:spcPts val="500"/>
              </a:spcAft>
              <a:buSzPct val="100000"/>
              <a:buChar char="•"/>
            </a:pPr>
            <a:r>
              <a:rPr lang="en-US" sz="980" dirty="0">
                <a:solidFill>
                  <a:srgbClr val="22333B"/>
                </a:solidFill>
                <a:latin typeface="Calibri" pitchFamily="34" charset="0"/>
                <a:ea typeface="Calibri" pitchFamily="34" charset="-122"/>
                <a:cs typeface="Calibri" pitchFamily="34" charset="-120"/>
              </a:rPr>
              <a:t>Four separate appointments, four contracts, four sets of obligations. Slide 9.</a:t>
            </a:r>
            <a:endParaRPr lang="en-US" sz="9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LOCAL PRESENCE</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2900" b="1" dirty="0">
                <a:solidFill>
                  <a:srgbClr val="1B3A4B"/>
                </a:solidFill>
                <a:latin typeface="Cambria" pitchFamily="34" charset="0"/>
                <a:ea typeface="Cambria" pitchFamily="34" charset="-122"/>
                <a:cs typeface="Cambria" pitchFamily="34" charset="-120"/>
              </a:rPr>
              <a:t>Four local representatives, four different jobs</a:t>
            </a:r>
            <a:endParaRPr lang="en-US" sz="29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9</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94415" cy="914400"/>
        </p:xfrm>
        <a:graphic>
          <a:graphicData uri="http://schemas.openxmlformats.org/drawingml/2006/table">
            <a:tbl>
              <a:tblPr/>
              <a:tblGrid>
                <a:gridCol w="1965960"/>
                <a:gridCol w="1920240"/>
                <a:gridCol w="4206240"/>
                <a:gridCol w="2999232"/>
              </a:tblGrid>
              <a:tr h="925373">
                <a:tc>
                  <a:txBody>
                    <a:bodyPr/>
                    <a:lstStyle/>
                    <a:p>
                      <a:pPr algn="l" indent="0" marL="0">
                        <a:buNone/>
                      </a:pPr>
                      <a:r>
                        <a:rPr lang="en-US" sz="1058" b="1" dirty="0">
                          <a:solidFill>
                            <a:srgbClr val="FFFFFF"/>
                          </a:solidFill>
                          <a:latin typeface="Calibri" pitchFamily="34" charset="0"/>
                          <a:ea typeface="Calibri" pitchFamily="34" charset="-122"/>
                          <a:cs typeface="Calibri" pitchFamily="34" charset="-120"/>
                        </a:rPr>
                        <a:t>Role</a:t>
                      </a:r>
                      <a:endParaRPr lang="en-US" sz="105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1058" b="1" dirty="0">
                          <a:solidFill>
                            <a:srgbClr val="FFFFFF"/>
                          </a:solidFill>
                          <a:latin typeface="Calibri" pitchFamily="34" charset="0"/>
                          <a:ea typeface="Calibri" pitchFamily="34" charset="-122"/>
                          <a:cs typeface="Calibri" pitchFamily="34" charset="-120"/>
                        </a:rPr>
                        <a:t>Required when</a:t>
                      </a:r>
                      <a:endParaRPr lang="en-US" sz="105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1058" b="1" dirty="0">
                          <a:solidFill>
                            <a:srgbClr val="FFFFFF"/>
                          </a:solidFill>
                          <a:latin typeface="Calibri" pitchFamily="34" charset="0"/>
                          <a:ea typeface="Calibri" pitchFamily="34" charset="-122"/>
                          <a:cs typeface="Calibri" pitchFamily="34" charset="-120"/>
                        </a:rPr>
                        <a:t>What they actually carry</a:t>
                      </a:r>
                      <a:endParaRPr lang="en-US" sz="105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1058" b="1" dirty="0">
                          <a:solidFill>
                            <a:srgbClr val="FFFFFF"/>
                          </a:solidFill>
                          <a:latin typeface="Calibri" pitchFamily="34" charset="0"/>
                          <a:ea typeface="Calibri" pitchFamily="34" charset="-122"/>
                          <a:cs typeface="Calibri" pitchFamily="34" charset="-120"/>
                        </a:rPr>
                        <a:t>The trap</a:t>
                      </a:r>
                      <a:endParaRPr lang="en-US" sz="105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r>
              <a:tr h="925373">
                <a:tc>
                  <a:txBody>
                    <a:bodyPr/>
                    <a:lstStyle/>
                    <a:p>
                      <a:pPr indent="0" marL="0">
                        <a:buNone/>
                      </a:pPr>
                      <a:r>
                        <a:rPr lang="en-US" sz="1058" b="1" dirty="0">
                          <a:solidFill>
                            <a:srgbClr val="FFFFFF"/>
                          </a:solidFill>
                          <a:latin typeface="Calibri" pitchFamily="34" charset="0"/>
                          <a:ea typeface="Calibri" pitchFamily="34" charset="-122"/>
                          <a:cs typeface="Calibri" pitchFamily="34" charset="-120"/>
                        </a:rPr>
                        <a:t>US Agent</a:t>
                      </a:r>
                      <a:endParaRPr lang="en-US" sz="105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0E7C7B"/>
                    </a:solidFill>
                  </a:tcPr>
                </a:tc>
                <a:tc>
                  <a:txBody>
                    <a:bodyPr/>
                    <a:lstStyle/>
                    <a:p>
                      <a:pPr indent="0" marL="0">
                        <a:buNone/>
                      </a:pPr>
                      <a:r>
                        <a:rPr lang="en-US" sz="966" dirty="0">
                          <a:solidFill>
                            <a:srgbClr val="22333B"/>
                          </a:solidFill>
                          <a:latin typeface="Calibri" pitchFamily="34" charset="0"/>
                          <a:ea typeface="Calibri" pitchFamily="34" charset="-122"/>
                          <a:cs typeface="Calibri" pitchFamily="34" charset="-120"/>
                        </a:rPr>
                        <a:t>The manufacturer is outside the US</a:t>
                      </a:r>
                      <a:endParaRPr lang="en-US" sz="96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966" dirty="0">
                          <a:solidFill>
                            <a:srgbClr val="22333B"/>
                          </a:solidFill>
                          <a:latin typeface="Calibri" pitchFamily="34" charset="0"/>
                          <a:ea typeface="Calibri" pitchFamily="34" charset="-122"/>
                          <a:cs typeface="Calibri" pitchFamily="34" charset="-120"/>
                        </a:rPr>
                        <a:t>A communications channel: they receive FDA correspondence and assist with scheduling inspections. Named at establishment registration.</a:t>
                      </a:r>
                      <a:endParaRPr lang="en-US" sz="96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966" i="1" dirty="0">
                          <a:solidFill>
                            <a:srgbClr val="22333B"/>
                          </a:solidFill>
                          <a:latin typeface="Calibri" pitchFamily="34" charset="0"/>
                          <a:ea typeface="Calibri" pitchFamily="34" charset="-122"/>
                          <a:cs typeface="Calibri" pitchFamily="34" charset="-120"/>
                        </a:rPr>
                        <a:t>Treating it as a substantive role. It is largely a mailbox — it does not review your file</a:t>
                      </a:r>
                      <a:endParaRPr lang="en-US" sz="96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925373">
                <a:tc>
                  <a:txBody>
                    <a:bodyPr/>
                    <a:lstStyle/>
                    <a:p>
                      <a:pPr indent="0" marL="0">
                        <a:buNone/>
                      </a:pPr>
                      <a:r>
                        <a:rPr lang="en-US" sz="1058" b="1" dirty="0">
                          <a:solidFill>
                            <a:srgbClr val="FFFFFF"/>
                          </a:solidFill>
                          <a:latin typeface="Calibri" pitchFamily="34" charset="0"/>
                          <a:ea typeface="Calibri" pitchFamily="34" charset="-122"/>
                          <a:cs typeface="Calibri" pitchFamily="34" charset="-120"/>
                        </a:rPr>
                        <a:t>EU Authorised Representative</a:t>
                      </a:r>
                      <a:endParaRPr lang="en-US" sz="105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E7A6E"/>
                    </a:solidFill>
                  </a:tcPr>
                </a:tc>
                <a:tc>
                  <a:txBody>
                    <a:bodyPr/>
                    <a:lstStyle/>
                    <a:p>
                      <a:pPr indent="0" marL="0">
                        <a:buNone/>
                      </a:pPr>
                      <a:r>
                        <a:rPr lang="en-US" sz="966" dirty="0">
                          <a:solidFill>
                            <a:srgbClr val="22333B"/>
                          </a:solidFill>
                          <a:latin typeface="Calibri" pitchFamily="34" charset="0"/>
                          <a:ea typeface="Calibri" pitchFamily="34" charset="-122"/>
                          <a:cs typeface="Calibri" pitchFamily="34" charset="-120"/>
                        </a:rPr>
                        <a:t>The manufacturer is outside the EU</a:t>
                      </a:r>
                      <a:endParaRPr lang="en-US" sz="96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966" dirty="0">
                          <a:solidFill>
                            <a:srgbClr val="22333B"/>
                          </a:solidFill>
                          <a:latin typeface="Calibri" pitchFamily="34" charset="0"/>
                          <a:ea typeface="Calibri" pitchFamily="34" charset="-122"/>
                          <a:cs typeface="Calibri" pitchFamily="34" charset="-120"/>
                        </a:rPr>
                        <a:t>A defined mandate under MDR Article 11: verify the declaration and technical documentation exist, keep them available, cooperate with authorities, and act on vigilance.</a:t>
                      </a:r>
                      <a:endParaRPr lang="en-US" sz="96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966" i="1" dirty="0">
                          <a:solidFill>
                            <a:srgbClr val="A83A3C"/>
                          </a:solidFill>
                          <a:latin typeface="Calibri" pitchFamily="34" charset="0"/>
                          <a:ea typeface="Calibri" pitchFamily="34" charset="-122"/>
                          <a:cs typeface="Calibri" pitchFamily="34" charset="-120"/>
                        </a:rPr>
                        <a:t>Article 11(5): the AR is legally liable JOINTLY AND SEVERALLY with you for defective devices. Read the mandate</a:t>
                      </a:r>
                      <a:endParaRPr lang="en-US" sz="96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925373">
                <a:tc>
                  <a:txBody>
                    <a:bodyPr/>
                    <a:lstStyle/>
                    <a:p>
                      <a:pPr indent="0" marL="0">
                        <a:buNone/>
                      </a:pPr>
                      <a:r>
                        <a:rPr lang="en-US" sz="1058" b="1" dirty="0">
                          <a:solidFill>
                            <a:srgbClr val="FFFFFF"/>
                          </a:solidFill>
                          <a:latin typeface="Calibri" pitchFamily="34" charset="0"/>
                          <a:ea typeface="Calibri" pitchFamily="34" charset="-122"/>
                          <a:cs typeface="Calibri" pitchFamily="34" charset="-120"/>
                        </a:rPr>
                        <a:t>UK Responsible Person</a:t>
                      </a:r>
                      <a:endParaRPr lang="en-US" sz="105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A06318"/>
                    </a:solidFill>
                  </a:tcPr>
                </a:tc>
                <a:tc>
                  <a:txBody>
                    <a:bodyPr/>
                    <a:lstStyle/>
                    <a:p>
                      <a:pPr indent="0" marL="0">
                        <a:buNone/>
                      </a:pPr>
                      <a:r>
                        <a:rPr lang="en-US" sz="966" dirty="0">
                          <a:solidFill>
                            <a:srgbClr val="22333B"/>
                          </a:solidFill>
                          <a:latin typeface="Calibri" pitchFamily="34" charset="0"/>
                          <a:ea typeface="Calibri" pitchFamily="34" charset="-122"/>
                          <a:cs typeface="Calibri" pitchFamily="34" charset="-120"/>
                        </a:rPr>
                        <a:t>The manufacturer is outside the UK</a:t>
                      </a:r>
                      <a:endParaRPr lang="en-US" sz="96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966" dirty="0">
                          <a:solidFill>
                            <a:srgbClr val="22333B"/>
                          </a:solidFill>
                          <a:latin typeface="Calibri" pitchFamily="34" charset="0"/>
                          <a:ea typeface="Calibri" pitchFamily="34" charset="-122"/>
                          <a:cs typeface="Calibri" pitchFamily="34" charset="-120"/>
                        </a:rPr>
                        <a:t>Registers the device with the MHRA, holds the technical documentation available for inspection, handles MHRA requests and passes complaints to you.</a:t>
                      </a:r>
                      <a:endParaRPr lang="en-US" sz="96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966" i="1" dirty="0">
                          <a:solidFill>
                            <a:srgbClr val="22333B"/>
                          </a:solidFill>
                          <a:latin typeface="Calibri" pitchFamily="34" charset="0"/>
                          <a:ea typeface="Calibri" pitchFamily="34" charset="-122"/>
                          <a:cs typeface="Calibri" pitchFamily="34" charset="-120"/>
                        </a:rPr>
                        <a:t>Assuming your EU AR can do it. It is a separate appointment with a UK address</a:t>
                      </a:r>
                      <a:endParaRPr lang="en-US" sz="96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925373">
                <a:tc>
                  <a:txBody>
                    <a:bodyPr/>
                    <a:lstStyle/>
                    <a:p>
                      <a:pPr indent="0" marL="0">
                        <a:buNone/>
                      </a:pPr>
                      <a:r>
                        <a:rPr lang="en-US" sz="1058" b="1" dirty="0">
                          <a:solidFill>
                            <a:srgbClr val="FFFFFF"/>
                          </a:solidFill>
                          <a:latin typeface="Calibri" pitchFamily="34" charset="0"/>
                          <a:ea typeface="Calibri" pitchFamily="34" charset="-122"/>
                          <a:cs typeface="Calibri" pitchFamily="34" charset="-120"/>
                        </a:rPr>
                        <a:t>Japanese MAH or DMAH</a:t>
                      </a:r>
                      <a:endParaRPr lang="en-US" sz="105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A83A3C"/>
                    </a:solidFill>
                  </a:tcPr>
                </a:tc>
                <a:tc>
                  <a:txBody>
                    <a:bodyPr/>
                    <a:lstStyle/>
                    <a:p>
                      <a:pPr indent="0" marL="0">
                        <a:buNone/>
                      </a:pPr>
                      <a:r>
                        <a:rPr lang="en-US" sz="966" dirty="0">
                          <a:solidFill>
                            <a:srgbClr val="22333B"/>
                          </a:solidFill>
                          <a:latin typeface="Calibri" pitchFamily="34" charset="0"/>
                          <a:ea typeface="Calibri" pitchFamily="34" charset="-122"/>
                          <a:cs typeface="Calibri" pitchFamily="34" charset="-120"/>
                        </a:rPr>
                        <a:t>Always, for a foreign manufacturer</a:t>
                      </a:r>
                      <a:endParaRPr lang="en-US" sz="96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966" dirty="0">
                          <a:solidFill>
                            <a:srgbClr val="22333B"/>
                          </a:solidFill>
                          <a:latin typeface="Calibri" pitchFamily="34" charset="0"/>
                          <a:ea typeface="Calibri" pitchFamily="34" charset="-122"/>
                          <a:cs typeface="Calibri" pitchFamily="34" charset="-120"/>
                        </a:rPr>
                        <a:t>Holds the marketing authorisation itself, and carries the quality and safety responsibility in Japan. A DMAH holds it on your behalf.</a:t>
                      </a:r>
                      <a:endParaRPr lang="en-US" sz="96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966" i="1" dirty="0">
                          <a:solidFill>
                            <a:srgbClr val="A83A3C"/>
                          </a:solidFill>
                          <a:latin typeface="Calibri" pitchFamily="34" charset="0"/>
                          <a:ea typeface="Calibri" pitchFamily="34" charset="-122"/>
                          <a:cs typeface="Calibri" pitchFamily="34" charset="-120"/>
                        </a:rPr>
                        <a:t>The approval can sit with THEM, not you. Changing MAH later is painful — negotiate transfer terms up front</a:t>
                      </a:r>
                      <a:endParaRPr lang="en-US" sz="96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PROGRAMME REALITY</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Where the time actually goes</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10</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Review clocks are the visible part. They are rarely the long pole.</a:t>
            </a:r>
            <a:endParaRPr lang="en-US" sz="1400" dirty="0"/>
          </a:p>
        </p:txBody>
      </p:sp>
      <p:sp>
        <p:nvSpPr>
          <p:cNvPr id="7" name="Shape 5"/>
          <p:cNvSpPr/>
          <p:nvPr/>
        </p:nvSpPr>
        <p:spPr>
          <a:xfrm>
            <a:off x="548640" y="1865376"/>
            <a:ext cx="11094415" cy="987552"/>
          </a:xfrm>
          <a:prstGeom prst="roundRect">
            <a:avLst>
              <a:gd name="adj" fmla="val 6481"/>
            </a:avLst>
          </a:prstGeom>
          <a:solidFill>
            <a:srgbClr val="F1F5F6"/>
          </a:solidFill>
          <a:ln w="12700">
            <a:solidFill>
              <a:srgbClr val="D7E2E5"/>
            </a:solidFill>
            <a:prstDash val="solid"/>
          </a:ln>
        </p:spPr>
      </p:sp>
      <p:sp>
        <p:nvSpPr>
          <p:cNvPr id="8" name="Shape 6"/>
          <p:cNvSpPr/>
          <p:nvPr/>
        </p:nvSpPr>
        <p:spPr>
          <a:xfrm>
            <a:off x="548640" y="1865376"/>
            <a:ext cx="82296" cy="987552"/>
          </a:xfrm>
          <a:prstGeom prst="rect">
            <a:avLst/>
          </a:prstGeom>
          <a:solidFill>
            <a:srgbClr val="0E7C7B"/>
          </a:solidFill>
          <a:ln w="12700">
            <a:solidFill>
              <a:srgbClr val="333333"/>
            </a:solidFill>
            <a:prstDash val="solid"/>
          </a:ln>
        </p:spPr>
      </p:sp>
      <p:sp>
        <p:nvSpPr>
          <p:cNvPr id="9" name="Text 7"/>
          <p:cNvSpPr txBox="1"/>
          <p:nvPr/>
        </p:nvSpPr>
        <p:spPr>
          <a:xfrm>
            <a:off x="859536" y="1975104"/>
            <a:ext cx="10454335" cy="768096"/>
          </a:xfrm>
          <a:prstGeom prst="rect">
            <a:avLst/>
          </a:prstGeom>
          <a:noFill/>
          <a:ln/>
        </p:spPr>
        <p:txBody>
          <a:bodyPr wrap="square" lIns="0" tIns="0" rIns="0" bIns="0" rtlCol="0" anchor="ctr"/>
          <a:lstStyle/>
          <a:p>
            <a:pPr indent="0" marL="0">
              <a:lnSpc>
                <a:spcPct val="104000"/>
              </a:lnSpc>
              <a:buNone/>
            </a:pPr>
            <a:r>
              <a:rPr lang="en-US" sz="1350" b="1" dirty="0">
                <a:solidFill>
                  <a:srgbClr val="1B3A4B"/>
                </a:solidFill>
                <a:latin typeface="Calibri" pitchFamily="34" charset="0"/>
                <a:ea typeface="Calibri" pitchFamily="34" charset="-122"/>
                <a:cs typeface="Calibri" pitchFamily="34" charset="-120"/>
              </a:rPr>
              <a:t>United States — 510(k)</a:t>
            </a:r>
            <a:endParaRPr lang="en-US" sz="1350" dirty="0"/>
          </a:p>
          <a:p>
            <a:pPr indent="0" marL="0">
              <a:lnSpc>
                <a:spcPct val="104000"/>
              </a:lnSpc>
              <a:buNone/>
            </a:pPr>
            <a:r>
              <a:rPr lang="en-US" sz="1100" dirty="0">
                <a:solidFill>
                  <a:srgbClr val="22333B"/>
                </a:solidFill>
                <a:latin typeface="Calibri" pitchFamily="34" charset="0"/>
                <a:ea typeface="Calibri" pitchFamily="34" charset="-122"/>
                <a:cs typeface="Calibri" pitchFamily="34" charset="-120"/>
              </a:rPr>
              <a:t>FDA's MDUFA goal is 90 FDA days, but the calendar clock is longer: the Refuse to Accept screen, one or more Additional Information holds that stop the clock, and your response time. Plan on several months, not ninety days.</a:t>
            </a:r>
            <a:endParaRPr lang="en-US" sz="1350" dirty="0"/>
          </a:p>
        </p:txBody>
      </p:sp>
      <p:sp>
        <p:nvSpPr>
          <p:cNvPr id="10" name="Shape 8"/>
          <p:cNvSpPr/>
          <p:nvPr/>
        </p:nvSpPr>
        <p:spPr>
          <a:xfrm>
            <a:off x="548640" y="2999232"/>
            <a:ext cx="11094415" cy="987552"/>
          </a:xfrm>
          <a:prstGeom prst="roundRect">
            <a:avLst>
              <a:gd name="adj" fmla="val 6481"/>
            </a:avLst>
          </a:prstGeom>
          <a:solidFill>
            <a:srgbClr val="F1F5F6"/>
          </a:solidFill>
          <a:ln w="12700">
            <a:solidFill>
              <a:srgbClr val="D7E2E5"/>
            </a:solidFill>
            <a:prstDash val="solid"/>
          </a:ln>
        </p:spPr>
      </p:sp>
      <p:sp>
        <p:nvSpPr>
          <p:cNvPr id="11" name="Shape 9"/>
          <p:cNvSpPr/>
          <p:nvPr/>
        </p:nvSpPr>
        <p:spPr>
          <a:xfrm>
            <a:off x="548640" y="2999232"/>
            <a:ext cx="82296" cy="987552"/>
          </a:xfrm>
          <a:prstGeom prst="rect">
            <a:avLst/>
          </a:prstGeom>
          <a:solidFill>
            <a:srgbClr val="2A9D8F"/>
          </a:solidFill>
          <a:ln w="12700">
            <a:solidFill>
              <a:srgbClr val="333333"/>
            </a:solidFill>
            <a:prstDash val="solid"/>
          </a:ln>
        </p:spPr>
      </p:sp>
      <p:sp>
        <p:nvSpPr>
          <p:cNvPr id="12" name="Text 10"/>
          <p:cNvSpPr txBox="1"/>
          <p:nvPr/>
        </p:nvSpPr>
        <p:spPr>
          <a:xfrm>
            <a:off x="859536" y="3108960"/>
            <a:ext cx="10454335" cy="768096"/>
          </a:xfrm>
          <a:prstGeom prst="rect">
            <a:avLst/>
          </a:prstGeom>
          <a:noFill/>
          <a:ln/>
        </p:spPr>
        <p:txBody>
          <a:bodyPr wrap="square" lIns="0" tIns="0" rIns="0" bIns="0" rtlCol="0" anchor="ctr"/>
          <a:lstStyle/>
          <a:p>
            <a:pPr indent="0" marL="0">
              <a:lnSpc>
                <a:spcPct val="104000"/>
              </a:lnSpc>
              <a:buNone/>
            </a:pPr>
            <a:r>
              <a:rPr lang="en-US" sz="1350" b="1" dirty="0">
                <a:solidFill>
                  <a:srgbClr val="1B3A4B"/>
                </a:solidFill>
                <a:latin typeface="Calibri" pitchFamily="34" charset="0"/>
                <a:ea typeface="Calibri" pitchFamily="34" charset="-122"/>
                <a:cs typeface="Calibri" pitchFamily="34" charset="-120"/>
              </a:rPr>
              <a:t>European Union — MDR, Class IIa/IIb</a:t>
            </a:r>
            <a:endParaRPr lang="en-US" sz="1350" dirty="0"/>
          </a:p>
          <a:p>
            <a:pPr indent="0" marL="0">
              <a:lnSpc>
                <a:spcPct val="104000"/>
              </a:lnSpc>
              <a:buNone/>
            </a:pPr>
            <a:r>
              <a:rPr lang="en-US" sz="1100" dirty="0">
                <a:solidFill>
                  <a:srgbClr val="22333B"/>
                </a:solidFill>
                <a:latin typeface="Calibri" pitchFamily="34" charset="0"/>
                <a:ea typeface="Calibri" pitchFamily="34" charset="-122"/>
                <a:cs typeface="Calibri" pitchFamily="34" charset="-120"/>
              </a:rPr>
              <a:t>The notified body queue is usually the binding constraint rather than the review itself. Contracting, then assessment, then the audit, then findings. Budget in quarters and start the notified body conversation long before the file is finished.</a:t>
            </a:r>
            <a:endParaRPr lang="en-US" sz="1350" dirty="0"/>
          </a:p>
        </p:txBody>
      </p:sp>
      <p:sp>
        <p:nvSpPr>
          <p:cNvPr id="13" name="Shape 11"/>
          <p:cNvSpPr/>
          <p:nvPr/>
        </p:nvSpPr>
        <p:spPr>
          <a:xfrm>
            <a:off x="548640" y="4133088"/>
            <a:ext cx="11094415" cy="987552"/>
          </a:xfrm>
          <a:prstGeom prst="roundRect">
            <a:avLst>
              <a:gd name="adj" fmla="val 6481"/>
            </a:avLst>
          </a:prstGeom>
          <a:solidFill>
            <a:srgbClr val="F1F5F6"/>
          </a:solidFill>
          <a:ln w="12700">
            <a:solidFill>
              <a:srgbClr val="D7E2E5"/>
            </a:solidFill>
            <a:prstDash val="solid"/>
          </a:ln>
        </p:spPr>
      </p:sp>
      <p:sp>
        <p:nvSpPr>
          <p:cNvPr id="14" name="Shape 12"/>
          <p:cNvSpPr/>
          <p:nvPr/>
        </p:nvSpPr>
        <p:spPr>
          <a:xfrm>
            <a:off x="548640" y="4133088"/>
            <a:ext cx="82296" cy="987552"/>
          </a:xfrm>
          <a:prstGeom prst="rect">
            <a:avLst/>
          </a:prstGeom>
          <a:solidFill>
            <a:srgbClr val="C77C1E"/>
          </a:solidFill>
          <a:ln w="12700">
            <a:solidFill>
              <a:srgbClr val="333333"/>
            </a:solidFill>
            <a:prstDash val="solid"/>
          </a:ln>
        </p:spPr>
      </p:sp>
      <p:sp>
        <p:nvSpPr>
          <p:cNvPr id="15" name="Text 13"/>
          <p:cNvSpPr txBox="1"/>
          <p:nvPr/>
        </p:nvSpPr>
        <p:spPr>
          <a:xfrm>
            <a:off x="859536" y="4242816"/>
            <a:ext cx="10454335" cy="768096"/>
          </a:xfrm>
          <a:prstGeom prst="rect">
            <a:avLst/>
          </a:prstGeom>
          <a:noFill/>
          <a:ln/>
        </p:spPr>
        <p:txBody>
          <a:bodyPr wrap="square" lIns="0" tIns="0" rIns="0" bIns="0" rtlCol="0" anchor="ctr"/>
          <a:lstStyle/>
          <a:p>
            <a:pPr indent="0" marL="0">
              <a:lnSpc>
                <a:spcPct val="104000"/>
              </a:lnSpc>
              <a:buNone/>
            </a:pPr>
            <a:r>
              <a:rPr lang="en-US" sz="1350" b="1" dirty="0">
                <a:solidFill>
                  <a:srgbClr val="1B3A4B"/>
                </a:solidFill>
                <a:latin typeface="Calibri" pitchFamily="34" charset="0"/>
                <a:ea typeface="Calibri" pitchFamily="34" charset="-122"/>
                <a:cs typeface="Calibri" pitchFamily="34" charset="-120"/>
              </a:rPr>
              <a:t>Great Britain</a:t>
            </a:r>
            <a:endParaRPr lang="en-US" sz="1350" dirty="0"/>
          </a:p>
          <a:p>
            <a:pPr indent="0" marL="0">
              <a:lnSpc>
                <a:spcPct val="104000"/>
              </a:lnSpc>
              <a:buNone/>
            </a:pPr>
            <a:r>
              <a:rPr lang="en-US" sz="1100" dirty="0">
                <a:solidFill>
                  <a:srgbClr val="22333B"/>
                </a:solidFill>
                <a:latin typeface="Calibri" pitchFamily="34" charset="0"/>
                <a:ea typeface="Calibri" pitchFamily="34" charset="-122"/>
                <a:cs typeface="Calibri" pitchFamily="34" charset="-120"/>
              </a:rPr>
              <a:t>If you rely on CE marking, the incremental work is registration and a UK Responsible Person — weeks, not months. If you pursue UKCA, you join an Approved Body queue that is far smaller than the EU's.</a:t>
            </a:r>
            <a:endParaRPr lang="en-US" sz="1350" dirty="0"/>
          </a:p>
        </p:txBody>
      </p:sp>
      <p:sp>
        <p:nvSpPr>
          <p:cNvPr id="16" name="Shape 14"/>
          <p:cNvSpPr/>
          <p:nvPr/>
        </p:nvSpPr>
        <p:spPr>
          <a:xfrm>
            <a:off x="548640" y="5266944"/>
            <a:ext cx="11094415" cy="987552"/>
          </a:xfrm>
          <a:prstGeom prst="roundRect">
            <a:avLst>
              <a:gd name="adj" fmla="val 6481"/>
            </a:avLst>
          </a:prstGeom>
          <a:solidFill>
            <a:srgbClr val="F1F5F6"/>
          </a:solidFill>
          <a:ln w="12700">
            <a:solidFill>
              <a:srgbClr val="D7E2E5"/>
            </a:solidFill>
            <a:prstDash val="solid"/>
          </a:ln>
        </p:spPr>
      </p:sp>
      <p:sp>
        <p:nvSpPr>
          <p:cNvPr id="17" name="Shape 15"/>
          <p:cNvSpPr/>
          <p:nvPr/>
        </p:nvSpPr>
        <p:spPr>
          <a:xfrm>
            <a:off x="548640" y="5266944"/>
            <a:ext cx="82296" cy="987552"/>
          </a:xfrm>
          <a:prstGeom prst="rect">
            <a:avLst/>
          </a:prstGeom>
          <a:solidFill>
            <a:srgbClr val="A83A3C"/>
          </a:solidFill>
          <a:ln w="12700">
            <a:solidFill>
              <a:srgbClr val="333333"/>
            </a:solidFill>
            <a:prstDash val="solid"/>
          </a:ln>
        </p:spPr>
      </p:sp>
      <p:sp>
        <p:nvSpPr>
          <p:cNvPr id="18" name="Text 16"/>
          <p:cNvSpPr txBox="1"/>
          <p:nvPr/>
        </p:nvSpPr>
        <p:spPr>
          <a:xfrm>
            <a:off x="859536" y="5376672"/>
            <a:ext cx="10454335" cy="768096"/>
          </a:xfrm>
          <a:prstGeom prst="rect">
            <a:avLst/>
          </a:prstGeom>
          <a:noFill/>
          <a:ln/>
        </p:spPr>
        <p:txBody>
          <a:bodyPr wrap="square" lIns="0" tIns="0" rIns="0" bIns="0" rtlCol="0" anchor="ctr"/>
          <a:lstStyle/>
          <a:p>
            <a:pPr indent="0" marL="0">
              <a:lnSpc>
                <a:spcPct val="104000"/>
              </a:lnSpc>
              <a:buNone/>
            </a:pPr>
            <a:r>
              <a:rPr lang="en-US" sz="1350" b="1" dirty="0">
                <a:solidFill>
                  <a:srgbClr val="1B3A4B"/>
                </a:solidFill>
                <a:latin typeface="Calibri" pitchFamily="34" charset="0"/>
                <a:ea typeface="Calibri" pitchFamily="34" charset="-122"/>
                <a:cs typeface="Calibri" pitchFamily="34" charset="-120"/>
              </a:rPr>
              <a:t>Japan</a:t>
            </a:r>
            <a:endParaRPr lang="en-US" sz="1350" dirty="0"/>
          </a:p>
          <a:p>
            <a:pPr indent="0" marL="0">
              <a:lnSpc>
                <a:spcPct val="104000"/>
              </a:lnSpc>
              <a:buNone/>
            </a:pPr>
            <a:r>
              <a:rPr lang="en-US" sz="1100" dirty="0">
                <a:solidFill>
                  <a:srgbClr val="22333B"/>
                </a:solidFill>
                <a:latin typeface="Calibri" pitchFamily="34" charset="0"/>
                <a:ea typeface="Calibri" pitchFamily="34" charset="-122"/>
                <a:cs typeface="Calibri" pitchFamily="34" charset="-120"/>
              </a:rPr>
              <a:t>Ninsho through a Registered Certification Body is the faster branch. Shonin means a PMDA review, and any need for Japanese bridging data can dominate everything else. Foreign Manufacturer Registration and QMS conformity run alongside.</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INTENDED PURPOSE</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100" b="1" dirty="0">
                <a:solidFill>
                  <a:srgbClr val="1B3A4B"/>
                </a:solidFill>
                <a:latin typeface="Cambria" pitchFamily="34" charset="0"/>
                <a:ea typeface="Cambria" pitchFamily="34" charset="-122"/>
                <a:cs typeface="Cambria" pitchFamily="34" charset="-120"/>
              </a:rPr>
              <a:t>The decision upstream of all four</a:t>
            </a:r>
            <a:endParaRPr lang="en-US" sz="31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11</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One sentence determines your class in four jurisdictions, your evidence burden, and your route. Write it deliberately.</a:t>
            </a:r>
            <a:endParaRPr lang="en-US" sz="1400" dirty="0"/>
          </a:p>
        </p:txBody>
      </p:sp>
      <p:sp>
        <p:nvSpPr>
          <p:cNvPr id="7" name="Shape 5"/>
          <p:cNvSpPr/>
          <p:nvPr/>
        </p:nvSpPr>
        <p:spPr>
          <a:xfrm>
            <a:off x="548640" y="1865376"/>
            <a:ext cx="5410048" cy="1645920"/>
          </a:xfrm>
          <a:prstGeom prst="roundRect">
            <a:avLst>
              <a:gd name="adj" fmla="val 3889"/>
            </a:avLst>
          </a:prstGeom>
          <a:solidFill>
            <a:srgbClr val="F1F5F6"/>
          </a:solidFill>
          <a:ln w="12700">
            <a:solidFill>
              <a:srgbClr val="D7E2E5"/>
            </a:solidFill>
            <a:prstDash val="solid"/>
          </a:ln>
        </p:spPr>
      </p:sp>
      <p:sp>
        <p:nvSpPr>
          <p:cNvPr id="8" name="Shape 6"/>
          <p:cNvSpPr/>
          <p:nvPr/>
        </p:nvSpPr>
        <p:spPr>
          <a:xfrm>
            <a:off x="768096" y="2066544"/>
            <a:ext cx="365760" cy="365760"/>
          </a:xfrm>
          <a:prstGeom prst="ellipse">
            <a:avLst/>
          </a:prstGeom>
          <a:solidFill>
            <a:srgbClr val="0E7C7B"/>
          </a:solidFill>
          <a:ln w="12700">
            <a:solidFill>
              <a:srgbClr val="0E7C7B"/>
            </a:solidFill>
            <a:prstDash val="solid"/>
          </a:ln>
        </p:spPr>
      </p:sp>
      <p:sp>
        <p:nvSpPr>
          <p:cNvPr id="9" name="Text 7"/>
          <p:cNvSpPr txBox="1"/>
          <p:nvPr/>
        </p:nvSpPr>
        <p:spPr>
          <a:xfrm>
            <a:off x="768096" y="206654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768096" y="2542032"/>
            <a:ext cx="4971136" cy="330200"/>
          </a:xfrm>
          <a:prstGeom prst="rect">
            <a:avLst/>
          </a:prstGeom>
          <a:noFill/>
          <a:ln/>
        </p:spPr>
        <p:txBody>
          <a:bodyPr wrap="square" lIns="0" tIns="0" rIns="0" bIns="0" rtlCol="0" anchor="t"/>
          <a:lstStyle/>
          <a:p>
            <a:pPr indent="0" marL="0">
              <a:buNone/>
            </a:pPr>
            <a:r>
              <a:rPr lang="en-US" sz="1550" b="1" dirty="0">
                <a:solidFill>
                  <a:srgbClr val="1B3A4B"/>
                </a:solidFill>
                <a:latin typeface="Calibri" pitchFamily="34" charset="0"/>
                <a:ea typeface="Calibri" pitchFamily="34" charset="-122"/>
                <a:cs typeface="Calibri" pitchFamily="34" charset="-120"/>
              </a:rPr>
              <a:t>It drives classification</a:t>
            </a:r>
            <a:endParaRPr lang="en-US" sz="1550" dirty="0"/>
          </a:p>
        </p:txBody>
      </p:sp>
      <p:sp>
        <p:nvSpPr>
          <p:cNvPr id="11" name="Text 9"/>
          <p:cNvSpPr txBox="1"/>
          <p:nvPr/>
        </p:nvSpPr>
        <p:spPr>
          <a:xfrm>
            <a:off x="768096" y="2908808"/>
            <a:ext cx="4971136" cy="456184"/>
          </a:xfrm>
          <a:prstGeom prst="rect">
            <a:avLst/>
          </a:prstGeom>
          <a:noFill/>
          <a:ln/>
        </p:spPr>
        <p:txBody>
          <a:bodyPr wrap="square" lIns="0" tIns="0" rIns="0" bIns="0" rtlCol="0" anchor="t"/>
          <a:lstStyle/>
          <a:p>
            <a:pPr indent="0" marL="0">
              <a:lnSpc>
                <a:spcPct val="106000"/>
              </a:lnSpc>
              <a:buNone/>
            </a:pPr>
            <a:r>
              <a:rPr lang="en-US" sz="920" dirty="0">
                <a:solidFill>
                  <a:srgbClr val="22333B"/>
                </a:solidFill>
                <a:latin typeface="Calibri" pitchFamily="34" charset="0"/>
                <a:ea typeface="Calibri" pitchFamily="34" charset="-122"/>
                <a:cs typeface="Calibri" pitchFamily="34" charset="-120"/>
              </a:rPr>
              <a:t>MDR Annex VIII rules apply to the intended purpose, not to the hardware. A monitor that “displays physiological parameters” and one that “detects clinical deterioration” are different regulatory objects built from the same components.</a:t>
            </a:r>
            <a:endParaRPr lang="en-US" sz="920" dirty="0"/>
          </a:p>
        </p:txBody>
      </p:sp>
      <p:sp>
        <p:nvSpPr>
          <p:cNvPr id="12" name="Shape 10"/>
          <p:cNvSpPr/>
          <p:nvPr/>
        </p:nvSpPr>
        <p:spPr>
          <a:xfrm>
            <a:off x="6233008" y="1865376"/>
            <a:ext cx="5410048" cy="1645920"/>
          </a:xfrm>
          <a:prstGeom prst="roundRect">
            <a:avLst>
              <a:gd name="adj" fmla="val 3889"/>
            </a:avLst>
          </a:prstGeom>
          <a:solidFill>
            <a:srgbClr val="F1F5F6"/>
          </a:solidFill>
          <a:ln w="12700">
            <a:solidFill>
              <a:srgbClr val="D7E2E5"/>
            </a:solidFill>
            <a:prstDash val="solid"/>
          </a:ln>
        </p:spPr>
      </p:sp>
      <p:sp>
        <p:nvSpPr>
          <p:cNvPr id="13" name="Shape 11"/>
          <p:cNvSpPr/>
          <p:nvPr/>
        </p:nvSpPr>
        <p:spPr>
          <a:xfrm>
            <a:off x="6452464" y="2066544"/>
            <a:ext cx="365760" cy="365760"/>
          </a:xfrm>
          <a:prstGeom prst="ellipse">
            <a:avLst/>
          </a:prstGeom>
          <a:solidFill>
            <a:srgbClr val="2A9D8F"/>
          </a:solidFill>
          <a:ln w="12700">
            <a:solidFill>
              <a:srgbClr val="2A9D8F"/>
            </a:solidFill>
            <a:prstDash val="solid"/>
          </a:ln>
        </p:spPr>
      </p:sp>
      <p:sp>
        <p:nvSpPr>
          <p:cNvPr id="14" name="Text 12"/>
          <p:cNvSpPr txBox="1"/>
          <p:nvPr/>
        </p:nvSpPr>
        <p:spPr>
          <a:xfrm>
            <a:off x="6452464" y="206654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6452464" y="2542032"/>
            <a:ext cx="4971136" cy="330200"/>
          </a:xfrm>
          <a:prstGeom prst="rect">
            <a:avLst/>
          </a:prstGeom>
          <a:noFill/>
          <a:ln/>
        </p:spPr>
        <p:txBody>
          <a:bodyPr wrap="square" lIns="0" tIns="0" rIns="0" bIns="0" rtlCol="0" anchor="t"/>
          <a:lstStyle/>
          <a:p>
            <a:pPr indent="0" marL="0">
              <a:buNone/>
            </a:pPr>
            <a:r>
              <a:rPr lang="en-US" sz="1550" b="1" dirty="0">
                <a:solidFill>
                  <a:srgbClr val="1B3A4B"/>
                </a:solidFill>
                <a:latin typeface="Calibri" pitchFamily="34" charset="0"/>
                <a:ea typeface="Calibri" pitchFamily="34" charset="-122"/>
                <a:cs typeface="Calibri" pitchFamily="34" charset="-120"/>
              </a:rPr>
              <a:t>It sets the evidence bar</a:t>
            </a:r>
            <a:endParaRPr lang="en-US" sz="1550" dirty="0"/>
          </a:p>
        </p:txBody>
      </p:sp>
      <p:sp>
        <p:nvSpPr>
          <p:cNvPr id="16" name="Text 14"/>
          <p:cNvSpPr txBox="1"/>
          <p:nvPr/>
        </p:nvSpPr>
        <p:spPr>
          <a:xfrm>
            <a:off x="6452464" y="2908808"/>
            <a:ext cx="4971136" cy="456184"/>
          </a:xfrm>
          <a:prstGeom prst="rect">
            <a:avLst/>
          </a:prstGeom>
          <a:noFill/>
          <a:ln/>
        </p:spPr>
        <p:txBody>
          <a:bodyPr wrap="square" lIns="0" tIns="0" rIns="0" bIns="0" rtlCol="0" anchor="t"/>
          <a:lstStyle/>
          <a:p>
            <a:pPr indent="0" marL="0">
              <a:lnSpc>
                <a:spcPct val="106000"/>
              </a:lnSpc>
              <a:buNone/>
            </a:pPr>
            <a:r>
              <a:rPr lang="en-US" sz="920" dirty="0">
                <a:solidFill>
                  <a:srgbClr val="22333B"/>
                </a:solidFill>
                <a:latin typeface="Calibri" pitchFamily="34" charset="0"/>
                <a:ea typeface="Calibri" pitchFamily="34" charset="-122"/>
                <a:cs typeface="Calibri" pitchFamily="34" charset="-120"/>
              </a:rPr>
              <a:t>Every claim in the intended purpose must be supported. A claim that is commercially attractive and clinically strong is also the claim that obliges you to prove clinical benefit.</a:t>
            </a:r>
            <a:endParaRPr lang="en-US" sz="920" dirty="0"/>
          </a:p>
        </p:txBody>
      </p:sp>
      <p:sp>
        <p:nvSpPr>
          <p:cNvPr id="17" name="Shape 15"/>
          <p:cNvSpPr/>
          <p:nvPr/>
        </p:nvSpPr>
        <p:spPr>
          <a:xfrm>
            <a:off x="548640" y="3785616"/>
            <a:ext cx="5410048" cy="1645920"/>
          </a:xfrm>
          <a:prstGeom prst="roundRect">
            <a:avLst>
              <a:gd name="adj" fmla="val 3889"/>
            </a:avLst>
          </a:prstGeom>
          <a:solidFill>
            <a:srgbClr val="F1F5F6"/>
          </a:solidFill>
          <a:ln w="12700">
            <a:solidFill>
              <a:srgbClr val="D7E2E5"/>
            </a:solidFill>
            <a:prstDash val="solid"/>
          </a:ln>
        </p:spPr>
      </p:sp>
      <p:sp>
        <p:nvSpPr>
          <p:cNvPr id="18" name="Shape 16"/>
          <p:cNvSpPr/>
          <p:nvPr/>
        </p:nvSpPr>
        <p:spPr>
          <a:xfrm>
            <a:off x="768096" y="3986784"/>
            <a:ext cx="365760" cy="365760"/>
          </a:xfrm>
          <a:prstGeom prst="ellipse">
            <a:avLst/>
          </a:prstGeom>
          <a:solidFill>
            <a:srgbClr val="C77C1E"/>
          </a:solidFill>
          <a:ln w="12700">
            <a:solidFill>
              <a:srgbClr val="C77C1E"/>
            </a:solidFill>
            <a:prstDash val="solid"/>
          </a:ln>
        </p:spPr>
      </p:sp>
      <p:sp>
        <p:nvSpPr>
          <p:cNvPr id="19" name="Text 17"/>
          <p:cNvSpPr txBox="1"/>
          <p:nvPr/>
        </p:nvSpPr>
        <p:spPr>
          <a:xfrm>
            <a:off x="768096" y="398678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768096" y="4462272"/>
            <a:ext cx="4971136" cy="330200"/>
          </a:xfrm>
          <a:prstGeom prst="rect">
            <a:avLst/>
          </a:prstGeom>
          <a:noFill/>
          <a:ln/>
        </p:spPr>
        <p:txBody>
          <a:bodyPr wrap="square" lIns="0" tIns="0" rIns="0" bIns="0" rtlCol="0" anchor="t"/>
          <a:lstStyle/>
          <a:p>
            <a:pPr indent="0" marL="0">
              <a:buNone/>
            </a:pPr>
            <a:r>
              <a:rPr lang="en-US" sz="1550" b="1" dirty="0">
                <a:solidFill>
                  <a:srgbClr val="1B3A4B"/>
                </a:solidFill>
                <a:latin typeface="Calibri" pitchFamily="34" charset="0"/>
                <a:ea typeface="Calibri" pitchFamily="34" charset="-122"/>
                <a:cs typeface="Calibri" pitchFamily="34" charset="-120"/>
              </a:rPr>
              <a:t>It must match the marketing</a:t>
            </a:r>
            <a:endParaRPr lang="en-US" sz="1550" dirty="0"/>
          </a:p>
        </p:txBody>
      </p:sp>
      <p:sp>
        <p:nvSpPr>
          <p:cNvPr id="21" name="Text 19"/>
          <p:cNvSpPr txBox="1"/>
          <p:nvPr/>
        </p:nvSpPr>
        <p:spPr>
          <a:xfrm>
            <a:off x="768096" y="4829048"/>
            <a:ext cx="4971136" cy="456184"/>
          </a:xfrm>
          <a:prstGeom prst="rect">
            <a:avLst/>
          </a:prstGeom>
          <a:noFill/>
          <a:ln/>
        </p:spPr>
        <p:txBody>
          <a:bodyPr wrap="square" lIns="0" tIns="0" rIns="0" bIns="0" rtlCol="0" anchor="t"/>
          <a:lstStyle/>
          <a:p>
            <a:pPr indent="0" marL="0">
              <a:lnSpc>
                <a:spcPct val="106000"/>
              </a:lnSpc>
              <a:buNone/>
            </a:pPr>
            <a:r>
              <a:rPr lang="en-US" sz="920" dirty="0">
                <a:solidFill>
                  <a:srgbClr val="22333B"/>
                </a:solidFill>
                <a:latin typeface="Calibri" pitchFamily="34" charset="0"/>
                <a:ea typeface="Calibri" pitchFamily="34" charset="-122"/>
                <a:cs typeface="Calibri" pitchFamily="34" charset="-120"/>
              </a:rPr>
              <a:t>Regulators read your website. An intended purpose narrower than your marketing is a compliance exposure; one broader than your evidence is a review deficiency.</a:t>
            </a:r>
            <a:endParaRPr lang="en-US" sz="920" dirty="0"/>
          </a:p>
        </p:txBody>
      </p:sp>
      <p:sp>
        <p:nvSpPr>
          <p:cNvPr id="22" name="Shape 20"/>
          <p:cNvSpPr/>
          <p:nvPr/>
        </p:nvSpPr>
        <p:spPr>
          <a:xfrm>
            <a:off x="6233008" y="3785616"/>
            <a:ext cx="5410048" cy="1645920"/>
          </a:xfrm>
          <a:prstGeom prst="roundRect">
            <a:avLst>
              <a:gd name="adj" fmla="val 3889"/>
            </a:avLst>
          </a:prstGeom>
          <a:solidFill>
            <a:srgbClr val="F1F5F6"/>
          </a:solidFill>
          <a:ln w="12700">
            <a:solidFill>
              <a:srgbClr val="D7E2E5"/>
            </a:solidFill>
            <a:prstDash val="solid"/>
          </a:ln>
        </p:spPr>
      </p:sp>
      <p:sp>
        <p:nvSpPr>
          <p:cNvPr id="23" name="Shape 21"/>
          <p:cNvSpPr/>
          <p:nvPr/>
        </p:nvSpPr>
        <p:spPr>
          <a:xfrm>
            <a:off x="6452464" y="3986784"/>
            <a:ext cx="365760" cy="365760"/>
          </a:xfrm>
          <a:prstGeom prst="ellipse">
            <a:avLst/>
          </a:prstGeom>
          <a:solidFill>
            <a:srgbClr val="A83A3C"/>
          </a:solidFill>
          <a:ln w="12700">
            <a:solidFill>
              <a:srgbClr val="A83A3C"/>
            </a:solidFill>
            <a:prstDash val="solid"/>
          </a:ln>
        </p:spPr>
      </p:sp>
      <p:sp>
        <p:nvSpPr>
          <p:cNvPr id="24" name="Text 22"/>
          <p:cNvSpPr txBox="1"/>
          <p:nvPr/>
        </p:nvSpPr>
        <p:spPr>
          <a:xfrm>
            <a:off x="6452464" y="398678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txBox="1"/>
          <p:nvPr/>
        </p:nvSpPr>
        <p:spPr>
          <a:xfrm>
            <a:off x="6452464" y="4462272"/>
            <a:ext cx="4971136" cy="330200"/>
          </a:xfrm>
          <a:prstGeom prst="rect">
            <a:avLst/>
          </a:prstGeom>
          <a:noFill/>
          <a:ln/>
        </p:spPr>
        <p:txBody>
          <a:bodyPr wrap="square" lIns="0" tIns="0" rIns="0" bIns="0" rtlCol="0" anchor="t"/>
          <a:lstStyle/>
          <a:p>
            <a:pPr indent="0" marL="0">
              <a:buNone/>
            </a:pPr>
            <a:r>
              <a:rPr lang="en-US" sz="1550" b="1" dirty="0">
                <a:solidFill>
                  <a:srgbClr val="1B3A4B"/>
                </a:solidFill>
                <a:latin typeface="Calibri" pitchFamily="34" charset="0"/>
                <a:ea typeface="Calibri" pitchFamily="34" charset="-122"/>
                <a:cs typeface="Calibri" pitchFamily="34" charset="-120"/>
              </a:rPr>
              <a:t>Changing it later is expensive</a:t>
            </a:r>
            <a:endParaRPr lang="en-US" sz="1550" dirty="0"/>
          </a:p>
        </p:txBody>
      </p:sp>
      <p:sp>
        <p:nvSpPr>
          <p:cNvPr id="26" name="Text 24"/>
          <p:cNvSpPr txBox="1"/>
          <p:nvPr/>
        </p:nvSpPr>
        <p:spPr>
          <a:xfrm>
            <a:off x="6452464" y="4829048"/>
            <a:ext cx="4971136" cy="456184"/>
          </a:xfrm>
          <a:prstGeom prst="rect">
            <a:avLst/>
          </a:prstGeom>
          <a:noFill/>
          <a:ln/>
        </p:spPr>
        <p:txBody>
          <a:bodyPr wrap="square" lIns="0" tIns="0" rIns="0" bIns="0" rtlCol="0" anchor="t"/>
          <a:lstStyle/>
          <a:p>
            <a:pPr indent="0" marL="0">
              <a:lnSpc>
                <a:spcPct val="106000"/>
              </a:lnSpc>
              <a:buNone/>
            </a:pPr>
            <a:r>
              <a:rPr lang="en-US" sz="920" dirty="0">
                <a:solidFill>
                  <a:srgbClr val="22333B"/>
                </a:solidFill>
                <a:latin typeface="Calibri" pitchFamily="34" charset="0"/>
                <a:ea typeface="Calibri" pitchFamily="34" charset="-122"/>
                <a:cs typeface="Calibri" pitchFamily="34" charset="-120"/>
              </a:rPr>
              <a:t>It is a design input, a classification basis, a clinical evaluation scope and a labelling element at once. Widening it after certification can mean a significant change notification, new evidence, and a new assessment.</a:t>
            </a:r>
            <a:endParaRPr lang="en-US" sz="920" dirty="0"/>
          </a:p>
        </p:txBody>
      </p:sp>
      <p:sp>
        <p:nvSpPr>
          <p:cNvPr id="27" name="Shape 25"/>
          <p:cNvSpPr/>
          <p:nvPr/>
        </p:nvSpPr>
        <p:spPr>
          <a:xfrm>
            <a:off x="548640" y="5541264"/>
            <a:ext cx="11094415" cy="713232"/>
          </a:xfrm>
          <a:prstGeom prst="roundRect">
            <a:avLst>
              <a:gd name="adj" fmla="val 7692"/>
            </a:avLst>
          </a:prstGeom>
          <a:solidFill>
            <a:srgbClr val="EAF3F2"/>
          </a:solidFill>
          <a:ln w="12700">
            <a:solidFill>
              <a:srgbClr val="BFD9D6"/>
            </a:solidFill>
            <a:prstDash val="solid"/>
          </a:ln>
        </p:spPr>
      </p:sp>
      <p:sp>
        <p:nvSpPr>
          <p:cNvPr id="28" name="Text 26"/>
          <p:cNvSpPr txBox="1"/>
          <p:nvPr/>
        </p:nvSpPr>
        <p:spPr>
          <a:xfrm>
            <a:off x="786384" y="5541264"/>
            <a:ext cx="10618927" cy="713232"/>
          </a:xfrm>
          <a:prstGeom prst="rect">
            <a:avLst/>
          </a:prstGeom>
          <a:noFill/>
          <a:ln/>
        </p:spPr>
        <p:txBody>
          <a:bodyPr wrap="square" lIns="0" tIns="0" rIns="0" bIns="0" rtlCol="0" anchor="ctr"/>
          <a:lstStyle/>
          <a:p>
            <a:pPr indent="0" marL="0">
              <a:buNone/>
            </a:pPr>
            <a:r>
              <a:rPr lang="en-US" sz="1250" b="1" dirty="0">
                <a:solidFill>
                  <a:srgbClr val="1B3A4B"/>
                </a:solidFill>
                <a:latin typeface="Calibri" pitchFamily="34" charset="0"/>
                <a:ea typeface="Calibri" pitchFamily="34" charset="-122"/>
                <a:cs typeface="Calibri" pitchFamily="34" charset="-120"/>
              </a:rPr>
              <a:t>Test: could two competent regulatory professionals, reading only this sentence, classify the device the same way in the EU? If not, it is not finished.</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232E"/>
        </a:solidFill>
      </p:bgPr>
    </p:bg>
    <p:spTree>
      <p:nvGrpSpPr>
        <p:cNvPr id="1" name=""/>
        <p:cNvGrpSpPr/>
        <p:nvPr/>
      </p:nvGrpSpPr>
      <p:grpSpPr>
        <a:xfrm>
          <a:off x="0" y="0"/>
          <a:ext cx="0" cy="0"/>
          <a:chOff x="0" y="0"/>
          <a:chExt cx="0" cy="0"/>
        </a:xfrm>
      </p:grpSpPr>
      <p:sp>
        <p:nvSpPr>
          <p:cNvPr id="2" name="Text 0"/>
          <p:cNvSpPr txBox="1"/>
          <p:nvPr/>
        </p:nvSpPr>
        <p:spPr>
          <a:xfrm>
            <a:off x="548640" y="2057400"/>
            <a:ext cx="11094415" cy="292608"/>
          </a:xfrm>
          <a:prstGeom prst="rect">
            <a:avLst/>
          </a:prstGeom>
          <a:noFill/>
          <a:ln/>
        </p:spPr>
        <p:txBody>
          <a:bodyPr wrap="square" lIns="0" tIns="0" rIns="0" bIns="0" rtlCol="0" anchor="ctr"/>
          <a:lstStyle/>
          <a:p>
            <a:pPr indent="0" marL="0">
              <a:buNone/>
            </a:pPr>
            <a:r>
              <a:rPr lang="en-US" sz="1300" b="1" spc="220" kern="0" dirty="0">
                <a:solidFill>
                  <a:srgbClr val="2A9D8F"/>
                </a:solidFill>
                <a:latin typeface="Calibri" pitchFamily="34" charset="0"/>
                <a:ea typeface="Calibri" pitchFamily="34" charset="-122"/>
                <a:cs typeface="Calibri" pitchFamily="34" charset="-120"/>
              </a:rPr>
              <a:t>PART TWO</a:t>
            </a:r>
            <a:endParaRPr lang="en-US" sz="1300" dirty="0"/>
          </a:p>
        </p:txBody>
      </p:sp>
      <p:sp>
        <p:nvSpPr>
          <p:cNvPr id="3" name="Text 1"/>
          <p:cNvSpPr txBox="1"/>
          <p:nvPr/>
        </p:nvSpPr>
        <p:spPr>
          <a:xfrm>
            <a:off x="548640" y="2450592"/>
            <a:ext cx="9692640" cy="11430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EU MDR</a:t>
            </a:r>
            <a:endParaRPr lang="en-US" sz="4000" dirty="0"/>
          </a:p>
        </p:txBody>
      </p:sp>
      <p:sp>
        <p:nvSpPr>
          <p:cNvPr id="4" name="Text 2"/>
          <p:cNvSpPr txBox="1"/>
          <p:nvPr/>
        </p:nvSpPr>
        <p:spPr>
          <a:xfrm>
            <a:off x="548640" y="3657600"/>
            <a:ext cx="8961120" cy="822960"/>
          </a:xfrm>
          <a:prstGeom prst="rect">
            <a:avLst/>
          </a:prstGeom>
          <a:noFill/>
          <a:ln/>
        </p:spPr>
        <p:txBody>
          <a:bodyPr wrap="square" lIns="0" tIns="0" rIns="0" bIns="0" rtlCol="0" anchor="ctr"/>
          <a:lstStyle/>
          <a:p>
            <a:pPr indent="0" marL="0">
              <a:buNone/>
            </a:pPr>
            <a:r>
              <a:rPr lang="en-US" sz="1500" dirty="0">
                <a:solidFill>
                  <a:srgbClr val="BCCCD2"/>
                </a:solidFill>
                <a:latin typeface="Calibri" pitchFamily="34" charset="0"/>
                <a:ea typeface="Calibri" pitchFamily="34" charset="-122"/>
                <a:cs typeface="Calibri" pitchFamily="34" charset="-120"/>
              </a:rPr>
              <a:t>Regulation (EU) 2017/745. The most demanding of the four, and the one that sets the pace for the rest.</a:t>
            </a:r>
            <a:endParaRPr lang="en-US" sz="1500" dirty="0"/>
          </a:p>
        </p:txBody>
      </p:sp>
      <p:sp>
        <p:nvSpPr>
          <p:cNvPr id="5" name="Text 3"/>
          <p:cNvSpPr txBox="1"/>
          <p:nvPr/>
        </p:nvSpPr>
        <p:spPr>
          <a:xfrm>
            <a:off x="548640" y="4617720"/>
            <a:ext cx="5486400" cy="320040"/>
          </a:xfrm>
          <a:prstGeom prst="rect">
            <a:avLst/>
          </a:prstGeom>
          <a:noFill/>
          <a:ln/>
        </p:spPr>
        <p:txBody>
          <a:bodyPr wrap="square" lIns="0" tIns="0" rIns="0" bIns="0" rtlCol="0" anchor="ctr"/>
          <a:lstStyle/>
          <a:p>
            <a:pPr indent="0" marL="0">
              <a:buNone/>
            </a:pPr>
            <a:r>
              <a:rPr lang="en-US" sz="1200" b="1" spc="100" kern="0" dirty="0">
                <a:solidFill>
                  <a:srgbClr val="C77C1E"/>
                </a:solidFill>
                <a:latin typeface="Calibri" pitchFamily="34" charset="0"/>
                <a:ea typeface="Calibri" pitchFamily="34" charset="-122"/>
                <a:cs typeface="Calibri" pitchFamily="34" charset="-120"/>
              </a:rPr>
              <a:t>22 minutes</a:t>
            </a:r>
            <a:endParaRPr lang="en-US" sz="1200" dirty="0"/>
          </a:p>
        </p:txBody>
      </p:sp>
      <p:sp>
        <p:nvSpPr>
          <p:cNvPr id="6" name="Text 4"/>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809AA4"/>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ORIENTATION</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What MDR changed, and why it still matters</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13</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Most of the pain in European market entry today traces to one of these five shifts away from the directives.</a:t>
            </a:r>
            <a:endParaRPr lang="en-US" sz="1400" dirty="0"/>
          </a:p>
        </p:txBody>
      </p:sp>
      <p:sp>
        <p:nvSpPr>
          <p:cNvPr id="7" name="Shape 5"/>
          <p:cNvSpPr/>
          <p:nvPr/>
        </p:nvSpPr>
        <p:spPr>
          <a:xfrm>
            <a:off x="548640" y="1847088"/>
            <a:ext cx="11094415" cy="779069"/>
          </a:xfrm>
          <a:prstGeom prst="roundRect">
            <a:avLst>
              <a:gd name="adj" fmla="val 8216"/>
            </a:avLst>
          </a:prstGeom>
          <a:solidFill>
            <a:srgbClr val="F1F5F6"/>
          </a:solidFill>
          <a:ln w="12700">
            <a:solidFill>
              <a:srgbClr val="D7E2E5"/>
            </a:solidFill>
            <a:prstDash val="solid"/>
          </a:ln>
        </p:spPr>
      </p:sp>
      <p:sp>
        <p:nvSpPr>
          <p:cNvPr id="8" name="Shape 6"/>
          <p:cNvSpPr/>
          <p:nvPr/>
        </p:nvSpPr>
        <p:spPr>
          <a:xfrm>
            <a:off x="786384" y="2035454"/>
            <a:ext cx="402336" cy="402336"/>
          </a:xfrm>
          <a:prstGeom prst="ellipse">
            <a:avLst/>
          </a:prstGeom>
          <a:solidFill>
            <a:srgbClr val="A83A3C"/>
          </a:solidFill>
          <a:ln w="12700">
            <a:solidFill>
              <a:srgbClr val="A83A3C"/>
            </a:solidFill>
            <a:prstDash val="solid"/>
          </a:ln>
        </p:spPr>
      </p:sp>
      <p:sp>
        <p:nvSpPr>
          <p:cNvPr id="9" name="Text 7"/>
          <p:cNvSpPr txBox="1"/>
          <p:nvPr/>
        </p:nvSpPr>
        <p:spPr>
          <a:xfrm>
            <a:off x="786384" y="203545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1335024" y="1965960"/>
            <a:ext cx="10033711" cy="541325"/>
          </a:xfrm>
          <a:prstGeom prst="rect">
            <a:avLst/>
          </a:prstGeom>
          <a:noFill/>
          <a:ln/>
        </p:spPr>
        <p:txBody>
          <a:bodyPr wrap="square" lIns="0" tIns="0" rIns="0" bIns="0" rtlCol="0" anchor="ctr"/>
          <a:lstStyle/>
          <a:p>
            <a:pPr indent="0" marL="0">
              <a:lnSpc>
                <a:spcPct val="105000"/>
              </a:lnSpc>
              <a:buNone/>
            </a:pPr>
            <a:r>
              <a:rPr lang="en-US" sz="1350" b="1" dirty="0">
                <a:solidFill>
                  <a:srgbClr val="1B3A4B"/>
                </a:solidFill>
                <a:latin typeface="Calibri" pitchFamily="34" charset="0"/>
                <a:ea typeface="Calibri" pitchFamily="34" charset="-122"/>
                <a:cs typeface="Calibri" pitchFamily="34" charset="-120"/>
              </a:rPr>
              <a:t>Classification moved up</a:t>
            </a:r>
            <a:endParaRPr lang="en-US" sz="1350" dirty="0"/>
          </a:p>
          <a:p>
            <a:pPr indent="0" marL="0">
              <a:lnSpc>
                <a:spcPct val="105000"/>
              </a:lnSpc>
              <a:buNone/>
            </a:pPr>
            <a:r>
              <a:rPr lang="en-US" sz="1070" dirty="0">
                <a:solidFill>
                  <a:srgbClr val="22333B"/>
                </a:solidFill>
                <a:latin typeface="Calibri" pitchFamily="34" charset="0"/>
                <a:ea typeface="Calibri" pitchFamily="34" charset="-122"/>
                <a:cs typeface="Calibri" pitchFamily="34" charset="-120"/>
              </a:rPr>
              <a:t>New and revised rules in Annex VIII pushed many devices into higher classes. Software was the largest single reclassification — a product that was Class I under the MDD can be IIa or IIb under MDR, which means a notified body where there was none.</a:t>
            </a:r>
            <a:endParaRPr lang="en-US" sz="1350" dirty="0"/>
          </a:p>
        </p:txBody>
      </p:sp>
      <p:sp>
        <p:nvSpPr>
          <p:cNvPr id="11" name="Shape 9"/>
          <p:cNvSpPr/>
          <p:nvPr/>
        </p:nvSpPr>
        <p:spPr>
          <a:xfrm>
            <a:off x="548640" y="2754173"/>
            <a:ext cx="11094415" cy="779069"/>
          </a:xfrm>
          <a:prstGeom prst="roundRect">
            <a:avLst>
              <a:gd name="adj" fmla="val 8216"/>
            </a:avLst>
          </a:prstGeom>
          <a:solidFill>
            <a:srgbClr val="F1F5F6"/>
          </a:solidFill>
          <a:ln w="12700">
            <a:solidFill>
              <a:srgbClr val="D7E2E5"/>
            </a:solidFill>
            <a:prstDash val="solid"/>
          </a:ln>
        </p:spPr>
      </p:sp>
      <p:sp>
        <p:nvSpPr>
          <p:cNvPr id="12" name="Shape 10"/>
          <p:cNvSpPr/>
          <p:nvPr/>
        </p:nvSpPr>
        <p:spPr>
          <a:xfrm>
            <a:off x="786384" y="2942539"/>
            <a:ext cx="402336" cy="402336"/>
          </a:xfrm>
          <a:prstGeom prst="ellipse">
            <a:avLst/>
          </a:prstGeom>
          <a:solidFill>
            <a:srgbClr val="A83A3C"/>
          </a:solidFill>
          <a:ln w="12700">
            <a:solidFill>
              <a:srgbClr val="A83A3C"/>
            </a:solidFill>
            <a:prstDash val="solid"/>
          </a:ln>
        </p:spPr>
      </p:sp>
      <p:sp>
        <p:nvSpPr>
          <p:cNvPr id="13" name="Text 11"/>
          <p:cNvSpPr txBox="1"/>
          <p:nvPr/>
        </p:nvSpPr>
        <p:spPr>
          <a:xfrm>
            <a:off x="786384" y="2942539"/>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1335024" y="2873045"/>
            <a:ext cx="10033711" cy="541325"/>
          </a:xfrm>
          <a:prstGeom prst="rect">
            <a:avLst/>
          </a:prstGeom>
          <a:noFill/>
          <a:ln/>
        </p:spPr>
        <p:txBody>
          <a:bodyPr wrap="square" lIns="0" tIns="0" rIns="0" bIns="0" rtlCol="0" anchor="ctr"/>
          <a:lstStyle/>
          <a:p>
            <a:pPr indent="0" marL="0">
              <a:lnSpc>
                <a:spcPct val="105000"/>
              </a:lnSpc>
              <a:buNone/>
            </a:pPr>
            <a:r>
              <a:rPr lang="en-US" sz="1350" b="1" dirty="0">
                <a:solidFill>
                  <a:srgbClr val="1B3A4B"/>
                </a:solidFill>
                <a:latin typeface="Calibri" pitchFamily="34" charset="0"/>
                <a:ea typeface="Calibri" pitchFamily="34" charset="-122"/>
                <a:cs typeface="Calibri" pitchFamily="34" charset="-120"/>
              </a:rPr>
              <a:t>Clinical evidence expectations rose sharply</a:t>
            </a:r>
            <a:endParaRPr lang="en-US" sz="1350" dirty="0"/>
          </a:p>
          <a:p>
            <a:pPr indent="0" marL="0">
              <a:lnSpc>
                <a:spcPct val="105000"/>
              </a:lnSpc>
              <a:buNone/>
            </a:pPr>
            <a:r>
              <a:rPr lang="en-US" sz="1070" dirty="0">
                <a:solidFill>
                  <a:srgbClr val="22333B"/>
                </a:solidFill>
                <a:latin typeface="Calibri" pitchFamily="34" charset="0"/>
                <a:ea typeface="Calibri" pitchFamily="34" charset="-122"/>
                <a:cs typeface="Calibri" pitchFamily="34" charset="-120"/>
              </a:rPr>
              <a:t>A clinical evaluation is required for every device, and the conditions for relying on someone else's device as equivalent were tightened to the point that many MDD strategies no longer work.</a:t>
            </a:r>
            <a:endParaRPr lang="en-US" sz="1350" dirty="0"/>
          </a:p>
        </p:txBody>
      </p:sp>
      <p:sp>
        <p:nvSpPr>
          <p:cNvPr id="15" name="Shape 13"/>
          <p:cNvSpPr/>
          <p:nvPr/>
        </p:nvSpPr>
        <p:spPr>
          <a:xfrm>
            <a:off x="548640" y="3661258"/>
            <a:ext cx="11094415" cy="779069"/>
          </a:xfrm>
          <a:prstGeom prst="roundRect">
            <a:avLst>
              <a:gd name="adj" fmla="val 8216"/>
            </a:avLst>
          </a:prstGeom>
          <a:solidFill>
            <a:srgbClr val="F1F5F6"/>
          </a:solidFill>
          <a:ln w="12700">
            <a:solidFill>
              <a:srgbClr val="D7E2E5"/>
            </a:solidFill>
            <a:prstDash val="solid"/>
          </a:ln>
        </p:spPr>
      </p:sp>
      <p:sp>
        <p:nvSpPr>
          <p:cNvPr id="16" name="Shape 14"/>
          <p:cNvSpPr/>
          <p:nvPr/>
        </p:nvSpPr>
        <p:spPr>
          <a:xfrm>
            <a:off x="786384" y="3849624"/>
            <a:ext cx="402336" cy="402336"/>
          </a:xfrm>
          <a:prstGeom prst="ellipse">
            <a:avLst/>
          </a:prstGeom>
          <a:solidFill>
            <a:srgbClr val="C77C1E"/>
          </a:solidFill>
          <a:ln w="12700">
            <a:solidFill>
              <a:srgbClr val="C77C1E"/>
            </a:solidFill>
            <a:prstDash val="solid"/>
          </a:ln>
        </p:spPr>
      </p:sp>
      <p:sp>
        <p:nvSpPr>
          <p:cNvPr id="17" name="Text 15"/>
          <p:cNvSpPr txBox="1"/>
          <p:nvPr/>
        </p:nvSpPr>
        <p:spPr>
          <a:xfrm>
            <a:off x="786384" y="38496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335024" y="3780130"/>
            <a:ext cx="10033711" cy="541325"/>
          </a:xfrm>
          <a:prstGeom prst="rect">
            <a:avLst/>
          </a:prstGeom>
          <a:noFill/>
          <a:ln/>
        </p:spPr>
        <p:txBody>
          <a:bodyPr wrap="square" lIns="0" tIns="0" rIns="0" bIns="0" rtlCol="0" anchor="ctr"/>
          <a:lstStyle/>
          <a:p>
            <a:pPr indent="0" marL="0">
              <a:lnSpc>
                <a:spcPct val="105000"/>
              </a:lnSpc>
              <a:buNone/>
            </a:pPr>
            <a:r>
              <a:rPr lang="en-US" sz="1350" b="1" dirty="0">
                <a:solidFill>
                  <a:srgbClr val="1B3A4B"/>
                </a:solidFill>
                <a:latin typeface="Calibri" pitchFamily="34" charset="0"/>
                <a:ea typeface="Calibri" pitchFamily="34" charset="-122"/>
                <a:cs typeface="Calibri" pitchFamily="34" charset="-120"/>
              </a:rPr>
              <a:t>Post-market became a continuous obligation</a:t>
            </a:r>
            <a:endParaRPr lang="en-US" sz="1350" dirty="0"/>
          </a:p>
          <a:p>
            <a:pPr indent="0" marL="0">
              <a:lnSpc>
                <a:spcPct val="105000"/>
              </a:lnSpc>
              <a:buNone/>
            </a:pPr>
            <a:r>
              <a:rPr lang="en-US" sz="1070" dirty="0">
                <a:solidFill>
                  <a:srgbClr val="22333B"/>
                </a:solidFill>
                <a:latin typeface="Calibri" pitchFamily="34" charset="0"/>
                <a:ea typeface="Calibri" pitchFamily="34" charset="-122"/>
                <a:cs typeface="Calibri" pitchFamily="34" charset="-120"/>
              </a:rPr>
              <a:t>A documented PMS system, a PMCF plan, periodic safety update reports and trend reporting — the file is now something you operate, not something you file.</a:t>
            </a:r>
            <a:endParaRPr lang="en-US" sz="1350" dirty="0"/>
          </a:p>
        </p:txBody>
      </p:sp>
      <p:sp>
        <p:nvSpPr>
          <p:cNvPr id="19" name="Shape 17"/>
          <p:cNvSpPr/>
          <p:nvPr/>
        </p:nvSpPr>
        <p:spPr>
          <a:xfrm>
            <a:off x="548640" y="4568342"/>
            <a:ext cx="11094415" cy="779069"/>
          </a:xfrm>
          <a:prstGeom prst="roundRect">
            <a:avLst>
              <a:gd name="adj" fmla="val 8216"/>
            </a:avLst>
          </a:prstGeom>
          <a:solidFill>
            <a:srgbClr val="F1F5F6"/>
          </a:solidFill>
          <a:ln w="12700">
            <a:solidFill>
              <a:srgbClr val="D7E2E5"/>
            </a:solidFill>
            <a:prstDash val="solid"/>
          </a:ln>
        </p:spPr>
      </p:sp>
      <p:sp>
        <p:nvSpPr>
          <p:cNvPr id="20" name="Shape 18"/>
          <p:cNvSpPr/>
          <p:nvPr/>
        </p:nvSpPr>
        <p:spPr>
          <a:xfrm>
            <a:off x="786384" y="4756709"/>
            <a:ext cx="402336" cy="402336"/>
          </a:xfrm>
          <a:prstGeom prst="ellipse">
            <a:avLst/>
          </a:prstGeom>
          <a:solidFill>
            <a:srgbClr val="2A9D8F"/>
          </a:solidFill>
          <a:ln w="12700">
            <a:solidFill>
              <a:srgbClr val="2A9D8F"/>
            </a:solidFill>
            <a:prstDash val="solid"/>
          </a:ln>
        </p:spPr>
      </p:sp>
      <p:sp>
        <p:nvSpPr>
          <p:cNvPr id="21" name="Text 19"/>
          <p:cNvSpPr txBox="1"/>
          <p:nvPr/>
        </p:nvSpPr>
        <p:spPr>
          <a:xfrm>
            <a:off x="786384" y="4756709"/>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1335024" y="4687214"/>
            <a:ext cx="10033711" cy="541325"/>
          </a:xfrm>
          <a:prstGeom prst="rect">
            <a:avLst/>
          </a:prstGeom>
          <a:noFill/>
          <a:ln/>
        </p:spPr>
        <p:txBody>
          <a:bodyPr wrap="square" lIns="0" tIns="0" rIns="0" bIns="0" rtlCol="0" anchor="ctr"/>
          <a:lstStyle/>
          <a:p>
            <a:pPr indent="0" marL="0">
              <a:lnSpc>
                <a:spcPct val="105000"/>
              </a:lnSpc>
              <a:buNone/>
            </a:pPr>
            <a:r>
              <a:rPr lang="en-US" sz="1350" b="1" dirty="0">
                <a:solidFill>
                  <a:srgbClr val="1B3A4B"/>
                </a:solidFill>
                <a:latin typeface="Calibri" pitchFamily="34" charset="0"/>
                <a:ea typeface="Calibri" pitchFamily="34" charset="-122"/>
                <a:cs typeface="Calibri" pitchFamily="34" charset="-120"/>
              </a:rPr>
              <a:t>Named accountability</a:t>
            </a:r>
            <a:endParaRPr lang="en-US" sz="1350" dirty="0"/>
          </a:p>
          <a:p>
            <a:pPr indent="0" marL="0">
              <a:lnSpc>
                <a:spcPct val="105000"/>
              </a:lnSpc>
              <a:buNone/>
            </a:pPr>
            <a:r>
              <a:rPr lang="en-US" sz="1070" dirty="0">
                <a:solidFill>
                  <a:srgbClr val="22333B"/>
                </a:solidFill>
                <a:latin typeface="Calibri" pitchFamily="34" charset="0"/>
                <a:ea typeface="Calibri" pitchFamily="34" charset="-122"/>
                <a:cs typeface="Calibri" pitchFamily="34" charset="-120"/>
              </a:rPr>
              <a:t>Article 15 requires a person responsible for regulatory compliance. Article 11 gives the authorised representative defined duties and joint liability.</a:t>
            </a:r>
            <a:endParaRPr lang="en-US" sz="1350" dirty="0"/>
          </a:p>
        </p:txBody>
      </p:sp>
      <p:sp>
        <p:nvSpPr>
          <p:cNvPr id="23" name="Shape 21"/>
          <p:cNvSpPr/>
          <p:nvPr/>
        </p:nvSpPr>
        <p:spPr>
          <a:xfrm>
            <a:off x="548640" y="5475427"/>
            <a:ext cx="11094415" cy="779069"/>
          </a:xfrm>
          <a:prstGeom prst="roundRect">
            <a:avLst>
              <a:gd name="adj" fmla="val 8216"/>
            </a:avLst>
          </a:prstGeom>
          <a:solidFill>
            <a:srgbClr val="F1F5F6"/>
          </a:solidFill>
          <a:ln w="12700">
            <a:solidFill>
              <a:srgbClr val="D7E2E5"/>
            </a:solidFill>
            <a:prstDash val="solid"/>
          </a:ln>
        </p:spPr>
      </p:sp>
      <p:sp>
        <p:nvSpPr>
          <p:cNvPr id="24" name="Shape 22"/>
          <p:cNvSpPr/>
          <p:nvPr/>
        </p:nvSpPr>
        <p:spPr>
          <a:xfrm>
            <a:off x="786384" y="5663794"/>
            <a:ext cx="402336" cy="402336"/>
          </a:xfrm>
          <a:prstGeom prst="ellipse">
            <a:avLst/>
          </a:prstGeom>
          <a:solidFill>
            <a:srgbClr val="0E7C7B"/>
          </a:solidFill>
          <a:ln w="12700">
            <a:solidFill>
              <a:srgbClr val="0E7C7B"/>
            </a:solidFill>
            <a:prstDash val="solid"/>
          </a:ln>
        </p:spPr>
      </p:sp>
      <p:sp>
        <p:nvSpPr>
          <p:cNvPr id="25" name="Text 23"/>
          <p:cNvSpPr txBox="1"/>
          <p:nvPr/>
        </p:nvSpPr>
        <p:spPr>
          <a:xfrm>
            <a:off x="786384" y="56637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6" name="Text 24"/>
          <p:cNvSpPr txBox="1"/>
          <p:nvPr/>
        </p:nvSpPr>
        <p:spPr>
          <a:xfrm>
            <a:off x="1335024" y="5594299"/>
            <a:ext cx="10033711" cy="541325"/>
          </a:xfrm>
          <a:prstGeom prst="rect">
            <a:avLst/>
          </a:prstGeom>
          <a:noFill/>
          <a:ln/>
        </p:spPr>
        <p:txBody>
          <a:bodyPr wrap="square" lIns="0" tIns="0" rIns="0" bIns="0" rtlCol="0" anchor="ctr"/>
          <a:lstStyle/>
          <a:p>
            <a:pPr indent="0" marL="0">
              <a:lnSpc>
                <a:spcPct val="105000"/>
              </a:lnSpc>
              <a:buNone/>
            </a:pPr>
            <a:r>
              <a:rPr lang="en-US" sz="1350" b="1" dirty="0">
                <a:solidFill>
                  <a:srgbClr val="1B3A4B"/>
                </a:solidFill>
                <a:latin typeface="Calibri" pitchFamily="34" charset="0"/>
                <a:ea typeface="Calibri" pitchFamily="34" charset="-122"/>
                <a:cs typeface="Calibri" pitchFamily="34" charset="-120"/>
              </a:rPr>
              <a:t>Traceability and transparency</a:t>
            </a:r>
            <a:endParaRPr lang="en-US" sz="1350" dirty="0"/>
          </a:p>
          <a:p>
            <a:pPr indent="0" marL="0">
              <a:lnSpc>
                <a:spcPct val="105000"/>
              </a:lnSpc>
              <a:buNone/>
            </a:pPr>
            <a:r>
              <a:rPr lang="en-US" sz="1070" dirty="0">
                <a:solidFill>
                  <a:srgbClr val="22333B"/>
                </a:solidFill>
                <a:latin typeface="Calibri" pitchFamily="34" charset="0"/>
                <a:ea typeface="Calibri" pitchFamily="34" charset="-122"/>
                <a:cs typeface="Calibri" pitchFamily="34" charset="-120"/>
              </a:rPr>
              <a:t>UDI on devices and packaging, Basic UDI-DI as the model identifier, and EUDAMED as the central database.</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CLASSIFICATION</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2900" b="1" dirty="0">
                <a:solidFill>
                  <a:srgbClr val="1B3A4B"/>
                </a:solidFill>
                <a:latin typeface="Cambria" pitchFamily="34" charset="0"/>
                <a:ea typeface="Cambria" pitchFamily="34" charset="-122"/>
                <a:cs typeface="Cambria" pitchFamily="34" charset="-120"/>
              </a:rPr>
              <a:t>Annex VIII: how classification actually works</a:t>
            </a:r>
            <a:endParaRPr lang="en-US" sz="29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14</a:t>
            </a:r>
            <a:endParaRPr lang="en-US" sz="900" dirty="0"/>
          </a:p>
        </p:txBody>
      </p:sp>
      <p:sp>
        <p:nvSpPr>
          <p:cNvPr id="6" name="Text 4"/>
          <p:cNvSpPr txBox="1"/>
          <p:nvPr/>
        </p:nvSpPr>
        <p:spPr>
          <a:xfrm>
            <a:off x="548640" y="1481328"/>
            <a:ext cx="5394960" cy="256032"/>
          </a:xfrm>
          <a:prstGeom prst="rect">
            <a:avLst/>
          </a:prstGeom>
          <a:noFill/>
          <a:ln/>
        </p:spPr>
        <p:txBody>
          <a:bodyPr wrap="square" lIns="0" tIns="0" rIns="0" bIns="0" rtlCol="0" anchor="ctr"/>
          <a:lstStyle/>
          <a:p>
            <a:pPr indent="0" marL="0">
              <a:buNone/>
            </a:pPr>
            <a:r>
              <a:rPr lang="en-US" sz="1100" b="1" spc="120" kern="0" dirty="0">
                <a:solidFill>
                  <a:srgbClr val="0E7C7B"/>
                </a:solidFill>
                <a:latin typeface="Calibri" pitchFamily="34" charset="0"/>
                <a:ea typeface="Calibri" pitchFamily="34" charset="-122"/>
                <a:cs typeface="Calibri" pitchFamily="34" charset="-120"/>
              </a:rPr>
              <a:t>THE MECHANICS</a:t>
            </a:r>
            <a:endParaRPr lang="en-US" sz="1100" dirty="0"/>
          </a:p>
        </p:txBody>
      </p:sp>
      <p:sp>
        <p:nvSpPr>
          <p:cNvPr id="7" name="Shape 5"/>
          <p:cNvSpPr/>
          <p:nvPr/>
        </p:nvSpPr>
        <p:spPr>
          <a:xfrm>
            <a:off x="548640" y="1792224"/>
            <a:ext cx="5394960" cy="896112"/>
          </a:xfrm>
          <a:prstGeom prst="roundRect">
            <a:avLst>
              <a:gd name="adj" fmla="val 7143"/>
            </a:avLst>
          </a:prstGeom>
          <a:solidFill>
            <a:srgbClr val="F1F5F6"/>
          </a:solidFill>
          <a:ln w="12700">
            <a:solidFill>
              <a:srgbClr val="D7E2E5"/>
            </a:solidFill>
            <a:prstDash val="solid"/>
          </a:ln>
        </p:spPr>
      </p:sp>
      <p:sp>
        <p:nvSpPr>
          <p:cNvPr id="8" name="Shape 6"/>
          <p:cNvSpPr/>
          <p:nvPr/>
        </p:nvSpPr>
        <p:spPr>
          <a:xfrm>
            <a:off x="786384" y="2039112"/>
            <a:ext cx="402336" cy="402336"/>
          </a:xfrm>
          <a:prstGeom prst="ellipse">
            <a:avLst/>
          </a:prstGeom>
          <a:solidFill>
            <a:srgbClr val="0E7C7B"/>
          </a:solidFill>
          <a:ln w="12700">
            <a:solidFill>
              <a:srgbClr val="0E7C7B"/>
            </a:solidFill>
            <a:prstDash val="solid"/>
          </a:ln>
        </p:spPr>
      </p:sp>
      <p:sp>
        <p:nvSpPr>
          <p:cNvPr id="9" name="Text 7"/>
          <p:cNvSpPr txBox="1"/>
          <p:nvPr/>
        </p:nvSpPr>
        <p:spPr>
          <a:xfrm>
            <a:off x="786384" y="203911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1335024" y="1911096"/>
            <a:ext cx="4334256" cy="658368"/>
          </a:xfrm>
          <a:prstGeom prst="rect">
            <a:avLst/>
          </a:prstGeom>
          <a:noFill/>
          <a:ln/>
        </p:spPr>
        <p:txBody>
          <a:bodyPr wrap="square" lIns="0" tIns="0" rIns="0" bIns="0" rtlCol="0" anchor="ctr"/>
          <a:lstStyle/>
          <a:p>
            <a:pPr indent="0" marL="0">
              <a:lnSpc>
                <a:spcPct val="105000"/>
              </a:lnSpc>
              <a:buNone/>
            </a:pPr>
            <a:r>
              <a:rPr lang="en-US" sz="1250" b="1" dirty="0">
                <a:solidFill>
                  <a:srgbClr val="1B3A4B"/>
                </a:solidFill>
                <a:latin typeface="Calibri" pitchFamily="34" charset="0"/>
                <a:ea typeface="Calibri" pitchFamily="34" charset="-122"/>
                <a:cs typeface="Calibri" pitchFamily="34" charset="-120"/>
              </a:rPr>
              <a:t>Start from the intended purpose</a:t>
            </a:r>
            <a:endParaRPr lang="en-US" sz="1250" dirty="0"/>
          </a:p>
          <a:p>
            <a:pPr indent="0" marL="0">
              <a:lnSpc>
                <a:spcPct val="105000"/>
              </a:lnSpc>
              <a:buNone/>
            </a:pPr>
            <a:r>
              <a:rPr lang="en-US" sz="1000" dirty="0">
                <a:solidFill>
                  <a:srgbClr val="22333B"/>
                </a:solidFill>
                <a:latin typeface="Calibri" pitchFamily="34" charset="0"/>
                <a:ea typeface="Calibri" pitchFamily="34" charset="-122"/>
                <a:cs typeface="Calibri" pitchFamily="34" charset="-120"/>
              </a:rPr>
              <a:t>Not from the hardware, and not from the US class.</a:t>
            </a:r>
            <a:endParaRPr lang="en-US" sz="1250" dirty="0"/>
          </a:p>
        </p:txBody>
      </p:sp>
      <p:sp>
        <p:nvSpPr>
          <p:cNvPr id="11" name="Shape 9"/>
          <p:cNvSpPr/>
          <p:nvPr/>
        </p:nvSpPr>
        <p:spPr>
          <a:xfrm>
            <a:off x="548640" y="2816352"/>
            <a:ext cx="5394960" cy="896112"/>
          </a:xfrm>
          <a:prstGeom prst="roundRect">
            <a:avLst>
              <a:gd name="adj" fmla="val 7143"/>
            </a:avLst>
          </a:prstGeom>
          <a:solidFill>
            <a:srgbClr val="F1F5F6"/>
          </a:solidFill>
          <a:ln w="12700">
            <a:solidFill>
              <a:srgbClr val="D7E2E5"/>
            </a:solidFill>
            <a:prstDash val="solid"/>
          </a:ln>
        </p:spPr>
      </p:sp>
      <p:sp>
        <p:nvSpPr>
          <p:cNvPr id="12" name="Shape 10"/>
          <p:cNvSpPr/>
          <p:nvPr/>
        </p:nvSpPr>
        <p:spPr>
          <a:xfrm>
            <a:off x="786384" y="3063240"/>
            <a:ext cx="402336" cy="402336"/>
          </a:xfrm>
          <a:prstGeom prst="ellipse">
            <a:avLst/>
          </a:prstGeom>
          <a:solidFill>
            <a:srgbClr val="0E7C7B"/>
          </a:solidFill>
          <a:ln w="12700">
            <a:solidFill>
              <a:srgbClr val="0E7C7B"/>
            </a:solidFill>
            <a:prstDash val="solid"/>
          </a:ln>
        </p:spPr>
      </p:sp>
      <p:sp>
        <p:nvSpPr>
          <p:cNvPr id="13" name="Text 11"/>
          <p:cNvSpPr txBox="1"/>
          <p:nvPr/>
        </p:nvSpPr>
        <p:spPr>
          <a:xfrm>
            <a:off x="786384" y="306324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1335024" y="2935224"/>
            <a:ext cx="4334256" cy="658368"/>
          </a:xfrm>
          <a:prstGeom prst="rect">
            <a:avLst/>
          </a:prstGeom>
          <a:noFill/>
          <a:ln/>
        </p:spPr>
        <p:txBody>
          <a:bodyPr wrap="square" lIns="0" tIns="0" rIns="0" bIns="0" rtlCol="0" anchor="ctr"/>
          <a:lstStyle/>
          <a:p>
            <a:pPr indent="0" marL="0">
              <a:lnSpc>
                <a:spcPct val="105000"/>
              </a:lnSpc>
              <a:buNone/>
            </a:pPr>
            <a:r>
              <a:rPr lang="en-US" sz="1250" b="1" dirty="0">
                <a:solidFill>
                  <a:srgbClr val="1B3A4B"/>
                </a:solidFill>
                <a:latin typeface="Calibri" pitchFamily="34" charset="0"/>
                <a:ea typeface="Calibri" pitchFamily="34" charset="-122"/>
                <a:cs typeface="Calibri" pitchFamily="34" charset="-120"/>
              </a:rPr>
              <a:t>Apply the implementing rules first</a:t>
            </a:r>
            <a:endParaRPr lang="en-US" sz="1250" dirty="0"/>
          </a:p>
          <a:p>
            <a:pPr indent="0" marL="0">
              <a:lnSpc>
                <a:spcPct val="105000"/>
              </a:lnSpc>
              <a:buNone/>
            </a:pPr>
            <a:r>
              <a:rPr lang="en-US" sz="1000" dirty="0">
                <a:solidFill>
                  <a:srgbClr val="22333B"/>
                </a:solidFill>
                <a:latin typeface="Calibri" pitchFamily="34" charset="0"/>
                <a:ea typeface="Calibri" pitchFamily="34" charset="-122"/>
                <a:cs typeface="Calibri" pitchFamily="34" charset="-120"/>
              </a:rPr>
              <a:t>Chapter II governs how the rules interact: accessories and software classify in their own right, and where several rules apply the strictest wins.</a:t>
            </a:r>
            <a:endParaRPr lang="en-US" sz="1250" dirty="0"/>
          </a:p>
        </p:txBody>
      </p:sp>
      <p:sp>
        <p:nvSpPr>
          <p:cNvPr id="15" name="Shape 13"/>
          <p:cNvSpPr/>
          <p:nvPr/>
        </p:nvSpPr>
        <p:spPr>
          <a:xfrm>
            <a:off x="548640" y="3840480"/>
            <a:ext cx="5394960" cy="896112"/>
          </a:xfrm>
          <a:prstGeom prst="roundRect">
            <a:avLst>
              <a:gd name="adj" fmla="val 7143"/>
            </a:avLst>
          </a:prstGeom>
          <a:solidFill>
            <a:srgbClr val="F1F5F6"/>
          </a:solidFill>
          <a:ln w="12700">
            <a:solidFill>
              <a:srgbClr val="D7E2E5"/>
            </a:solidFill>
            <a:prstDash val="solid"/>
          </a:ln>
        </p:spPr>
      </p:sp>
      <p:sp>
        <p:nvSpPr>
          <p:cNvPr id="16" name="Shape 14"/>
          <p:cNvSpPr/>
          <p:nvPr/>
        </p:nvSpPr>
        <p:spPr>
          <a:xfrm>
            <a:off x="786384" y="4087368"/>
            <a:ext cx="402336" cy="402336"/>
          </a:xfrm>
          <a:prstGeom prst="ellipse">
            <a:avLst/>
          </a:prstGeom>
          <a:solidFill>
            <a:srgbClr val="0E7C7B"/>
          </a:solidFill>
          <a:ln w="12700">
            <a:solidFill>
              <a:srgbClr val="0E7C7B"/>
            </a:solidFill>
            <a:prstDash val="solid"/>
          </a:ln>
        </p:spPr>
      </p:sp>
      <p:sp>
        <p:nvSpPr>
          <p:cNvPr id="17" name="Text 15"/>
          <p:cNvSpPr txBox="1"/>
          <p:nvPr/>
        </p:nvSpPr>
        <p:spPr>
          <a:xfrm>
            <a:off x="786384" y="40873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335024" y="3959352"/>
            <a:ext cx="4334256" cy="658368"/>
          </a:xfrm>
          <a:prstGeom prst="rect">
            <a:avLst/>
          </a:prstGeom>
          <a:noFill/>
          <a:ln/>
        </p:spPr>
        <p:txBody>
          <a:bodyPr wrap="square" lIns="0" tIns="0" rIns="0" bIns="0" rtlCol="0" anchor="ctr"/>
          <a:lstStyle/>
          <a:p>
            <a:pPr indent="0" marL="0">
              <a:lnSpc>
                <a:spcPct val="105000"/>
              </a:lnSpc>
              <a:buNone/>
            </a:pPr>
            <a:r>
              <a:rPr lang="en-US" sz="1250" b="1" dirty="0">
                <a:solidFill>
                  <a:srgbClr val="1B3A4B"/>
                </a:solidFill>
                <a:latin typeface="Calibri" pitchFamily="34" charset="0"/>
                <a:ea typeface="Calibri" pitchFamily="34" charset="-122"/>
                <a:cs typeface="Calibri" pitchFamily="34" charset="-120"/>
              </a:rPr>
              <a:t>Work the 22 rules in Chapter III</a:t>
            </a:r>
            <a:endParaRPr lang="en-US" sz="1250" dirty="0"/>
          </a:p>
          <a:p>
            <a:pPr indent="0" marL="0">
              <a:lnSpc>
                <a:spcPct val="105000"/>
              </a:lnSpc>
              <a:buNone/>
            </a:pPr>
            <a:r>
              <a:rPr lang="en-US" sz="1000" dirty="0">
                <a:solidFill>
                  <a:srgbClr val="22333B"/>
                </a:solidFill>
                <a:latin typeface="Calibri" pitchFamily="34" charset="0"/>
                <a:ea typeface="Calibri" pitchFamily="34" charset="-122"/>
                <a:cs typeface="Calibri" pitchFamily="34" charset="-120"/>
              </a:rPr>
              <a:t>Rules 1-4 non-invasive; 5-8 invasive; 9-13 active; 14-22 special cases.</a:t>
            </a:r>
            <a:endParaRPr lang="en-US" sz="1250" dirty="0"/>
          </a:p>
        </p:txBody>
      </p:sp>
      <p:sp>
        <p:nvSpPr>
          <p:cNvPr id="19" name="Shape 17"/>
          <p:cNvSpPr/>
          <p:nvPr/>
        </p:nvSpPr>
        <p:spPr>
          <a:xfrm>
            <a:off x="548640" y="4864608"/>
            <a:ext cx="5394960" cy="896112"/>
          </a:xfrm>
          <a:prstGeom prst="roundRect">
            <a:avLst>
              <a:gd name="adj" fmla="val 7143"/>
            </a:avLst>
          </a:prstGeom>
          <a:solidFill>
            <a:srgbClr val="F1F5F6"/>
          </a:solidFill>
          <a:ln w="12700">
            <a:solidFill>
              <a:srgbClr val="D7E2E5"/>
            </a:solidFill>
            <a:prstDash val="solid"/>
          </a:ln>
        </p:spPr>
      </p:sp>
      <p:sp>
        <p:nvSpPr>
          <p:cNvPr id="20" name="Shape 18"/>
          <p:cNvSpPr/>
          <p:nvPr/>
        </p:nvSpPr>
        <p:spPr>
          <a:xfrm>
            <a:off x="786384" y="5111496"/>
            <a:ext cx="402336" cy="402336"/>
          </a:xfrm>
          <a:prstGeom prst="ellipse">
            <a:avLst/>
          </a:prstGeom>
          <a:solidFill>
            <a:srgbClr val="0E7C7B"/>
          </a:solidFill>
          <a:ln w="12700">
            <a:solidFill>
              <a:srgbClr val="0E7C7B"/>
            </a:solidFill>
            <a:prstDash val="solid"/>
          </a:ln>
        </p:spPr>
      </p:sp>
      <p:sp>
        <p:nvSpPr>
          <p:cNvPr id="21" name="Text 19"/>
          <p:cNvSpPr txBox="1"/>
          <p:nvPr/>
        </p:nvSpPr>
        <p:spPr>
          <a:xfrm>
            <a:off x="786384" y="511149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1335024" y="4983480"/>
            <a:ext cx="4334256" cy="658368"/>
          </a:xfrm>
          <a:prstGeom prst="rect">
            <a:avLst/>
          </a:prstGeom>
          <a:noFill/>
          <a:ln/>
        </p:spPr>
        <p:txBody>
          <a:bodyPr wrap="square" lIns="0" tIns="0" rIns="0" bIns="0" rtlCol="0" anchor="ctr"/>
          <a:lstStyle/>
          <a:p>
            <a:pPr indent="0" marL="0">
              <a:lnSpc>
                <a:spcPct val="105000"/>
              </a:lnSpc>
              <a:buNone/>
            </a:pPr>
            <a:r>
              <a:rPr lang="en-US" sz="1250" b="1" dirty="0">
                <a:solidFill>
                  <a:srgbClr val="1B3A4B"/>
                </a:solidFill>
                <a:latin typeface="Calibri" pitchFamily="34" charset="0"/>
                <a:ea typeface="Calibri" pitchFamily="34" charset="-122"/>
                <a:cs typeface="Calibri" pitchFamily="34" charset="-120"/>
              </a:rPr>
              <a:t>Record the reasoning, not just the answer</a:t>
            </a:r>
            <a:endParaRPr lang="en-US" sz="1250" dirty="0"/>
          </a:p>
          <a:p>
            <a:pPr indent="0" marL="0">
              <a:lnSpc>
                <a:spcPct val="105000"/>
              </a:lnSpc>
              <a:buNone/>
            </a:pPr>
            <a:r>
              <a:rPr lang="en-US" sz="1000" dirty="0">
                <a:solidFill>
                  <a:srgbClr val="22333B"/>
                </a:solidFill>
                <a:latin typeface="Calibri" pitchFamily="34" charset="0"/>
                <a:ea typeface="Calibri" pitchFamily="34" charset="-122"/>
                <a:cs typeface="Calibri" pitchFamily="34" charset="-120"/>
              </a:rPr>
              <a:t>The notified body will ask why. A class with no written rationale is a finding waiting to happen.</a:t>
            </a:r>
            <a:endParaRPr lang="en-US" sz="1250" dirty="0"/>
          </a:p>
        </p:txBody>
      </p:sp>
      <p:sp>
        <p:nvSpPr>
          <p:cNvPr id="23" name="Text 21"/>
          <p:cNvSpPr txBox="1"/>
          <p:nvPr/>
        </p:nvSpPr>
        <p:spPr>
          <a:xfrm>
            <a:off x="6245352" y="1481328"/>
            <a:ext cx="5394960" cy="256032"/>
          </a:xfrm>
          <a:prstGeom prst="rect">
            <a:avLst/>
          </a:prstGeom>
          <a:noFill/>
          <a:ln/>
        </p:spPr>
        <p:txBody>
          <a:bodyPr wrap="square" lIns="0" tIns="0" rIns="0" bIns="0" rtlCol="0" anchor="ctr"/>
          <a:lstStyle/>
          <a:p>
            <a:pPr indent="0" marL="0">
              <a:buNone/>
            </a:pPr>
            <a:r>
              <a:rPr lang="en-US" sz="1100" b="1" spc="120" kern="0" dirty="0">
                <a:solidFill>
                  <a:srgbClr val="C77C1E"/>
                </a:solidFill>
                <a:latin typeface="Calibri" pitchFamily="34" charset="0"/>
                <a:ea typeface="Calibri" pitchFamily="34" charset="-122"/>
                <a:cs typeface="Calibri" pitchFamily="34" charset="-120"/>
              </a:rPr>
              <a:t>THE DETERMINANTS THAT ACTUALLY MOVE THE CLASS</a:t>
            </a:r>
            <a:endParaRPr lang="en-US" sz="1100" dirty="0"/>
          </a:p>
        </p:txBody>
      </p:sp>
      <p:sp>
        <p:nvSpPr>
          <p:cNvPr id="24" name="Shape 22"/>
          <p:cNvSpPr/>
          <p:nvPr/>
        </p:nvSpPr>
        <p:spPr>
          <a:xfrm>
            <a:off x="6245352" y="1792224"/>
            <a:ext cx="5394960" cy="3968496"/>
          </a:xfrm>
          <a:prstGeom prst="roundRect">
            <a:avLst>
              <a:gd name="adj" fmla="val 1613"/>
            </a:avLst>
          </a:prstGeom>
          <a:solidFill>
            <a:srgbClr val="FBF0E2"/>
          </a:solidFill>
          <a:ln w="12700">
            <a:solidFill>
              <a:srgbClr val="E3C893"/>
            </a:solidFill>
            <a:prstDash val="solid"/>
          </a:ln>
        </p:spPr>
      </p:sp>
      <p:sp>
        <p:nvSpPr>
          <p:cNvPr id="25" name="Text 23"/>
          <p:cNvSpPr txBox="1"/>
          <p:nvPr/>
        </p:nvSpPr>
        <p:spPr>
          <a:xfrm>
            <a:off x="6483096" y="1956816"/>
            <a:ext cx="4919472" cy="3639312"/>
          </a:xfrm>
          <a:prstGeom prst="rect">
            <a:avLst/>
          </a:prstGeom>
          <a:noFill/>
          <a:ln/>
        </p:spPr>
        <p:txBody>
          <a:bodyPr wrap="square" lIns="0" tIns="0" rIns="0" bIns="0" rtlCol="0" anchor="t"/>
          <a:lstStyle/>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Duration of contact</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Transient (under 60 minutes), short term (60 minutes to 30 days), long term (over 30 days). Crossing a threshold can move a class.</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Invasiveness and where it goes</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Body orifice versus surgically invasive; and whether it reaches the central circulatory or central nervous system.</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Active or not — and what it does</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Whether the device depends on a source of energy, and whether it administers or exchanges energy, or supports or sustains life.</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Whether it makes a clinical claim</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Diagnosis, monitoring, driving management. This is where Rule 11 lives, and it is the one that moves software.</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Special-rule triggers</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Substances absorbed by the body, nanomaterials, devices incorporating medicinal products, reusable surgical instruments.</a:t>
            </a:r>
            <a:endParaRPr lang="en-US" sz="10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SOFTWARE</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Rule 11: the rule that reclassified an industry</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15</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If your device contains or is software, this is the rule that decides your European future.</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914400"/>
        </p:xfrm>
        <a:graphic>
          <a:graphicData uri="http://schemas.openxmlformats.org/drawingml/2006/table">
            <a:tbl>
              <a:tblPr/>
              <a:tblGrid>
                <a:gridCol w="4663440"/>
                <a:gridCol w="1371600"/>
                <a:gridCol w="5056632"/>
              </a:tblGrid>
              <a:tr h="599115">
                <a:tc>
                  <a:txBody>
                    <a:bodyPr/>
                    <a:lstStyle/>
                    <a:p>
                      <a:pPr algn="l" indent="0" marL="0">
                        <a:buNone/>
                      </a:pPr>
                      <a:r>
                        <a:rPr lang="en-US" sz="966" b="1" dirty="0">
                          <a:solidFill>
                            <a:srgbClr val="FFFFFF"/>
                          </a:solidFill>
                          <a:latin typeface="Calibri" pitchFamily="34" charset="0"/>
                          <a:ea typeface="Calibri" pitchFamily="34" charset="-122"/>
                          <a:cs typeface="Calibri" pitchFamily="34" charset="-120"/>
                        </a:rPr>
                        <a:t>What the software does</a:t>
                      </a:r>
                      <a:endParaRPr lang="en-US" sz="96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966" b="1" dirty="0">
                          <a:solidFill>
                            <a:srgbClr val="FFFFFF"/>
                          </a:solidFill>
                          <a:latin typeface="Calibri" pitchFamily="34" charset="0"/>
                          <a:ea typeface="Calibri" pitchFamily="34" charset="-122"/>
                          <a:cs typeface="Calibri" pitchFamily="34" charset="-120"/>
                        </a:rPr>
                        <a:t>Class</a:t>
                      </a:r>
                      <a:endParaRPr lang="en-US" sz="96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966" b="1" dirty="0">
                          <a:solidFill>
                            <a:srgbClr val="FFFFFF"/>
                          </a:solidFill>
                          <a:latin typeface="Calibri" pitchFamily="34" charset="0"/>
                          <a:ea typeface="Calibri" pitchFamily="34" charset="-122"/>
                          <a:cs typeface="Calibri" pitchFamily="34" charset="-120"/>
                        </a:rPr>
                        <a:t>The qualifier that changes the answer</a:t>
                      </a:r>
                      <a:endParaRPr lang="en-US" sz="96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r>
              <a:tr h="599115">
                <a:tc>
                  <a:txBody>
                    <a:bodyPr/>
                    <a:lstStyle/>
                    <a:p>
                      <a:pPr indent="0" marL="0">
                        <a:buNone/>
                      </a:pPr>
                      <a:r>
                        <a:rPr lang="en-US" sz="924" dirty="0">
                          <a:solidFill>
                            <a:srgbClr val="22333B"/>
                          </a:solidFill>
                          <a:latin typeface="Calibri" pitchFamily="34" charset="0"/>
                          <a:ea typeface="Calibri" pitchFamily="34" charset="-122"/>
                          <a:cs typeface="Calibri" pitchFamily="34" charset="-120"/>
                        </a:rPr>
                        <a:t>Provides information used to take decisions for diagnostic or therapeutic purposes</a:t>
                      </a:r>
                      <a:endParaRPr lang="en-US" sz="92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algn="ctr" indent="0" marL="0">
                        <a:buNone/>
                      </a:pPr>
                      <a:r>
                        <a:rPr lang="en-US" sz="1680" b="1" dirty="0">
                          <a:solidFill>
                            <a:srgbClr val="C77C1E"/>
                          </a:solidFill>
                          <a:latin typeface="Calibri" pitchFamily="34" charset="0"/>
                          <a:ea typeface="Calibri" pitchFamily="34" charset="-122"/>
                          <a:cs typeface="Calibri" pitchFamily="34" charset="-120"/>
                        </a:rPr>
                        <a:t>IIa</a:t>
                      </a:r>
                      <a:endParaRPr lang="en-US" sz="168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AF3E4"/>
                    </a:solidFill>
                  </a:tcPr>
                </a:tc>
                <a:tc>
                  <a:txBody>
                    <a:bodyPr/>
                    <a:lstStyle/>
                    <a:p>
                      <a:pPr indent="0" marL="0">
                        <a:buNone/>
                      </a:pPr>
                      <a:r>
                        <a:rPr lang="en-US" sz="882" dirty="0">
                          <a:solidFill>
                            <a:srgbClr val="22333B"/>
                          </a:solidFill>
                          <a:latin typeface="Calibri" pitchFamily="34" charset="0"/>
                          <a:ea typeface="Calibri" pitchFamily="34" charset="-122"/>
                          <a:cs typeface="Calibri" pitchFamily="34" charset="-120"/>
                        </a:rPr>
                        <a:t>The baseline for clinical decision support</a:t>
                      </a:r>
                      <a:endParaRPr lang="en-US" sz="882"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599115">
                <a:tc>
                  <a:txBody>
                    <a:bodyPr/>
                    <a:lstStyle/>
                    <a:p>
                      <a:pPr indent="0" marL="0">
                        <a:buNone/>
                      </a:pPr>
                      <a:r>
                        <a:rPr lang="en-US" sz="924" dirty="0">
                          <a:solidFill>
                            <a:srgbClr val="22333B"/>
                          </a:solidFill>
                          <a:latin typeface="Calibri" pitchFamily="34" charset="0"/>
                          <a:ea typeface="Calibri" pitchFamily="34" charset="-122"/>
                          <a:cs typeface="Calibri" pitchFamily="34" charset="-120"/>
                        </a:rPr>
                        <a:t>… and those decisions may cause death or an irreversible deterioration of health</a:t>
                      </a:r>
                      <a:endParaRPr lang="en-US" sz="92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algn="ctr" indent="0" marL="0">
                        <a:buNone/>
                      </a:pPr>
                      <a:r>
                        <a:rPr lang="en-US" sz="1680" b="1" dirty="0">
                          <a:solidFill>
                            <a:srgbClr val="A83A3C"/>
                          </a:solidFill>
                          <a:latin typeface="Calibri" pitchFamily="34" charset="0"/>
                          <a:ea typeface="Calibri" pitchFamily="34" charset="-122"/>
                          <a:cs typeface="Calibri" pitchFamily="34" charset="-120"/>
                        </a:rPr>
                        <a:t>III</a:t>
                      </a:r>
                      <a:endParaRPr lang="en-US" sz="168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2DADA"/>
                    </a:solidFill>
                  </a:tcPr>
                </a:tc>
                <a:tc>
                  <a:txBody>
                    <a:bodyPr/>
                    <a:lstStyle/>
                    <a:p>
                      <a:pPr indent="0" marL="0">
                        <a:buNone/>
                      </a:pPr>
                      <a:r>
                        <a:rPr lang="en-US" sz="882" b="1" dirty="0">
                          <a:solidFill>
                            <a:srgbClr val="22333B"/>
                          </a:solidFill>
                          <a:latin typeface="Calibri" pitchFamily="34" charset="0"/>
                          <a:ea typeface="Calibri" pitchFamily="34" charset="-122"/>
                          <a:cs typeface="Calibri" pitchFamily="34" charset="-120"/>
                        </a:rPr>
                        <a:t>The consequence of the decision, not the sophistication of the algorithm</a:t>
                      </a:r>
                      <a:endParaRPr lang="en-US" sz="882"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599115">
                <a:tc>
                  <a:txBody>
                    <a:bodyPr/>
                    <a:lstStyle/>
                    <a:p>
                      <a:pPr indent="0" marL="0">
                        <a:buNone/>
                      </a:pPr>
                      <a:r>
                        <a:rPr lang="en-US" sz="924" dirty="0">
                          <a:solidFill>
                            <a:srgbClr val="22333B"/>
                          </a:solidFill>
                          <a:latin typeface="Calibri" pitchFamily="34" charset="0"/>
                          <a:ea typeface="Calibri" pitchFamily="34" charset="-122"/>
                          <a:cs typeface="Calibri" pitchFamily="34" charset="-120"/>
                        </a:rPr>
                        <a:t>… or may cause a serious deterioration of health, or a surgical intervention</a:t>
                      </a:r>
                      <a:endParaRPr lang="en-US" sz="92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algn="ctr" indent="0" marL="0">
                        <a:buNone/>
                      </a:pPr>
                      <a:r>
                        <a:rPr lang="en-US" sz="1680" b="1" dirty="0">
                          <a:solidFill>
                            <a:srgbClr val="8A6D1F"/>
                          </a:solidFill>
                          <a:latin typeface="Calibri" pitchFamily="34" charset="0"/>
                          <a:ea typeface="Calibri" pitchFamily="34" charset="-122"/>
                          <a:cs typeface="Calibri" pitchFamily="34" charset="-120"/>
                        </a:rPr>
                        <a:t>IIb</a:t>
                      </a:r>
                      <a:endParaRPr lang="en-US" sz="168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7E6D6"/>
                    </a:solidFill>
                  </a:tcPr>
                </a:tc>
                <a:tc>
                  <a:txBody>
                    <a:bodyPr/>
                    <a:lstStyle/>
                    <a:p>
                      <a:pPr indent="0" marL="0">
                        <a:buNone/>
                      </a:pPr>
                      <a:r>
                        <a:rPr lang="en-US" sz="882" dirty="0">
                          <a:solidFill>
                            <a:srgbClr val="22333B"/>
                          </a:solidFill>
                          <a:latin typeface="Calibri" pitchFamily="34" charset="0"/>
                          <a:ea typeface="Calibri" pitchFamily="34" charset="-122"/>
                          <a:cs typeface="Calibri" pitchFamily="34" charset="-120"/>
                        </a:rPr>
                        <a:t>Where most triage, detection and alerting software lands</a:t>
                      </a:r>
                      <a:endParaRPr lang="en-US" sz="882"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599115">
                <a:tc>
                  <a:txBody>
                    <a:bodyPr/>
                    <a:lstStyle/>
                    <a:p>
                      <a:pPr indent="0" marL="0">
                        <a:buNone/>
                      </a:pPr>
                      <a:r>
                        <a:rPr lang="en-US" sz="924" dirty="0">
                          <a:solidFill>
                            <a:srgbClr val="22333B"/>
                          </a:solidFill>
                          <a:latin typeface="Calibri" pitchFamily="34" charset="0"/>
                          <a:ea typeface="Calibri" pitchFamily="34" charset="-122"/>
                          <a:cs typeface="Calibri" pitchFamily="34" charset="-120"/>
                        </a:rPr>
                        <a:t>Intended to monitor physiological processes</a:t>
                      </a:r>
                      <a:endParaRPr lang="en-US" sz="92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algn="ctr" indent="0" marL="0">
                        <a:buNone/>
                      </a:pPr>
                      <a:r>
                        <a:rPr lang="en-US" sz="1680" b="1" dirty="0">
                          <a:solidFill>
                            <a:srgbClr val="C77C1E"/>
                          </a:solidFill>
                          <a:latin typeface="Calibri" pitchFamily="34" charset="0"/>
                          <a:ea typeface="Calibri" pitchFamily="34" charset="-122"/>
                          <a:cs typeface="Calibri" pitchFamily="34" charset="-120"/>
                        </a:rPr>
                        <a:t>IIa</a:t>
                      </a:r>
                      <a:endParaRPr lang="en-US" sz="168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AF3E4"/>
                    </a:solidFill>
                  </a:tcPr>
                </a:tc>
                <a:tc>
                  <a:txBody>
                    <a:bodyPr/>
                    <a:lstStyle/>
                    <a:p>
                      <a:pPr indent="0" marL="0">
                        <a:buNone/>
                      </a:pPr>
                      <a:r>
                        <a:rPr lang="en-US" sz="882" dirty="0">
                          <a:solidFill>
                            <a:srgbClr val="22333B"/>
                          </a:solidFill>
                          <a:latin typeface="Calibri" pitchFamily="34" charset="0"/>
                          <a:ea typeface="Calibri" pitchFamily="34" charset="-122"/>
                          <a:cs typeface="Calibri" pitchFamily="34" charset="-120"/>
                        </a:rPr>
                        <a:t>Unless it monitors vital physiological parameters where variation could result in immediate danger — then IIb</a:t>
                      </a:r>
                      <a:endParaRPr lang="en-US" sz="882"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599115">
                <a:tc>
                  <a:txBody>
                    <a:bodyPr/>
                    <a:lstStyle/>
                    <a:p>
                      <a:pPr indent="0" marL="0">
                        <a:buNone/>
                      </a:pPr>
                      <a:r>
                        <a:rPr lang="en-US" sz="924" dirty="0">
                          <a:solidFill>
                            <a:srgbClr val="22333B"/>
                          </a:solidFill>
                          <a:latin typeface="Calibri" pitchFamily="34" charset="0"/>
                          <a:ea typeface="Calibri" pitchFamily="34" charset="-122"/>
                          <a:cs typeface="Calibri" pitchFamily="34" charset="-120"/>
                        </a:rPr>
                        <a:t>All other software</a:t>
                      </a:r>
                      <a:endParaRPr lang="en-US" sz="92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algn="ctr" indent="0" marL="0">
                        <a:buNone/>
                      </a:pPr>
                      <a:r>
                        <a:rPr lang="en-US" sz="1680" b="1" dirty="0">
                          <a:solidFill>
                            <a:srgbClr val="0E7C7B"/>
                          </a:solidFill>
                          <a:latin typeface="Calibri" pitchFamily="34" charset="0"/>
                          <a:ea typeface="Calibri" pitchFamily="34" charset="-122"/>
                          <a:cs typeface="Calibri" pitchFamily="34" charset="-120"/>
                        </a:rPr>
                        <a:t>I</a:t>
                      </a:r>
                      <a:endParaRPr lang="en-US" sz="168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E7F1EF"/>
                    </a:solidFill>
                  </a:tcPr>
                </a:tc>
                <a:tc>
                  <a:txBody>
                    <a:bodyPr/>
                    <a:lstStyle/>
                    <a:p>
                      <a:pPr indent="0" marL="0">
                        <a:buNone/>
                      </a:pPr>
                      <a:r>
                        <a:rPr lang="en-US" sz="882" i="1" dirty="0">
                          <a:solidFill>
                            <a:srgbClr val="22333B"/>
                          </a:solidFill>
                          <a:latin typeface="Calibri" pitchFamily="34" charset="0"/>
                          <a:ea typeface="Calibri" pitchFamily="34" charset="-122"/>
                          <a:cs typeface="Calibri" pitchFamily="34" charset="-120"/>
                        </a:rPr>
                        <a:t>A much smaller category than manufacturers hope</a:t>
                      </a:r>
                      <a:endParaRPr lang="en-US" sz="882"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bl>
          </a:graphicData>
        </a:graphic>
      </p:graphicFrame>
      <p:sp>
        <p:nvSpPr>
          <p:cNvPr id="8" name="Shape 5"/>
          <p:cNvSpPr/>
          <p:nvPr/>
        </p:nvSpPr>
        <p:spPr>
          <a:xfrm>
            <a:off x="548640" y="5541264"/>
            <a:ext cx="11094415" cy="713232"/>
          </a:xfrm>
          <a:prstGeom prst="roundRect">
            <a:avLst>
              <a:gd name="adj" fmla="val 7692"/>
            </a:avLst>
          </a:prstGeom>
          <a:solidFill>
            <a:srgbClr val="EAF3F2"/>
          </a:solidFill>
          <a:ln w="12700">
            <a:solidFill>
              <a:srgbClr val="BFD9D6"/>
            </a:solidFill>
            <a:prstDash val="solid"/>
          </a:ln>
        </p:spPr>
      </p:sp>
      <p:sp>
        <p:nvSpPr>
          <p:cNvPr id="9" name="Text 6"/>
          <p:cNvSpPr txBox="1"/>
          <p:nvPr/>
        </p:nvSpPr>
        <p:spPr>
          <a:xfrm>
            <a:off x="786384" y="5541264"/>
            <a:ext cx="10618927" cy="713232"/>
          </a:xfrm>
          <a:prstGeom prst="rect">
            <a:avLst/>
          </a:prstGeom>
          <a:noFill/>
          <a:ln/>
        </p:spPr>
        <p:txBody>
          <a:bodyPr wrap="square" lIns="0" tIns="0" rIns="0" bIns="0" rtlCol="0" anchor="ctr"/>
          <a:lstStyle/>
          <a:p>
            <a:pPr indent="0" marL="0">
              <a:buNone/>
            </a:pPr>
            <a:r>
              <a:rPr lang="en-US" sz="1250" b="1" dirty="0">
                <a:solidFill>
                  <a:srgbClr val="1B3A4B"/>
                </a:solidFill>
                <a:latin typeface="Calibri" pitchFamily="34" charset="0"/>
                <a:ea typeface="Calibri" pitchFamily="34" charset="-122"/>
                <a:cs typeface="Calibri" pitchFamily="34" charset="-120"/>
              </a:rPr>
              <a:t>Rule 11 turns on the CONSEQUENCE OF THE DECISION the software informs, not on how the software works. A simple rules engine and a deep learning model making the same clinical claim classify identically.</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THE MIDDLE CLASSES</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2900" b="1" dirty="0">
                <a:solidFill>
                  <a:srgbClr val="1B3A4B"/>
                </a:solidFill>
                <a:latin typeface="Cambria" pitchFamily="34" charset="0"/>
                <a:ea typeface="Cambria" pitchFamily="34" charset="-122"/>
                <a:cs typeface="Cambria" pitchFamily="34" charset="-120"/>
              </a:rPr>
              <a:t>Class IIa and Class IIb: what actually differs</a:t>
            </a:r>
            <a:endParaRPr lang="en-US" sz="29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16</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Both need a notified body. The difference is how deeply that body looks, and at how many of your devices.</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914400"/>
        </p:xfrm>
        <a:graphic>
          <a:graphicData uri="http://schemas.openxmlformats.org/drawingml/2006/table">
            <a:tbl>
              <a:tblPr/>
              <a:tblGrid>
                <a:gridCol w="2377440"/>
                <a:gridCol w="4114800"/>
                <a:gridCol w="4599432"/>
              </a:tblGrid>
              <a:tr h="614477">
                <a:tc>
                  <a:txBody>
                    <a:bodyPr/>
                    <a:lstStyle/>
                    <a:p>
                      <a:pPr algn="l" indent="0" marL="0">
                        <a:buNone/>
                      </a:pPr>
                      <a:endParaRPr lang="en-US" sz="96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966" b="1" dirty="0">
                          <a:solidFill>
                            <a:srgbClr val="FFFFFF"/>
                          </a:solidFill>
                          <a:latin typeface="Calibri" pitchFamily="34" charset="0"/>
                          <a:ea typeface="Calibri" pitchFamily="34" charset="-122"/>
                          <a:cs typeface="Calibri" pitchFamily="34" charset="-120"/>
                        </a:rPr>
                        <a:t>Class IIa</a:t>
                      </a:r>
                      <a:endParaRPr lang="en-US" sz="96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966" b="1" dirty="0">
                          <a:solidFill>
                            <a:srgbClr val="FFFFFF"/>
                          </a:solidFill>
                          <a:latin typeface="Calibri" pitchFamily="34" charset="0"/>
                          <a:ea typeface="Calibri" pitchFamily="34" charset="-122"/>
                          <a:cs typeface="Calibri" pitchFamily="34" charset="-120"/>
                        </a:rPr>
                        <a:t>Class IIb</a:t>
                      </a:r>
                      <a:endParaRPr lang="en-US" sz="96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r>
              <a:tr h="614477">
                <a:tc>
                  <a:txBody>
                    <a:bodyPr/>
                    <a:lstStyle/>
                    <a:p>
                      <a:pPr indent="0" marL="0">
                        <a:buNone/>
                      </a:pPr>
                      <a:r>
                        <a:rPr lang="en-US" sz="966" b="1" dirty="0">
                          <a:solidFill>
                            <a:srgbClr val="1B3A4B"/>
                          </a:solidFill>
                          <a:latin typeface="Calibri" pitchFamily="34" charset="0"/>
                          <a:ea typeface="Calibri" pitchFamily="34" charset="-122"/>
                          <a:cs typeface="Calibri" pitchFamily="34" charset="-120"/>
                        </a:rPr>
                        <a:t>Notified body needed</a:t>
                      </a:r>
                      <a:endParaRPr lang="en-US" sz="96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966" b="1" dirty="0">
                          <a:solidFill>
                            <a:srgbClr val="22333B"/>
                          </a:solidFill>
                          <a:latin typeface="Calibri" pitchFamily="34" charset="0"/>
                          <a:ea typeface="Calibri" pitchFamily="34" charset="-122"/>
                          <a:cs typeface="Calibri" pitchFamily="34" charset="-120"/>
                        </a:rPr>
                        <a:t>Yes</a:t>
                      </a:r>
                      <a:endParaRPr lang="en-US" sz="96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966" b="1" dirty="0">
                          <a:solidFill>
                            <a:srgbClr val="22333B"/>
                          </a:solidFill>
                          <a:latin typeface="Calibri" pitchFamily="34" charset="0"/>
                          <a:ea typeface="Calibri" pitchFamily="34" charset="-122"/>
                          <a:cs typeface="Calibri" pitchFamily="34" charset="-120"/>
                        </a:rPr>
                        <a:t>Yes</a:t>
                      </a:r>
                      <a:endParaRPr lang="en-US" sz="96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614477">
                <a:tc>
                  <a:txBody>
                    <a:bodyPr/>
                    <a:lstStyle/>
                    <a:p>
                      <a:pPr indent="0" marL="0">
                        <a:buNone/>
                      </a:pPr>
                      <a:r>
                        <a:rPr lang="en-US" sz="966" b="1" dirty="0">
                          <a:solidFill>
                            <a:srgbClr val="1B3A4B"/>
                          </a:solidFill>
                          <a:latin typeface="Calibri" pitchFamily="34" charset="0"/>
                          <a:ea typeface="Calibri" pitchFamily="34" charset="-122"/>
                          <a:cs typeface="Calibri" pitchFamily="34" charset="-120"/>
                        </a:rPr>
                        <a:t>Technical documentation assessment</a:t>
                      </a:r>
                      <a:endParaRPr lang="en-US" sz="96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924" dirty="0">
                          <a:solidFill>
                            <a:srgbClr val="22333B"/>
                          </a:solidFill>
                          <a:latin typeface="Calibri" pitchFamily="34" charset="0"/>
                          <a:ea typeface="Calibri" pitchFamily="34" charset="-122"/>
                          <a:cs typeface="Calibri" pitchFamily="34" charset="-120"/>
                        </a:rPr>
                        <a:t>On a representative basis — at least one representative device per CATEGORY</a:t>
                      </a:r>
                      <a:endParaRPr lang="en-US" sz="92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924" b="1" dirty="0">
                          <a:solidFill>
                            <a:srgbClr val="22333B"/>
                          </a:solidFill>
                          <a:latin typeface="Calibri" pitchFamily="34" charset="0"/>
                          <a:ea typeface="Calibri" pitchFamily="34" charset="-122"/>
                          <a:cs typeface="Calibri" pitchFamily="34" charset="-120"/>
                        </a:rPr>
                        <a:t>On a representative basis — at least one representative device per GENERIC DEVICE GROUP, which is narrower</a:t>
                      </a:r>
                      <a:endParaRPr lang="en-US" sz="92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614477">
                <a:tc>
                  <a:txBody>
                    <a:bodyPr/>
                    <a:lstStyle/>
                    <a:p>
                      <a:pPr indent="0" marL="0">
                        <a:buNone/>
                      </a:pPr>
                      <a:r>
                        <a:rPr lang="en-US" sz="966" b="1" dirty="0">
                          <a:solidFill>
                            <a:srgbClr val="1B3A4B"/>
                          </a:solidFill>
                          <a:latin typeface="Calibri" pitchFamily="34" charset="0"/>
                          <a:ea typeface="Calibri" pitchFamily="34" charset="-122"/>
                          <a:cs typeface="Calibri" pitchFamily="34" charset="-120"/>
                        </a:rPr>
                        <a:t>Implantable devices</a:t>
                      </a:r>
                      <a:endParaRPr lang="en-US" sz="96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924" dirty="0">
                          <a:solidFill>
                            <a:srgbClr val="22333B"/>
                          </a:solidFill>
                          <a:latin typeface="Calibri" pitchFamily="34" charset="0"/>
                          <a:ea typeface="Calibri" pitchFamily="34" charset="-122"/>
                          <a:cs typeface="Calibri" pitchFamily="34" charset="-120"/>
                        </a:rPr>
                        <a:t>Not applicable at this class in most cases</a:t>
                      </a:r>
                      <a:endParaRPr lang="en-US" sz="92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924" dirty="0">
                          <a:solidFill>
                            <a:srgbClr val="22333B"/>
                          </a:solidFill>
                          <a:latin typeface="Calibri" pitchFamily="34" charset="0"/>
                          <a:ea typeface="Calibri" pitchFamily="34" charset="-122"/>
                          <a:cs typeface="Calibri" pitchFamily="34" charset="-120"/>
                        </a:rPr>
                        <a:t>Class IIb implantables are assessed device by device, with a listed set of exceptions such as sutures, staples and dental fillings</a:t>
                      </a:r>
                      <a:endParaRPr lang="en-US" sz="92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614477">
                <a:tc>
                  <a:txBody>
                    <a:bodyPr/>
                    <a:lstStyle/>
                    <a:p>
                      <a:pPr indent="0" marL="0">
                        <a:buNone/>
                      </a:pPr>
                      <a:r>
                        <a:rPr lang="en-US" sz="966" b="1" dirty="0">
                          <a:solidFill>
                            <a:srgbClr val="1B3A4B"/>
                          </a:solidFill>
                          <a:latin typeface="Calibri" pitchFamily="34" charset="0"/>
                          <a:ea typeface="Calibri" pitchFamily="34" charset="-122"/>
                          <a:cs typeface="Calibri" pitchFamily="34" charset="-120"/>
                        </a:rPr>
                        <a:t>Clinical evaluation</a:t>
                      </a:r>
                      <a:endParaRPr lang="en-US" sz="96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924" dirty="0">
                          <a:solidFill>
                            <a:srgbClr val="22333B"/>
                          </a:solidFill>
                          <a:latin typeface="Calibri" pitchFamily="34" charset="0"/>
                          <a:ea typeface="Calibri" pitchFamily="34" charset="-122"/>
                          <a:cs typeface="Calibri" pitchFamily="34" charset="-120"/>
                        </a:rPr>
                        <a:t>Required — as it is for every device</a:t>
                      </a:r>
                      <a:endParaRPr lang="en-US" sz="92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924" dirty="0">
                          <a:solidFill>
                            <a:srgbClr val="22333B"/>
                          </a:solidFill>
                          <a:latin typeface="Calibri" pitchFamily="34" charset="0"/>
                          <a:ea typeface="Calibri" pitchFamily="34" charset="-122"/>
                          <a:cs typeface="Calibri" pitchFamily="34" charset="-120"/>
                        </a:rPr>
                        <a:t>Required, and scrutinised harder. Expect more pressure on whether your data supports the claim</a:t>
                      </a:r>
                      <a:endParaRPr lang="en-US" sz="92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614477">
                <a:tc>
                  <a:txBody>
                    <a:bodyPr/>
                    <a:lstStyle/>
                    <a:p>
                      <a:pPr indent="0" marL="0">
                        <a:buNone/>
                      </a:pPr>
                      <a:r>
                        <a:rPr lang="en-US" sz="966" b="1" dirty="0">
                          <a:solidFill>
                            <a:srgbClr val="1B3A4B"/>
                          </a:solidFill>
                          <a:latin typeface="Calibri" pitchFamily="34" charset="0"/>
                          <a:ea typeface="Calibri" pitchFamily="34" charset="-122"/>
                          <a:cs typeface="Calibri" pitchFamily="34" charset="-120"/>
                        </a:rPr>
                        <a:t>PSUR</a:t>
                      </a:r>
                      <a:endParaRPr lang="en-US" sz="96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924" dirty="0">
                          <a:solidFill>
                            <a:srgbClr val="22333B"/>
                          </a:solidFill>
                          <a:latin typeface="Calibri" pitchFamily="34" charset="0"/>
                          <a:ea typeface="Calibri" pitchFamily="34" charset="-122"/>
                          <a:cs typeface="Calibri" pitchFamily="34" charset="-120"/>
                        </a:rPr>
                        <a:t>Updated at least every two years</a:t>
                      </a:r>
                      <a:endParaRPr lang="en-US" sz="92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924" b="1" dirty="0">
                          <a:solidFill>
                            <a:srgbClr val="22333B"/>
                          </a:solidFill>
                          <a:latin typeface="Calibri" pitchFamily="34" charset="0"/>
                          <a:ea typeface="Calibri" pitchFamily="34" charset="-122"/>
                          <a:cs typeface="Calibri" pitchFamily="34" charset="-120"/>
                        </a:rPr>
                        <a:t>Updated at least annually</a:t>
                      </a:r>
                      <a:endParaRPr lang="en-US" sz="92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614477">
                <a:tc>
                  <a:txBody>
                    <a:bodyPr/>
                    <a:lstStyle/>
                    <a:p>
                      <a:pPr indent="0" marL="0">
                        <a:buNone/>
                      </a:pPr>
                      <a:r>
                        <a:rPr lang="en-US" sz="966" b="1" dirty="0">
                          <a:solidFill>
                            <a:srgbClr val="1B3A4B"/>
                          </a:solidFill>
                          <a:latin typeface="Calibri" pitchFamily="34" charset="0"/>
                          <a:ea typeface="Calibri" pitchFamily="34" charset="-122"/>
                          <a:cs typeface="Calibri" pitchFamily="34" charset="-120"/>
                        </a:rPr>
                        <a:t>Practical consequence</a:t>
                      </a:r>
                      <a:endParaRPr lang="en-US" sz="96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924" dirty="0">
                          <a:solidFill>
                            <a:srgbClr val="22333B"/>
                          </a:solidFill>
                          <a:latin typeface="Calibri" pitchFamily="34" charset="0"/>
                          <a:ea typeface="Calibri" pitchFamily="34" charset="-122"/>
                          <a:cs typeface="Calibri" pitchFamily="34" charset="-120"/>
                        </a:rPr>
                        <a:t>A portfolio can share assessment effort across a category</a:t>
                      </a:r>
                      <a:endParaRPr lang="en-US" sz="92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924" dirty="0">
                          <a:solidFill>
                            <a:srgbClr val="22333B"/>
                          </a:solidFill>
                          <a:latin typeface="Calibri" pitchFamily="34" charset="0"/>
                          <a:ea typeface="Calibri" pitchFamily="34" charset="-122"/>
                          <a:cs typeface="Calibri" pitchFamily="34" charset="-120"/>
                        </a:rPr>
                        <a:t>Less sharing, more files assessed, higher cost and longer queue</a:t>
                      </a:r>
                      <a:endParaRPr lang="en-US" sz="92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ARTICLE 52</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Choosing your conformity assessment route</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17</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For Class IIa and IIb there is a choice. It is a strategic one, and most manufacturers take the first route without considering the second.</a:t>
            </a:r>
            <a:endParaRPr lang="en-US" sz="1400" dirty="0"/>
          </a:p>
        </p:txBody>
      </p:sp>
      <p:sp>
        <p:nvSpPr>
          <p:cNvPr id="7" name="Shape 5"/>
          <p:cNvSpPr/>
          <p:nvPr/>
        </p:nvSpPr>
        <p:spPr>
          <a:xfrm>
            <a:off x="548640" y="1883664"/>
            <a:ext cx="3515258" cy="3218688"/>
          </a:xfrm>
          <a:prstGeom prst="roundRect">
            <a:avLst>
              <a:gd name="adj" fmla="val 1989"/>
            </a:avLst>
          </a:prstGeom>
          <a:solidFill>
            <a:srgbClr val="F1F5F6"/>
          </a:solidFill>
          <a:ln w="12700">
            <a:solidFill>
              <a:srgbClr val="D7E2E5"/>
            </a:solidFill>
            <a:prstDash val="solid"/>
          </a:ln>
        </p:spPr>
      </p:sp>
      <p:sp>
        <p:nvSpPr>
          <p:cNvPr id="8" name="Shape 6"/>
          <p:cNvSpPr/>
          <p:nvPr/>
        </p:nvSpPr>
        <p:spPr>
          <a:xfrm>
            <a:off x="768096" y="2084832"/>
            <a:ext cx="365760" cy="365760"/>
          </a:xfrm>
          <a:prstGeom prst="ellipse">
            <a:avLst/>
          </a:prstGeom>
          <a:solidFill>
            <a:srgbClr val="0E7C7B"/>
          </a:solidFill>
          <a:ln w="12700">
            <a:solidFill>
              <a:srgbClr val="0E7C7B"/>
            </a:solidFill>
            <a:prstDash val="solid"/>
          </a:ln>
        </p:spPr>
      </p:sp>
      <p:sp>
        <p:nvSpPr>
          <p:cNvPr id="9" name="Text 7"/>
          <p:cNvSpPr txBox="1"/>
          <p:nvPr/>
        </p:nvSpPr>
        <p:spPr>
          <a:xfrm>
            <a:off x="768096" y="20848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0" name="Text 8"/>
          <p:cNvSpPr txBox="1"/>
          <p:nvPr/>
        </p:nvSpPr>
        <p:spPr>
          <a:xfrm>
            <a:off x="768096" y="2560320"/>
            <a:ext cx="3076346" cy="685800"/>
          </a:xfrm>
          <a:prstGeom prst="rect">
            <a:avLst/>
          </a:prstGeom>
          <a:noFill/>
          <a:ln/>
        </p:spPr>
        <p:txBody>
          <a:bodyPr wrap="square" lIns="0" tIns="0" rIns="0" bIns="0" rtlCol="0" anchor="t"/>
          <a:lstStyle/>
          <a:p>
            <a:pPr indent="0" marL="0">
              <a:buNone/>
            </a:pPr>
            <a:r>
              <a:rPr lang="en-US" sz="1350" b="1" dirty="0">
                <a:solidFill>
                  <a:srgbClr val="1B3A4B"/>
                </a:solidFill>
                <a:latin typeface="Calibri" pitchFamily="34" charset="0"/>
                <a:ea typeface="Calibri" pitchFamily="34" charset="-122"/>
                <a:cs typeface="Calibri" pitchFamily="34" charset="-120"/>
              </a:rPr>
              <a:t>Annex IX — quality management system plus technical documentation assessment</a:t>
            </a:r>
            <a:endParaRPr lang="en-US" sz="1350" dirty="0"/>
          </a:p>
        </p:txBody>
      </p:sp>
      <p:sp>
        <p:nvSpPr>
          <p:cNvPr id="11" name="Text 9"/>
          <p:cNvSpPr txBox="1"/>
          <p:nvPr/>
        </p:nvSpPr>
        <p:spPr>
          <a:xfrm>
            <a:off x="768096" y="3282696"/>
            <a:ext cx="3076346" cy="1673352"/>
          </a:xfrm>
          <a:prstGeom prst="rect">
            <a:avLst/>
          </a:prstGeom>
          <a:noFill/>
          <a:ln/>
        </p:spPr>
        <p:txBody>
          <a:bodyPr wrap="square" lIns="0" tIns="0" rIns="0" bIns="0" rtlCol="0" anchor="t"/>
          <a:lstStyle/>
          <a:p>
            <a:pPr indent="0" marL="0">
              <a:lnSpc>
                <a:spcPct val="106000"/>
              </a:lnSpc>
              <a:buNone/>
            </a:pPr>
            <a:r>
              <a:rPr lang="en-US" sz="1100" dirty="0">
                <a:solidFill>
                  <a:srgbClr val="22333B"/>
                </a:solidFill>
                <a:latin typeface="Calibri" pitchFamily="34" charset="0"/>
                <a:ea typeface="Calibri" pitchFamily="34" charset="-122"/>
                <a:cs typeface="Calibri" pitchFamily="34" charset="-120"/>
              </a:rPr>
              <a:t>The notified body audits your QMS and assesses technical documentation on a representative basis. One relationship covering the whole portfolio. This is what most manufacturers do, and it scales best when you have several products.</a:t>
            </a:r>
            <a:endParaRPr lang="en-US" sz="1100" dirty="0"/>
          </a:p>
        </p:txBody>
      </p:sp>
      <p:sp>
        <p:nvSpPr>
          <p:cNvPr id="12" name="Shape 10"/>
          <p:cNvSpPr/>
          <p:nvPr/>
        </p:nvSpPr>
        <p:spPr>
          <a:xfrm>
            <a:off x="4338218" y="1883664"/>
            <a:ext cx="3515258" cy="3218688"/>
          </a:xfrm>
          <a:prstGeom prst="roundRect">
            <a:avLst>
              <a:gd name="adj" fmla="val 1989"/>
            </a:avLst>
          </a:prstGeom>
          <a:solidFill>
            <a:srgbClr val="F1F5F6"/>
          </a:solidFill>
          <a:ln w="12700">
            <a:solidFill>
              <a:srgbClr val="D7E2E5"/>
            </a:solidFill>
            <a:prstDash val="solid"/>
          </a:ln>
        </p:spPr>
      </p:sp>
      <p:sp>
        <p:nvSpPr>
          <p:cNvPr id="13" name="Shape 11"/>
          <p:cNvSpPr/>
          <p:nvPr/>
        </p:nvSpPr>
        <p:spPr>
          <a:xfrm>
            <a:off x="4557674" y="2084832"/>
            <a:ext cx="365760" cy="365760"/>
          </a:xfrm>
          <a:prstGeom prst="ellipse">
            <a:avLst/>
          </a:prstGeom>
          <a:solidFill>
            <a:srgbClr val="2A9D8F"/>
          </a:solidFill>
          <a:ln w="12700">
            <a:solidFill>
              <a:srgbClr val="2A9D8F"/>
            </a:solidFill>
            <a:prstDash val="solid"/>
          </a:ln>
        </p:spPr>
      </p:sp>
      <p:sp>
        <p:nvSpPr>
          <p:cNvPr id="14" name="Text 12"/>
          <p:cNvSpPr txBox="1"/>
          <p:nvPr/>
        </p:nvSpPr>
        <p:spPr>
          <a:xfrm>
            <a:off x="4557674" y="20848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5" name="Text 13"/>
          <p:cNvSpPr txBox="1"/>
          <p:nvPr/>
        </p:nvSpPr>
        <p:spPr>
          <a:xfrm>
            <a:off x="4557674" y="2560320"/>
            <a:ext cx="3076346" cy="685800"/>
          </a:xfrm>
          <a:prstGeom prst="rect">
            <a:avLst/>
          </a:prstGeom>
          <a:noFill/>
          <a:ln/>
        </p:spPr>
        <p:txBody>
          <a:bodyPr wrap="square" lIns="0" tIns="0" rIns="0" bIns="0" rtlCol="0" anchor="t"/>
          <a:lstStyle/>
          <a:p>
            <a:pPr indent="0" marL="0">
              <a:buNone/>
            </a:pPr>
            <a:r>
              <a:rPr lang="en-US" sz="1350" b="1" dirty="0">
                <a:solidFill>
                  <a:srgbClr val="1B3A4B"/>
                </a:solidFill>
                <a:latin typeface="Calibri" pitchFamily="34" charset="0"/>
                <a:ea typeface="Calibri" pitchFamily="34" charset="-122"/>
                <a:cs typeface="Calibri" pitchFamily="34" charset="-120"/>
              </a:rPr>
              <a:t>Annex X plus Annex XI — type-examination plus production conformity</a:t>
            </a:r>
            <a:endParaRPr lang="en-US" sz="1350" dirty="0"/>
          </a:p>
        </p:txBody>
      </p:sp>
      <p:sp>
        <p:nvSpPr>
          <p:cNvPr id="16" name="Text 14"/>
          <p:cNvSpPr txBox="1"/>
          <p:nvPr/>
        </p:nvSpPr>
        <p:spPr>
          <a:xfrm>
            <a:off x="4557674" y="3282696"/>
            <a:ext cx="3076346" cy="1673352"/>
          </a:xfrm>
          <a:prstGeom prst="rect">
            <a:avLst/>
          </a:prstGeom>
          <a:noFill/>
          <a:ln/>
        </p:spPr>
        <p:txBody>
          <a:bodyPr wrap="square" lIns="0" tIns="0" rIns="0" bIns="0" rtlCol="0" anchor="t"/>
          <a:lstStyle/>
          <a:p>
            <a:pPr indent="0" marL="0">
              <a:lnSpc>
                <a:spcPct val="106000"/>
              </a:lnSpc>
              <a:buNone/>
            </a:pPr>
            <a:r>
              <a:rPr lang="en-US" sz="1100" dirty="0">
                <a:solidFill>
                  <a:srgbClr val="22333B"/>
                </a:solidFill>
                <a:latin typeface="Calibri" pitchFamily="34" charset="0"/>
                <a:ea typeface="Calibri" pitchFamily="34" charset="-122"/>
                <a:cs typeface="Calibri" pitchFamily="34" charset="-120"/>
              </a:rPr>
              <a:t>The notified body examines a representative sample as a type, then separately verifies that production conforms — either through a production quality assurance system or by verifying products. Heavier per product; sometimes the better fit for a single, stable, high-volume device.</a:t>
            </a:r>
            <a:endParaRPr lang="en-US" sz="1100" dirty="0"/>
          </a:p>
        </p:txBody>
      </p:sp>
      <p:sp>
        <p:nvSpPr>
          <p:cNvPr id="17" name="Shape 15"/>
          <p:cNvSpPr/>
          <p:nvPr/>
        </p:nvSpPr>
        <p:spPr>
          <a:xfrm>
            <a:off x="8127797" y="1883664"/>
            <a:ext cx="3515258" cy="3218688"/>
          </a:xfrm>
          <a:prstGeom prst="roundRect">
            <a:avLst>
              <a:gd name="adj" fmla="val 1989"/>
            </a:avLst>
          </a:prstGeom>
          <a:solidFill>
            <a:srgbClr val="F1F5F6"/>
          </a:solidFill>
          <a:ln w="12700">
            <a:solidFill>
              <a:srgbClr val="D7E2E5"/>
            </a:solidFill>
            <a:prstDash val="solid"/>
          </a:ln>
        </p:spPr>
      </p:sp>
      <p:sp>
        <p:nvSpPr>
          <p:cNvPr id="18" name="Shape 16"/>
          <p:cNvSpPr/>
          <p:nvPr/>
        </p:nvSpPr>
        <p:spPr>
          <a:xfrm>
            <a:off x="8347253" y="2084832"/>
            <a:ext cx="365760" cy="365760"/>
          </a:xfrm>
          <a:prstGeom prst="ellipse">
            <a:avLst/>
          </a:prstGeom>
          <a:solidFill>
            <a:srgbClr val="C77C1E"/>
          </a:solidFill>
          <a:ln w="12700">
            <a:solidFill>
              <a:srgbClr val="C77C1E"/>
            </a:solidFill>
            <a:prstDash val="solid"/>
          </a:ln>
        </p:spPr>
      </p:sp>
      <p:sp>
        <p:nvSpPr>
          <p:cNvPr id="19" name="Text 17"/>
          <p:cNvSpPr txBox="1"/>
          <p:nvPr/>
        </p:nvSpPr>
        <p:spPr>
          <a:xfrm>
            <a:off x="8347253" y="20848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8"/>
          <p:cNvSpPr txBox="1"/>
          <p:nvPr/>
        </p:nvSpPr>
        <p:spPr>
          <a:xfrm>
            <a:off x="8347253" y="2560320"/>
            <a:ext cx="3076346" cy="685800"/>
          </a:xfrm>
          <a:prstGeom prst="rect">
            <a:avLst/>
          </a:prstGeom>
          <a:noFill/>
          <a:ln/>
        </p:spPr>
        <p:txBody>
          <a:bodyPr wrap="square" lIns="0" tIns="0" rIns="0" bIns="0" rtlCol="0" anchor="t"/>
          <a:lstStyle/>
          <a:p>
            <a:pPr indent="0" marL="0">
              <a:buNone/>
            </a:pPr>
            <a:r>
              <a:rPr lang="en-US" sz="1350" b="1" dirty="0">
                <a:solidFill>
                  <a:srgbClr val="1B3A4B"/>
                </a:solidFill>
                <a:latin typeface="Calibri" pitchFamily="34" charset="0"/>
                <a:ea typeface="Calibri" pitchFamily="34" charset="-122"/>
                <a:cs typeface="Calibri" pitchFamily="34" charset="-120"/>
              </a:rPr>
              <a:t>Annex XI alone — product conformity verification</a:t>
            </a:r>
            <a:endParaRPr lang="en-US" sz="1350" dirty="0"/>
          </a:p>
        </p:txBody>
      </p:sp>
      <p:sp>
        <p:nvSpPr>
          <p:cNvPr id="21" name="Text 19"/>
          <p:cNvSpPr txBox="1"/>
          <p:nvPr/>
        </p:nvSpPr>
        <p:spPr>
          <a:xfrm>
            <a:off x="8347253" y="3282696"/>
            <a:ext cx="3076346" cy="1673352"/>
          </a:xfrm>
          <a:prstGeom prst="rect">
            <a:avLst/>
          </a:prstGeom>
          <a:noFill/>
          <a:ln/>
        </p:spPr>
        <p:txBody>
          <a:bodyPr wrap="square" lIns="0" tIns="0" rIns="0" bIns="0" rtlCol="0" anchor="t"/>
          <a:lstStyle/>
          <a:p>
            <a:pPr indent="0" marL="0">
              <a:lnSpc>
                <a:spcPct val="106000"/>
              </a:lnSpc>
              <a:buNone/>
            </a:pPr>
            <a:r>
              <a:rPr lang="en-US" sz="1100" dirty="0">
                <a:solidFill>
                  <a:srgbClr val="22333B"/>
                </a:solidFill>
                <a:latin typeface="Calibri" pitchFamily="34" charset="0"/>
                <a:ea typeface="Calibri" pitchFamily="34" charset="-122"/>
                <a:cs typeface="Calibri" pitchFamily="34" charset="-120"/>
              </a:rPr>
              <a:t>Available for Class IIa. Production quality assurance under Part A, or product verification under Part B. Worth understanding as an option even if you do not take it.</a:t>
            </a:r>
            <a:endParaRPr lang="en-US" sz="1100" dirty="0"/>
          </a:p>
        </p:txBody>
      </p:sp>
      <p:sp>
        <p:nvSpPr>
          <p:cNvPr id="22" name="Shape 20"/>
          <p:cNvSpPr/>
          <p:nvPr/>
        </p:nvSpPr>
        <p:spPr>
          <a:xfrm>
            <a:off x="548640" y="5212080"/>
            <a:ext cx="11094415" cy="694944"/>
          </a:xfrm>
          <a:prstGeom prst="roundRect">
            <a:avLst>
              <a:gd name="adj" fmla="val 7895"/>
            </a:avLst>
          </a:prstGeom>
          <a:solidFill>
            <a:srgbClr val="EAF3F2"/>
          </a:solidFill>
          <a:ln w="12700">
            <a:solidFill>
              <a:srgbClr val="BFD9D6"/>
            </a:solidFill>
            <a:prstDash val="solid"/>
          </a:ln>
        </p:spPr>
      </p:sp>
      <p:sp>
        <p:nvSpPr>
          <p:cNvPr id="23" name="Text 21"/>
          <p:cNvSpPr txBox="1"/>
          <p:nvPr/>
        </p:nvSpPr>
        <p:spPr>
          <a:xfrm>
            <a:off x="786384" y="5212080"/>
            <a:ext cx="10618927" cy="694944"/>
          </a:xfrm>
          <a:prstGeom prst="rect">
            <a:avLst/>
          </a:prstGeom>
          <a:noFill/>
          <a:ln/>
        </p:spPr>
        <p:txBody>
          <a:bodyPr wrap="square" lIns="0" tIns="0" rIns="0" bIns="0" rtlCol="0" anchor="ctr"/>
          <a:lstStyle/>
          <a:p>
            <a:pPr indent="0" marL="0">
              <a:buNone/>
            </a:pPr>
            <a:r>
              <a:rPr lang="en-US" sz="1250" b="1" dirty="0">
                <a:solidFill>
                  <a:srgbClr val="1B3A4B"/>
                </a:solidFill>
                <a:latin typeface="Calibri" pitchFamily="34" charset="0"/>
                <a:ea typeface="Calibri" pitchFamily="34" charset="-122"/>
                <a:cs typeface="Calibri" pitchFamily="34" charset="-120"/>
              </a:rPr>
              <a:t>Whichever route you take, the notified body's decision is a certificate against the requirements — not a licence to change the device. What you may change afterwards, and with whose agreement, is on slide 23.</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THE RELATIONSHIP</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2900" b="1" dirty="0">
                <a:solidFill>
                  <a:srgbClr val="1B3A4B"/>
                </a:solidFill>
                <a:latin typeface="Cambria" pitchFamily="34" charset="0"/>
                <a:ea typeface="Cambria" pitchFamily="34" charset="-122"/>
                <a:cs typeface="Cambria" pitchFamily="34" charset="-120"/>
              </a:rPr>
              <a:t>Choosing a notified body, and surviving one</a:t>
            </a:r>
            <a:endParaRPr lang="en-US" sz="29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18</a:t>
            </a:r>
            <a:endParaRPr lang="en-US" sz="900" dirty="0"/>
          </a:p>
        </p:txBody>
      </p:sp>
      <p:sp>
        <p:nvSpPr>
          <p:cNvPr id="6" name="Text 4"/>
          <p:cNvSpPr txBox="1"/>
          <p:nvPr/>
        </p:nvSpPr>
        <p:spPr>
          <a:xfrm>
            <a:off x="548640" y="1481328"/>
            <a:ext cx="5394960" cy="256032"/>
          </a:xfrm>
          <a:prstGeom prst="rect">
            <a:avLst/>
          </a:prstGeom>
          <a:noFill/>
          <a:ln/>
        </p:spPr>
        <p:txBody>
          <a:bodyPr wrap="square" lIns="0" tIns="0" rIns="0" bIns="0" rtlCol="0" anchor="ctr"/>
          <a:lstStyle/>
          <a:p>
            <a:pPr indent="0" marL="0">
              <a:buNone/>
            </a:pPr>
            <a:r>
              <a:rPr lang="en-US" sz="1100" b="1" spc="120" kern="0" dirty="0">
                <a:solidFill>
                  <a:srgbClr val="0E7C7B"/>
                </a:solidFill>
                <a:latin typeface="Calibri" pitchFamily="34" charset="0"/>
                <a:ea typeface="Calibri" pitchFamily="34" charset="-122"/>
                <a:cs typeface="Calibri" pitchFamily="34" charset="-120"/>
              </a:rPr>
              <a:t>WHAT TO CHECK BEFORE YOU SIGN</a:t>
            </a:r>
            <a:endParaRPr lang="en-US" sz="1100" dirty="0"/>
          </a:p>
        </p:txBody>
      </p:sp>
      <p:sp>
        <p:nvSpPr>
          <p:cNvPr id="7" name="Shape 5"/>
          <p:cNvSpPr/>
          <p:nvPr/>
        </p:nvSpPr>
        <p:spPr>
          <a:xfrm>
            <a:off x="548640" y="1792224"/>
            <a:ext cx="5394960" cy="4480560"/>
          </a:xfrm>
          <a:prstGeom prst="roundRect">
            <a:avLst>
              <a:gd name="adj" fmla="val 1429"/>
            </a:avLst>
          </a:prstGeom>
          <a:solidFill>
            <a:srgbClr val="F1F5F6"/>
          </a:solidFill>
          <a:ln w="12700">
            <a:solidFill>
              <a:srgbClr val="D7E2E5"/>
            </a:solidFill>
            <a:prstDash val="solid"/>
          </a:ln>
        </p:spPr>
      </p:sp>
      <p:sp>
        <p:nvSpPr>
          <p:cNvPr id="8" name="Text 6"/>
          <p:cNvSpPr txBox="1"/>
          <p:nvPr/>
        </p:nvSpPr>
        <p:spPr>
          <a:xfrm>
            <a:off x="786384" y="1975104"/>
            <a:ext cx="4919472" cy="4114800"/>
          </a:xfrm>
          <a:prstGeom prst="rect">
            <a:avLst/>
          </a:prstGeom>
          <a:noFill/>
          <a:ln/>
        </p:spPr>
        <p:txBody>
          <a:bodyPr wrap="square" lIns="0" tIns="0" rIns="0" bIns="0" rtlCol="0" anchor="t"/>
          <a:lstStyle/>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Scope — the only question that matters first</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A notified body is designated for specific codes. If your device's code is not in their designation, nothing else about them is relevant. Check the NANDO database, not their sales deck.</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Capacity and realistic queue</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Ask directly how long from signed contract to certificate for a device like yours, and ask for their current figure rather than their target.</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Experience with your technology</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A body that has certified devices like yours will ask better questions and fewer irrelevant ones. This is worth paying for.</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Who actually reviews</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Whether clinical, software and your specialty are assessed in-house or subcontracted, and where the reviewers sit.</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The exit</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Changing notified body mid-cycle is slow and expensive. Understand the transfer process before you need it.</a:t>
            </a:r>
            <a:endParaRPr lang="en-US" sz="1080" dirty="0"/>
          </a:p>
        </p:txBody>
      </p:sp>
      <p:sp>
        <p:nvSpPr>
          <p:cNvPr id="9" name="Text 7"/>
          <p:cNvSpPr txBox="1"/>
          <p:nvPr/>
        </p:nvSpPr>
        <p:spPr>
          <a:xfrm>
            <a:off x="6245352" y="1481328"/>
            <a:ext cx="5394960" cy="256032"/>
          </a:xfrm>
          <a:prstGeom prst="rect">
            <a:avLst/>
          </a:prstGeom>
          <a:noFill/>
          <a:ln/>
        </p:spPr>
        <p:txBody>
          <a:bodyPr wrap="square" lIns="0" tIns="0" rIns="0" bIns="0" rtlCol="0" anchor="ctr"/>
          <a:lstStyle/>
          <a:p>
            <a:pPr indent="0" marL="0">
              <a:buNone/>
            </a:pPr>
            <a:r>
              <a:rPr lang="en-US" sz="1100" b="1" spc="120" kern="0" dirty="0">
                <a:solidFill>
                  <a:srgbClr val="A83A3C"/>
                </a:solidFill>
                <a:latin typeface="Calibri" pitchFamily="34" charset="0"/>
                <a:ea typeface="Calibri" pitchFamily="34" charset="-122"/>
                <a:cs typeface="Calibri" pitchFamily="34" charset="-120"/>
              </a:rPr>
              <a:t>HOW THE RELATIONSHIP ACTUALLY GOES WRONG</a:t>
            </a:r>
            <a:endParaRPr lang="en-US" sz="1100" dirty="0"/>
          </a:p>
        </p:txBody>
      </p:sp>
      <p:sp>
        <p:nvSpPr>
          <p:cNvPr id="10" name="Shape 8"/>
          <p:cNvSpPr/>
          <p:nvPr/>
        </p:nvSpPr>
        <p:spPr>
          <a:xfrm>
            <a:off x="6245352" y="1792224"/>
            <a:ext cx="5394960" cy="4480560"/>
          </a:xfrm>
          <a:prstGeom prst="roundRect">
            <a:avLst>
              <a:gd name="adj" fmla="val 1429"/>
            </a:avLst>
          </a:prstGeom>
          <a:solidFill>
            <a:srgbClr val="FBEDED"/>
          </a:solidFill>
          <a:ln w="12700">
            <a:solidFill>
              <a:srgbClr val="DFA9A9"/>
            </a:solidFill>
            <a:prstDash val="solid"/>
          </a:ln>
        </p:spPr>
      </p:sp>
      <p:sp>
        <p:nvSpPr>
          <p:cNvPr id="11" name="Text 9"/>
          <p:cNvSpPr txBox="1"/>
          <p:nvPr/>
        </p:nvSpPr>
        <p:spPr>
          <a:xfrm>
            <a:off x="6483096" y="1975104"/>
            <a:ext cx="4919472" cy="4114800"/>
          </a:xfrm>
          <a:prstGeom prst="rect">
            <a:avLst/>
          </a:prstGeom>
          <a:noFill/>
          <a:ln/>
        </p:spPr>
        <p:txBody>
          <a:bodyPr wrap="square" lIns="0" tIns="0" rIns="0" bIns="0" rtlCol="0" anchor="t"/>
          <a:lstStyle/>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Submitting an incomplete file to hold a queue slot</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It does not work. It consumes the slot, generates a long deficiency list, and damages the relationship you most need.</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Treating deficiencies as negotiation</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Answer the question asked. A response that argues rather than evidences generates another round, and rounds are months.</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Letting the clinical evaluation trail the file</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It is the most common source of major findings and the slowest thing to fix, because fixing it can mean generating data.</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Silence between submissions</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The manufacturers who do best keep a running technical dialogue. The December 2025 proposal would give that a formal legal basis; good bodies already do it.</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No internal owner</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If nobody owns the notified body relationship by name, deficiency responses slip and the queue restarts.</a:t>
            </a:r>
            <a:endParaRPr lang="en-US" sz="10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GSPR</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100" b="1" dirty="0">
                <a:solidFill>
                  <a:srgbClr val="1B3A4B"/>
                </a:solidFill>
                <a:latin typeface="Cambria" pitchFamily="34" charset="0"/>
                <a:ea typeface="Cambria" pitchFamily="34" charset="-122"/>
                <a:cs typeface="Cambria" pitchFamily="34" charset="-120"/>
              </a:rPr>
              <a:t>Annex I: the requirements everything hangs from</a:t>
            </a:r>
            <a:endParaRPr lang="en-US" sz="31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19</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Twenty-three general safety and performance requirements in three chapters. The GSPR checklist is the spine of the technical file.</a:t>
            </a:r>
            <a:endParaRPr lang="en-US" sz="1400" dirty="0"/>
          </a:p>
        </p:txBody>
      </p:sp>
      <p:sp>
        <p:nvSpPr>
          <p:cNvPr id="7" name="Shape 5"/>
          <p:cNvSpPr/>
          <p:nvPr/>
        </p:nvSpPr>
        <p:spPr>
          <a:xfrm>
            <a:off x="548640" y="1883664"/>
            <a:ext cx="3515258" cy="3145536"/>
          </a:xfrm>
          <a:prstGeom prst="roundRect">
            <a:avLst>
              <a:gd name="adj" fmla="val 2035"/>
            </a:avLst>
          </a:prstGeom>
          <a:solidFill>
            <a:srgbClr val="F1F5F6"/>
          </a:solidFill>
          <a:ln w="12700">
            <a:solidFill>
              <a:srgbClr val="D7E2E5"/>
            </a:solidFill>
            <a:prstDash val="solid"/>
          </a:ln>
        </p:spPr>
      </p:sp>
      <p:sp>
        <p:nvSpPr>
          <p:cNvPr id="8" name="Text 6"/>
          <p:cNvSpPr txBox="1"/>
          <p:nvPr/>
        </p:nvSpPr>
        <p:spPr>
          <a:xfrm>
            <a:off x="768096" y="2084832"/>
            <a:ext cx="3076346" cy="550672"/>
          </a:xfrm>
          <a:prstGeom prst="rect">
            <a:avLst/>
          </a:prstGeom>
          <a:noFill/>
          <a:ln/>
        </p:spPr>
        <p:txBody>
          <a:bodyPr wrap="square" lIns="0" tIns="0" rIns="0" bIns="0" rtlCol="0" anchor="t"/>
          <a:lstStyle/>
          <a:p>
            <a:pPr indent="0" marL="0">
              <a:buNone/>
            </a:pPr>
            <a:r>
              <a:rPr lang="en-US" sz="1550" b="1" dirty="0">
                <a:solidFill>
                  <a:srgbClr val="0E7C7B"/>
                </a:solidFill>
                <a:latin typeface="Calibri" pitchFamily="34" charset="0"/>
                <a:ea typeface="Calibri" pitchFamily="34" charset="-122"/>
                <a:cs typeface="Calibri" pitchFamily="34" charset="-120"/>
              </a:rPr>
              <a:t>Chapter I — general requirements</a:t>
            </a:r>
            <a:endParaRPr lang="en-US" sz="1550" dirty="0"/>
          </a:p>
        </p:txBody>
      </p:sp>
      <p:sp>
        <p:nvSpPr>
          <p:cNvPr id="9" name="Text 7"/>
          <p:cNvSpPr txBox="1"/>
          <p:nvPr/>
        </p:nvSpPr>
        <p:spPr>
          <a:xfrm>
            <a:off x="768096" y="2672080"/>
            <a:ext cx="3076346" cy="2210816"/>
          </a:xfrm>
          <a:prstGeom prst="rect">
            <a:avLst/>
          </a:prstGeom>
          <a:noFill/>
          <a:ln/>
        </p:spPr>
        <p:txBody>
          <a:bodyPr wrap="square" lIns="0" tIns="0" rIns="0" bIns="0" rtlCol="0" anchor="t"/>
          <a:lstStyle/>
          <a:p>
            <a:pPr indent="0" marL="0">
              <a:lnSpc>
                <a:spcPct val="106000"/>
              </a:lnSpc>
              <a:buNone/>
            </a:pPr>
            <a:r>
              <a:rPr lang="en-US" sz="1120" dirty="0">
                <a:solidFill>
                  <a:srgbClr val="22333B"/>
                </a:solidFill>
                <a:latin typeface="Calibri" pitchFamily="34" charset="0"/>
                <a:ea typeface="Calibri" pitchFamily="34" charset="-122"/>
                <a:cs typeface="Calibri" pitchFamily="34" charset="-120"/>
              </a:rPr>
              <a:t>Safety and performance, risk management, the risk-benefit judgement, and the requirement that devices perform as intended across their lifetime under normal conditions of use. This chapter is where ISO 14971 does its work.</a:t>
            </a:r>
            <a:endParaRPr lang="en-US" sz="1120" dirty="0"/>
          </a:p>
        </p:txBody>
      </p:sp>
      <p:sp>
        <p:nvSpPr>
          <p:cNvPr id="10" name="Shape 8"/>
          <p:cNvSpPr/>
          <p:nvPr/>
        </p:nvSpPr>
        <p:spPr>
          <a:xfrm>
            <a:off x="4338218" y="1883664"/>
            <a:ext cx="3515258" cy="3145536"/>
          </a:xfrm>
          <a:prstGeom prst="roundRect">
            <a:avLst>
              <a:gd name="adj" fmla="val 2035"/>
            </a:avLst>
          </a:prstGeom>
          <a:solidFill>
            <a:srgbClr val="F1F5F6"/>
          </a:solidFill>
          <a:ln w="12700">
            <a:solidFill>
              <a:srgbClr val="D7E2E5"/>
            </a:solidFill>
            <a:prstDash val="solid"/>
          </a:ln>
        </p:spPr>
      </p:sp>
      <p:sp>
        <p:nvSpPr>
          <p:cNvPr id="11" name="Text 9"/>
          <p:cNvSpPr txBox="1"/>
          <p:nvPr/>
        </p:nvSpPr>
        <p:spPr>
          <a:xfrm>
            <a:off x="4557674" y="2084832"/>
            <a:ext cx="3076346" cy="550672"/>
          </a:xfrm>
          <a:prstGeom prst="rect">
            <a:avLst/>
          </a:prstGeom>
          <a:noFill/>
          <a:ln/>
        </p:spPr>
        <p:txBody>
          <a:bodyPr wrap="square" lIns="0" tIns="0" rIns="0" bIns="0" rtlCol="0" anchor="t"/>
          <a:lstStyle/>
          <a:p>
            <a:pPr indent="0" marL="0">
              <a:buNone/>
            </a:pPr>
            <a:r>
              <a:rPr lang="en-US" sz="1550" b="1" dirty="0">
                <a:solidFill>
                  <a:srgbClr val="2A9D8F"/>
                </a:solidFill>
                <a:latin typeface="Calibri" pitchFamily="34" charset="0"/>
                <a:ea typeface="Calibri" pitchFamily="34" charset="-122"/>
                <a:cs typeface="Calibri" pitchFamily="34" charset="-120"/>
              </a:rPr>
              <a:t>Chapter II — design and manufacture</a:t>
            </a:r>
            <a:endParaRPr lang="en-US" sz="1550" dirty="0"/>
          </a:p>
        </p:txBody>
      </p:sp>
      <p:sp>
        <p:nvSpPr>
          <p:cNvPr id="12" name="Text 10"/>
          <p:cNvSpPr txBox="1"/>
          <p:nvPr/>
        </p:nvSpPr>
        <p:spPr>
          <a:xfrm>
            <a:off x="4557674" y="2672080"/>
            <a:ext cx="3076346" cy="2210816"/>
          </a:xfrm>
          <a:prstGeom prst="rect">
            <a:avLst/>
          </a:prstGeom>
          <a:noFill/>
          <a:ln/>
        </p:spPr>
        <p:txBody>
          <a:bodyPr wrap="square" lIns="0" tIns="0" rIns="0" bIns="0" rtlCol="0" anchor="t"/>
          <a:lstStyle/>
          <a:p>
            <a:pPr indent="0" marL="0">
              <a:lnSpc>
                <a:spcPct val="106000"/>
              </a:lnSpc>
              <a:buNone/>
            </a:pPr>
            <a:r>
              <a:rPr lang="en-US" sz="1120" dirty="0">
                <a:solidFill>
                  <a:srgbClr val="22333B"/>
                </a:solidFill>
                <a:latin typeface="Calibri" pitchFamily="34" charset="0"/>
                <a:ea typeface="Calibri" pitchFamily="34" charset="-122"/>
                <a:cs typeface="Calibri" pitchFamily="34" charset="-120"/>
              </a:rPr>
              <a:t>Chemical, physical and biological properties, infection and microbial contamination, devices incorporating substances, electrical and mechanical safety, radiation, software and programmable systems, active devices, and protection against use error.</a:t>
            </a:r>
            <a:endParaRPr lang="en-US" sz="1120" dirty="0"/>
          </a:p>
        </p:txBody>
      </p:sp>
      <p:sp>
        <p:nvSpPr>
          <p:cNvPr id="13" name="Shape 11"/>
          <p:cNvSpPr/>
          <p:nvPr/>
        </p:nvSpPr>
        <p:spPr>
          <a:xfrm>
            <a:off x="8127797" y="1883664"/>
            <a:ext cx="3515258" cy="3145536"/>
          </a:xfrm>
          <a:prstGeom prst="roundRect">
            <a:avLst>
              <a:gd name="adj" fmla="val 2035"/>
            </a:avLst>
          </a:prstGeom>
          <a:solidFill>
            <a:srgbClr val="F1F5F6"/>
          </a:solidFill>
          <a:ln w="12700">
            <a:solidFill>
              <a:srgbClr val="D7E2E5"/>
            </a:solidFill>
            <a:prstDash val="solid"/>
          </a:ln>
        </p:spPr>
      </p:sp>
      <p:sp>
        <p:nvSpPr>
          <p:cNvPr id="14" name="Text 12"/>
          <p:cNvSpPr txBox="1"/>
          <p:nvPr/>
        </p:nvSpPr>
        <p:spPr>
          <a:xfrm>
            <a:off x="8347253" y="2084832"/>
            <a:ext cx="3076346" cy="550672"/>
          </a:xfrm>
          <a:prstGeom prst="rect">
            <a:avLst/>
          </a:prstGeom>
          <a:noFill/>
          <a:ln/>
        </p:spPr>
        <p:txBody>
          <a:bodyPr wrap="square" lIns="0" tIns="0" rIns="0" bIns="0" rtlCol="0" anchor="t"/>
          <a:lstStyle/>
          <a:p>
            <a:pPr indent="0" marL="0">
              <a:buNone/>
            </a:pPr>
            <a:r>
              <a:rPr lang="en-US" sz="1550" b="1" dirty="0">
                <a:solidFill>
                  <a:srgbClr val="C77C1E"/>
                </a:solidFill>
                <a:latin typeface="Calibri" pitchFamily="34" charset="0"/>
                <a:ea typeface="Calibri" pitchFamily="34" charset="-122"/>
                <a:cs typeface="Calibri" pitchFamily="34" charset="-120"/>
              </a:rPr>
              <a:t>Chapter III — information supplied</a:t>
            </a:r>
            <a:endParaRPr lang="en-US" sz="1550" dirty="0"/>
          </a:p>
        </p:txBody>
      </p:sp>
      <p:sp>
        <p:nvSpPr>
          <p:cNvPr id="15" name="Text 13"/>
          <p:cNvSpPr txBox="1"/>
          <p:nvPr/>
        </p:nvSpPr>
        <p:spPr>
          <a:xfrm>
            <a:off x="8347253" y="2672080"/>
            <a:ext cx="3076346" cy="2210816"/>
          </a:xfrm>
          <a:prstGeom prst="rect">
            <a:avLst/>
          </a:prstGeom>
          <a:noFill/>
          <a:ln/>
        </p:spPr>
        <p:txBody>
          <a:bodyPr wrap="square" lIns="0" tIns="0" rIns="0" bIns="0" rtlCol="0" anchor="t"/>
          <a:lstStyle/>
          <a:p>
            <a:pPr indent="0" marL="0">
              <a:lnSpc>
                <a:spcPct val="106000"/>
              </a:lnSpc>
              <a:buNone/>
            </a:pPr>
            <a:r>
              <a:rPr lang="en-US" sz="1120" dirty="0">
                <a:solidFill>
                  <a:srgbClr val="22333B"/>
                </a:solidFill>
                <a:latin typeface="Calibri" pitchFamily="34" charset="0"/>
                <a:ea typeface="Calibri" pitchFamily="34" charset="-122"/>
                <a:cs typeface="Calibri" pitchFamily="34" charset="-120"/>
              </a:rPr>
              <a:t>The label, and the instructions for use. Often treated as the last task in the programme, and regularly the source of findings — because it is where every claim, warning, contraindication and residual risk has to surface in the user's language.</a:t>
            </a:r>
            <a:endParaRPr lang="en-US" sz="1120" dirty="0"/>
          </a:p>
        </p:txBody>
      </p:sp>
      <p:sp>
        <p:nvSpPr>
          <p:cNvPr id="16" name="Shape 14"/>
          <p:cNvSpPr/>
          <p:nvPr/>
        </p:nvSpPr>
        <p:spPr>
          <a:xfrm>
            <a:off x="548640" y="5138928"/>
            <a:ext cx="11094415" cy="1115568"/>
          </a:xfrm>
          <a:prstGeom prst="roundRect">
            <a:avLst>
              <a:gd name="adj" fmla="val 5738"/>
            </a:avLst>
          </a:prstGeom>
          <a:solidFill>
            <a:srgbClr val="EAF3F2"/>
          </a:solidFill>
          <a:ln w="12700">
            <a:solidFill>
              <a:srgbClr val="BFD9D6"/>
            </a:solidFill>
            <a:prstDash val="solid"/>
          </a:ln>
        </p:spPr>
      </p:sp>
      <p:sp>
        <p:nvSpPr>
          <p:cNvPr id="17" name="Text 15"/>
          <p:cNvSpPr txBox="1"/>
          <p:nvPr/>
        </p:nvSpPr>
        <p:spPr>
          <a:xfrm>
            <a:off x="786384" y="5248656"/>
            <a:ext cx="10618927" cy="877824"/>
          </a:xfrm>
          <a:prstGeom prst="rect">
            <a:avLst/>
          </a:prstGeom>
          <a:noFill/>
          <a:ln/>
        </p:spPr>
        <p:txBody>
          <a:bodyPr wrap="square" lIns="0" tIns="0" rIns="0" bIns="0" rtlCol="0" anchor="t"/>
          <a:lstStyle/>
          <a:p>
            <a:pPr indent="0" marL="0">
              <a:lnSpc>
                <a:spcPct val="105000"/>
              </a:lnSpc>
              <a:buNone/>
            </a:pPr>
            <a:r>
              <a:rPr lang="en-US" sz="1250" b="1" dirty="0">
                <a:solidFill>
                  <a:srgbClr val="1B3A4B"/>
                </a:solidFill>
                <a:latin typeface="Calibri" pitchFamily="34" charset="0"/>
                <a:ea typeface="Calibri" pitchFamily="34" charset="-122"/>
                <a:cs typeface="Calibri" pitchFamily="34" charset="-120"/>
              </a:rPr>
              <a:t>Build the GSPR checklist first, not last.  </a:t>
            </a:r>
            <a:pPr indent="0" marL="0">
              <a:lnSpc>
                <a:spcPct val="105000"/>
              </a:lnSpc>
              <a:buNone/>
            </a:pPr>
            <a:r>
              <a:rPr lang="en-US" sz="1150" dirty="0">
                <a:solidFill>
                  <a:srgbClr val="22333B"/>
                </a:solidFill>
                <a:latin typeface="Calibri" pitchFamily="34" charset="0"/>
                <a:ea typeface="Calibri" pitchFamily="34" charset="-122"/>
                <a:cs typeface="Calibri" pitchFamily="34" charset="-120"/>
              </a:rPr>
              <a:t>For every requirement you state whether it applies, the standard or method used to demonstrate conformity, and the exact document and section that provides the evidence. Built early it is a gap analysis that tells you what to test. Built at the end it is a discovery exercise that tells you what you forgot — usually when the notified body slot is already booked.</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TECHNICAL DOCUMENTATION</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2800" b="1" dirty="0">
                <a:solidFill>
                  <a:srgbClr val="1B3A4B"/>
                </a:solidFill>
                <a:latin typeface="Cambria" pitchFamily="34" charset="0"/>
                <a:ea typeface="Cambria" pitchFamily="34" charset="-122"/>
                <a:cs typeface="Cambria" pitchFamily="34" charset="-120"/>
              </a:rPr>
              <a:t>Annex II: what is actually in the technical file</a:t>
            </a:r>
            <a:endParaRPr lang="en-US" sz="28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20</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94415" cy="914400"/>
        </p:xfrm>
        <a:graphic>
          <a:graphicData uri="http://schemas.openxmlformats.org/drawingml/2006/table">
            <a:tbl>
              <a:tblPr/>
              <a:tblGrid>
                <a:gridCol w="3200400"/>
                <a:gridCol w="7891272"/>
              </a:tblGrid>
              <a:tr h="56692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Element</a:t>
                      </a:r>
                      <a:endParaRPr lang="en-US" sz="11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What makes it adequate — not merely present</a:t>
                      </a:r>
                      <a:endParaRPr lang="en-US" sz="11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r>
              <a:tr h="566928">
                <a:tc>
                  <a:txBody>
                    <a:bodyPr/>
                    <a:lstStyle/>
                    <a:p>
                      <a:pPr indent="0" marL="0">
                        <a:buNone/>
                      </a:pPr>
                      <a:r>
                        <a:rPr lang="en-US" sz="1100" b="1" dirty="0">
                          <a:solidFill>
                            <a:srgbClr val="1B3A4B"/>
                          </a:solidFill>
                          <a:latin typeface="Calibri" pitchFamily="34" charset="0"/>
                          <a:ea typeface="Calibri" pitchFamily="34" charset="-122"/>
                          <a:cs typeface="Calibri" pitchFamily="34" charset="-120"/>
                        </a:rPr>
                        <a:t>Device description and specification</a:t>
                      </a:r>
                      <a:endParaRPr lang="en-US" sz="110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1050" dirty="0">
                          <a:solidFill>
                            <a:srgbClr val="22333B"/>
                          </a:solidFill>
                          <a:latin typeface="Calibri" pitchFamily="34" charset="0"/>
                          <a:ea typeface="Calibri" pitchFamily="34" charset="-122"/>
                          <a:cs typeface="Calibri" pitchFamily="34" charset="-120"/>
                        </a:rPr>
                        <a:t>Including variants, accessories, the Basic UDI-DI, the intended purpose, the intended patient population and user, and the principles of operation.</a:t>
                      </a:r>
                      <a:endParaRPr lang="en-US" sz="10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566928">
                <a:tc>
                  <a:txBody>
                    <a:bodyPr/>
                    <a:lstStyle/>
                    <a:p>
                      <a:pPr indent="0" marL="0">
                        <a:buNone/>
                      </a:pPr>
                      <a:r>
                        <a:rPr lang="en-US" sz="1100" b="1" dirty="0">
                          <a:solidFill>
                            <a:srgbClr val="1B3A4B"/>
                          </a:solidFill>
                          <a:latin typeface="Calibri" pitchFamily="34" charset="0"/>
                          <a:ea typeface="Calibri" pitchFamily="34" charset="-122"/>
                          <a:cs typeface="Calibri" pitchFamily="34" charset="-120"/>
                        </a:rPr>
                        <a:t>Information supplied by the manufacturer</a:t>
                      </a:r>
                      <a:endParaRPr lang="en-US" sz="110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1050" dirty="0">
                          <a:solidFill>
                            <a:srgbClr val="22333B"/>
                          </a:solidFill>
                          <a:latin typeface="Calibri" pitchFamily="34" charset="0"/>
                          <a:ea typeface="Calibri" pitchFamily="34" charset="-122"/>
                          <a:cs typeface="Calibri" pitchFamily="34" charset="-120"/>
                        </a:rPr>
                        <a:t>Labels and instructions for use, in the languages of every member state where the device will be made available.</a:t>
                      </a:r>
                      <a:endParaRPr lang="en-US" sz="10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566928">
                <a:tc>
                  <a:txBody>
                    <a:bodyPr/>
                    <a:lstStyle/>
                    <a:p>
                      <a:pPr indent="0" marL="0">
                        <a:buNone/>
                      </a:pPr>
                      <a:r>
                        <a:rPr lang="en-US" sz="1100" b="1" dirty="0">
                          <a:solidFill>
                            <a:srgbClr val="1B3A4B"/>
                          </a:solidFill>
                          <a:latin typeface="Calibri" pitchFamily="34" charset="0"/>
                          <a:ea typeface="Calibri" pitchFamily="34" charset="-122"/>
                          <a:cs typeface="Calibri" pitchFamily="34" charset="-120"/>
                        </a:rPr>
                        <a:t>Design and manufacturing information</a:t>
                      </a:r>
                      <a:endParaRPr lang="en-US" sz="110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1050" dirty="0">
                          <a:solidFill>
                            <a:srgbClr val="22333B"/>
                          </a:solidFill>
                          <a:latin typeface="Calibri" pitchFamily="34" charset="0"/>
                          <a:ea typeface="Calibri" pitchFamily="34" charset="-122"/>
                          <a:cs typeface="Calibri" pitchFamily="34" charset="-120"/>
                        </a:rPr>
                        <a:t>Enough for a reviewer to understand the design stages and the manufacturing processes, and the sites where they happen — including suppliers and subcontractors.</a:t>
                      </a:r>
                      <a:endParaRPr lang="en-US" sz="10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566928">
                <a:tc>
                  <a:txBody>
                    <a:bodyPr/>
                    <a:lstStyle/>
                    <a:p>
                      <a:pPr indent="0" marL="0">
                        <a:buNone/>
                      </a:pPr>
                      <a:r>
                        <a:rPr lang="en-US" sz="1100" b="1" dirty="0">
                          <a:solidFill>
                            <a:srgbClr val="1B3A4B"/>
                          </a:solidFill>
                          <a:latin typeface="Calibri" pitchFamily="34" charset="0"/>
                          <a:ea typeface="Calibri" pitchFamily="34" charset="-122"/>
                          <a:cs typeface="Calibri" pitchFamily="34" charset="-120"/>
                        </a:rPr>
                        <a:t>GSPR checklist</a:t>
                      </a:r>
                      <a:endParaRPr lang="en-US" sz="110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1050" dirty="0">
                          <a:solidFill>
                            <a:srgbClr val="22333B"/>
                          </a:solidFill>
                          <a:latin typeface="Calibri" pitchFamily="34" charset="0"/>
                          <a:ea typeface="Calibri" pitchFamily="34" charset="-122"/>
                          <a:cs typeface="Calibri" pitchFamily="34" charset="-120"/>
                        </a:rPr>
                        <a:t>Every Annex I requirement, applicability, the method of demonstration, and a precise cross-reference to the evidence.</a:t>
                      </a:r>
                      <a:endParaRPr lang="en-US" sz="10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566928">
                <a:tc>
                  <a:txBody>
                    <a:bodyPr/>
                    <a:lstStyle/>
                    <a:p>
                      <a:pPr indent="0" marL="0">
                        <a:buNone/>
                      </a:pPr>
                      <a:r>
                        <a:rPr lang="en-US" sz="1100" b="1" dirty="0">
                          <a:solidFill>
                            <a:srgbClr val="1B3A4B"/>
                          </a:solidFill>
                          <a:latin typeface="Calibri" pitchFamily="34" charset="0"/>
                          <a:ea typeface="Calibri" pitchFamily="34" charset="-122"/>
                          <a:cs typeface="Calibri" pitchFamily="34" charset="-120"/>
                        </a:rPr>
                        <a:t>Benefit-risk analysis and risk management</a:t>
                      </a:r>
                      <a:endParaRPr lang="en-US" sz="110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1050" dirty="0">
                          <a:solidFill>
                            <a:srgbClr val="22333B"/>
                          </a:solidFill>
                          <a:latin typeface="Calibri" pitchFamily="34" charset="0"/>
                          <a:ea typeface="Calibri" pitchFamily="34" charset="-122"/>
                          <a:cs typeface="Calibri" pitchFamily="34" charset="-120"/>
                        </a:rPr>
                        <a:t>The ISO 14971 file, with risk controls traced to verification that they are both implemented and effective.</a:t>
                      </a:r>
                      <a:endParaRPr lang="en-US" sz="10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566928">
                <a:tc>
                  <a:txBody>
                    <a:bodyPr/>
                    <a:lstStyle/>
                    <a:p>
                      <a:pPr indent="0" marL="0">
                        <a:buNone/>
                      </a:pPr>
                      <a:r>
                        <a:rPr lang="en-US" sz="1100" b="1" dirty="0">
                          <a:solidFill>
                            <a:srgbClr val="1B3A4B"/>
                          </a:solidFill>
                          <a:latin typeface="Calibri" pitchFamily="34" charset="0"/>
                          <a:ea typeface="Calibri" pitchFamily="34" charset="-122"/>
                          <a:cs typeface="Calibri" pitchFamily="34" charset="-120"/>
                        </a:rPr>
                        <a:t>Product verification and validation</a:t>
                      </a:r>
                      <a:endParaRPr lang="en-US" sz="110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1050" dirty="0">
                          <a:solidFill>
                            <a:srgbClr val="22333B"/>
                          </a:solidFill>
                          <a:latin typeface="Calibri" pitchFamily="34" charset="0"/>
                          <a:ea typeface="Calibri" pitchFamily="34" charset="-122"/>
                          <a:cs typeface="Calibri" pitchFamily="34" charset="-120"/>
                        </a:rPr>
                        <a:t>Pre-clinical and clinical data: bench, biocompatibility, electrical safety, software validation, usability, stability and shelf life, and the clinical evaluation report.</a:t>
                      </a:r>
                      <a:endParaRPr lang="en-US" sz="10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566928">
                <a:tc>
                  <a:txBody>
                    <a:bodyPr/>
                    <a:lstStyle/>
                    <a:p>
                      <a:pPr indent="0" marL="0">
                        <a:buNone/>
                      </a:pPr>
                      <a:r>
                        <a:rPr lang="en-US" sz="1100" b="1" dirty="0">
                          <a:solidFill>
                            <a:srgbClr val="1B3A4B"/>
                          </a:solidFill>
                          <a:latin typeface="Calibri" pitchFamily="34" charset="0"/>
                          <a:ea typeface="Calibri" pitchFamily="34" charset="-122"/>
                          <a:cs typeface="Calibri" pitchFamily="34" charset="-120"/>
                        </a:rPr>
                        <a:t>Annex III — post-market surveillance</a:t>
                      </a:r>
                      <a:endParaRPr lang="en-US" sz="110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1050" b="1" dirty="0">
                          <a:solidFill>
                            <a:srgbClr val="22333B"/>
                          </a:solidFill>
                          <a:latin typeface="Calibri" pitchFamily="34" charset="0"/>
                          <a:ea typeface="Calibri" pitchFamily="34" charset="-122"/>
                          <a:cs typeface="Calibri" pitchFamily="34" charset="-120"/>
                        </a:rPr>
                        <a:t>A separate annex, and a separate obligation: the PMS plan, and the PSUR or PMS report according to class.</a:t>
                      </a:r>
                      <a:endParaRPr lang="en-US" sz="10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ARTICLE 61</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2800" b="1" dirty="0">
                <a:solidFill>
                  <a:srgbClr val="1B3A4B"/>
                </a:solidFill>
                <a:latin typeface="Cambria" pitchFamily="34" charset="0"/>
                <a:ea typeface="Cambria" pitchFamily="34" charset="-122"/>
                <a:cs typeface="Cambria" pitchFamily="34" charset="-120"/>
              </a:rPr>
              <a:t>Clinical evaluation and the equivalence squeeze</a:t>
            </a:r>
            <a:endParaRPr lang="en-US" sz="28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21</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The single biggest gap between an FDA clearance and a CE certificate. Budget for it as a programme, not a document.</a:t>
            </a:r>
            <a:endParaRPr lang="en-US" sz="1400" dirty="0"/>
          </a:p>
        </p:txBody>
      </p:sp>
      <p:sp>
        <p:nvSpPr>
          <p:cNvPr id="7" name="Text 5"/>
          <p:cNvSpPr txBox="1"/>
          <p:nvPr/>
        </p:nvSpPr>
        <p:spPr>
          <a:xfrm>
            <a:off x="548640" y="1828800"/>
            <a:ext cx="5394960" cy="256032"/>
          </a:xfrm>
          <a:prstGeom prst="rect">
            <a:avLst/>
          </a:prstGeom>
          <a:noFill/>
          <a:ln/>
        </p:spPr>
        <p:txBody>
          <a:bodyPr wrap="square" lIns="0" tIns="0" rIns="0" bIns="0" rtlCol="0" anchor="ctr"/>
          <a:lstStyle/>
          <a:p>
            <a:pPr indent="0" marL="0">
              <a:buNone/>
            </a:pPr>
            <a:r>
              <a:rPr lang="en-US" sz="1100" b="1" spc="120" kern="0" dirty="0">
                <a:solidFill>
                  <a:srgbClr val="0E7C7B"/>
                </a:solidFill>
                <a:latin typeface="Calibri" pitchFamily="34" charset="0"/>
                <a:ea typeface="Calibri" pitchFamily="34" charset="-122"/>
                <a:cs typeface="Calibri" pitchFamily="34" charset="-120"/>
              </a:rPr>
              <a:t>WHAT MDR REQUIRES</a:t>
            </a:r>
            <a:endParaRPr lang="en-US" sz="1100" dirty="0"/>
          </a:p>
        </p:txBody>
      </p:sp>
      <p:sp>
        <p:nvSpPr>
          <p:cNvPr id="8" name="Shape 6"/>
          <p:cNvSpPr/>
          <p:nvPr/>
        </p:nvSpPr>
        <p:spPr>
          <a:xfrm>
            <a:off x="548640" y="2139696"/>
            <a:ext cx="5394960" cy="3602736"/>
          </a:xfrm>
          <a:prstGeom prst="roundRect">
            <a:avLst>
              <a:gd name="adj" fmla="val 1777"/>
            </a:avLst>
          </a:prstGeom>
          <a:solidFill>
            <a:srgbClr val="F1F5F6"/>
          </a:solidFill>
          <a:ln w="12700">
            <a:solidFill>
              <a:srgbClr val="D7E2E5"/>
            </a:solidFill>
            <a:prstDash val="solid"/>
          </a:ln>
        </p:spPr>
      </p:sp>
      <p:sp>
        <p:nvSpPr>
          <p:cNvPr id="9" name="Text 7"/>
          <p:cNvSpPr txBox="1"/>
          <p:nvPr/>
        </p:nvSpPr>
        <p:spPr>
          <a:xfrm>
            <a:off x="786384" y="2322576"/>
            <a:ext cx="4919472" cy="3236976"/>
          </a:xfrm>
          <a:prstGeom prst="rect">
            <a:avLst/>
          </a:prstGeom>
          <a:noFill/>
          <a:ln/>
        </p:spPr>
        <p:txBody>
          <a:bodyPr wrap="square" lIns="0" tIns="0" rIns="0" bIns="0" rtlCol="0" anchor="t"/>
          <a:lstStyle/>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A clinical evaluation for every device</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Not only for high-risk ones. Planned, conducted and documented under Article 61 and Annex XIV, and updated throughout the lifetime of the device.</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Demonstration of clinical benefit</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Safety and performance are not enough. You must show the device achieves its intended clinical benefit for the stated patient population.</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An acceptable benefit-risk profile</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Established against the state of the art — which moves, and which is why the evaluation is never finished.</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A plan before the data</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The clinical evaluation plan defines the questions, the acceptance criteria and the data sources. Writing it after you have the data is the wrong way round, and visible.</a:t>
            </a:r>
            <a:endParaRPr lang="en-US" sz="1080" dirty="0"/>
          </a:p>
        </p:txBody>
      </p:sp>
      <p:sp>
        <p:nvSpPr>
          <p:cNvPr id="10" name="Text 8"/>
          <p:cNvSpPr txBox="1"/>
          <p:nvPr/>
        </p:nvSpPr>
        <p:spPr>
          <a:xfrm>
            <a:off x="6245352" y="1828800"/>
            <a:ext cx="5394960" cy="256032"/>
          </a:xfrm>
          <a:prstGeom prst="rect">
            <a:avLst/>
          </a:prstGeom>
          <a:noFill/>
          <a:ln/>
        </p:spPr>
        <p:txBody>
          <a:bodyPr wrap="square" lIns="0" tIns="0" rIns="0" bIns="0" rtlCol="0" anchor="ctr"/>
          <a:lstStyle/>
          <a:p>
            <a:pPr indent="0" marL="0">
              <a:buNone/>
            </a:pPr>
            <a:r>
              <a:rPr lang="en-US" sz="1100" b="1" spc="120" kern="0" dirty="0">
                <a:solidFill>
                  <a:srgbClr val="A83A3C"/>
                </a:solidFill>
                <a:latin typeface="Calibri" pitchFamily="34" charset="0"/>
                <a:ea typeface="Calibri" pitchFamily="34" charset="-122"/>
                <a:cs typeface="Calibri" pitchFamily="34" charset="-120"/>
              </a:rPr>
              <a:t>WHY THE MDD EQUIVALENCE ROUTE CLOSED</a:t>
            </a:r>
            <a:endParaRPr lang="en-US" sz="1100" dirty="0"/>
          </a:p>
        </p:txBody>
      </p:sp>
      <p:sp>
        <p:nvSpPr>
          <p:cNvPr id="11" name="Shape 9"/>
          <p:cNvSpPr/>
          <p:nvPr/>
        </p:nvSpPr>
        <p:spPr>
          <a:xfrm>
            <a:off x="6245352" y="2139696"/>
            <a:ext cx="5394960" cy="3602736"/>
          </a:xfrm>
          <a:prstGeom prst="roundRect">
            <a:avLst>
              <a:gd name="adj" fmla="val 1777"/>
            </a:avLst>
          </a:prstGeom>
          <a:solidFill>
            <a:srgbClr val="FBEDED"/>
          </a:solidFill>
          <a:ln w="12700">
            <a:solidFill>
              <a:srgbClr val="DFA9A9"/>
            </a:solidFill>
            <a:prstDash val="solid"/>
          </a:ln>
        </p:spPr>
      </p:sp>
      <p:sp>
        <p:nvSpPr>
          <p:cNvPr id="12" name="Text 10"/>
          <p:cNvSpPr txBox="1"/>
          <p:nvPr/>
        </p:nvSpPr>
        <p:spPr>
          <a:xfrm>
            <a:off x="6483096" y="2322576"/>
            <a:ext cx="4919472" cy="3236976"/>
          </a:xfrm>
          <a:prstGeom prst="rect">
            <a:avLst/>
          </a:prstGeom>
          <a:noFill/>
          <a:ln/>
        </p:spPr>
        <p:txBody>
          <a:bodyPr wrap="square" lIns="0" tIns="0" rIns="0" bIns="0" rtlCol="0" anchor="t"/>
          <a:lstStyle/>
          <a:p>
            <a:pPr indent="0" marL="0">
              <a:lnSpc>
                <a:spcPct val="105000"/>
              </a:lnSpc>
              <a:buNone/>
            </a:pPr>
            <a:r>
              <a:rPr lang="en-US" sz="1100" dirty="0">
                <a:solidFill>
                  <a:srgbClr val="22333B"/>
                </a:solidFill>
                <a:latin typeface="Calibri" pitchFamily="34" charset="0"/>
                <a:ea typeface="Calibri" pitchFamily="34" charset="-122"/>
                <a:cs typeface="Calibri" pitchFamily="34" charset="-120"/>
              </a:rPr>
              <a:t>Under the MDD, an enormous number of devices were carried by claiming equivalence to a competitor's device and citing its published literature.
</a:t>
            </a:r>
            <a:pPr indent="0" marL="0">
              <a:lnSpc>
                <a:spcPct val="105000"/>
              </a:lnSpc>
              <a:buNone/>
            </a:pPr>
            <a:r>
              <a:rPr lang="en-US" sz="1100" b="1" dirty="0">
                <a:solidFill>
                  <a:srgbClr val="A83A3C"/>
                </a:solidFill>
                <a:latin typeface="Calibri" pitchFamily="34" charset="0"/>
                <a:ea typeface="Calibri" pitchFamily="34" charset="-122"/>
                <a:cs typeface="Calibri" pitchFamily="34" charset="-120"/>
              </a:rPr>
              <a:t>MDR closed that route in practice. </a:t>
            </a:r>
            <a:pPr indent="0" marL="0">
              <a:lnSpc>
                <a:spcPct val="105000"/>
              </a:lnSpc>
              <a:buNone/>
            </a:pPr>
            <a:r>
              <a:rPr lang="en-US" sz="1100" dirty="0">
                <a:solidFill>
                  <a:srgbClr val="22333B"/>
                </a:solidFill>
                <a:latin typeface="Calibri" pitchFamily="34" charset="0"/>
                <a:ea typeface="Calibri" pitchFamily="34" charset="-122"/>
                <a:cs typeface="Calibri" pitchFamily="34" charset="-120"/>
              </a:rPr>
              <a:t>Equivalence must now be demonstrated across technical, biological and clinical characteristics — and where the equivalent device belongs to another manufacturer, Article 61(5) requires a contract giving you full and ongoing access to their technical documentation.
</a:t>
            </a:r>
            <a:pPr indent="0" marL="0">
              <a:lnSpc>
                <a:spcPct val="105000"/>
              </a:lnSpc>
              <a:buNone/>
            </a:pPr>
            <a:r>
              <a:rPr lang="en-US" sz="1100" b="1" dirty="0">
                <a:solidFill>
                  <a:srgbClr val="1B3A4B"/>
                </a:solidFill>
                <a:latin typeface="Calibri" pitchFamily="34" charset="0"/>
                <a:ea typeface="Calibri" pitchFamily="34" charset="-122"/>
                <a:cs typeface="Calibri" pitchFamily="34" charset="-120"/>
              </a:rPr>
              <a:t>Your competitor will not sign that contract. </a:t>
            </a:r>
            <a:pPr indent="0" marL="0">
              <a:lnSpc>
                <a:spcPct val="105000"/>
              </a:lnSpc>
              <a:buNone/>
            </a:pPr>
            <a:r>
              <a:rPr lang="en-US" sz="1100" dirty="0">
                <a:solidFill>
                  <a:srgbClr val="22333B"/>
                </a:solidFill>
                <a:latin typeface="Calibri" pitchFamily="34" charset="0"/>
                <a:ea typeface="Calibri" pitchFamily="34" charset="-122"/>
                <a:cs typeface="Calibri" pitchFamily="34" charset="-120"/>
              </a:rPr>
              <a:t>That is the whole mechanism. MDCG 2020-5 sets out how equivalence is assessed; MDCG 2020-6 addresses what legacy data can support.
</a:t>
            </a:r>
            <a:pPr indent="0" marL="0">
              <a:lnSpc>
                <a:spcPct val="105000"/>
              </a:lnSpc>
              <a:buNone/>
            </a:pPr>
            <a:r>
              <a:rPr lang="en-US" sz="1100" b="1" dirty="0">
                <a:solidFill>
                  <a:srgbClr val="22333B"/>
                </a:solidFill>
                <a:latin typeface="Calibri" pitchFamily="34" charset="0"/>
                <a:ea typeface="Calibri" pitchFamily="34" charset="-122"/>
                <a:cs typeface="Calibri" pitchFamily="34" charset="-120"/>
              </a:rPr>
              <a:t>The practical consequence: many devices that needed no clinical study under the MDD need PMCF data, a registry, or an actual investigation under MDR.</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ANNEX III</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100" b="1" dirty="0">
                <a:solidFill>
                  <a:srgbClr val="1B3A4B"/>
                </a:solidFill>
                <a:latin typeface="Cambria" pitchFamily="34" charset="0"/>
                <a:ea typeface="Cambria" pitchFamily="34" charset="-122"/>
                <a:cs typeface="Cambria" pitchFamily="34" charset="-120"/>
              </a:rPr>
              <a:t>Post-market: the file you operate</a:t>
            </a:r>
            <a:endParaRPr lang="en-US" sz="31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22</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Assessed before you sell anything, and then never finished.</a:t>
            </a:r>
            <a:endParaRPr lang="en-US" sz="1400" dirty="0"/>
          </a:p>
        </p:txBody>
      </p:sp>
      <p:sp>
        <p:nvSpPr>
          <p:cNvPr id="7" name="Shape 5"/>
          <p:cNvSpPr/>
          <p:nvPr/>
        </p:nvSpPr>
        <p:spPr>
          <a:xfrm>
            <a:off x="548640" y="1865376"/>
            <a:ext cx="5410048" cy="1636776"/>
          </a:xfrm>
          <a:prstGeom prst="roundRect">
            <a:avLst>
              <a:gd name="adj" fmla="val 3911"/>
            </a:avLst>
          </a:prstGeom>
          <a:solidFill>
            <a:srgbClr val="F1F5F6"/>
          </a:solidFill>
          <a:ln w="12700">
            <a:solidFill>
              <a:srgbClr val="D7E2E5"/>
            </a:solidFill>
            <a:prstDash val="solid"/>
          </a:ln>
        </p:spPr>
      </p:sp>
      <p:sp>
        <p:nvSpPr>
          <p:cNvPr id="8" name="Shape 6"/>
          <p:cNvSpPr/>
          <p:nvPr/>
        </p:nvSpPr>
        <p:spPr>
          <a:xfrm>
            <a:off x="768096" y="2066544"/>
            <a:ext cx="365760" cy="365760"/>
          </a:xfrm>
          <a:prstGeom prst="ellipse">
            <a:avLst/>
          </a:prstGeom>
          <a:solidFill>
            <a:srgbClr val="0E7C7B"/>
          </a:solidFill>
          <a:ln w="12700">
            <a:solidFill>
              <a:srgbClr val="0E7C7B"/>
            </a:solidFill>
            <a:prstDash val="solid"/>
          </a:ln>
        </p:spPr>
      </p:sp>
      <p:sp>
        <p:nvSpPr>
          <p:cNvPr id="9" name="Text 7"/>
          <p:cNvSpPr txBox="1"/>
          <p:nvPr/>
        </p:nvSpPr>
        <p:spPr>
          <a:xfrm>
            <a:off x="768096" y="206654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768096" y="2542032"/>
            <a:ext cx="4971136" cy="330200"/>
          </a:xfrm>
          <a:prstGeom prst="rect">
            <a:avLst/>
          </a:prstGeom>
          <a:noFill/>
          <a:ln/>
        </p:spPr>
        <p:txBody>
          <a:bodyPr wrap="square" lIns="0" tIns="0" rIns="0" bIns="0" rtlCol="0" anchor="t"/>
          <a:lstStyle/>
          <a:p>
            <a:pPr indent="0" marL="0">
              <a:buNone/>
            </a:pPr>
            <a:r>
              <a:rPr lang="en-US" sz="1550" b="1" dirty="0">
                <a:solidFill>
                  <a:srgbClr val="1B3A4B"/>
                </a:solidFill>
                <a:latin typeface="Calibri" pitchFamily="34" charset="0"/>
                <a:ea typeface="Calibri" pitchFamily="34" charset="-122"/>
                <a:cs typeface="Calibri" pitchFamily="34" charset="-120"/>
              </a:rPr>
              <a:t>PMS plan</a:t>
            </a:r>
            <a:endParaRPr lang="en-US" sz="1550" dirty="0"/>
          </a:p>
        </p:txBody>
      </p:sp>
      <p:sp>
        <p:nvSpPr>
          <p:cNvPr id="11" name="Text 9"/>
          <p:cNvSpPr txBox="1"/>
          <p:nvPr/>
        </p:nvSpPr>
        <p:spPr>
          <a:xfrm>
            <a:off x="768096" y="2908808"/>
            <a:ext cx="4971136" cy="447040"/>
          </a:xfrm>
          <a:prstGeom prst="rect">
            <a:avLst/>
          </a:prstGeom>
          <a:noFill/>
          <a:ln/>
        </p:spPr>
        <p:txBody>
          <a:bodyPr wrap="square" lIns="0" tIns="0" rIns="0" bIns="0" rtlCol="0" anchor="t"/>
          <a:lstStyle/>
          <a:p>
            <a:pPr indent="0" marL="0">
              <a:lnSpc>
                <a:spcPct val="106000"/>
              </a:lnSpc>
              <a:buNone/>
            </a:pPr>
            <a:r>
              <a:rPr lang="en-US" sz="920" dirty="0">
                <a:solidFill>
                  <a:srgbClr val="22333B"/>
                </a:solidFill>
                <a:latin typeface="Calibri" pitchFamily="34" charset="0"/>
                <a:ea typeface="Calibri" pitchFamily="34" charset="-122"/>
                <a:cs typeface="Calibri" pitchFamily="34" charset="-120"/>
              </a:rPr>
              <a:t>Documented, proactive and systematic. What data you will collect, from where, how often, how you will analyse it, and what thresholds trigger action. Part of the documentation the notified body assesses.</a:t>
            </a:r>
            <a:endParaRPr lang="en-US" sz="920" dirty="0"/>
          </a:p>
        </p:txBody>
      </p:sp>
      <p:sp>
        <p:nvSpPr>
          <p:cNvPr id="12" name="Shape 10"/>
          <p:cNvSpPr/>
          <p:nvPr/>
        </p:nvSpPr>
        <p:spPr>
          <a:xfrm>
            <a:off x="6233008" y="1865376"/>
            <a:ext cx="5410048" cy="1636776"/>
          </a:xfrm>
          <a:prstGeom prst="roundRect">
            <a:avLst>
              <a:gd name="adj" fmla="val 3911"/>
            </a:avLst>
          </a:prstGeom>
          <a:solidFill>
            <a:srgbClr val="F1F5F6"/>
          </a:solidFill>
          <a:ln w="12700">
            <a:solidFill>
              <a:srgbClr val="D7E2E5"/>
            </a:solidFill>
            <a:prstDash val="solid"/>
          </a:ln>
        </p:spPr>
      </p:sp>
      <p:sp>
        <p:nvSpPr>
          <p:cNvPr id="13" name="Shape 11"/>
          <p:cNvSpPr/>
          <p:nvPr/>
        </p:nvSpPr>
        <p:spPr>
          <a:xfrm>
            <a:off x="6452464" y="2066544"/>
            <a:ext cx="365760" cy="365760"/>
          </a:xfrm>
          <a:prstGeom prst="ellipse">
            <a:avLst/>
          </a:prstGeom>
          <a:solidFill>
            <a:srgbClr val="2A9D8F"/>
          </a:solidFill>
          <a:ln w="12700">
            <a:solidFill>
              <a:srgbClr val="2A9D8F"/>
            </a:solidFill>
            <a:prstDash val="solid"/>
          </a:ln>
        </p:spPr>
      </p:sp>
      <p:sp>
        <p:nvSpPr>
          <p:cNvPr id="14" name="Text 12"/>
          <p:cNvSpPr txBox="1"/>
          <p:nvPr/>
        </p:nvSpPr>
        <p:spPr>
          <a:xfrm>
            <a:off x="6452464" y="206654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6452464" y="2542032"/>
            <a:ext cx="4971136" cy="330200"/>
          </a:xfrm>
          <a:prstGeom prst="rect">
            <a:avLst/>
          </a:prstGeom>
          <a:noFill/>
          <a:ln/>
        </p:spPr>
        <p:txBody>
          <a:bodyPr wrap="square" lIns="0" tIns="0" rIns="0" bIns="0" rtlCol="0" anchor="t"/>
          <a:lstStyle/>
          <a:p>
            <a:pPr indent="0" marL="0">
              <a:buNone/>
            </a:pPr>
            <a:r>
              <a:rPr lang="en-US" sz="1550" b="1" dirty="0">
                <a:solidFill>
                  <a:srgbClr val="1B3A4B"/>
                </a:solidFill>
                <a:latin typeface="Calibri" pitchFamily="34" charset="0"/>
                <a:ea typeface="Calibri" pitchFamily="34" charset="-122"/>
                <a:cs typeface="Calibri" pitchFamily="34" charset="-120"/>
              </a:rPr>
              <a:t>PMCF plan and report</a:t>
            </a:r>
            <a:endParaRPr lang="en-US" sz="1550" dirty="0"/>
          </a:p>
        </p:txBody>
      </p:sp>
      <p:sp>
        <p:nvSpPr>
          <p:cNvPr id="16" name="Text 14"/>
          <p:cNvSpPr txBox="1"/>
          <p:nvPr/>
        </p:nvSpPr>
        <p:spPr>
          <a:xfrm>
            <a:off x="6452464" y="2908808"/>
            <a:ext cx="4971136" cy="447040"/>
          </a:xfrm>
          <a:prstGeom prst="rect">
            <a:avLst/>
          </a:prstGeom>
          <a:noFill/>
          <a:ln/>
        </p:spPr>
        <p:txBody>
          <a:bodyPr wrap="square" lIns="0" tIns="0" rIns="0" bIns="0" rtlCol="0" anchor="t"/>
          <a:lstStyle/>
          <a:p>
            <a:pPr indent="0" marL="0">
              <a:lnSpc>
                <a:spcPct val="106000"/>
              </a:lnSpc>
              <a:buNone/>
            </a:pPr>
            <a:r>
              <a:rPr lang="en-US" sz="920" dirty="0">
                <a:solidFill>
                  <a:srgbClr val="22333B"/>
                </a:solidFill>
                <a:latin typeface="Calibri" pitchFamily="34" charset="0"/>
                <a:ea typeface="Calibri" pitchFamily="34" charset="-122"/>
                <a:cs typeface="Calibri" pitchFamily="34" charset="-120"/>
              </a:rPr>
              <a:t>Post-market clinical follow-up: the mechanism by which your clinical evaluation stays current. If you are not doing PMCF you must justify why not, and that justification is scrutinised.</a:t>
            </a:r>
            <a:endParaRPr lang="en-US" sz="920" dirty="0"/>
          </a:p>
        </p:txBody>
      </p:sp>
      <p:sp>
        <p:nvSpPr>
          <p:cNvPr id="17" name="Shape 15"/>
          <p:cNvSpPr/>
          <p:nvPr/>
        </p:nvSpPr>
        <p:spPr>
          <a:xfrm>
            <a:off x="548640" y="3776472"/>
            <a:ext cx="5410048" cy="1636776"/>
          </a:xfrm>
          <a:prstGeom prst="roundRect">
            <a:avLst>
              <a:gd name="adj" fmla="val 3911"/>
            </a:avLst>
          </a:prstGeom>
          <a:solidFill>
            <a:srgbClr val="F1F5F6"/>
          </a:solidFill>
          <a:ln w="12700">
            <a:solidFill>
              <a:srgbClr val="D7E2E5"/>
            </a:solidFill>
            <a:prstDash val="solid"/>
          </a:ln>
        </p:spPr>
      </p:sp>
      <p:sp>
        <p:nvSpPr>
          <p:cNvPr id="18" name="Shape 16"/>
          <p:cNvSpPr/>
          <p:nvPr/>
        </p:nvSpPr>
        <p:spPr>
          <a:xfrm>
            <a:off x="768096" y="3977640"/>
            <a:ext cx="365760" cy="365760"/>
          </a:xfrm>
          <a:prstGeom prst="ellipse">
            <a:avLst/>
          </a:prstGeom>
          <a:solidFill>
            <a:srgbClr val="C77C1E"/>
          </a:solidFill>
          <a:ln w="12700">
            <a:solidFill>
              <a:srgbClr val="C77C1E"/>
            </a:solidFill>
            <a:prstDash val="solid"/>
          </a:ln>
        </p:spPr>
      </p:sp>
      <p:sp>
        <p:nvSpPr>
          <p:cNvPr id="19" name="Text 17"/>
          <p:cNvSpPr txBox="1"/>
          <p:nvPr/>
        </p:nvSpPr>
        <p:spPr>
          <a:xfrm>
            <a:off x="768096" y="39776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768096" y="4453128"/>
            <a:ext cx="4971136" cy="330200"/>
          </a:xfrm>
          <a:prstGeom prst="rect">
            <a:avLst/>
          </a:prstGeom>
          <a:noFill/>
          <a:ln/>
        </p:spPr>
        <p:txBody>
          <a:bodyPr wrap="square" lIns="0" tIns="0" rIns="0" bIns="0" rtlCol="0" anchor="t"/>
          <a:lstStyle/>
          <a:p>
            <a:pPr indent="0" marL="0">
              <a:buNone/>
            </a:pPr>
            <a:r>
              <a:rPr lang="en-US" sz="1550" b="1" dirty="0">
                <a:solidFill>
                  <a:srgbClr val="1B3A4B"/>
                </a:solidFill>
                <a:latin typeface="Calibri" pitchFamily="34" charset="0"/>
                <a:ea typeface="Calibri" pitchFamily="34" charset="-122"/>
                <a:cs typeface="Calibri" pitchFamily="34" charset="-120"/>
              </a:rPr>
              <a:t>PSUR</a:t>
            </a:r>
            <a:endParaRPr lang="en-US" sz="1550" dirty="0"/>
          </a:p>
        </p:txBody>
      </p:sp>
      <p:sp>
        <p:nvSpPr>
          <p:cNvPr id="21" name="Text 19"/>
          <p:cNvSpPr txBox="1"/>
          <p:nvPr/>
        </p:nvSpPr>
        <p:spPr>
          <a:xfrm>
            <a:off x="768096" y="4819904"/>
            <a:ext cx="4971136" cy="447040"/>
          </a:xfrm>
          <a:prstGeom prst="rect">
            <a:avLst/>
          </a:prstGeom>
          <a:noFill/>
          <a:ln/>
        </p:spPr>
        <p:txBody>
          <a:bodyPr wrap="square" lIns="0" tIns="0" rIns="0" bIns="0" rtlCol="0" anchor="t"/>
          <a:lstStyle/>
          <a:p>
            <a:pPr indent="0" marL="0">
              <a:lnSpc>
                <a:spcPct val="106000"/>
              </a:lnSpc>
              <a:buNone/>
            </a:pPr>
            <a:r>
              <a:rPr lang="en-US" sz="920" dirty="0">
                <a:solidFill>
                  <a:srgbClr val="22333B"/>
                </a:solidFill>
                <a:latin typeface="Calibri" pitchFamily="34" charset="0"/>
                <a:ea typeface="Calibri" pitchFamily="34" charset="-122"/>
                <a:cs typeface="Calibri" pitchFamily="34" charset="-120"/>
              </a:rPr>
              <a:t>Periodic safety update report. At least every two years for Class IIa, at least annually for Class IIb and III. It summarises PMS findings, the benefit-risk conclusion, and what you did about it.</a:t>
            </a:r>
            <a:endParaRPr lang="en-US" sz="920" dirty="0"/>
          </a:p>
        </p:txBody>
      </p:sp>
      <p:sp>
        <p:nvSpPr>
          <p:cNvPr id="22" name="Shape 20"/>
          <p:cNvSpPr/>
          <p:nvPr/>
        </p:nvSpPr>
        <p:spPr>
          <a:xfrm>
            <a:off x="6233008" y="3776472"/>
            <a:ext cx="5410048" cy="1636776"/>
          </a:xfrm>
          <a:prstGeom prst="roundRect">
            <a:avLst>
              <a:gd name="adj" fmla="val 3911"/>
            </a:avLst>
          </a:prstGeom>
          <a:solidFill>
            <a:srgbClr val="F1F5F6"/>
          </a:solidFill>
          <a:ln w="12700">
            <a:solidFill>
              <a:srgbClr val="D7E2E5"/>
            </a:solidFill>
            <a:prstDash val="solid"/>
          </a:ln>
        </p:spPr>
      </p:sp>
      <p:sp>
        <p:nvSpPr>
          <p:cNvPr id="23" name="Shape 21"/>
          <p:cNvSpPr/>
          <p:nvPr/>
        </p:nvSpPr>
        <p:spPr>
          <a:xfrm>
            <a:off x="6452464" y="3977640"/>
            <a:ext cx="365760" cy="365760"/>
          </a:xfrm>
          <a:prstGeom prst="ellipse">
            <a:avLst/>
          </a:prstGeom>
          <a:solidFill>
            <a:srgbClr val="A83A3C"/>
          </a:solidFill>
          <a:ln w="12700">
            <a:solidFill>
              <a:srgbClr val="A83A3C"/>
            </a:solidFill>
            <a:prstDash val="solid"/>
          </a:ln>
        </p:spPr>
      </p:sp>
      <p:sp>
        <p:nvSpPr>
          <p:cNvPr id="24" name="Text 22"/>
          <p:cNvSpPr txBox="1"/>
          <p:nvPr/>
        </p:nvSpPr>
        <p:spPr>
          <a:xfrm>
            <a:off x="6452464" y="39776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txBox="1"/>
          <p:nvPr/>
        </p:nvSpPr>
        <p:spPr>
          <a:xfrm>
            <a:off x="6452464" y="4453128"/>
            <a:ext cx="4971136" cy="330200"/>
          </a:xfrm>
          <a:prstGeom prst="rect">
            <a:avLst/>
          </a:prstGeom>
          <a:noFill/>
          <a:ln/>
        </p:spPr>
        <p:txBody>
          <a:bodyPr wrap="square" lIns="0" tIns="0" rIns="0" bIns="0" rtlCol="0" anchor="t"/>
          <a:lstStyle/>
          <a:p>
            <a:pPr indent="0" marL="0">
              <a:buNone/>
            </a:pPr>
            <a:r>
              <a:rPr lang="en-US" sz="1550" b="1" dirty="0">
                <a:solidFill>
                  <a:srgbClr val="1B3A4B"/>
                </a:solidFill>
                <a:latin typeface="Calibri" pitchFamily="34" charset="0"/>
                <a:ea typeface="Calibri" pitchFamily="34" charset="-122"/>
                <a:cs typeface="Calibri" pitchFamily="34" charset="-120"/>
              </a:rPr>
              <a:t>Vigilance and trend reporting</a:t>
            </a:r>
            <a:endParaRPr lang="en-US" sz="1550" dirty="0"/>
          </a:p>
        </p:txBody>
      </p:sp>
      <p:sp>
        <p:nvSpPr>
          <p:cNvPr id="26" name="Text 24"/>
          <p:cNvSpPr txBox="1"/>
          <p:nvPr/>
        </p:nvSpPr>
        <p:spPr>
          <a:xfrm>
            <a:off x="6452464" y="4819904"/>
            <a:ext cx="4971136" cy="447040"/>
          </a:xfrm>
          <a:prstGeom prst="rect">
            <a:avLst/>
          </a:prstGeom>
          <a:noFill/>
          <a:ln/>
        </p:spPr>
        <p:txBody>
          <a:bodyPr wrap="square" lIns="0" tIns="0" rIns="0" bIns="0" rtlCol="0" anchor="t"/>
          <a:lstStyle/>
          <a:p>
            <a:pPr indent="0" marL="0">
              <a:lnSpc>
                <a:spcPct val="106000"/>
              </a:lnSpc>
              <a:buNone/>
            </a:pPr>
            <a:r>
              <a:rPr lang="en-US" sz="920" dirty="0">
                <a:solidFill>
                  <a:srgbClr val="22333B"/>
                </a:solidFill>
                <a:latin typeface="Calibri" pitchFamily="34" charset="0"/>
                <a:ea typeface="Calibri" pitchFamily="34" charset="-122"/>
                <a:cs typeface="Calibri" pitchFamily="34" charset="-120"/>
              </a:rPr>
              <a:t>Serious incidents and field safety corrective actions reported to competent authorities within defined timescales, plus trend reporting for statistically significant increases in non-serious incidents.</a:t>
            </a:r>
            <a:endParaRPr lang="en-US" sz="920" dirty="0"/>
          </a:p>
        </p:txBody>
      </p:sp>
      <p:sp>
        <p:nvSpPr>
          <p:cNvPr id="27" name="Shape 25"/>
          <p:cNvSpPr/>
          <p:nvPr/>
        </p:nvSpPr>
        <p:spPr>
          <a:xfrm>
            <a:off x="548640" y="5522976"/>
            <a:ext cx="11094415" cy="731520"/>
          </a:xfrm>
          <a:prstGeom prst="roundRect">
            <a:avLst>
              <a:gd name="adj" fmla="val 7500"/>
            </a:avLst>
          </a:prstGeom>
          <a:solidFill>
            <a:srgbClr val="EAF3F2"/>
          </a:solidFill>
          <a:ln w="12700">
            <a:solidFill>
              <a:srgbClr val="BFD9D6"/>
            </a:solidFill>
            <a:prstDash val="solid"/>
          </a:ln>
        </p:spPr>
      </p:sp>
      <p:sp>
        <p:nvSpPr>
          <p:cNvPr id="28" name="Text 26"/>
          <p:cNvSpPr txBox="1"/>
          <p:nvPr/>
        </p:nvSpPr>
        <p:spPr>
          <a:xfrm>
            <a:off x="786384" y="5522976"/>
            <a:ext cx="10618927" cy="731520"/>
          </a:xfrm>
          <a:prstGeom prst="rect">
            <a:avLst/>
          </a:prstGeom>
          <a:noFill/>
          <a:ln/>
        </p:spPr>
        <p:txBody>
          <a:bodyPr wrap="square" lIns="0" tIns="0" rIns="0" bIns="0" rtlCol="0" anchor="ctr"/>
          <a:lstStyle/>
          <a:p>
            <a:pPr indent="0" marL="0">
              <a:buNone/>
            </a:pPr>
            <a:r>
              <a:rPr lang="en-US" sz="1250" b="1" dirty="0">
                <a:solidFill>
                  <a:srgbClr val="1B3A4B"/>
                </a:solidFill>
                <a:latin typeface="Calibri" pitchFamily="34" charset="0"/>
                <a:ea typeface="Calibri" pitchFamily="34" charset="-122"/>
                <a:cs typeface="Calibri" pitchFamily="34" charset="-120"/>
              </a:rPr>
              <a:t>The connection people miss: PMCF data feeds the clinical evaluation, which supports the certificate. Weak PMCF does not just fail an audit — it undermines the evidence your certificate rests on at renewal.</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CHANGE CONTROL</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What you may change after certification</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23</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A certificate attests conformity of a device as assessed. Change the device enough and you no longer hold a certificate for what you are selling.</a:t>
            </a:r>
            <a:endParaRPr lang="en-US" sz="1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914400"/>
        </p:xfrm>
        <a:graphic>
          <a:graphicData uri="http://schemas.openxmlformats.org/drawingml/2006/table">
            <a:tbl>
              <a:tblPr/>
              <a:tblGrid>
                <a:gridCol w="3017520"/>
                <a:gridCol w="4297680"/>
                <a:gridCol w="3776472"/>
              </a:tblGrid>
              <a:tr h="724205">
                <a:tc>
                  <a:txBody>
                    <a:bodyPr/>
                    <a:lstStyle/>
                    <a:p>
                      <a:pPr algn="l" indent="0" marL="0">
                        <a:buNone/>
                      </a:pPr>
                      <a:r>
                        <a:rPr lang="en-US" sz="1012" b="1" dirty="0">
                          <a:solidFill>
                            <a:srgbClr val="FFFFFF"/>
                          </a:solidFill>
                          <a:latin typeface="Calibri" pitchFamily="34" charset="0"/>
                          <a:ea typeface="Calibri" pitchFamily="34" charset="-122"/>
                          <a:cs typeface="Calibri" pitchFamily="34" charset="-120"/>
                        </a:rPr>
                        <a:t>Type of change</a:t>
                      </a:r>
                      <a:endParaRPr lang="en-US" sz="1012"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1012" b="1" dirty="0">
                          <a:solidFill>
                            <a:srgbClr val="FFFFFF"/>
                          </a:solidFill>
                          <a:latin typeface="Calibri" pitchFamily="34" charset="0"/>
                          <a:ea typeface="Calibri" pitchFamily="34" charset="-122"/>
                          <a:cs typeface="Calibri" pitchFamily="34" charset="-120"/>
                        </a:rPr>
                        <a:t>Typically</a:t>
                      </a:r>
                      <a:endParaRPr lang="en-US" sz="1012"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1012" b="1" dirty="0">
                          <a:solidFill>
                            <a:srgbClr val="FFFFFF"/>
                          </a:solidFill>
                          <a:latin typeface="Calibri" pitchFamily="34" charset="0"/>
                          <a:ea typeface="Calibri" pitchFamily="34" charset="-122"/>
                          <a:cs typeface="Calibri" pitchFamily="34" charset="-120"/>
                        </a:rPr>
                        <a:t>Why it matters</a:t>
                      </a:r>
                      <a:endParaRPr lang="en-US" sz="1012"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r>
              <a:tr h="724205">
                <a:tc>
                  <a:txBody>
                    <a:bodyPr/>
                    <a:lstStyle/>
                    <a:p>
                      <a:pPr indent="0" marL="0">
                        <a:buNone/>
                      </a:pPr>
                      <a:r>
                        <a:rPr lang="en-US" sz="968" b="1" dirty="0">
                          <a:solidFill>
                            <a:srgbClr val="1B3A4B"/>
                          </a:solidFill>
                          <a:latin typeface="Calibri" pitchFamily="34" charset="0"/>
                          <a:ea typeface="Calibri" pitchFamily="34" charset="-122"/>
                          <a:cs typeface="Calibri" pitchFamily="34" charset="-120"/>
                        </a:rPr>
                        <a:t>Design change affecting safety or performance</a:t>
                      </a:r>
                      <a:endParaRPr lang="en-US" sz="96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924" dirty="0">
                          <a:solidFill>
                            <a:srgbClr val="22333B"/>
                          </a:solidFill>
                          <a:latin typeface="Calibri" pitchFamily="34" charset="0"/>
                          <a:ea typeface="Calibri" pitchFamily="34" charset="-122"/>
                          <a:cs typeface="Calibri" pitchFamily="34" charset="-120"/>
                        </a:rPr>
                        <a:t>Notify the notified body; assess whether it is a significant change requiring their approval before implementation</a:t>
                      </a:r>
                      <a:endParaRPr lang="en-US" sz="92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924" b="1" dirty="0">
                          <a:solidFill>
                            <a:srgbClr val="A83A3C"/>
                          </a:solidFill>
                          <a:latin typeface="Calibri" pitchFamily="34" charset="0"/>
                          <a:ea typeface="Calibri" pitchFamily="34" charset="-122"/>
                          <a:cs typeface="Calibri" pitchFamily="34" charset="-120"/>
                        </a:rPr>
                        <a:t>Implementing first and telling them later is the pattern that costs certificates</a:t>
                      </a:r>
                      <a:endParaRPr lang="en-US" sz="92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724205">
                <a:tc>
                  <a:txBody>
                    <a:bodyPr/>
                    <a:lstStyle/>
                    <a:p>
                      <a:pPr indent="0" marL="0">
                        <a:buNone/>
                      </a:pPr>
                      <a:r>
                        <a:rPr lang="en-US" sz="968" b="1" dirty="0">
                          <a:solidFill>
                            <a:srgbClr val="1B3A4B"/>
                          </a:solidFill>
                          <a:latin typeface="Calibri" pitchFamily="34" charset="0"/>
                          <a:ea typeface="Calibri" pitchFamily="34" charset="-122"/>
                          <a:cs typeface="Calibri" pitchFamily="34" charset="-120"/>
                        </a:rPr>
                        <a:t>Change to the intended purpose</a:t>
                      </a:r>
                      <a:endParaRPr lang="en-US" sz="96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924" dirty="0">
                          <a:solidFill>
                            <a:srgbClr val="22333B"/>
                          </a:solidFill>
                          <a:latin typeface="Calibri" pitchFamily="34" charset="0"/>
                          <a:ea typeface="Calibri" pitchFamily="34" charset="-122"/>
                          <a:cs typeface="Calibri" pitchFamily="34" charset="-120"/>
                        </a:rPr>
                        <a:t>Almost always significant — it can change the classification, the applicable rules and the clinical evidence needed</a:t>
                      </a:r>
                      <a:endParaRPr lang="en-US" sz="92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924" dirty="0">
                          <a:solidFill>
                            <a:srgbClr val="22333B"/>
                          </a:solidFill>
                          <a:latin typeface="Calibri" pitchFamily="34" charset="0"/>
                          <a:ea typeface="Calibri" pitchFamily="34" charset="-122"/>
                          <a:cs typeface="Calibri" pitchFamily="34" charset="-120"/>
                        </a:rPr>
                        <a:t>This is why slide 11 matters. Widening a claim is a regulatory event, not a marketing one</a:t>
                      </a:r>
                      <a:endParaRPr lang="en-US" sz="92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724205">
                <a:tc>
                  <a:txBody>
                    <a:bodyPr/>
                    <a:lstStyle/>
                    <a:p>
                      <a:pPr indent="0" marL="0">
                        <a:buNone/>
                      </a:pPr>
                      <a:r>
                        <a:rPr lang="en-US" sz="968" b="1" dirty="0">
                          <a:solidFill>
                            <a:srgbClr val="1B3A4B"/>
                          </a:solidFill>
                          <a:latin typeface="Calibri" pitchFamily="34" charset="0"/>
                          <a:ea typeface="Calibri" pitchFamily="34" charset="-122"/>
                          <a:cs typeface="Calibri" pitchFamily="34" charset="-120"/>
                        </a:rPr>
                        <a:t>Change of supplier, material or manufacturing site</a:t>
                      </a:r>
                      <a:endParaRPr lang="en-US" sz="96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924" dirty="0">
                          <a:solidFill>
                            <a:srgbClr val="22333B"/>
                          </a:solidFill>
                          <a:latin typeface="Calibri" pitchFamily="34" charset="0"/>
                          <a:ea typeface="Calibri" pitchFamily="34" charset="-122"/>
                          <a:cs typeface="Calibri" pitchFamily="34" charset="-120"/>
                        </a:rPr>
                        <a:t>Assessed under your QMS change control, and notifiable where it affects the certified QMS or the device</a:t>
                      </a:r>
                      <a:endParaRPr lang="en-US" sz="92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924" dirty="0">
                          <a:solidFill>
                            <a:srgbClr val="22333B"/>
                          </a:solidFill>
                          <a:latin typeface="Calibri" pitchFamily="34" charset="0"/>
                          <a:ea typeface="Calibri" pitchFamily="34" charset="-122"/>
                          <a:cs typeface="Calibri" pitchFamily="34" charset="-120"/>
                        </a:rPr>
                        <a:t>Sites and critical suppliers are named in the documentation the notified body assessed</a:t>
                      </a:r>
                      <a:endParaRPr lang="en-US" sz="92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724205">
                <a:tc>
                  <a:txBody>
                    <a:bodyPr/>
                    <a:lstStyle/>
                    <a:p>
                      <a:pPr indent="0" marL="0">
                        <a:buNone/>
                      </a:pPr>
                      <a:r>
                        <a:rPr lang="en-US" sz="968" b="1" dirty="0">
                          <a:solidFill>
                            <a:srgbClr val="1B3A4B"/>
                          </a:solidFill>
                          <a:latin typeface="Calibri" pitchFamily="34" charset="0"/>
                          <a:ea typeface="Calibri" pitchFamily="34" charset="-122"/>
                          <a:cs typeface="Calibri" pitchFamily="34" charset="-120"/>
                        </a:rPr>
                        <a:t>Software update</a:t>
                      </a:r>
                      <a:endParaRPr lang="en-US" sz="96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924" dirty="0">
                          <a:solidFill>
                            <a:srgbClr val="22333B"/>
                          </a:solidFill>
                          <a:latin typeface="Calibri" pitchFamily="34" charset="0"/>
                          <a:ea typeface="Calibri" pitchFamily="34" charset="-122"/>
                          <a:cs typeface="Calibri" pitchFamily="34" charset="-120"/>
                        </a:rPr>
                        <a:t>Depends entirely on what changed. A defect fix and a new clinical feature are different regulatory events</a:t>
                      </a:r>
                      <a:endParaRPr lang="en-US" sz="92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924" dirty="0">
                          <a:solidFill>
                            <a:srgbClr val="22333B"/>
                          </a:solidFill>
                          <a:latin typeface="Calibri" pitchFamily="34" charset="0"/>
                          <a:ea typeface="Calibri" pitchFamily="34" charset="-122"/>
                          <a:cs typeface="Calibri" pitchFamily="34" charset="-120"/>
                        </a:rPr>
                        <a:t>Needs a documented impact assessment per release, not a blanket policy</a:t>
                      </a:r>
                      <a:endParaRPr lang="en-US" sz="92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724205">
                <a:tc>
                  <a:txBody>
                    <a:bodyPr/>
                    <a:lstStyle/>
                    <a:p>
                      <a:pPr indent="0" marL="0">
                        <a:buNone/>
                      </a:pPr>
                      <a:r>
                        <a:rPr lang="en-US" sz="968" b="1" dirty="0">
                          <a:solidFill>
                            <a:srgbClr val="1B3A4B"/>
                          </a:solidFill>
                          <a:latin typeface="Calibri" pitchFamily="34" charset="0"/>
                          <a:ea typeface="Calibri" pitchFamily="34" charset="-122"/>
                          <a:cs typeface="Calibri" pitchFamily="34" charset="-120"/>
                        </a:rPr>
                        <a:t>Legacy device under the transition</a:t>
                      </a:r>
                      <a:endParaRPr lang="en-US" sz="96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924" b="1" dirty="0">
                          <a:solidFill>
                            <a:srgbClr val="22333B"/>
                          </a:solidFill>
                          <a:latin typeface="Calibri" pitchFamily="34" charset="0"/>
                          <a:ea typeface="Calibri" pitchFamily="34" charset="-122"/>
                          <a:cs typeface="Calibri" pitchFamily="34" charset="-120"/>
                        </a:rPr>
                        <a:t>No significant changes in design or intended purpose are permitted while relying on the extended transition</a:t>
                      </a:r>
                      <a:endParaRPr lang="en-US" sz="92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924" b="1" dirty="0">
                          <a:solidFill>
                            <a:srgbClr val="A83A3C"/>
                          </a:solidFill>
                          <a:latin typeface="Calibri" pitchFamily="34" charset="0"/>
                          <a:ea typeface="Calibri" pitchFamily="34" charset="-122"/>
                          <a:cs typeface="Calibri" pitchFamily="34" charset="-120"/>
                        </a:rPr>
                        <a:t>A change you would make anyway can forfeit the transition. Check before you change, not after</a:t>
                      </a:r>
                      <a:endParaRPr lang="en-US" sz="92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ARTICLES 11, 15, 27-29</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Accountability and traceability</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24</a:t>
            </a:r>
            <a:endParaRPr lang="en-US" sz="900" dirty="0"/>
          </a:p>
        </p:txBody>
      </p:sp>
      <p:sp>
        <p:nvSpPr>
          <p:cNvPr id="6" name="Shape 4"/>
          <p:cNvSpPr/>
          <p:nvPr/>
        </p:nvSpPr>
        <p:spPr>
          <a:xfrm>
            <a:off x="548640" y="1627632"/>
            <a:ext cx="5410048" cy="1746504"/>
          </a:xfrm>
          <a:prstGeom prst="roundRect">
            <a:avLst>
              <a:gd name="adj" fmla="val 3665"/>
            </a:avLst>
          </a:prstGeom>
          <a:solidFill>
            <a:srgbClr val="F1F5F6"/>
          </a:solidFill>
          <a:ln w="12700">
            <a:solidFill>
              <a:srgbClr val="D7E2E5"/>
            </a:solidFill>
            <a:prstDash val="solid"/>
          </a:ln>
        </p:spPr>
      </p:sp>
      <p:sp>
        <p:nvSpPr>
          <p:cNvPr id="7" name="Text 5"/>
          <p:cNvSpPr txBox="1"/>
          <p:nvPr/>
        </p:nvSpPr>
        <p:spPr>
          <a:xfrm>
            <a:off x="768096" y="1828800"/>
            <a:ext cx="4971136" cy="330200"/>
          </a:xfrm>
          <a:prstGeom prst="rect">
            <a:avLst/>
          </a:prstGeom>
          <a:noFill/>
          <a:ln/>
        </p:spPr>
        <p:txBody>
          <a:bodyPr wrap="square" lIns="0" tIns="0" rIns="0" bIns="0" rtlCol="0" anchor="t"/>
          <a:lstStyle/>
          <a:p>
            <a:pPr indent="0" marL="0">
              <a:buNone/>
            </a:pPr>
            <a:r>
              <a:rPr lang="en-US" sz="1550" b="1" dirty="0">
                <a:solidFill>
                  <a:srgbClr val="0E7C7B"/>
                </a:solidFill>
                <a:latin typeface="Calibri" pitchFamily="34" charset="0"/>
                <a:ea typeface="Calibri" pitchFamily="34" charset="-122"/>
                <a:cs typeface="Calibri" pitchFamily="34" charset="-120"/>
              </a:rPr>
              <a:t>Article 15 — PRRC</a:t>
            </a:r>
            <a:endParaRPr lang="en-US" sz="1550" dirty="0"/>
          </a:p>
        </p:txBody>
      </p:sp>
      <p:sp>
        <p:nvSpPr>
          <p:cNvPr id="8" name="Text 6"/>
          <p:cNvSpPr txBox="1"/>
          <p:nvPr/>
        </p:nvSpPr>
        <p:spPr>
          <a:xfrm>
            <a:off x="768096" y="2195576"/>
            <a:ext cx="4971136" cy="1032256"/>
          </a:xfrm>
          <a:prstGeom prst="rect">
            <a:avLst/>
          </a:prstGeom>
          <a:noFill/>
          <a:ln/>
        </p:spPr>
        <p:txBody>
          <a:bodyPr wrap="square" lIns="0" tIns="0" rIns="0" bIns="0" rtlCol="0" anchor="t"/>
          <a:lstStyle/>
          <a:p>
            <a:pPr indent="0" marL="0">
              <a:lnSpc>
                <a:spcPct val="106000"/>
              </a:lnSpc>
              <a:buNone/>
            </a:pPr>
            <a:r>
              <a:rPr lang="en-US" sz="1100" dirty="0">
                <a:solidFill>
                  <a:srgbClr val="22333B"/>
                </a:solidFill>
                <a:latin typeface="Calibri" pitchFamily="34" charset="0"/>
                <a:ea typeface="Calibri" pitchFamily="34" charset="-122"/>
                <a:cs typeface="Calibri" pitchFamily="34" charset="-120"/>
              </a:rPr>
              <a:t>A named person responsible for regulatory compliance, with defined qualifications and defined duties: conformity before release, technical documentation currency, PMS obligations, vigilance reporting. Micro and small enterprises need not employ one, but must have one permanently and continuously at their disposal.</a:t>
            </a:r>
            <a:endParaRPr lang="en-US" sz="1100" dirty="0"/>
          </a:p>
        </p:txBody>
      </p:sp>
      <p:sp>
        <p:nvSpPr>
          <p:cNvPr id="9" name="Shape 7"/>
          <p:cNvSpPr/>
          <p:nvPr/>
        </p:nvSpPr>
        <p:spPr>
          <a:xfrm>
            <a:off x="6233008" y="1627632"/>
            <a:ext cx="5410048" cy="1746504"/>
          </a:xfrm>
          <a:prstGeom prst="roundRect">
            <a:avLst>
              <a:gd name="adj" fmla="val 3665"/>
            </a:avLst>
          </a:prstGeom>
          <a:solidFill>
            <a:srgbClr val="F1F5F6"/>
          </a:solidFill>
          <a:ln w="12700">
            <a:solidFill>
              <a:srgbClr val="D7E2E5"/>
            </a:solidFill>
            <a:prstDash val="solid"/>
          </a:ln>
        </p:spPr>
      </p:sp>
      <p:sp>
        <p:nvSpPr>
          <p:cNvPr id="10" name="Text 8"/>
          <p:cNvSpPr txBox="1"/>
          <p:nvPr/>
        </p:nvSpPr>
        <p:spPr>
          <a:xfrm>
            <a:off x="6452464" y="1828800"/>
            <a:ext cx="4971136" cy="330200"/>
          </a:xfrm>
          <a:prstGeom prst="rect">
            <a:avLst/>
          </a:prstGeom>
          <a:noFill/>
          <a:ln/>
        </p:spPr>
        <p:txBody>
          <a:bodyPr wrap="square" lIns="0" tIns="0" rIns="0" bIns="0" rtlCol="0" anchor="t"/>
          <a:lstStyle/>
          <a:p>
            <a:pPr indent="0" marL="0">
              <a:buNone/>
            </a:pPr>
            <a:r>
              <a:rPr lang="en-US" sz="1550" b="1" dirty="0">
                <a:solidFill>
                  <a:srgbClr val="2A9D8F"/>
                </a:solidFill>
                <a:latin typeface="Calibri" pitchFamily="34" charset="0"/>
                <a:ea typeface="Calibri" pitchFamily="34" charset="-122"/>
                <a:cs typeface="Calibri" pitchFamily="34" charset="-120"/>
              </a:rPr>
              <a:t>Article 11 — Authorised Representative</a:t>
            </a:r>
            <a:endParaRPr lang="en-US" sz="1550" dirty="0"/>
          </a:p>
        </p:txBody>
      </p:sp>
      <p:sp>
        <p:nvSpPr>
          <p:cNvPr id="11" name="Text 9"/>
          <p:cNvSpPr txBox="1"/>
          <p:nvPr/>
        </p:nvSpPr>
        <p:spPr>
          <a:xfrm>
            <a:off x="6452464" y="2195576"/>
            <a:ext cx="4971136" cy="1032256"/>
          </a:xfrm>
          <a:prstGeom prst="rect">
            <a:avLst/>
          </a:prstGeom>
          <a:noFill/>
          <a:ln/>
        </p:spPr>
        <p:txBody>
          <a:bodyPr wrap="square" lIns="0" tIns="0" rIns="0" bIns="0" rtlCol="0" anchor="t"/>
          <a:lstStyle/>
          <a:p>
            <a:pPr indent="0" marL="0">
              <a:lnSpc>
                <a:spcPct val="106000"/>
              </a:lnSpc>
              <a:buNone/>
            </a:pPr>
            <a:r>
              <a:rPr lang="en-US" sz="1100" dirty="0">
                <a:solidFill>
                  <a:srgbClr val="22333B"/>
                </a:solidFill>
                <a:latin typeface="Calibri" pitchFamily="34" charset="0"/>
                <a:ea typeface="Calibri" pitchFamily="34" charset="-122"/>
                <a:cs typeface="Calibri" pitchFamily="34" charset="-120"/>
              </a:rPr>
              <a:t>Required for any manufacturer outside the EU. Acts under a written mandate with a minimum content set by the article. Article 11(5) makes the AR jointly and severally liable with the manufacturer for defective devices — which is why the mandate is worth reading before signing.</a:t>
            </a:r>
            <a:endParaRPr lang="en-US" sz="1100" dirty="0"/>
          </a:p>
        </p:txBody>
      </p:sp>
      <p:sp>
        <p:nvSpPr>
          <p:cNvPr id="12" name="Shape 10"/>
          <p:cNvSpPr/>
          <p:nvPr/>
        </p:nvSpPr>
        <p:spPr>
          <a:xfrm>
            <a:off x="548640" y="3648456"/>
            <a:ext cx="5410048" cy="1746504"/>
          </a:xfrm>
          <a:prstGeom prst="roundRect">
            <a:avLst>
              <a:gd name="adj" fmla="val 3665"/>
            </a:avLst>
          </a:prstGeom>
          <a:solidFill>
            <a:srgbClr val="F1F5F6"/>
          </a:solidFill>
          <a:ln w="12700">
            <a:solidFill>
              <a:srgbClr val="D7E2E5"/>
            </a:solidFill>
            <a:prstDash val="solid"/>
          </a:ln>
        </p:spPr>
      </p:sp>
      <p:sp>
        <p:nvSpPr>
          <p:cNvPr id="13" name="Text 11"/>
          <p:cNvSpPr txBox="1"/>
          <p:nvPr/>
        </p:nvSpPr>
        <p:spPr>
          <a:xfrm>
            <a:off x="768096" y="3849624"/>
            <a:ext cx="4971136" cy="330200"/>
          </a:xfrm>
          <a:prstGeom prst="rect">
            <a:avLst/>
          </a:prstGeom>
          <a:noFill/>
          <a:ln/>
        </p:spPr>
        <p:txBody>
          <a:bodyPr wrap="square" lIns="0" tIns="0" rIns="0" bIns="0" rtlCol="0" anchor="t"/>
          <a:lstStyle/>
          <a:p>
            <a:pPr indent="0" marL="0">
              <a:buNone/>
            </a:pPr>
            <a:r>
              <a:rPr lang="en-US" sz="1550" b="1" dirty="0">
                <a:solidFill>
                  <a:srgbClr val="C77C1E"/>
                </a:solidFill>
                <a:latin typeface="Calibri" pitchFamily="34" charset="0"/>
                <a:ea typeface="Calibri" pitchFamily="34" charset="-122"/>
                <a:cs typeface="Calibri" pitchFamily="34" charset="-120"/>
              </a:rPr>
              <a:t>Basic UDI-DI and UDI-DI</a:t>
            </a:r>
            <a:endParaRPr lang="en-US" sz="1550" dirty="0"/>
          </a:p>
        </p:txBody>
      </p:sp>
      <p:sp>
        <p:nvSpPr>
          <p:cNvPr id="14" name="Text 12"/>
          <p:cNvSpPr txBox="1"/>
          <p:nvPr/>
        </p:nvSpPr>
        <p:spPr>
          <a:xfrm>
            <a:off x="768096" y="4216400"/>
            <a:ext cx="4971136" cy="1032256"/>
          </a:xfrm>
          <a:prstGeom prst="rect">
            <a:avLst/>
          </a:prstGeom>
          <a:noFill/>
          <a:ln/>
        </p:spPr>
        <p:txBody>
          <a:bodyPr wrap="square" lIns="0" tIns="0" rIns="0" bIns="0" rtlCol="0" anchor="t"/>
          <a:lstStyle/>
          <a:p>
            <a:pPr indent="0" marL="0">
              <a:lnSpc>
                <a:spcPct val="106000"/>
              </a:lnSpc>
              <a:buNone/>
            </a:pPr>
            <a:r>
              <a:rPr lang="en-US" sz="1100" dirty="0">
                <a:solidFill>
                  <a:srgbClr val="22333B"/>
                </a:solidFill>
                <a:latin typeface="Calibri" pitchFamily="34" charset="0"/>
                <a:ea typeface="Calibri" pitchFamily="34" charset="-122"/>
                <a:cs typeface="Calibri" pitchFamily="34" charset="-120"/>
              </a:rPr>
              <a:t>The Basic UDI-DI identifies the model and appears on the declaration of conformity and in EUDAMED — it is not on the label. The UDI-DI plus UDI-PI is what appears on the device and its packaging as the carrier.</a:t>
            </a:r>
            <a:endParaRPr lang="en-US" sz="1100" dirty="0"/>
          </a:p>
        </p:txBody>
      </p:sp>
      <p:sp>
        <p:nvSpPr>
          <p:cNvPr id="15" name="Shape 13"/>
          <p:cNvSpPr/>
          <p:nvPr/>
        </p:nvSpPr>
        <p:spPr>
          <a:xfrm>
            <a:off x="6233008" y="3648456"/>
            <a:ext cx="5410048" cy="1746504"/>
          </a:xfrm>
          <a:prstGeom prst="roundRect">
            <a:avLst>
              <a:gd name="adj" fmla="val 3665"/>
            </a:avLst>
          </a:prstGeom>
          <a:solidFill>
            <a:srgbClr val="F1F5F6"/>
          </a:solidFill>
          <a:ln w="12700">
            <a:solidFill>
              <a:srgbClr val="D7E2E5"/>
            </a:solidFill>
            <a:prstDash val="solid"/>
          </a:ln>
        </p:spPr>
      </p:sp>
      <p:sp>
        <p:nvSpPr>
          <p:cNvPr id="16" name="Text 14"/>
          <p:cNvSpPr txBox="1"/>
          <p:nvPr/>
        </p:nvSpPr>
        <p:spPr>
          <a:xfrm>
            <a:off x="6452464" y="3849624"/>
            <a:ext cx="4971136" cy="330200"/>
          </a:xfrm>
          <a:prstGeom prst="rect">
            <a:avLst/>
          </a:prstGeom>
          <a:noFill/>
          <a:ln/>
        </p:spPr>
        <p:txBody>
          <a:bodyPr wrap="square" lIns="0" tIns="0" rIns="0" bIns="0" rtlCol="0" anchor="t"/>
          <a:lstStyle/>
          <a:p>
            <a:pPr indent="0" marL="0">
              <a:buNone/>
            </a:pPr>
            <a:r>
              <a:rPr lang="en-US" sz="1550" b="1" dirty="0">
                <a:solidFill>
                  <a:srgbClr val="A83A3C"/>
                </a:solidFill>
                <a:latin typeface="Calibri" pitchFamily="34" charset="0"/>
                <a:ea typeface="Calibri" pitchFamily="34" charset="-122"/>
                <a:cs typeface="Calibri" pitchFamily="34" charset="-120"/>
              </a:rPr>
              <a:t>EUDAMED</a:t>
            </a:r>
            <a:endParaRPr lang="en-US" sz="1550" dirty="0"/>
          </a:p>
        </p:txBody>
      </p:sp>
      <p:sp>
        <p:nvSpPr>
          <p:cNvPr id="17" name="Text 15"/>
          <p:cNvSpPr txBox="1"/>
          <p:nvPr/>
        </p:nvSpPr>
        <p:spPr>
          <a:xfrm>
            <a:off x="6452464" y="4216400"/>
            <a:ext cx="4971136" cy="1032256"/>
          </a:xfrm>
          <a:prstGeom prst="rect">
            <a:avLst/>
          </a:prstGeom>
          <a:noFill/>
          <a:ln/>
        </p:spPr>
        <p:txBody>
          <a:bodyPr wrap="square" lIns="0" tIns="0" rIns="0" bIns="0" rtlCol="0" anchor="t"/>
          <a:lstStyle/>
          <a:p>
            <a:pPr indent="0" marL="0">
              <a:lnSpc>
                <a:spcPct val="106000"/>
              </a:lnSpc>
              <a:buNone/>
            </a:pPr>
            <a:r>
              <a:rPr lang="en-US" sz="1100" dirty="0">
                <a:solidFill>
                  <a:srgbClr val="22333B"/>
                </a:solidFill>
                <a:latin typeface="Calibri" pitchFamily="34" charset="0"/>
                <a:ea typeface="Calibri" pitchFamily="34" charset="-122"/>
                <a:cs typeface="Calibri" pitchFamily="34" charset="-120"/>
              </a:rPr>
              <a:t>The European database: actor registration, device registration, notified bodies and certificates, clinical investigations, vigilance, and market surveillance. Its modules have been brought into mandatory use on a phased basis — confirm which are mandatory today before you plan around them.</a:t>
            </a:r>
            <a:endParaRPr lang="en-US" sz="1100" dirty="0"/>
          </a:p>
        </p:txBody>
      </p:sp>
      <p:sp>
        <p:nvSpPr>
          <p:cNvPr id="18" name="Shape 16"/>
          <p:cNvSpPr/>
          <p:nvPr/>
        </p:nvSpPr>
        <p:spPr>
          <a:xfrm>
            <a:off x="548640" y="5504688"/>
            <a:ext cx="11094415" cy="749808"/>
          </a:xfrm>
          <a:prstGeom prst="roundRect">
            <a:avLst>
              <a:gd name="adj" fmla="val 7317"/>
            </a:avLst>
          </a:prstGeom>
          <a:solidFill>
            <a:srgbClr val="EAF3F2"/>
          </a:solidFill>
          <a:ln w="12700">
            <a:solidFill>
              <a:srgbClr val="BFD9D6"/>
            </a:solidFill>
            <a:prstDash val="solid"/>
          </a:ln>
        </p:spPr>
      </p:sp>
      <p:sp>
        <p:nvSpPr>
          <p:cNvPr id="19" name="Text 17"/>
          <p:cNvSpPr txBox="1"/>
          <p:nvPr/>
        </p:nvSpPr>
        <p:spPr>
          <a:xfrm>
            <a:off x="786384" y="5504688"/>
            <a:ext cx="10618927" cy="749808"/>
          </a:xfrm>
          <a:prstGeom prst="rect">
            <a:avLst/>
          </a:prstGeom>
          <a:noFill/>
          <a:ln/>
        </p:spPr>
        <p:txBody>
          <a:bodyPr wrap="square" lIns="0" tIns="0" rIns="0" bIns="0" rtlCol="0" anchor="ctr"/>
          <a:lstStyle/>
          <a:p>
            <a:pPr indent="0" marL="0">
              <a:buNone/>
            </a:pPr>
            <a:r>
              <a:rPr lang="en-US" sz="1250" b="1" dirty="0">
                <a:solidFill>
                  <a:srgbClr val="1B3A4B"/>
                </a:solidFill>
                <a:latin typeface="Calibri" pitchFamily="34" charset="0"/>
                <a:ea typeface="Calibri" pitchFamily="34" charset="-122"/>
                <a:cs typeface="Calibri" pitchFamily="34" charset="-120"/>
              </a:rPr>
              <a:t>The Basic UDI-DI trips people up: it is an identifier for a group of devices sharing the same intended purpose, class and design — an administrative key, not a barcode. Getting the grouping wrong propagates into every registration you make.</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ANNEX I CHAPTER III</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100" b="1" dirty="0">
                <a:solidFill>
                  <a:srgbClr val="1B3A4B"/>
                </a:solidFill>
                <a:latin typeface="Cambria" pitchFamily="34" charset="0"/>
                <a:ea typeface="Cambria" pitchFamily="34" charset="-122"/>
                <a:cs typeface="Cambria" pitchFamily="34" charset="-120"/>
              </a:rPr>
              <a:t>Labelling and language</a:t>
            </a:r>
            <a:endParaRPr lang="en-US" sz="31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25</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The most under-planned work package in a European launch, and the one that constrains which countries you can supply.</a:t>
            </a:r>
            <a:endParaRPr lang="en-US" sz="1400" dirty="0"/>
          </a:p>
        </p:txBody>
      </p:sp>
      <p:sp>
        <p:nvSpPr>
          <p:cNvPr id="7" name="Shape 5"/>
          <p:cNvSpPr/>
          <p:nvPr/>
        </p:nvSpPr>
        <p:spPr>
          <a:xfrm>
            <a:off x="548640" y="1847088"/>
            <a:ext cx="11094415" cy="1005840"/>
          </a:xfrm>
          <a:prstGeom prst="roundRect">
            <a:avLst>
              <a:gd name="adj" fmla="val 6364"/>
            </a:avLst>
          </a:prstGeom>
          <a:solidFill>
            <a:srgbClr val="F1F5F6"/>
          </a:solidFill>
          <a:ln w="12700">
            <a:solidFill>
              <a:srgbClr val="D7E2E5"/>
            </a:solidFill>
            <a:prstDash val="solid"/>
          </a:ln>
        </p:spPr>
      </p:sp>
      <p:sp>
        <p:nvSpPr>
          <p:cNvPr id="8" name="Shape 6"/>
          <p:cNvSpPr/>
          <p:nvPr/>
        </p:nvSpPr>
        <p:spPr>
          <a:xfrm>
            <a:off x="786384" y="2148840"/>
            <a:ext cx="402336" cy="402336"/>
          </a:xfrm>
          <a:prstGeom prst="ellipse">
            <a:avLst/>
          </a:prstGeom>
          <a:solidFill>
            <a:srgbClr val="A83A3C"/>
          </a:solidFill>
          <a:ln w="12700">
            <a:solidFill>
              <a:srgbClr val="A83A3C"/>
            </a:solidFill>
            <a:prstDash val="solid"/>
          </a:ln>
        </p:spPr>
      </p:sp>
      <p:sp>
        <p:nvSpPr>
          <p:cNvPr id="9" name="Text 7"/>
          <p:cNvSpPr txBox="1"/>
          <p:nvPr/>
        </p:nvSpPr>
        <p:spPr>
          <a:xfrm>
            <a:off x="786384" y="214884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1335024" y="1965960"/>
            <a:ext cx="10033711" cy="768096"/>
          </a:xfrm>
          <a:prstGeom prst="rect">
            <a:avLst/>
          </a:prstGeom>
          <a:noFill/>
          <a:ln/>
        </p:spPr>
        <p:txBody>
          <a:bodyPr wrap="square" lIns="0" tIns="0" rIns="0" bIns="0" rtlCol="0" anchor="ctr"/>
          <a:lstStyle/>
          <a:p>
            <a:pPr indent="0" marL="0">
              <a:lnSpc>
                <a:spcPct val="105000"/>
              </a:lnSpc>
              <a:buNone/>
            </a:pPr>
            <a:r>
              <a:rPr lang="en-US" sz="1350" b="1" dirty="0">
                <a:solidFill>
                  <a:srgbClr val="1B3A4B"/>
                </a:solidFill>
                <a:latin typeface="Calibri" pitchFamily="34" charset="0"/>
                <a:ea typeface="Calibri" pitchFamily="34" charset="-122"/>
                <a:cs typeface="Calibri" pitchFamily="34" charset="-120"/>
              </a:rPr>
              <a:t>Languages are set by each member state</a:t>
            </a:r>
            <a:endParaRPr lang="en-US" sz="1350" dirty="0"/>
          </a:p>
          <a:p>
            <a:pPr indent="0" marL="0">
              <a:lnSpc>
                <a:spcPct val="105000"/>
              </a:lnSpc>
              <a:buNone/>
            </a:pPr>
            <a:r>
              <a:rPr lang="en-US" sz="1120" dirty="0">
                <a:solidFill>
                  <a:srgbClr val="22333B"/>
                </a:solidFill>
                <a:latin typeface="Calibri" pitchFamily="34" charset="0"/>
                <a:ea typeface="Calibri" pitchFamily="34" charset="-122"/>
                <a:cs typeface="Calibri" pitchFamily="34" charset="-120"/>
              </a:rPr>
              <a:t>Information supplied with the device must be in the languages accepted by the member states where it is made available. That is a translation, review and validation programme — and it decides your launch sequence, because you cannot supply a market whose language you have not produced.</a:t>
            </a:r>
            <a:endParaRPr lang="en-US" sz="1350" dirty="0"/>
          </a:p>
        </p:txBody>
      </p:sp>
      <p:sp>
        <p:nvSpPr>
          <p:cNvPr id="11" name="Shape 9"/>
          <p:cNvSpPr/>
          <p:nvPr/>
        </p:nvSpPr>
        <p:spPr>
          <a:xfrm>
            <a:off x="548640" y="2980944"/>
            <a:ext cx="11094415" cy="1005840"/>
          </a:xfrm>
          <a:prstGeom prst="roundRect">
            <a:avLst>
              <a:gd name="adj" fmla="val 6364"/>
            </a:avLst>
          </a:prstGeom>
          <a:solidFill>
            <a:srgbClr val="F1F5F6"/>
          </a:solidFill>
          <a:ln w="12700">
            <a:solidFill>
              <a:srgbClr val="D7E2E5"/>
            </a:solidFill>
            <a:prstDash val="solid"/>
          </a:ln>
        </p:spPr>
      </p:sp>
      <p:sp>
        <p:nvSpPr>
          <p:cNvPr id="12" name="Shape 10"/>
          <p:cNvSpPr/>
          <p:nvPr/>
        </p:nvSpPr>
        <p:spPr>
          <a:xfrm>
            <a:off x="786384" y="3282696"/>
            <a:ext cx="402336" cy="402336"/>
          </a:xfrm>
          <a:prstGeom prst="ellipse">
            <a:avLst/>
          </a:prstGeom>
          <a:solidFill>
            <a:srgbClr val="C77C1E"/>
          </a:solidFill>
          <a:ln w="12700">
            <a:solidFill>
              <a:srgbClr val="C77C1E"/>
            </a:solidFill>
            <a:prstDash val="solid"/>
          </a:ln>
        </p:spPr>
      </p:sp>
      <p:sp>
        <p:nvSpPr>
          <p:cNvPr id="13" name="Text 11"/>
          <p:cNvSpPr txBox="1"/>
          <p:nvPr/>
        </p:nvSpPr>
        <p:spPr>
          <a:xfrm>
            <a:off x="786384" y="328269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1335024" y="3099816"/>
            <a:ext cx="10033711" cy="768096"/>
          </a:xfrm>
          <a:prstGeom prst="rect">
            <a:avLst/>
          </a:prstGeom>
          <a:noFill/>
          <a:ln/>
        </p:spPr>
        <p:txBody>
          <a:bodyPr wrap="square" lIns="0" tIns="0" rIns="0" bIns="0" rtlCol="0" anchor="ctr"/>
          <a:lstStyle/>
          <a:p>
            <a:pPr indent="0" marL="0">
              <a:lnSpc>
                <a:spcPct val="105000"/>
              </a:lnSpc>
              <a:buNone/>
            </a:pPr>
            <a:r>
              <a:rPr lang="en-US" sz="1350" b="1" dirty="0">
                <a:solidFill>
                  <a:srgbClr val="1B3A4B"/>
                </a:solidFill>
                <a:latin typeface="Calibri" pitchFamily="34" charset="0"/>
                <a:ea typeface="Calibri" pitchFamily="34" charset="-122"/>
                <a:cs typeface="Calibri" pitchFamily="34" charset="-120"/>
              </a:rPr>
              <a:t>Everything the risk file accepted must surface</a:t>
            </a:r>
            <a:endParaRPr lang="en-US" sz="1350" dirty="0"/>
          </a:p>
          <a:p>
            <a:pPr indent="0" marL="0">
              <a:lnSpc>
                <a:spcPct val="105000"/>
              </a:lnSpc>
              <a:buNone/>
            </a:pPr>
            <a:r>
              <a:rPr lang="en-US" sz="1120" dirty="0">
                <a:solidFill>
                  <a:srgbClr val="22333B"/>
                </a:solidFill>
                <a:latin typeface="Calibri" pitchFamily="34" charset="0"/>
                <a:ea typeface="Calibri" pitchFamily="34" charset="-122"/>
                <a:cs typeface="Calibri" pitchFamily="34" charset="-120"/>
              </a:rPr>
              <a:t>Residual risks, warnings, contraindications, and the limits of the intended purpose. The label and IFU are where risk management becomes visible to the user.</a:t>
            </a:r>
            <a:endParaRPr lang="en-US" sz="1350" dirty="0"/>
          </a:p>
        </p:txBody>
      </p:sp>
      <p:sp>
        <p:nvSpPr>
          <p:cNvPr id="15" name="Shape 13"/>
          <p:cNvSpPr/>
          <p:nvPr/>
        </p:nvSpPr>
        <p:spPr>
          <a:xfrm>
            <a:off x="548640" y="4114800"/>
            <a:ext cx="11094415" cy="1005840"/>
          </a:xfrm>
          <a:prstGeom prst="roundRect">
            <a:avLst>
              <a:gd name="adj" fmla="val 6364"/>
            </a:avLst>
          </a:prstGeom>
          <a:solidFill>
            <a:srgbClr val="F1F5F6"/>
          </a:solidFill>
          <a:ln w="12700">
            <a:solidFill>
              <a:srgbClr val="D7E2E5"/>
            </a:solidFill>
            <a:prstDash val="solid"/>
          </a:ln>
        </p:spPr>
      </p:sp>
      <p:sp>
        <p:nvSpPr>
          <p:cNvPr id="16" name="Shape 14"/>
          <p:cNvSpPr/>
          <p:nvPr/>
        </p:nvSpPr>
        <p:spPr>
          <a:xfrm>
            <a:off x="786384" y="4416552"/>
            <a:ext cx="402336" cy="402336"/>
          </a:xfrm>
          <a:prstGeom prst="ellipse">
            <a:avLst/>
          </a:prstGeom>
          <a:solidFill>
            <a:srgbClr val="2A9D8F"/>
          </a:solidFill>
          <a:ln w="12700">
            <a:solidFill>
              <a:srgbClr val="2A9D8F"/>
            </a:solidFill>
            <a:prstDash val="solid"/>
          </a:ln>
        </p:spPr>
      </p:sp>
      <p:sp>
        <p:nvSpPr>
          <p:cNvPr id="17" name="Text 15"/>
          <p:cNvSpPr txBox="1"/>
          <p:nvPr/>
        </p:nvSpPr>
        <p:spPr>
          <a:xfrm>
            <a:off x="786384" y="441655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335024" y="4233672"/>
            <a:ext cx="10033711" cy="768096"/>
          </a:xfrm>
          <a:prstGeom prst="rect">
            <a:avLst/>
          </a:prstGeom>
          <a:noFill/>
          <a:ln/>
        </p:spPr>
        <p:txBody>
          <a:bodyPr wrap="square" lIns="0" tIns="0" rIns="0" bIns="0" rtlCol="0" anchor="ctr"/>
          <a:lstStyle/>
          <a:p>
            <a:pPr indent="0" marL="0">
              <a:lnSpc>
                <a:spcPct val="105000"/>
              </a:lnSpc>
              <a:buNone/>
            </a:pPr>
            <a:r>
              <a:rPr lang="en-US" sz="1350" b="1" dirty="0">
                <a:solidFill>
                  <a:srgbClr val="1B3A4B"/>
                </a:solidFill>
                <a:latin typeface="Calibri" pitchFamily="34" charset="0"/>
                <a:ea typeface="Calibri" pitchFamily="34" charset="-122"/>
                <a:cs typeface="Calibri" pitchFamily="34" charset="-120"/>
              </a:rPr>
              <a:t>The UDI carrier and the symbols</a:t>
            </a:r>
            <a:endParaRPr lang="en-US" sz="1350" dirty="0"/>
          </a:p>
          <a:p>
            <a:pPr indent="0" marL="0">
              <a:lnSpc>
                <a:spcPct val="105000"/>
              </a:lnSpc>
              <a:buNone/>
            </a:pPr>
            <a:r>
              <a:rPr lang="en-US" sz="1120" dirty="0">
                <a:solidFill>
                  <a:srgbClr val="22333B"/>
                </a:solidFill>
                <a:latin typeface="Calibri" pitchFamily="34" charset="0"/>
                <a:ea typeface="Calibri" pitchFamily="34" charset="-122"/>
                <a:cs typeface="Calibri" pitchFamily="34" charset="-120"/>
              </a:rPr>
              <a:t>The UDI carrier on the device and packaging, plus the harmonised symbols. Electronic instructions for use are permitted only in defined circumstances and with conditions.</a:t>
            </a:r>
            <a:endParaRPr lang="en-US" sz="1350" dirty="0"/>
          </a:p>
        </p:txBody>
      </p:sp>
      <p:sp>
        <p:nvSpPr>
          <p:cNvPr id="19" name="Shape 17"/>
          <p:cNvSpPr/>
          <p:nvPr/>
        </p:nvSpPr>
        <p:spPr>
          <a:xfrm>
            <a:off x="548640" y="5248656"/>
            <a:ext cx="11094415" cy="1005840"/>
          </a:xfrm>
          <a:prstGeom prst="roundRect">
            <a:avLst>
              <a:gd name="adj" fmla="val 6364"/>
            </a:avLst>
          </a:prstGeom>
          <a:solidFill>
            <a:srgbClr val="F1F5F6"/>
          </a:solidFill>
          <a:ln w="12700">
            <a:solidFill>
              <a:srgbClr val="D7E2E5"/>
            </a:solidFill>
            <a:prstDash val="solid"/>
          </a:ln>
        </p:spPr>
      </p:sp>
      <p:sp>
        <p:nvSpPr>
          <p:cNvPr id="20" name="Shape 18"/>
          <p:cNvSpPr/>
          <p:nvPr/>
        </p:nvSpPr>
        <p:spPr>
          <a:xfrm>
            <a:off x="786384" y="5550408"/>
            <a:ext cx="402336" cy="402336"/>
          </a:xfrm>
          <a:prstGeom prst="ellipse">
            <a:avLst/>
          </a:prstGeom>
          <a:solidFill>
            <a:srgbClr val="0E7C7B"/>
          </a:solidFill>
          <a:ln w="12700">
            <a:solidFill>
              <a:srgbClr val="0E7C7B"/>
            </a:solidFill>
            <a:prstDash val="solid"/>
          </a:ln>
        </p:spPr>
      </p:sp>
      <p:sp>
        <p:nvSpPr>
          <p:cNvPr id="21" name="Text 19"/>
          <p:cNvSpPr txBox="1"/>
          <p:nvPr/>
        </p:nvSpPr>
        <p:spPr>
          <a:xfrm>
            <a:off x="786384" y="555040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1335024" y="5367528"/>
            <a:ext cx="10033711" cy="768096"/>
          </a:xfrm>
          <a:prstGeom prst="rect">
            <a:avLst/>
          </a:prstGeom>
          <a:noFill/>
          <a:ln/>
        </p:spPr>
        <p:txBody>
          <a:bodyPr wrap="square" lIns="0" tIns="0" rIns="0" bIns="0" rtlCol="0" anchor="ctr"/>
          <a:lstStyle/>
          <a:p>
            <a:pPr indent="0" marL="0">
              <a:lnSpc>
                <a:spcPct val="105000"/>
              </a:lnSpc>
              <a:buNone/>
            </a:pPr>
            <a:r>
              <a:rPr lang="en-US" sz="1350" b="1" dirty="0">
                <a:solidFill>
                  <a:srgbClr val="1B3A4B"/>
                </a:solidFill>
                <a:latin typeface="Calibri" pitchFamily="34" charset="0"/>
                <a:ea typeface="Calibri" pitchFamily="34" charset="-122"/>
                <a:cs typeface="Calibri" pitchFamily="34" charset="-120"/>
              </a:rPr>
              <a:t>It must match everything else</a:t>
            </a:r>
            <a:endParaRPr lang="en-US" sz="1350" dirty="0"/>
          </a:p>
          <a:p>
            <a:pPr indent="0" marL="0">
              <a:lnSpc>
                <a:spcPct val="105000"/>
              </a:lnSpc>
              <a:buNone/>
            </a:pPr>
            <a:r>
              <a:rPr lang="en-US" sz="1120" dirty="0">
                <a:solidFill>
                  <a:srgbClr val="22333B"/>
                </a:solidFill>
                <a:latin typeface="Calibri" pitchFamily="34" charset="0"/>
                <a:ea typeface="Calibri" pitchFamily="34" charset="-122"/>
                <a:cs typeface="Calibri" pitchFamily="34" charset="-120"/>
              </a:rPr>
              <a:t>The label, the IFU, the declaration of conformity, the EUDAMED entry and the marketing material have to agree. Inconsistency between them is an easy and common finding.</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REGULATION (EU) 2023/607</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2900" b="1" dirty="0">
                <a:solidFill>
                  <a:srgbClr val="1B3A4B"/>
                </a:solidFill>
                <a:latin typeface="Cambria" pitchFamily="34" charset="0"/>
                <a:ea typeface="Cambria" pitchFamily="34" charset="-122"/>
                <a:cs typeface="Cambria" pitchFamily="34" charset="-120"/>
              </a:rPr>
              <a:t>The transition: what is actually in force</a:t>
            </a:r>
            <a:endParaRPr lang="en-US" sz="29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26</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Extended deadlines for legacy devices — but only for devices that meet the conditions, and only if you do not change them.</a:t>
            </a:r>
            <a:endParaRPr lang="en-US" sz="1400" dirty="0"/>
          </a:p>
        </p:txBody>
      </p:sp>
      <p:sp>
        <p:nvSpPr>
          <p:cNvPr id="7" name="Text 5"/>
          <p:cNvSpPr txBox="1"/>
          <p:nvPr/>
        </p:nvSpPr>
        <p:spPr>
          <a:xfrm>
            <a:off x="548640" y="1828800"/>
            <a:ext cx="5394960" cy="256032"/>
          </a:xfrm>
          <a:prstGeom prst="rect">
            <a:avLst/>
          </a:prstGeom>
          <a:noFill/>
          <a:ln/>
        </p:spPr>
        <p:txBody>
          <a:bodyPr wrap="square" lIns="0" tIns="0" rIns="0" bIns="0" rtlCol="0" anchor="ctr"/>
          <a:lstStyle/>
          <a:p>
            <a:pPr indent="0" marL="0">
              <a:buNone/>
            </a:pPr>
            <a:r>
              <a:rPr lang="en-US" sz="1100" b="1" spc="120" kern="0" dirty="0">
                <a:solidFill>
                  <a:srgbClr val="A83A3C"/>
                </a:solidFill>
                <a:latin typeface="Calibri" pitchFamily="34" charset="0"/>
                <a:ea typeface="Calibri" pitchFamily="34" charset="-122"/>
                <a:cs typeface="Calibri" pitchFamily="34" charset="-120"/>
              </a:rPr>
              <a:t>THE DEADLINES</a:t>
            </a:r>
            <a:endParaRPr lang="en-US" sz="1100" dirty="0"/>
          </a:p>
        </p:txBody>
      </p:sp>
      <p:sp>
        <p:nvSpPr>
          <p:cNvPr id="8" name="Shape 6"/>
          <p:cNvSpPr/>
          <p:nvPr/>
        </p:nvSpPr>
        <p:spPr>
          <a:xfrm>
            <a:off x="548640" y="2139696"/>
            <a:ext cx="5394960" cy="3273552"/>
          </a:xfrm>
          <a:prstGeom prst="roundRect">
            <a:avLst>
              <a:gd name="adj" fmla="val 1955"/>
            </a:avLst>
          </a:prstGeom>
          <a:solidFill>
            <a:srgbClr val="FBEDED"/>
          </a:solidFill>
          <a:ln w="12700">
            <a:solidFill>
              <a:srgbClr val="DFA9A9"/>
            </a:solidFill>
            <a:prstDash val="solid"/>
          </a:ln>
        </p:spPr>
      </p:sp>
      <p:sp>
        <p:nvSpPr>
          <p:cNvPr id="9" name="Text 7"/>
          <p:cNvSpPr txBox="1"/>
          <p:nvPr/>
        </p:nvSpPr>
        <p:spPr>
          <a:xfrm>
            <a:off x="786384" y="2304288"/>
            <a:ext cx="4919472" cy="2962656"/>
          </a:xfrm>
          <a:prstGeom prst="rect">
            <a:avLst/>
          </a:prstGeom>
          <a:noFill/>
          <a:ln/>
        </p:spPr>
        <p:txBody>
          <a:bodyPr wrap="square" lIns="0" tIns="0" rIns="0" bIns="0" rtlCol="0" anchor="t"/>
          <a:lstStyle/>
          <a:p>
            <a:pPr indent="0" marL="0">
              <a:lnSpc>
                <a:spcPct val="104000"/>
              </a:lnSpc>
              <a:buNone/>
            </a:pPr>
            <a:r>
              <a:rPr lang="en-US" sz="1600" b="1" dirty="0">
                <a:solidFill>
                  <a:srgbClr val="A83A3C"/>
                </a:solidFill>
                <a:latin typeface="Calibri" pitchFamily="34" charset="0"/>
                <a:ea typeface="Calibri" pitchFamily="34" charset="-122"/>
                <a:cs typeface="Calibri" pitchFamily="34" charset="-120"/>
              </a:rPr>
              <a:t>31 December 2027
</a:t>
            </a:r>
            <a:pPr indent="0" marL="0">
              <a:lnSpc>
                <a:spcPct val="104000"/>
              </a:lnSpc>
              <a:buNone/>
            </a:pPr>
            <a:r>
              <a:rPr lang="en-US" sz="1100" dirty="0">
                <a:solidFill>
                  <a:srgbClr val="22333B"/>
                </a:solidFill>
                <a:latin typeface="Calibri" pitchFamily="34" charset="0"/>
                <a:ea typeface="Calibri" pitchFamily="34" charset="-122"/>
                <a:cs typeface="Calibri" pitchFamily="34" charset="-120"/>
              </a:rPr>
              <a:t>Class III, and Class IIb IMPLANTABLE devices — except sutures, staples, dental fillings, dental braces, tooth crowns, screws, wedges, plates, wires, pins, clips and connectors.
</a:t>
            </a:r>
            <a:pPr indent="0" marL="0">
              <a:lnSpc>
                <a:spcPct val="104000"/>
              </a:lnSpc>
              <a:buNone/>
            </a:pPr>
            <a:r>
              <a:rPr lang="en-US" sz="1600" b="1" dirty="0">
                <a:solidFill>
                  <a:srgbClr val="C77C1E"/>
                </a:solidFill>
                <a:latin typeface="Calibri" pitchFamily="34" charset="0"/>
                <a:ea typeface="Calibri" pitchFamily="34" charset="-122"/>
                <a:cs typeface="Calibri" pitchFamily="34" charset="-120"/>
              </a:rPr>
              <a:t>31 December 2028
</a:t>
            </a:r>
            <a:pPr indent="0" marL="0">
              <a:lnSpc>
                <a:spcPct val="104000"/>
              </a:lnSpc>
              <a:buNone/>
            </a:pPr>
            <a:r>
              <a:rPr lang="en-US" sz="1100" dirty="0">
                <a:solidFill>
                  <a:srgbClr val="22333B"/>
                </a:solidFill>
                <a:latin typeface="Calibri" pitchFamily="34" charset="0"/>
                <a:ea typeface="Calibri" pitchFamily="34" charset="-122"/>
                <a:cs typeface="Calibri" pitchFamily="34" charset="-120"/>
              </a:rPr>
              <a:t>All other Class IIb devices, all Class IIa devices, and Class I devices placed on the market in sterile condition, with a measuring function, or reusable surgical instruments.
</a:t>
            </a:r>
            <a:pPr indent="0" marL="0">
              <a:lnSpc>
                <a:spcPct val="104000"/>
              </a:lnSpc>
              <a:buNone/>
            </a:pPr>
            <a:r>
              <a:rPr lang="en-US" sz="1100" i="1" dirty="0">
                <a:solidFill>
                  <a:srgbClr val="1B3A4B"/>
                </a:solidFill>
                <a:latin typeface="Calibri" pitchFamily="34" charset="0"/>
                <a:ea typeface="Calibri" pitchFamily="34" charset="-122"/>
                <a:cs typeface="Calibri" pitchFamily="34" charset="-120"/>
              </a:rPr>
              <a:t>Those listed exceptions take the later date — which is why the same list appeared on slide 16.</a:t>
            </a:r>
            <a:endParaRPr lang="en-US" sz="1600" dirty="0"/>
          </a:p>
        </p:txBody>
      </p:sp>
      <p:sp>
        <p:nvSpPr>
          <p:cNvPr id="10" name="Text 8"/>
          <p:cNvSpPr txBox="1"/>
          <p:nvPr/>
        </p:nvSpPr>
        <p:spPr>
          <a:xfrm>
            <a:off x="6245352" y="1828800"/>
            <a:ext cx="5394960" cy="256032"/>
          </a:xfrm>
          <a:prstGeom prst="rect">
            <a:avLst/>
          </a:prstGeom>
          <a:noFill/>
          <a:ln/>
        </p:spPr>
        <p:txBody>
          <a:bodyPr wrap="square" lIns="0" tIns="0" rIns="0" bIns="0" rtlCol="0" anchor="ctr"/>
          <a:lstStyle/>
          <a:p>
            <a:pPr indent="0" marL="0">
              <a:buNone/>
            </a:pPr>
            <a:r>
              <a:rPr lang="en-US" sz="1100" b="1" spc="120" kern="0" dirty="0">
                <a:solidFill>
                  <a:srgbClr val="0E7C7B"/>
                </a:solidFill>
                <a:latin typeface="Calibri" pitchFamily="34" charset="0"/>
                <a:ea typeface="Calibri" pitchFamily="34" charset="-122"/>
                <a:cs typeface="Calibri" pitchFamily="34" charset="-120"/>
              </a:rPr>
              <a:t>THE CONDITIONS — ALL MUST HOLD</a:t>
            </a:r>
            <a:endParaRPr lang="en-US" sz="1100" dirty="0"/>
          </a:p>
        </p:txBody>
      </p:sp>
      <p:sp>
        <p:nvSpPr>
          <p:cNvPr id="11" name="Shape 9"/>
          <p:cNvSpPr/>
          <p:nvPr/>
        </p:nvSpPr>
        <p:spPr>
          <a:xfrm>
            <a:off x="6245352" y="2139696"/>
            <a:ext cx="5394960" cy="3273552"/>
          </a:xfrm>
          <a:prstGeom prst="roundRect">
            <a:avLst>
              <a:gd name="adj" fmla="val 1955"/>
            </a:avLst>
          </a:prstGeom>
          <a:solidFill>
            <a:srgbClr val="F1F5F6"/>
          </a:solidFill>
          <a:ln w="12700">
            <a:solidFill>
              <a:srgbClr val="D7E2E5"/>
            </a:solidFill>
            <a:prstDash val="solid"/>
          </a:ln>
        </p:spPr>
      </p:sp>
      <p:sp>
        <p:nvSpPr>
          <p:cNvPr id="12" name="Text 10"/>
          <p:cNvSpPr txBox="1"/>
          <p:nvPr/>
        </p:nvSpPr>
        <p:spPr>
          <a:xfrm>
            <a:off x="6483096" y="2304288"/>
            <a:ext cx="4919472" cy="2962656"/>
          </a:xfrm>
          <a:prstGeom prst="rect">
            <a:avLst/>
          </a:prstGeom>
          <a:noFill/>
          <a:ln/>
        </p:spPr>
        <p:txBody>
          <a:bodyPr wrap="square" lIns="0" tIns="0" rIns="0" bIns="0" rtlCol="0" anchor="t"/>
          <a:lstStyle/>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The device is a legacy device: covered by a certificate or declaration of conformity issued under the directives before 26 May 2021</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It continues to comply with the applicable directive</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There is no significant change in design or intended purpose</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It presents no unacceptable risk to health and safety</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By 26 May 2024 the manufacturer had a quality management system in place in accordance with MDR Article 10(9)</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By 26 May 2024 the manufacturer had lodged a formal application with a notified body, and by 26 September 2024 a written agreement was signed</a:t>
            </a:r>
            <a:endParaRPr lang="en-US" sz="1080" dirty="0"/>
          </a:p>
        </p:txBody>
      </p:sp>
      <p:sp>
        <p:nvSpPr>
          <p:cNvPr id="13" name="Shape 11"/>
          <p:cNvSpPr/>
          <p:nvPr/>
        </p:nvSpPr>
        <p:spPr>
          <a:xfrm>
            <a:off x="548640" y="5541264"/>
            <a:ext cx="11094415" cy="713232"/>
          </a:xfrm>
          <a:prstGeom prst="roundRect">
            <a:avLst>
              <a:gd name="adj" fmla="val 7692"/>
            </a:avLst>
          </a:prstGeom>
          <a:solidFill>
            <a:srgbClr val="FBEDED"/>
          </a:solidFill>
          <a:ln w="12700">
            <a:solidFill>
              <a:srgbClr val="DFA9A9"/>
            </a:solidFill>
            <a:prstDash val="solid"/>
          </a:ln>
        </p:spPr>
      </p:sp>
      <p:sp>
        <p:nvSpPr>
          <p:cNvPr id="14" name="Text 12"/>
          <p:cNvSpPr txBox="1"/>
          <p:nvPr/>
        </p:nvSpPr>
        <p:spPr>
          <a:xfrm>
            <a:off x="786384" y="5541264"/>
            <a:ext cx="10618927" cy="713232"/>
          </a:xfrm>
          <a:prstGeom prst="rect">
            <a:avLst/>
          </a:prstGeom>
          <a:noFill/>
          <a:ln/>
        </p:spPr>
        <p:txBody>
          <a:bodyPr wrap="square" lIns="0" tIns="0" rIns="0" bIns="0" rtlCol="0" anchor="ctr"/>
          <a:lstStyle/>
          <a:p>
            <a:pPr indent="0" marL="0">
              <a:buNone/>
            </a:pPr>
            <a:r>
              <a:rPr lang="en-US" sz="1250" b="1" dirty="0">
                <a:solidFill>
                  <a:srgbClr val="7A2A2B"/>
                </a:solidFill>
                <a:latin typeface="Calibri" pitchFamily="34" charset="0"/>
                <a:ea typeface="Calibri" pitchFamily="34" charset="-122"/>
                <a:cs typeface="Calibri" pitchFamily="34" charset="-120"/>
              </a:rPr>
              <a:t>The extension is not a delay you can take. It is conditional relief you either qualified for by specific dates in 2024, or did not.</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COM(2025) 1023</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What is proposed — and is not law</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27</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On 16 December 2025 the Commission proposed amendments to simplify MDR and IVDR. It is a proposal under the ordinary legislative procedure. Nothing here is in force.</a:t>
            </a:r>
            <a:endParaRPr lang="en-US" sz="1400" dirty="0"/>
          </a:p>
        </p:txBody>
      </p:sp>
      <p:sp>
        <p:nvSpPr>
          <p:cNvPr id="7" name="Shape 5"/>
          <p:cNvSpPr/>
          <p:nvPr/>
        </p:nvSpPr>
        <p:spPr>
          <a:xfrm>
            <a:off x="548640" y="1883664"/>
            <a:ext cx="5410048" cy="1591056"/>
          </a:xfrm>
          <a:prstGeom prst="roundRect">
            <a:avLst>
              <a:gd name="adj" fmla="val 4023"/>
            </a:avLst>
          </a:prstGeom>
          <a:solidFill>
            <a:srgbClr val="F1F5F6"/>
          </a:solidFill>
          <a:ln w="12700">
            <a:solidFill>
              <a:srgbClr val="D7E2E5"/>
            </a:solidFill>
            <a:prstDash val="solid"/>
          </a:ln>
        </p:spPr>
      </p:sp>
      <p:sp>
        <p:nvSpPr>
          <p:cNvPr id="8" name="Text 6"/>
          <p:cNvSpPr txBox="1"/>
          <p:nvPr/>
        </p:nvSpPr>
        <p:spPr>
          <a:xfrm>
            <a:off x="768096" y="2084832"/>
            <a:ext cx="4971136" cy="522224"/>
          </a:xfrm>
          <a:prstGeom prst="rect">
            <a:avLst/>
          </a:prstGeom>
          <a:noFill/>
          <a:ln/>
        </p:spPr>
        <p:txBody>
          <a:bodyPr wrap="square" lIns="0" tIns="0" rIns="0" bIns="0" rtlCol="0" anchor="t"/>
          <a:lstStyle/>
          <a:p>
            <a:pPr indent="0" marL="0">
              <a:buNone/>
            </a:pPr>
            <a:r>
              <a:rPr lang="en-US" sz="1450" b="1" dirty="0">
                <a:solidFill>
                  <a:srgbClr val="2A9D8F"/>
                </a:solidFill>
                <a:latin typeface="Calibri" pitchFamily="34" charset="0"/>
                <a:ea typeface="Calibri" pitchFamily="34" charset="-122"/>
                <a:cs typeface="Calibri" pitchFamily="34" charset="-120"/>
              </a:rPr>
              <a:t>Lighter notified body involvement for IIa and IIb</a:t>
            </a:r>
            <a:endParaRPr lang="en-US" sz="1450" dirty="0"/>
          </a:p>
        </p:txBody>
      </p:sp>
      <p:sp>
        <p:nvSpPr>
          <p:cNvPr id="9" name="Text 7"/>
          <p:cNvSpPr txBox="1"/>
          <p:nvPr/>
        </p:nvSpPr>
        <p:spPr>
          <a:xfrm>
            <a:off x="768096" y="2643632"/>
            <a:ext cx="4971136" cy="684784"/>
          </a:xfrm>
          <a:prstGeom prst="rect">
            <a:avLst/>
          </a:prstGeom>
          <a:noFill/>
          <a:ln/>
        </p:spPr>
        <p:txBody>
          <a:bodyPr wrap="square" lIns="0" tIns="0" rIns="0" bIns="0" rtlCol="0" anchor="t"/>
          <a:lstStyle/>
          <a:p>
            <a:pPr indent="0" marL="0">
              <a:lnSpc>
                <a:spcPct val="106000"/>
              </a:lnSpc>
              <a:buNone/>
            </a:pPr>
            <a:r>
              <a:rPr lang="en-US" sz="850" dirty="0">
                <a:solidFill>
                  <a:srgbClr val="22333B"/>
                </a:solidFill>
                <a:latin typeface="Calibri" pitchFamily="34" charset="0"/>
                <a:ea typeface="Calibri" pitchFamily="34" charset="-122"/>
                <a:cs typeface="Calibri" pitchFamily="34" charset="-120"/>
              </a:rPr>
              <a:t>Technical documentation assessment of one representative device per generic device group, per category, or for the whole portfolio; no systematic assessment of representative devices during surveillance; remote audits permitted; surveillance audits every two years absent safety issues; unannounced audits become for-cause.</a:t>
            </a:r>
            <a:endParaRPr lang="en-US" sz="850" dirty="0"/>
          </a:p>
        </p:txBody>
      </p:sp>
      <p:sp>
        <p:nvSpPr>
          <p:cNvPr id="10" name="Shape 8"/>
          <p:cNvSpPr/>
          <p:nvPr/>
        </p:nvSpPr>
        <p:spPr>
          <a:xfrm>
            <a:off x="6233008" y="1883664"/>
            <a:ext cx="5410048" cy="1591056"/>
          </a:xfrm>
          <a:prstGeom prst="roundRect">
            <a:avLst>
              <a:gd name="adj" fmla="val 4023"/>
            </a:avLst>
          </a:prstGeom>
          <a:solidFill>
            <a:srgbClr val="F1F5F6"/>
          </a:solidFill>
          <a:ln w="12700">
            <a:solidFill>
              <a:srgbClr val="D7E2E5"/>
            </a:solidFill>
            <a:prstDash val="solid"/>
          </a:ln>
        </p:spPr>
      </p:sp>
      <p:sp>
        <p:nvSpPr>
          <p:cNvPr id="11" name="Text 9"/>
          <p:cNvSpPr txBox="1"/>
          <p:nvPr/>
        </p:nvSpPr>
        <p:spPr>
          <a:xfrm>
            <a:off x="6452464" y="2084832"/>
            <a:ext cx="4971136" cy="522224"/>
          </a:xfrm>
          <a:prstGeom prst="rect">
            <a:avLst/>
          </a:prstGeom>
          <a:noFill/>
          <a:ln/>
        </p:spPr>
        <p:txBody>
          <a:bodyPr wrap="square" lIns="0" tIns="0" rIns="0" bIns="0" rtlCol="0" anchor="t"/>
          <a:lstStyle/>
          <a:p>
            <a:pPr indent="0" marL="0">
              <a:buNone/>
            </a:pPr>
            <a:r>
              <a:rPr lang="en-US" sz="1450" b="1" dirty="0">
                <a:solidFill>
                  <a:srgbClr val="0E7C7B"/>
                </a:solidFill>
                <a:latin typeface="Calibri" pitchFamily="34" charset="0"/>
                <a:ea typeface="Calibri" pitchFamily="34" charset="-122"/>
                <a:cs typeface="Calibri" pitchFamily="34" charset="-120"/>
              </a:rPr>
              <a:t>Certificates and change control</a:t>
            </a:r>
            <a:endParaRPr lang="en-US" sz="1450" dirty="0"/>
          </a:p>
        </p:txBody>
      </p:sp>
      <p:sp>
        <p:nvSpPr>
          <p:cNvPr id="12" name="Text 10"/>
          <p:cNvSpPr txBox="1"/>
          <p:nvPr/>
        </p:nvSpPr>
        <p:spPr>
          <a:xfrm>
            <a:off x="6452464" y="2643632"/>
            <a:ext cx="4971136" cy="684784"/>
          </a:xfrm>
          <a:prstGeom prst="rect">
            <a:avLst/>
          </a:prstGeom>
          <a:noFill/>
          <a:ln/>
        </p:spPr>
        <p:txBody>
          <a:bodyPr wrap="square" lIns="0" tIns="0" rIns="0" bIns="0" rtlCol="0" anchor="t"/>
          <a:lstStyle/>
          <a:p>
            <a:pPr indent="0" marL="0">
              <a:lnSpc>
                <a:spcPct val="106000"/>
              </a:lnSpc>
              <a:buNone/>
            </a:pPr>
            <a:r>
              <a:rPr lang="en-US" sz="850" dirty="0">
                <a:solidFill>
                  <a:srgbClr val="22333B"/>
                </a:solidFill>
                <a:latin typeface="Calibri" pitchFamily="34" charset="0"/>
                <a:ea typeface="Calibri" pitchFamily="34" charset="-122"/>
                <a:cs typeface="Calibri" pitchFamily="34" charset="-120"/>
              </a:rPr>
              <a:t>The five-year maximum certificate validity removed, replaced by risk-proportionate periodic review. Notified bodies to classify changes as needing no notification, no approval, or approval — with predetermined change control plans where appropriate.</a:t>
            </a:r>
            <a:endParaRPr lang="en-US" sz="850" dirty="0"/>
          </a:p>
        </p:txBody>
      </p:sp>
      <p:sp>
        <p:nvSpPr>
          <p:cNvPr id="13" name="Shape 11"/>
          <p:cNvSpPr/>
          <p:nvPr/>
        </p:nvSpPr>
        <p:spPr>
          <a:xfrm>
            <a:off x="548640" y="3749040"/>
            <a:ext cx="5410048" cy="1591056"/>
          </a:xfrm>
          <a:prstGeom prst="roundRect">
            <a:avLst>
              <a:gd name="adj" fmla="val 4023"/>
            </a:avLst>
          </a:prstGeom>
          <a:solidFill>
            <a:srgbClr val="F1F5F6"/>
          </a:solidFill>
          <a:ln w="12700">
            <a:solidFill>
              <a:srgbClr val="D7E2E5"/>
            </a:solidFill>
            <a:prstDash val="solid"/>
          </a:ln>
        </p:spPr>
      </p:sp>
      <p:sp>
        <p:nvSpPr>
          <p:cNvPr id="14" name="Text 12"/>
          <p:cNvSpPr txBox="1"/>
          <p:nvPr/>
        </p:nvSpPr>
        <p:spPr>
          <a:xfrm>
            <a:off x="768096" y="3950208"/>
            <a:ext cx="4971136" cy="522224"/>
          </a:xfrm>
          <a:prstGeom prst="rect">
            <a:avLst/>
          </a:prstGeom>
          <a:noFill/>
          <a:ln/>
        </p:spPr>
        <p:txBody>
          <a:bodyPr wrap="square" lIns="0" tIns="0" rIns="0" bIns="0" rtlCol="0" anchor="t"/>
          <a:lstStyle/>
          <a:p>
            <a:pPr indent="0" marL="0">
              <a:buNone/>
            </a:pPr>
            <a:r>
              <a:rPr lang="en-US" sz="1450" b="1" dirty="0">
                <a:solidFill>
                  <a:srgbClr val="C77C1E"/>
                </a:solidFill>
                <a:latin typeface="Calibri" pitchFamily="34" charset="0"/>
                <a:ea typeface="Calibri" pitchFamily="34" charset="-122"/>
                <a:cs typeface="Calibri" pitchFamily="34" charset="-120"/>
              </a:rPr>
              <a:t>Clinical evidence loosened</a:t>
            </a:r>
            <a:endParaRPr lang="en-US" sz="1450" dirty="0"/>
          </a:p>
        </p:txBody>
      </p:sp>
      <p:sp>
        <p:nvSpPr>
          <p:cNvPr id="15" name="Text 13"/>
          <p:cNvSpPr txBox="1"/>
          <p:nvPr/>
        </p:nvSpPr>
        <p:spPr>
          <a:xfrm>
            <a:off x="768096" y="4509008"/>
            <a:ext cx="4971136" cy="684784"/>
          </a:xfrm>
          <a:prstGeom prst="rect">
            <a:avLst/>
          </a:prstGeom>
          <a:noFill/>
          <a:ln/>
        </p:spPr>
        <p:txBody>
          <a:bodyPr wrap="square" lIns="0" tIns="0" rIns="0" bIns="0" rtlCol="0" anchor="t"/>
          <a:lstStyle/>
          <a:p>
            <a:pPr indent="0" marL="0">
              <a:lnSpc>
                <a:spcPct val="106000"/>
              </a:lnSpc>
              <a:buNone/>
            </a:pPr>
            <a:r>
              <a:rPr lang="en-US" sz="850" dirty="0">
                <a:solidFill>
                  <a:srgbClr val="22333B"/>
                </a:solidFill>
                <a:latin typeface="Calibri" pitchFamily="34" charset="0"/>
                <a:ea typeface="Calibri" pitchFamily="34" charset="-122"/>
                <a:cs typeface="Calibri" pitchFamily="34" charset="-120"/>
              </a:rPr>
              <a:t>A wider range of data would qualify as clinical data, the conditions for relying on an equivalent device made more flexible, greater scope to rely on non-clinical data alone, and explicit promotion of in silico methods.</a:t>
            </a:r>
            <a:endParaRPr lang="en-US" sz="850" dirty="0"/>
          </a:p>
        </p:txBody>
      </p:sp>
      <p:sp>
        <p:nvSpPr>
          <p:cNvPr id="16" name="Shape 14"/>
          <p:cNvSpPr/>
          <p:nvPr/>
        </p:nvSpPr>
        <p:spPr>
          <a:xfrm>
            <a:off x="6233008" y="3749040"/>
            <a:ext cx="5410048" cy="1591056"/>
          </a:xfrm>
          <a:prstGeom prst="roundRect">
            <a:avLst>
              <a:gd name="adj" fmla="val 4023"/>
            </a:avLst>
          </a:prstGeom>
          <a:solidFill>
            <a:srgbClr val="F1F5F6"/>
          </a:solidFill>
          <a:ln w="12700">
            <a:solidFill>
              <a:srgbClr val="D7E2E5"/>
            </a:solidFill>
            <a:prstDash val="solid"/>
          </a:ln>
        </p:spPr>
      </p:sp>
      <p:sp>
        <p:nvSpPr>
          <p:cNvPr id="17" name="Text 15"/>
          <p:cNvSpPr txBox="1"/>
          <p:nvPr/>
        </p:nvSpPr>
        <p:spPr>
          <a:xfrm>
            <a:off x="6452464" y="3950208"/>
            <a:ext cx="4971136" cy="522224"/>
          </a:xfrm>
          <a:prstGeom prst="rect">
            <a:avLst/>
          </a:prstGeom>
          <a:noFill/>
          <a:ln/>
        </p:spPr>
        <p:txBody>
          <a:bodyPr wrap="square" lIns="0" tIns="0" rIns="0" bIns="0" rtlCol="0" anchor="t"/>
          <a:lstStyle/>
          <a:p>
            <a:pPr indent="0" marL="0">
              <a:buNone/>
            </a:pPr>
            <a:r>
              <a:rPr lang="en-US" sz="1450" b="1" dirty="0">
                <a:solidFill>
                  <a:srgbClr val="A83A3C"/>
                </a:solidFill>
                <a:latin typeface="Calibri" pitchFamily="34" charset="0"/>
                <a:ea typeface="Calibri" pitchFamily="34" charset="-122"/>
                <a:cs typeface="Calibri" pitchFamily="34" charset="-120"/>
              </a:rPr>
              <a:t>Burden reductions</a:t>
            </a:r>
            <a:endParaRPr lang="en-US" sz="1450" dirty="0"/>
          </a:p>
        </p:txBody>
      </p:sp>
      <p:sp>
        <p:nvSpPr>
          <p:cNvPr id="18" name="Text 16"/>
          <p:cNvSpPr txBox="1"/>
          <p:nvPr/>
        </p:nvSpPr>
        <p:spPr>
          <a:xfrm>
            <a:off x="6452464" y="4509008"/>
            <a:ext cx="4971136" cy="684784"/>
          </a:xfrm>
          <a:prstGeom prst="rect">
            <a:avLst/>
          </a:prstGeom>
          <a:noFill/>
          <a:ln/>
        </p:spPr>
        <p:txBody>
          <a:bodyPr wrap="square" lIns="0" tIns="0" rIns="0" bIns="0" rtlCol="0" anchor="t"/>
          <a:lstStyle/>
          <a:p>
            <a:pPr indent="0" marL="0">
              <a:lnSpc>
                <a:spcPct val="106000"/>
              </a:lnSpc>
              <a:buNone/>
            </a:pPr>
            <a:r>
              <a:rPr lang="en-US" sz="850" dirty="0">
                <a:solidFill>
                  <a:srgbClr val="22333B"/>
                </a:solidFill>
                <a:latin typeface="Calibri" pitchFamily="34" charset="0"/>
                <a:ea typeface="Calibri" pitchFamily="34" charset="-122"/>
                <a:cs typeface="Calibri" pitchFamily="34" charset="-120"/>
              </a:rPr>
              <a:t>Some classification rules adapted to lower classes, including for software. PRRC qualification requirements relaxed. Vigilance reporting for non-critical serious incidents extended from 15 to 30 days. PSUR frequency reduced. Notified body fee reductions for micro and small manufacturers.</a:t>
            </a:r>
            <a:endParaRPr lang="en-US" sz="850" dirty="0"/>
          </a:p>
        </p:txBody>
      </p:sp>
      <p:sp>
        <p:nvSpPr>
          <p:cNvPr id="19" name="Shape 17"/>
          <p:cNvSpPr/>
          <p:nvPr/>
        </p:nvSpPr>
        <p:spPr>
          <a:xfrm>
            <a:off x="548640" y="5449824"/>
            <a:ext cx="11094415" cy="786384"/>
          </a:xfrm>
          <a:prstGeom prst="roundRect">
            <a:avLst>
              <a:gd name="adj" fmla="val 6977"/>
            </a:avLst>
          </a:prstGeom>
          <a:solidFill>
            <a:srgbClr val="FBEDED"/>
          </a:solidFill>
          <a:ln w="12700">
            <a:solidFill>
              <a:srgbClr val="DFA9A9"/>
            </a:solidFill>
            <a:prstDash val="solid"/>
          </a:ln>
        </p:spPr>
      </p:sp>
      <p:sp>
        <p:nvSpPr>
          <p:cNvPr id="20" name="Text 18"/>
          <p:cNvSpPr txBox="1"/>
          <p:nvPr/>
        </p:nvSpPr>
        <p:spPr>
          <a:xfrm>
            <a:off x="786384" y="5449824"/>
            <a:ext cx="10618927" cy="786384"/>
          </a:xfrm>
          <a:prstGeom prst="rect">
            <a:avLst/>
          </a:prstGeom>
          <a:noFill/>
          <a:ln/>
        </p:spPr>
        <p:txBody>
          <a:bodyPr wrap="square" lIns="0" tIns="0" rIns="0" bIns="0" rtlCol="0" anchor="ctr"/>
          <a:lstStyle/>
          <a:p>
            <a:pPr indent="0" marL="0">
              <a:buNone/>
            </a:pPr>
            <a:r>
              <a:rPr lang="en-US" sz="1250" b="1" dirty="0">
                <a:solidFill>
                  <a:srgbClr val="7A2A2B"/>
                </a:solidFill>
                <a:latin typeface="Calibri" pitchFamily="34" charset="0"/>
                <a:ea typeface="Calibri" pitchFamily="34" charset="-122"/>
                <a:cs typeface="Calibri" pitchFamily="34" charset="-120"/>
              </a:rPr>
              <a:t>Do not plan around this. A Commission proposal must pass the Parliament and the Council, and can change substantially or fail. Track it; assume current law until it is published in the Official Journal.</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3A4B"/>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310896"/>
          </a:xfrm>
          <a:prstGeom prst="rect">
            <a:avLst/>
          </a:prstGeom>
          <a:noFill/>
          <a:ln/>
        </p:spPr>
        <p:txBody>
          <a:bodyPr wrap="square" lIns="0" tIns="0" rIns="0" bIns="0" rtlCol="0" anchor="ctr"/>
          <a:lstStyle/>
          <a:p>
            <a:pPr indent="0" marL="0">
              <a:buNone/>
            </a:pPr>
            <a:r>
              <a:rPr lang="en-US" sz="1250" b="1" spc="200" kern="0" dirty="0">
                <a:solidFill>
                  <a:srgbClr val="C77C1E"/>
                </a:solidFill>
                <a:latin typeface="Calibri" pitchFamily="34" charset="0"/>
                <a:ea typeface="Calibri" pitchFamily="34" charset="-122"/>
                <a:cs typeface="Calibri" pitchFamily="34" charset="-120"/>
              </a:rPr>
              <a:t>WORKING SESSION ONE  ·  10 MINUTES</a:t>
            </a:r>
            <a:endParaRPr lang="en-US" sz="1250" dirty="0"/>
          </a:p>
        </p:txBody>
      </p:sp>
      <p:sp>
        <p:nvSpPr>
          <p:cNvPr id="3" name="Text 1"/>
          <p:cNvSpPr txBox="1"/>
          <p:nvPr/>
        </p:nvSpPr>
        <p:spPr>
          <a:xfrm>
            <a:off x="548640" y="804672"/>
            <a:ext cx="11094415" cy="603504"/>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One device, four classifications</a:t>
            </a:r>
            <a:endParaRPr lang="en-US" sz="3200" dirty="0"/>
          </a:p>
        </p:txBody>
      </p:sp>
      <p:sp>
        <p:nvSpPr>
          <p:cNvPr id="4" name="Shape 2"/>
          <p:cNvSpPr/>
          <p:nvPr/>
        </p:nvSpPr>
        <p:spPr>
          <a:xfrm>
            <a:off x="548640" y="1536192"/>
            <a:ext cx="5394960" cy="4059936"/>
          </a:xfrm>
          <a:prstGeom prst="roundRect">
            <a:avLst>
              <a:gd name="adj" fmla="val 1577"/>
            </a:avLst>
          </a:prstGeom>
          <a:solidFill>
            <a:srgbClr val="24505F"/>
          </a:solidFill>
          <a:ln w="12700">
            <a:solidFill>
              <a:srgbClr val="3A6A7A"/>
            </a:solidFill>
            <a:prstDash val="solid"/>
          </a:ln>
        </p:spPr>
      </p:sp>
      <p:sp>
        <p:nvSpPr>
          <p:cNvPr id="5" name="Text 3"/>
          <p:cNvSpPr txBox="1"/>
          <p:nvPr/>
        </p:nvSpPr>
        <p:spPr>
          <a:xfrm>
            <a:off x="804672" y="1700784"/>
            <a:ext cx="4882896" cy="274320"/>
          </a:xfrm>
          <a:prstGeom prst="rect">
            <a:avLst/>
          </a:prstGeom>
          <a:noFill/>
          <a:ln/>
        </p:spPr>
        <p:txBody>
          <a:bodyPr wrap="square" lIns="0" tIns="0" rIns="0" bIns="0" rtlCol="0" anchor="ctr"/>
          <a:lstStyle/>
          <a:p>
            <a:pPr indent="0" marL="0">
              <a:buNone/>
            </a:pPr>
            <a:r>
              <a:rPr lang="en-US" sz="1100" b="1" spc="140" kern="0" dirty="0">
                <a:solidFill>
                  <a:srgbClr val="9EDDD3"/>
                </a:solidFill>
                <a:latin typeface="Calibri" pitchFamily="34" charset="0"/>
                <a:ea typeface="Calibri" pitchFamily="34" charset="-122"/>
                <a:cs typeface="Calibri" pitchFamily="34" charset="-120"/>
              </a:rPr>
              <a:t>THE DEVICE</a:t>
            </a:r>
            <a:endParaRPr lang="en-US" sz="1100" dirty="0"/>
          </a:p>
        </p:txBody>
      </p:sp>
      <p:sp>
        <p:nvSpPr>
          <p:cNvPr id="6" name="Text 4"/>
          <p:cNvSpPr txBox="1"/>
          <p:nvPr/>
        </p:nvSpPr>
        <p:spPr>
          <a:xfrm>
            <a:off x="804672" y="2029968"/>
            <a:ext cx="4882896" cy="3419856"/>
          </a:xfrm>
          <a:prstGeom prst="rect">
            <a:avLst/>
          </a:prstGeom>
          <a:noFill/>
          <a:ln/>
        </p:spPr>
        <p:txBody>
          <a:bodyPr wrap="square" lIns="0" tIns="0" rIns="0" bIns="0" rtlCol="0" anchor="t"/>
          <a:lstStyle/>
          <a:p>
            <a:pPr indent="0" marL="0">
              <a:lnSpc>
                <a:spcPct val="100000"/>
              </a:lnSpc>
              <a:buNone/>
            </a:pPr>
            <a:r>
              <a:rPr lang="en-US" sz="1250" b="1" dirty="0">
                <a:solidFill>
                  <a:srgbClr val="FFFFFF"/>
                </a:solidFill>
                <a:latin typeface="Calibri" pitchFamily="34" charset="0"/>
                <a:ea typeface="Calibri" pitchFamily="34" charset="-122"/>
                <a:cs typeface="Calibri" pitchFamily="34" charset="-120"/>
              </a:rPr>
              <a:t>A wearable continuous vital-signs monitor for hospital ward patients.
</a:t>
            </a:r>
            <a:pPr indent="0" marL="0">
              <a:lnSpc>
                <a:spcPct val="100000"/>
              </a:lnSpc>
              <a:buNone/>
            </a:pPr>
            <a:r>
              <a:rPr lang="en-US" sz="1150" dirty="0">
                <a:solidFill>
                  <a:srgbClr val="D3E2E6"/>
                </a:solidFill>
                <a:latin typeface="Calibri" pitchFamily="34" charset="0"/>
                <a:ea typeface="Calibri" pitchFamily="34" charset="-122"/>
                <a:cs typeface="Calibri" pitchFamily="34" charset="-120"/>
              </a:rPr>
              <a:t>· An adhesive chest patch measures heart rate, respiratory rate and skin temperature continuously.</a:t>
            </a:r>
            <a:endParaRPr lang="en-US" sz="1250" dirty="0"/>
          </a:p>
          <a:p>
            <a:pPr indent="0" marL="0">
              <a:lnSpc>
                <a:spcPct val="100000"/>
              </a:lnSpc>
              <a:buNone/>
            </a:pPr>
            <a:endParaRPr lang="en-US" sz="1250" dirty="0"/>
          </a:p>
          <a:p>
            <a:pPr indent="0" marL="0">
              <a:lnSpc>
                <a:spcPct val="100000"/>
              </a:lnSpc>
              <a:buNone/>
            </a:pPr>
            <a:r>
              <a:rPr lang="en-US" sz="1150" dirty="0">
                <a:solidFill>
                  <a:srgbClr val="D3E2E6"/>
                </a:solidFill>
                <a:latin typeface="Calibri" pitchFamily="34" charset="0"/>
                <a:ea typeface="Calibri" pitchFamily="34" charset="-122"/>
                <a:cs typeface="Calibri" pitchFamily="34" charset="-120"/>
              </a:rPr>
              <a:t>· It transmits to a bedside gateway and then to a server on the hospital network.</a:t>
            </a:r>
            <a:endParaRPr lang="en-US" sz="1250" dirty="0"/>
          </a:p>
          <a:p>
            <a:pPr indent="0" marL="0">
              <a:lnSpc>
                <a:spcPct val="100000"/>
              </a:lnSpc>
              <a:buNone/>
            </a:pPr>
            <a:endParaRPr lang="en-US" sz="1250" dirty="0"/>
          </a:p>
          <a:p>
            <a:pPr indent="0" marL="0">
              <a:lnSpc>
                <a:spcPct val="100000"/>
              </a:lnSpc>
              <a:buNone/>
            </a:pPr>
            <a:r>
              <a:rPr lang="en-US" sz="1150" dirty="0">
                <a:solidFill>
                  <a:srgbClr val="D3E2E6"/>
                </a:solidFill>
                <a:latin typeface="Calibri" pitchFamily="34" charset="0"/>
                <a:ea typeface="Calibri" pitchFamily="34" charset="-122"/>
                <a:cs typeface="Calibri" pitchFamily="34" charset="-120"/>
              </a:rPr>
              <a:t>· Software on that server runs an early-warning algorithm and raises an alert to the nursing station when it detects signs of clinical deterioration.</a:t>
            </a:r>
            <a:endParaRPr lang="en-US" sz="1250" dirty="0"/>
          </a:p>
          <a:p>
            <a:pPr indent="0" marL="0">
              <a:lnSpc>
                <a:spcPct val="100000"/>
              </a:lnSpc>
              <a:buNone/>
            </a:pPr>
            <a:endParaRPr lang="en-US" sz="1250" dirty="0"/>
          </a:p>
          <a:p>
            <a:pPr indent="0" marL="0">
              <a:lnSpc>
                <a:spcPct val="100000"/>
              </a:lnSpc>
              <a:buNone/>
            </a:pPr>
            <a:r>
              <a:rPr lang="en-US" sz="1150" dirty="0">
                <a:solidFill>
                  <a:srgbClr val="D3E2E6"/>
                </a:solidFill>
                <a:latin typeface="Calibri" pitchFamily="34" charset="0"/>
                <a:ea typeface="Calibri" pitchFamily="34" charset="-122"/>
                <a:cs typeface="Calibri" pitchFamily="34" charset="-120"/>
              </a:rPr>
              <a:t>· The patch is worn for up to 5 days and is single-patient use.</a:t>
            </a:r>
            <a:endParaRPr lang="en-US" sz="1250" dirty="0"/>
          </a:p>
          <a:p>
            <a:pPr indent="0" marL="0">
              <a:lnSpc>
                <a:spcPct val="100000"/>
              </a:lnSpc>
              <a:buNone/>
            </a:pPr>
            <a:endParaRPr lang="en-US" sz="1250" dirty="0"/>
          </a:p>
          <a:p>
            <a:pPr indent="0" marL="0">
              <a:lnSpc>
                <a:spcPct val="100000"/>
              </a:lnSpc>
              <a:buNone/>
            </a:pPr>
            <a:r>
              <a:rPr lang="en-US" sz="1150" dirty="0">
                <a:solidFill>
                  <a:srgbClr val="D3E2E6"/>
                </a:solidFill>
                <a:latin typeface="Calibri" pitchFamily="34" charset="0"/>
                <a:ea typeface="Calibri" pitchFamily="34" charset="-122"/>
                <a:cs typeface="Calibri" pitchFamily="34" charset="-120"/>
              </a:rPr>
              <a:t>· It is cleared in the US as a Class II device.</a:t>
            </a:r>
            <a:endParaRPr lang="en-US" sz="1250" dirty="0"/>
          </a:p>
        </p:txBody>
      </p:sp>
      <p:sp>
        <p:nvSpPr>
          <p:cNvPr id="7" name="Shape 5"/>
          <p:cNvSpPr/>
          <p:nvPr/>
        </p:nvSpPr>
        <p:spPr>
          <a:xfrm>
            <a:off x="6245352" y="1536192"/>
            <a:ext cx="5394960" cy="4059936"/>
          </a:xfrm>
          <a:prstGeom prst="roundRect">
            <a:avLst>
              <a:gd name="adj" fmla="val 1577"/>
            </a:avLst>
          </a:prstGeom>
          <a:solidFill>
            <a:srgbClr val="24505F"/>
          </a:solidFill>
          <a:ln w="12700">
            <a:solidFill>
              <a:srgbClr val="3A6A7A"/>
            </a:solidFill>
            <a:prstDash val="solid"/>
          </a:ln>
        </p:spPr>
      </p:sp>
      <p:sp>
        <p:nvSpPr>
          <p:cNvPr id="8" name="Text 6"/>
          <p:cNvSpPr txBox="1"/>
          <p:nvPr/>
        </p:nvSpPr>
        <p:spPr>
          <a:xfrm>
            <a:off x="6501384" y="1700784"/>
            <a:ext cx="4882896" cy="274320"/>
          </a:xfrm>
          <a:prstGeom prst="rect">
            <a:avLst/>
          </a:prstGeom>
          <a:noFill/>
          <a:ln/>
        </p:spPr>
        <p:txBody>
          <a:bodyPr wrap="square" lIns="0" tIns="0" rIns="0" bIns="0" rtlCol="0" anchor="ctr"/>
          <a:lstStyle/>
          <a:p>
            <a:pPr indent="0" marL="0">
              <a:buNone/>
            </a:pPr>
            <a:r>
              <a:rPr lang="en-US" sz="1100" b="1" spc="140" kern="0" dirty="0">
                <a:solidFill>
                  <a:srgbClr val="9EDDD3"/>
                </a:solidFill>
                <a:latin typeface="Calibri" pitchFamily="34" charset="0"/>
                <a:ea typeface="Calibri" pitchFamily="34" charset="-122"/>
                <a:cs typeface="Calibri" pitchFamily="34" charset="-120"/>
              </a:rPr>
              <a:t>YOUR TASK  —  WORKBOOK PAGE 6</a:t>
            </a:r>
            <a:endParaRPr lang="en-US" sz="1100" dirty="0"/>
          </a:p>
        </p:txBody>
      </p:sp>
      <p:sp>
        <p:nvSpPr>
          <p:cNvPr id="9" name="Shape 7"/>
          <p:cNvSpPr/>
          <p:nvPr/>
        </p:nvSpPr>
        <p:spPr>
          <a:xfrm>
            <a:off x="6501384" y="2176272"/>
            <a:ext cx="347472" cy="347472"/>
          </a:xfrm>
          <a:prstGeom prst="ellipse">
            <a:avLst/>
          </a:prstGeom>
          <a:solidFill>
            <a:srgbClr val="2A9D8F"/>
          </a:solidFill>
          <a:ln w="12700">
            <a:solidFill>
              <a:srgbClr val="333333"/>
            </a:solidFill>
            <a:prstDash val="solid"/>
          </a:ln>
        </p:spPr>
      </p:sp>
      <p:sp>
        <p:nvSpPr>
          <p:cNvPr id="10" name="Text 8"/>
          <p:cNvSpPr txBox="1"/>
          <p:nvPr/>
        </p:nvSpPr>
        <p:spPr>
          <a:xfrm>
            <a:off x="6501384" y="2176272"/>
            <a:ext cx="347472" cy="347472"/>
          </a:xfrm>
          <a:prstGeom prst="rect">
            <a:avLst/>
          </a:prstGeom>
          <a:noFill/>
          <a:ln/>
        </p:spPr>
        <p:txBody>
          <a:bodyPr wrap="square" lIns="0" tIns="0" rIns="0" bIns="0" rtlCol="0" anchor="ctr"/>
          <a:lstStyle/>
          <a:p>
            <a:pPr algn="ctr" indent="0" marL="0">
              <a:buNone/>
            </a:pPr>
            <a:r>
              <a:rPr lang="en-US" sz="1200" b="1" dirty="0">
                <a:solidFill>
                  <a:srgbClr val="12232E"/>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6986016" y="2048256"/>
            <a:ext cx="4389120" cy="640080"/>
          </a:xfrm>
          <a:prstGeom prst="rect">
            <a:avLst/>
          </a:prstGeom>
          <a:noFill/>
          <a:ln/>
        </p:spPr>
        <p:txBody>
          <a:bodyPr wrap="square" lIns="0" tIns="0" rIns="0" bIns="0" rtlCol="0" anchor="ctr"/>
          <a:lstStyle/>
          <a:p>
            <a:pPr indent="0" marL="0">
              <a:lnSpc>
                <a:spcPct val="102000"/>
              </a:lnSpc>
              <a:buNone/>
            </a:pPr>
            <a:r>
              <a:rPr lang="en-US" sz="1120" dirty="0">
                <a:solidFill>
                  <a:srgbClr val="E4EEF1"/>
                </a:solidFill>
                <a:latin typeface="Calibri" pitchFamily="34" charset="0"/>
                <a:ea typeface="Calibri" pitchFamily="34" charset="-122"/>
                <a:cs typeface="Calibri" pitchFamily="34" charset="-120"/>
              </a:rPr>
              <a:t>Split the product into its regulated parts. How many devices are there here, and is the algorithm one of them?</a:t>
            </a:r>
            <a:endParaRPr lang="en-US" sz="1120" dirty="0"/>
          </a:p>
        </p:txBody>
      </p:sp>
      <p:sp>
        <p:nvSpPr>
          <p:cNvPr id="12" name="Shape 10"/>
          <p:cNvSpPr/>
          <p:nvPr/>
        </p:nvSpPr>
        <p:spPr>
          <a:xfrm>
            <a:off x="6501384" y="2889504"/>
            <a:ext cx="347472" cy="347472"/>
          </a:xfrm>
          <a:prstGeom prst="ellipse">
            <a:avLst/>
          </a:prstGeom>
          <a:solidFill>
            <a:srgbClr val="2A9D8F"/>
          </a:solidFill>
          <a:ln w="12700">
            <a:solidFill>
              <a:srgbClr val="333333"/>
            </a:solidFill>
            <a:prstDash val="solid"/>
          </a:ln>
        </p:spPr>
      </p:sp>
      <p:sp>
        <p:nvSpPr>
          <p:cNvPr id="13" name="Text 11"/>
          <p:cNvSpPr txBox="1"/>
          <p:nvPr/>
        </p:nvSpPr>
        <p:spPr>
          <a:xfrm>
            <a:off x="6501384" y="2889504"/>
            <a:ext cx="347472" cy="347472"/>
          </a:xfrm>
          <a:prstGeom prst="rect">
            <a:avLst/>
          </a:prstGeom>
          <a:noFill/>
          <a:ln/>
        </p:spPr>
        <p:txBody>
          <a:bodyPr wrap="square" lIns="0" tIns="0" rIns="0" bIns="0" rtlCol="0" anchor="ctr"/>
          <a:lstStyle/>
          <a:p>
            <a:pPr algn="ctr" indent="0" marL="0">
              <a:buNone/>
            </a:pPr>
            <a:r>
              <a:rPr lang="en-US" sz="1200" b="1" dirty="0">
                <a:solidFill>
                  <a:srgbClr val="12232E"/>
                </a:solidFill>
                <a:latin typeface="Calibri" pitchFamily="34" charset="0"/>
                <a:ea typeface="Calibri" pitchFamily="34" charset="-122"/>
                <a:cs typeface="Calibri" pitchFamily="34" charset="-120"/>
              </a:rPr>
              <a:t>2</a:t>
            </a:r>
            <a:endParaRPr lang="en-US" sz="1200" dirty="0"/>
          </a:p>
        </p:txBody>
      </p:sp>
      <p:sp>
        <p:nvSpPr>
          <p:cNvPr id="14" name="Text 12"/>
          <p:cNvSpPr txBox="1"/>
          <p:nvPr/>
        </p:nvSpPr>
        <p:spPr>
          <a:xfrm>
            <a:off x="6986016" y="2761488"/>
            <a:ext cx="4389120" cy="640080"/>
          </a:xfrm>
          <a:prstGeom prst="rect">
            <a:avLst/>
          </a:prstGeom>
          <a:noFill/>
          <a:ln/>
        </p:spPr>
        <p:txBody>
          <a:bodyPr wrap="square" lIns="0" tIns="0" rIns="0" bIns="0" rtlCol="0" anchor="ctr"/>
          <a:lstStyle/>
          <a:p>
            <a:pPr indent="0" marL="0">
              <a:lnSpc>
                <a:spcPct val="102000"/>
              </a:lnSpc>
              <a:buNone/>
            </a:pPr>
            <a:r>
              <a:rPr lang="en-US" sz="1120" dirty="0">
                <a:solidFill>
                  <a:srgbClr val="E4EEF1"/>
                </a:solidFill>
                <a:latin typeface="Calibri" pitchFamily="34" charset="0"/>
                <a:ea typeface="Calibri" pitchFamily="34" charset="-122"/>
                <a:cs typeface="Calibri" pitchFamily="34" charset="-120"/>
              </a:rPr>
              <a:t>Classify under MDR Annex VIII. Which rules apply to the patch, and which to the software? Where do you land?</a:t>
            </a:r>
            <a:endParaRPr lang="en-US" sz="1120" dirty="0"/>
          </a:p>
        </p:txBody>
      </p:sp>
      <p:sp>
        <p:nvSpPr>
          <p:cNvPr id="15" name="Shape 13"/>
          <p:cNvSpPr/>
          <p:nvPr/>
        </p:nvSpPr>
        <p:spPr>
          <a:xfrm>
            <a:off x="6501384" y="3602736"/>
            <a:ext cx="347472" cy="347472"/>
          </a:xfrm>
          <a:prstGeom prst="ellipse">
            <a:avLst/>
          </a:prstGeom>
          <a:solidFill>
            <a:srgbClr val="2A9D8F"/>
          </a:solidFill>
          <a:ln w="12700">
            <a:solidFill>
              <a:srgbClr val="333333"/>
            </a:solidFill>
            <a:prstDash val="solid"/>
          </a:ln>
        </p:spPr>
      </p:sp>
      <p:sp>
        <p:nvSpPr>
          <p:cNvPr id="16" name="Text 14"/>
          <p:cNvSpPr txBox="1"/>
          <p:nvPr/>
        </p:nvSpPr>
        <p:spPr>
          <a:xfrm>
            <a:off x="6501384" y="3602736"/>
            <a:ext cx="347472" cy="347472"/>
          </a:xfrm>
          <a:prstGeom prst="rect">
            <a:avLst/>
          </a:prstGeom>
          <a:noFill/>
          <a:ln/>
        </p:spPr>
        <p:txBody>
          <a:bodyPr wrap="square" lIns="0" tIns="0" rIns="0" bIns="0" rtlCol="0" anchor="ctr"/>
          <a:lstStyle/>
          <a:p>
            <a:pPr algn="ctr" indent="0" marL="0">
              <a:buNone/>
            </a:pPr>
            <a:r>
              <a:rPr lang="en-US" sz="1200" b="1" dirty="0">
                <a:solidFill>
                  <a:srgbClr val="12232E"/>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6986016" y="3474720"/>
            <a:ext cx="4389120" cy="640080"/>
          </a:xfrm>
          <a:prstGeom prst="rect">
            <a:avLst/>
          </a:prstGeom>
          <a:noFill/>
          <a:ln/>
        </p:spPr>
        <p:txBody>
          <a:bodyPr wrap="square" lIns="0" tIns="0" rIns="0" bIns="0" rtlCol="0" anchor="ctr"/>
          <a:lstStyle/>
          <a:p>
            <a:pPr indent="0" marL="0">
              <a:lnSpc>
                <a:spcPct val="102000"/>
              </a:lnSpc>
              <a:buNone/>
            </a:pPr>
            <a:r>
              <a:rPr lang="en-US" sz="1120" dirty="0">
                <a:solidFill>
                  <a:srgbClr val="E4EEF1"/>
                </a:solidFill>
                <a:latin typeface="Calibri" pitchFamily="34" charset="0"/>
                <a:ea typeface="Calibri" pitchFamily="34" charset="-122"/>
                <a:cs typeface="Calibri" pitchFamily="34" charset="-120"/>
              </a:rPr>
              <a:t>Now classify for Great Britain. Remember GB uses the MDD rules. Do you get the same answer?</a:t>
            </a:r>
            <a:endParaRPr lang="en-US" sz="1120" dirty="0"/>
          </a:p>
        </p:txBody>
      </p:sp>
      <p:sp>
        <p:nvSpPr>
          <p:cNvPr id="18" name="Shape 16"/>
          <p:cNvSpPr/>
          <p:nvPr/>
        </p:nvSpPr>
        <p:spPr>
          <a:xfrm>
            <a:off x="6501384" y="4315968"/>
            <a:ext cx="347472" cy="347472"/>
          </a:xfrm>
          <a:prstGeom prst="ellipse">
            <a:avLst/>
          </a:prstGeom>
          <a:solidFill>
            <a:srgbClr val="2A9D8F"/>
          </a:solidFill>
          <a:ln w="12700">
            <a:solidFill>
              <a:srgbClr val="333333"/>
            </a:solidFill>
            <a:prstDash val="solid"/>
          </a:ln>
        </p:spPr>
      </p:sp>
      <p:sp>
        <p:nvSpPr>
          <p:cNvPr id="19" name="Text 17"/>
          <p:cNvSpPr txBox="1"/>
          <p:nvPr/>
        </p:nvSpPr>
        <p:spPr>
          <a:xfrm>
            <a:off x="6501384" y="4315968"/>
            <a:ext cx="347472" cy="347472"/>
          </a:xfrm>
          <a:prstGeom prst="rect">
            <a:avLst/>
          </a:prstGeom>
          <a:noFill/>
          <a:ln/>
        </p:spPr>
        <p:txBody>
          <a:bodyPr wrap="square" lIns="0" tIns="0" rIns="0" bIns="0" rtlCol="0" anchor="ctr"/>
          <a:lstStyle/>
          <a:p>
            <a:pPr algn="ctr" indent="0" marL="0">
              <a:buNone/>
            </a:pPr>
            <a:r>
              <a:rPr lang="en-US" sz="1200" b="1" dirty="0">
                <a:solidFill>
                  <a:srgbClr val="12232E"/>
                </a:solidFill>
                <a:latin typeface="Calibri" pitchFamily="34" charset="0"/>
                <a:ea typeface="Calibri" pitchFamily="34" charset="-122"/>
                <a:cs typeface="Calibri" pitchFamily="34" charset="-120"/>
              </a:rPr>
              <a:t>4</a:t>
            </a:r>
            <a:endParaRPr lang="en-US" sz="1200" dirty="0"/>
          </a:p>
        </p:txBody>
      </p:sp>
      <p:sp>
        <p:nvSpPr>
          <p:cNvPr id="20" name="Text 18"/>
          <p:cNvSpPr txBox="1"/>
          <p:nvPr/>
        </p:nvSpPr>
        <p:spPr>
          <a:xfrm>
            <a:off x="6986016" y="4187952"/>
            <a:ext cx="4389120" cy="640080"/>
          </a:xfrm>
          <a:prstGeom prst="rect">
            <a:avLst/>
          </a:prstGeom>
          <a:noFill/>
          <a:ln/>
        </p:spPr>
        <p:txBody>
          <a:bodyPr wrap="square" lIns="0" tIns="0" rIns="0" bIns="0" rtlCol="0" anchor="ctr"/>
          <a:lstStyle/>
          <a:p>
            <a:pPr indent="0" marL="0">
              <a:lnSpc>
                <a:spcPct val="102000"/>
              </a:lnSpc>
              <a:buNone/>
            </a:pPr>
            <a:r>
              <a:rPr lang="en-US" sz="1120" dirty="0">
                <a:solidFill>
                  <a:srgbClr val="E4EEF1"/>
                </a:solidFill>
                <a:latin typeface="Calibri" pitchFamily="34" charset="0"/>
                <a:ea typeface="Calibri" pitchFamily="34" charset="-122"/>
                <a:cs typeface="Calibri" pitchFamily="34" charset="-120"/>
              </a:rPr>
              <a:t>Pick the EU conformity assessment route, and say who assesses what.</a:t>
            </a:r>
            <a:endParaRPr lang="en-US" sz="1120" dirty="0"/>
          </a:p>
        </p:txBody>
      </p:sp>
      <p:sp>
        <p:nvSpPr>
          <p:cNvPr id="21" name="Shape 19"/>
          <p:cNvSpPr/>
          <p:nvPr/>
        </p:nvSpPr>
        <p:spPr>
          <a:xfrm>
            <a:off x="6501384" y="5029200"/>
            <a:ext cx="347472" cy="347472"/>
          </a:xfrm>
          <a:prstGeom prst="ellipse">
            <a:avLst/>
          </a:prstGeom>
          <a:solidFill>
            <a:srgbClr val="2A9D8F"/>
          </a:solidFill>
          <a:ln w="12700">
            <a:solidFill>
              <a:srgbClr val="333333"/>
            </a:solidFill>
            <a:prstDash val="solid"/>
          </a:ln>
        </p:spPr>
      </p:sp>
      <p:sp>
        <p:nvSpPr>
          <p:cNvPr id="22" name="Text 20"/>
          <p:cNvSpPr txBox="1"/>
          <p:nvPr/>
        </p:nvSpPr>
        <p:spPr>
          <a:xfrm>
            <a:off x="6501384" y="5029200"/>
            <a:ext cx="347472" cy="347472"/>
          </a:xfrm>
          <a:prstGeom prst="rect">
            <a:avLst/>
          </a:prstGeom>
          <a:noFill/>
          <a:ln/>
        </p:spPr>
        <p:txBody>
          <a:bodyPr wrap="square" lIns="0" tIns="0" rIns="0" bIns="0" rtlCol="0" anchor="ctr"/>
          <a:lstStyle/>
          <a:p>
            <a:pPr algn="ctr" indent="0" marL="0">
              <a:buNone/>
            </a:pPr>
            <a:r>
              <a:rPr lang="en-US" sz="1200" b="1" dirty="0">
                <a:solidFill>
                  <a:srgbClr val="12232E"/>
                </a:solidFill>
                <a:latin typeface="Calibri" pitchFamily="34" charset="0"/>
                <a:ea typeface="Calibri" pitchFamily="34" charset="-122"/>
                <a:cs typeface="Calibri" pitchFamily="34" charset="-120"/>
              </a:rPr>
              <a:t>5</a:t>
            </a:r>
            <a:endParaRPr lang="en-US" sz="1200" dirty="0"/>
          </a:p>
        </p:txBody>
      </p:sp>
      <p:sp>
        <p:nvSpPr>
          <p:cNvPr id="23" name="Text 21"/>
          <p:cNvSpPr txBox="1"/>
          <p:nvPr/>
        </p:nvSpPr>
        <p:spPr>
          <a:xfrm>
            <a:off x="6986016" y="4901184"/>
            <a:ext cx="4389120" cy="640080"/>
          </a:xfrm>
          <a:prstGeom prst="rect">
            <a:avLst/>
          </a:prstGeom>
          <a:noFill/>
          <a:ln/>
        </p:spPr>
        <p:txBody>
          <a:bodyPr wrap="square" lIns="0" tIns="0" rIns="0" bIns="0" rtlCol="0" anchor="ctr"/>
          <a:lstStyle/>
          <a:p>
            <a:pPr indent="0" marL="0">
              <a:lnSpc>
                <a:spcPct val="102000"/>
              </a:lnSpc>
              <a:buNone/>
            </a:pPr>
            <a:r>
              <a:rPr lang="en-US" sz="1120" dirty="0">
                <a:solidFill>
                  <a:srgbClr val="E4EEF1"/>
                </a:solidFill>
                <a:latin typeface="Calibri" pitchFamily="34" charset="0"/>
                <a:ea typeface="Calibri" pitchFamily="34" charset="-122"/>
                <a:cs typeface="Calibri" pitchFamily="34" charset="-120"/>
              </a:rPr>
              <a:t>What would you need in Japan — and what do you need to know before you can answer?</a:t>
            </a:r>
            <a:endParaRPr lang="en-US" sz="1120" dirty="0"/>
          </a:p>
        </p:txBody>
      </p:sp>
      <p:sp>
        <p:nvSpPr>
          <p:cNvPr id="24" name="Text 22"/>
          <p:cNvSpPr txBox="1"/>
          <p:nvPr/>
        </p:nvSpPr>
        <p:spPr>
          <a:xfrm>
            <a:off x="548640" y="5797296"/>
            <a:ext cx="11094415" cy="329184"/>
          </a:xfrm>
          <a:prstGeom prst="rect">
            <a:avLst/>
          </a:prstGeom>
          <a:noFill/>
          <a:ln/>
        </p:spPr>
        <p:txBody>
          <a:bodyPr wrap="square" lIns="0" tIns="0" rIns="0" bIns="0" rtlCol="0" anchor="ctr"/>
          <a:lstStyle/>
          <a:p>
            <a:pPr indent="0" marL="0">
              <a:buNone/>
            </a:pPr>
            <a:r>
              <a:rPr lang="en-US" sz="1200" i="1" dirty="0">
                <a:solidFill>
                  <a:srgbClr val="9DB6BE"/>
                </a:solidFill>
                <a:latin typeface="Calibri" pitchFamily="34" charset="0"/>
                <a:ea typeface="Calibri" pitchFamily="34" charset="-122"/>
                <a:cs typeface="Calibri" pitchFamily="34" charset="-120"/>
              </a:rPr>
              <a:t>7 minutes at your table  ·  3 minutes reporting back  ·  Question 3 is the one I care about most</a:t>
            </a:r>
            <a:endParaRPr lang="en-US" sz="1200" dirty="0"/>
          </a:p>
        </p:txBody>
      </p:sp>
      <p:sp>
        <p:nvSpPr>
          <p:cNvPr id="25" name="Text 2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809AA4"/>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2232E"/>
        </a:solidFill>
      </p:bgPr>
    </p:bg>
    <p:spTree>
      <p:nvGrpSpPr>
        <p:cNvPr id="1" name=""/>
        <p:cNvGrpSpPr/>
        <p:nvPr/>
      </p:nvGrpSpPr>
      <p:grpSpPr>
        <a:xfrm>
          <a:off x="0" y="0"/>
          <a:ext cx="0" cy="0"/>
          <a:chOff x="0" y="0"/>
          <a:chExt cx="0" cy="0"/>
        </a:xfrm>
      </p:grpSpPr>
      <p:sp>
        <p:nvSpPr>
          <p:cNvPr id="2" name="Text 0"/>
          <p:cNvSpPr txBox="1"/>
          <p:nvPr/>
        </p:nvSpPr>
        <p:spPr>
          <a:xfrm>
            <a:off x="548640" y="2057400"/>
            <a:ext cx="11094415" cy="292608"/>
          </a:xfrm>
          <a:prstGeom prst="rect">
            <a:avLst/>
          </a:prstGeom>
          <a:noFill/>
          <a:ln/>
        </p:spPr>
        <p:txBody>
          <a:bodyPr wrap="square" lIns="0" tIns="0" rIns="0" bIns="0" rtlCol="0" anchor="ctr"/>
          <a:lstStyle/>
          <a:p>
            <a:pPr indent="0" marL="0">
              <a:buNone/>
            </a:pPr>
            <a:r>
              <a:rPr lang="en-US" sz="1300" b="1" spc="220" kern="0" dirty="0">
                <a:solidFill>
                  <a:srgbClr val="2A9D8F"/>
                </a:solidFill>
                <a:latin typeface="Calibri" pitchFamily="34" charset="0"/>
                <a:ea typeface="Calibri" pitchFamily="34" charset="-122"/>
                <a:cs typeface="Calibri" pitchFamily="34" charset="-120"/>
              </a:rPr>
              <a:t>PART THREE</a:t>
            </a:r>
            <a:endParaRPr lang="en-US" sz="1300" dirty="0"/>
          </a:p>
        </p:txBody>
      </p:sp>
      <p:sp>
        <p:nvSpPr>
          <p:cNvPr id="3" name="Text 1"/>
          <p:cNvSpPr txBox="1"/>
          <p:nvPr/>
        </p:nvSpPr>
        <p:spPr>
          <a:xfrm>
            <a:off x="548640" y="2450592"/>
            <a:ext cx="9692640" cy="11430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UKCA and the UK framework</a:t>
            </a:r>
            <a:endParaRPr lang="en-US" sz="4000" dirty="0"/>
          </a:p>
        </p:txBody>
      </p:sp>
      <p:sp>
        <p:nvSpPr>
          <p:cNvPr id="4" name="Text 2"/>
          <p:cNvSpPr txBox="1"/>
          <p:nvPr/>
        </p:nvSpPr>
        <p:spPr>
          <a:xfrm>
            <a:off x="548640" y="3657600"/>
            <a:ext cx="8961120" cy="822960"/>
          </a:xfrm>
          <a:prstGeom prst="rect">
            <a:avLst/>
          </a:prstGeom>
          <a:noFill/>
          <a:ln/>
        </p:spPr>
        <p:txBody>
          <a:bodyPr wrap="square" lIns="0" tIns="0" rIns="0" bIns="0" rtlCol="0" anchor="ctr"/>
          <a:lstStyle/>
          <a:p>
            <a:pPr indent="0" marL="0">
              <a:buNone/>
            </a:pPr>
            <a:r>
              <a:rPr lang="en-US" sz="1500" dirty="0">
                <a:solidFill>
                  <a:srgbClr val="BCCCD2"/>
                </a:solidFill>
                <a:latin typeface="Calibri" pitchFamily="34" charset="0"/>
                <a:ea typeface="Calibri" pitchFamily="34" charset="-122"/>
                <a:cs typeface="Calibri" pitchFamily="34" charset="-120"/>
              </a:rPr>
              <a:t>A market where the rules are older than the EU's, the transition keeps moving, and CE marking still works.</a:t>
            </a:r>
            <a:endParaRPr lang="en-US" sz="1500" dirty="0"/>
          </a:p>
        </p:txBody>
      </p:sp>
      <p:sp>
        <p:nvSpPr>
          <p:cNvPr id="5" name="Text 3"/>
          <p:cNvSpPr txBox="1"/>
          <p:nvPr/>
        </p:nvSpPr>
        <p:spPr>
          <a:xfrm>
            <a:off x="548640" y="4617720"/>
            <a:ext cx="5486400" cy="320040"/>
          </a:xfrm>
          <a:prstGeom prst="rect">
            <a:avLst/>
          </a:prstGeom>
          <a:noFill/>
          <a:ln/>
        </p:spPr>
        <p:txBody>
          <a:bodyPr wrap="square" lIns="0" tIns="0" rIns="0" bIns="0" rtlCol="0" anchor="ctr"/>
          <a:lstStyle/>
          <a:p>
            <a:pPr indent="0" marL="0">
              <a:buNone/>
            </a:pPr>
            <a:r>
              <a:rPr lang="en-US" sz="1200" b="1" spc="100" kern="0" dirty="0">
                <a:solidFill>
                  <a:srgbClr val="C77C1E"/>
                </a:solidFill>
                <a:latin typeface="Calibri" pitchFamily="34" charset="0"/>
                <a:ea typeface="Calibri" pitchFamily="34" charset="-122"/>
                <a:cs typeface="Calibri" pitchFamily="34" charset="-120"/>
              </a:rPr>
              <a:t>14 minutes</a:t>
            </a:r>
            <a:endParaRPr lang="en-US" sz="1200" dirty="0"/>
          </a:p>
        </p:txBody>
      </p:sp>
      <p:sp>
        <p:nvSpPr>
          <p:cNvPr id="6" name="Text 4"/>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809AA4"/>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GEOGRAPHY</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100" b="1" dirty="0">
                <a:solidFill>
                  <a:srgbClr val="1B3A4B"/>
                </a:solidFill>
                <a:latin typeface="Cambria" pitchFamily="34" charset="0"/>
                <a:ea typeface="Cambria" pitchFamily="34" charset="-122"/>
                <a:cs typeface="Cambria" pitchFamily="34" charset="-120"/>
              </a:rPr>
              <a:t>The United Kingdom is not one market</a:t>
            </a:r>
            <a:endParaRPr lang="en-US" sz="31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30</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Get this straight before anything else, because it determines which rules apply to which shipment.</a:t>
            </a:r>
            <a:endParaRPr lang="en-US" sz="1400" dirty="0"/>
          </a:p>
        </p:txBody>
      </p:sp>
      <p:sp>
        <p:nvSpPr>
          <p:cNvPr id="7" name="Shape 5"/>
          <p:cNvSpPr/>
          <p:nvPr/>
        </p:nvSpPr>
        <p:spPr>
          <a:xfrm>
            <a:off x="548640" y="1883664"/>
            <a:ext cx="3515258" cy="3291840"/>
          </a:xfrm>
          <a:prstGeom prst="roundRect">
            <a:avLst>
              <a:gd name="adj" fmla="val 1944"/>
            </a:avLst>
          </a:prstGeom>
          <a:solidFill>
            <a:srgbClr val="F1F5F6"/>
          </a:solidFill>
          <a:ln w="12700">
            <a:solidFill>
              <a:srgbClr val="D7E2E5"/>
            </a:solidFill>
            <a:prstDash val="solid"/>
          </a:ln>
        </p:spPr>
      </p:sp>
      <p:sp>
        <p:nvSpPr>
          <p:cNvPr id="8" name="Shape 6"/>
          <p:cNvSpPr/>
          <p:nvPr/>
        </p:nvSpPr>
        <p:spPr>
          <a:xfrm>
            <a:off x="768096" y="2084832"/>
            <a:ext cx="365760" cy="365760"/>
          </a:xfrm>
          <a:prstGeom prst="ellipse">
            <a:avLst/>
          </a:prstGeom>
          <a:solidFill>
            <a:srgbClr val="0E7C7B"/>
          </a:solidFill>
          <a:ln w="12700">
            <a:solidFill>
              <a:srgbClr val="0E7C7B"/>
            </a:solidFill>
            <a:prstDash val="solid"/>
          </a:ln>
        </p:spPr>
      </p:sp>
      <p:sp>
        <p:nvSpPr>
          <p:cNvPr id="9" name="Text 7"/>
          <p:cNvSpPr txBox="1"/>
          <p:nvPr/>
        </p:nvSpPr>
        <p:spPr>
          <a:xfrm>
            <a:off x="768096" y="20848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768096" y="2560320"/>
            <a:ext cx="3076346" cy="337312"/>
          </a:xfrm>
          <a:prstGeom prst="rect">
            <a:avLst/>
          </a:prstGeom>
          <a:noFill/>
          <a:ln/>
        </p:spPr>
        <p:txBody>
          <a:bodyPr wrap="square" lIns="0" tIns="0" rIns="0" bIns="0" rtlCol="0" anchor="t"/>
          <a:lstStyle/>
          <a:p>
            <a:pPr indent="0" marL="0">
              <a:buNone/>
            </a:pPr>
            <a:r>
              <a:rPr lang="en-US" sz="1600" b="1" dirty="0">
                <a:solidFill>
                  <a:srgbClr val="1B3A4B"/>
                </a:solidFill>
                <a:latin typeface="Calibri" pitchFamily="34" charset="0"/>
                <a:ea typeface="Calibri" pitchFamily="34" charset="-122"/>
                <a:cs typeface="Calibri" pitchFamily="34" charset="-120"/>
              </a:rPr>
              <a:t>Great Britain</a:t>
            </a:r>
            <a:endParaRPr lang="en-US" sz="1600" dirty="0"/>
          </a:p>
        </p:txBody>
      </p:sp>
      <p:sp>
        <p:nvSpPr>
          <p:cNvPr id="11" name="Text 9"/>
          <p:cNvSpPr txBox="1"/>
          <p:nvPr/>
        </p:nvSpPr>
        <p:spPr>
          <a:xfrm>
            <a:off x="768096" y="2934208"/>
            <a:ext cx="3076346" cy="2094992"/>
          </a:xfrm>
          <a:prstGeom prst="rect">
            <a:avLst/>
          </a:prstGeom>
          <a:noFill/>
          <a:ln/>
        </p:spPr>
        <p:txBody>
          <a:bodyPr wrap="square" lIns="0" tIns="0" rIns="0" bIns="0" rtlCol="0" anchor="t"/>
          <a:lstStyle/>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England, Scotland and Wales. Governed by the UK Medical Devices Regulations 2002 as amended. This is where UKCA marking applies — and where CE marking is also currently accepted, on a timetable.</a:t>
            </a:r>
            <a:endParaRPr lang="en-US" sz="1150" dirty="0"/>
          </a:p>
        </p:txBody>
      </p:sp>
      <p:sp>
        <p:nvSpPr>
          <p:cNvPr id="12" name="Shape 10"/>
          <p:cNvSpPr/>
          <p:nvPr/>
        </p:nvSpPr>
        <p:spPr>
          <a:xfrm>
            <a:off x="4338218" y="1883664"/>
            <a:ext cx="3515258" cy="3291840"/>
          </a:xfrm>
          <a:prstGeom prst="roundRect">
            <a:avLst>
              <a:gd name="adj" fmla="val 1944"/>
            </a:avLst>
          </a:prstGeom>
          <a:solidFill>
            <a:srgbClr val="F1F5F6"/>
          </a:solidFill>
          <a:ln w="12700">
            <a:solidFill>
              <a:srgbClr val="D7E2E5"/>
            </a:solidFill>
            <a:prstDash val="solid"/>
          </a:ln>
        </p:spPr>
      </p:sp>
      <p:sp>
        <p:nvSpPr>
          <p:cNvPr id="13" name="Shape 11"/>
          <p:cNvSpPr/>
          <p:nvPr/>
        </p:nvSpPr>
        <p:spPr>
          <a:xfrm>
            <a:off x="4557674" y="2084832"/>
            <a:ext cx="365760" cy="365760"/>
          </a:xfrm>
          <a:prstGeom prst="ellipse">
            <a:avLst/>
          </a:prstGeom>
          <a:solidFill>
            <a:srgbClr val="C77C1E"/>
          </a:solidFill>
          <a:ln w="12700">
            <a:solidFill>
              <a:srgbClr val="C77C1E"/>
            </a:solidFill>
            <a:prstDash val="solid"/>
          </a:ln>
        </p:spPr>
      </p:sp>
      <p:sp>
        <p:nvSpPr>
          <p:cNvPr id="14" name="Text 12"/>
          <p:cNvSpPr txBox="1"/>
          <p:nvPr/>
        </p:nvSpPr>
        <p:spPr>
          <a:xfrm>
            <a:off x="4557674" y="20848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4557674" y="2560320"/>
            <a:ext cx="3076346" cy="337312"/>
          </a:xfrm>
          <a:prstGeom prst="rect">
            <a:avLst/>
          </a:prstGeom>
          <a:noFill/>
          <a:ln/>
        </p:spPr>
        <p:txBody>
          <a:bodyPr wrap="square" lIns="0" tIns="0" rIns="0" bIns="0" rtlCol="0" anchor="t"/>
          <a:lstStyle/>
          <a:p>
            <a:pPr indent="0" marL="0">
              <a:buNone/>
            </a:pPr>
            <a:r>
              <a:rPr lang="en-US" sz="1600" b="1" dirty="0">
                <a:solidFill>
                  <a:srgbClr val="1B3A4B"/>
                </a:solidFill>
                <a:latin typeface="Calibri" pitchFamily="34" charset="0"/>
                <a:ea typeface="Calibri" pitchFamily="34" charset="-122"/>
                <a:cs typeface="Calibri" pitchFamily="34" charset="-120"/>
              </a:rPr>
              <a:t>Northern Ireland</a:t>
            </a:r>
            <a:endParaRPr lang="en-US" sz="1600" dirty="0"/>
          </a:p>
        </p:txBody>
      </p:sp>
      <p:sp>
        <p:nvSpPr>
          <p:cNvPr id="16" name="Text 14"/>
          <p:cNvSpPr txBox="1"/>
          <p:nvPr/>
        </p:nvSpPr>
        <p:spPr>
          <a:xfrm>
            <a:off x="4557674" y="2934208"/>
            <a:ext cx="3076346" cy="2094992"/>
          </a:xfrm>
          <a:prstGeom prst="rect">
            <a:avLst/>
          </a:prstGeom>
          <a:noFill/>
          <a:ln/>
        </p:spPr>
        <p:txBody>
          <a:bodyPr wrap="square" lIns="0" tIns="0" rIns="0" bIns="0" rtlCol="0" anchor="t"/>
          <a:lstStyle/>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Under the Windsor Framework, EU rules continue to apply. A device placed on the Northern Ireland market needs to meet EU MDR and carry CE marking. UKCA marking alone is not valid there.</a:t>
            </a:r>
            <a:endParaRPr lang="en-US" sz="1150" dirty="0"/>
          </a:p>
        </p:txBody>
      </p:sp>
      <p:sp>
        <p:nvSpPr>
          <p:cNvPr id="17" name="Shape 15"/>
          <p:cNvSpPr/>
          <p:nvPr/>
        </p:nvSpPr>
        <p:spPr>
          <a:xfrm>
            <a:off x="8127797" y="1883664"/>
            <a:ext cx="3515258" cy="3291840"/>
          </a:xfrm>
          <a:prstGeom prst="roundRect">
            <a:avLst>
              <a:gd name="adj" fmla="val 1944"/>
            </a:avLst>
          </a:prstGeom>
          <a:solidFill>
            <a:srgbClr val="F1F5F6"/>
          </a:solidFill>
          <a:ln w="12700">
            <a:solidFill>
              <a:srgbClr val="D7E2E5"/>
            </a:solidFill>
            <a:prstDash val="solid"/>
          </a:ln>
        </p:spPr>
      </p:sp>
      <p:sp>
        <p:nvSpPr>
          <p:cNvPr id="18" name="Shape 16"/>
          <p:cNvSpPr/>
          <p:nvPr/>
        </p:nvSpPr>
        <p:spPr>
          <a:xfrm>
            <a:off x="8347253" y="2084832"/>
            <a:ext cx="365760" cy="365760"/>
          </a:xfrm>
          <a:prstGeom prst="ellipse">
            <a:avLst/>
          </a:prstGeom>
          <a:solidFill>
            <a:srgbClr val="2A9D8F"/>
          </a:solidFill>
          <a:ln w="12700">
            <a:solidFill>
              <a:srgbClr val="2A9D8F"/>
            </a:solidFill>
            <a:prstDash val="solid"/>
          </a:ln>
        </p:spPr>
      </p:sp>
      <p:sp>
        <p:nvSpPr>
          <p:cNvPr id="19" name="Text 17"/>
          <p:cNvSpPr txBox="1"/>
          <p:nvPr/>
        </p:nvSpPr>
        <p:spPr>
          <a:xfrm>
            <a:off x="8347253" y="20848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8347253" y="2560320"/>
            <a:ext cx="3076346" cy="337312"/>
          </a:xfrm>
          <a:prstGeom prst="rect">
            <a:avLst/>
          </a:prstGeom>
          <a:noFill/>
          <a:ln/>
        </p:spPr>
        <p:txBody>
          <a:bodyPr wrap="square" lIns="0" tIns="0" rIns="0" bIns="0" rtlCol="0" anchor="t"/>
          <a:lstStyle/>
          <a:p>
            <a:pPr indent="0" marL="0">
              <a:buNone/>
            </a:pPr>
            <a:r>
              <a:rPr lang="en-US" sz="1600" b="1" dirty="0">
                <a:solidFill>
                  <a:srgbClr val="1B3A4B"/>
                </a:solidFill>
                <a:latin typeface="Calibri" pitchFamily="34" charset="0"/>
                <a:ea typeface="Calibri" pitchFamily="34" charset="-122"/>
                <a:cs typeface="Calibri" pitchFamily="34" charset="-120"/>
              </a:rPr>
              <a:t>The whole UK</a:t>
            </a:r>
            <a:endParaRPr lang="en-US" sz="1600" dirty="0"/>
          </a:p>
        </p:txBody>
      </p:sp>
      <p:sp>
        <p:nvSpPr>
          <p:cNvPr id="21" name="Text 19"/>
          <p:cNvSpPr txBox="1"/>
          <p:nvPr/>
        </p:nvSpPr>
        <p:spPr>
          <a:xfrm>
            <a:off x="8347253" y="2934208"/>
            <a:ext cx="3076346" cy="2094992"/>
          </a:xfrm>
          <a:prstGeom prst="rect">
            <a:avLst/>
          </a:prstGeom>
          <a:noFill/>
          <a:ln/>
        </p:spPr>
        <p:txBody>
          <a:bodyPr wrap="square" lIns="0" tIns="0" rIns="0" bIns="0" rtlCol="0" anchor="t"/>
          <a:lstStyle/>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MHRA registration applies across the United Kingdom regardless of which marking the device carries, and a manufacturer established outside the UK needs a UK Responsible Person.</a:t>
            </a:r>
            <a:endParaRPr lang="en-US" sz="1150" dirty="0"/>
          </a:p>
        </p:txBody>
      </p:sp>
      <p:sp>
        <p:nvSpPr>
          <p:cNvPr id="22" name="Shape 20"/>
          <p:cNvSpPr/>
          <p:nvPr/>
        </p:nvSpPr>
        <p:spPr>
          <a:xfrm>
            <a:off x="548640" y="5285232"/>
            <a:ext cx="11094415" cy="786384"/>
          </a:xfrm>
          <a:prstGeom prst="roundRect">
            <a:avLst>
              <a:gd name="adj" fmla="val 6977"/>
            </a:avLst>
          </a:prstGeom>
          <a:solidFill>
            <a:srgbClr val="EAF3F2"/>
          </a:solidFill>
          <a:ln w="12700">
            <a:solidFill>
              <a:srgbClr val="BFD9D6"/>
            </a:solidFill>
            <a:prstDash val="solid"/>
          </a:ln>
        </p:spPr>
      </p:sp>
      <p:sp>
        <p:nvSpPr>
          <p:cNvPr id="23" name="Text 21"/>
          <p:cNvSpPr txBox="1"/>
          <p:nvPr/>
        </p:nvSpPr>
        <p:spPr>
          <a:xfrm>
            <a:off x="786384" y="5285232"/>
            <a:ext cx="10618927" cy="786384"/>
          </a:xfrm>
          <a:prstGeom prst="rect">
            <a:avLst/>
          </a:prstGeom>
          <a:noFill/>
          <a:ln/>
        </p:spPr>
        <p:txBody>
          <a:bodyPr wrap="square" lIns="0" tIns="0" rIns="0" bIns="0" rtlCol="0" anchor="ctr"/>
          <a:lstStyle/>
          <a:p>
            <a:pPr indent="0" marL="0">
              <a:buNone/>
            </a:pPr>
            <a:r>
              <a:rPr lang="en-US" sz="1300" b="1" dirty="0">
                <a:solidFill>
                  <a:srgbClr val="1B3A4B"/>
                </a:solidFill>
                <a:latin typeface="Calibri" pitchFamily="34" charset="0"/>
                <a:ea typeface="Calibri" pitchFamily="34" charset="-122"/>
                <a:cs typeface="Calibri" pitchFamily="34" charset="-120"/>
              </a:rPr>
              <a:t>The practical consequence for a single supply chain: a CE marked device can be sold across the whole United Kingdom today. A UKCA marked device cannot — it does not satisfy Northern Ireland.</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UK MDR 2002</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100" b="1" dirty="0">
                <a:solidFill>
                  <a:srgbClr val="1B3A4B"/>
                </a:solidFill>
                <a:latin typeface="Cambria" pitchFamily="34" charset="0"/>
                <a:ea typeface="Cambria" pitchFamily="34" charset="-122"/>
                <a:cs typeface="Cambria" pitchFamily="34" charset="-120"/>
              </a:rPr>
              <a:t>What UKCA actually requires</a:t>
            </a:r>
            <a:endParaRPr lang="en-US" sz="31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31</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Not a British version of MDR. A continuation of the pre-2021 European directives, carried into UK law.</a:t>
            </a:r>
            <a:endParaRPr lang="en-US" sz="1400" dirty="0"/>
          </a:p>
        </p:txBody>
      </p:sp>
      <p:sp>
        <p:nvSpPr>
          <p:cNvPr id="7" name="Text 5"/>
          <p:cNvSpPr txBox="1"/>
          <p:nvPr/>
        </p:nvSpPr>
        <p:spPr>
          <a:xfrm>
            <a:off x="548640" y="1847088"/>
            <a:ext cx="5394960" cy="256032"/>
          </a:xfrm>
          <a:prstGeom prst="rect">
            <a:avLst/>
          </a:prstGeom>
          <a:noFill/>
          <a:ln/>
        </p:spPr>
        <p:txBody>
          <a:bodyPr wrap="square" lIns="0" tIns="0" rIns="0" bIns="0" rtlCol="0" anchor="ctr"/>
          <a:lstStyle/>
          <a:p>
            <a:pPr indent="0" marL="0">
              <a:buNone/>
            </a:pPr>
            <a:r>
              <a:rPr lang="en-US" sz="1100" b="1" spc="120" kern="0" dirty="0">
                <a:solidFill>
                  <a:srgbClr val="0E7C7B"/>
                </a:solidFill>
                <a:latin typeface="Calibri" pitchFamily="34" charset="0"/>
                <a:ea typeface="Calibri" pitchFamily="34" charset="-122"/>
                <a:cs typeface="Calibri" pitchFamily="34" charset="-120"/>
              </a:rPr>
              <a:t>THE LEGAL BASIS</a:t>
            </a:r>
            <a:endParaRPr lang="en-US" sz="1100" dirty="0"/>
          </a:p>
        </p:txBody>
      </p:sp>
      <p:sp>
        <p:nvSpPr>
          <p:cNvPr id="8" name="Shape 6"/>
          <p:cNvSpPr/>
          <p:nvPr/>
        </p:nvSpPr>
        <p:spPr>
          <a:xfrm>
            <a:off x="548640" y="2157984"/>
            <a:ext cx="5394960" cy="3566160"/>
          </a:xfrm>
          <a:prstGeom prst="roundRect">
            <a:avLst>
              <a:gd name="adj" fmla="val 1795"/>
            </a:avLst>
          </a:prstGeom>
          <a:solidFill>
            <a:srgbClr val="F1F5F6"/>
          </a:solidFill>
          <a:ln w="12700">
            <a:solidFill>
              <a:srgbClr val="D7E2E5"/>
            </a:solidFill>
            <a:prstDash val="solid"/>
          </a:ln>
        </p:spPr>
      </p:sp>
      <p:sp>
        <p:nvSpPr>
          <p:cNvPr id="9" name="Text 7"/>
          <p:cNvSpPr txBox="1"/>
          <p:nvPr/>
        </p:nvSpPr>
        <p:spPr>
          <a:xfrm>
            <a:off x="786384" y="2340864"/>
            <a:ext cx="4919472" cy="3200400"/>
          </a:xfrm>
          <a:prstGeom prst="rect">
            <a:avLst/>
          </a:prstGeom>
          <a:noFill/>
          <a:ln/>
        </p:spPr>
        <p:txBody>
          <a:bodyPr wrap="square" lIns="0" tIns="0" rIns="0" bIns="0" rtlCol="0" anchor="t"/>
          <a:lstStyle/>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The UK Medical Devices Regulations 2002, as amended</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These implemented the old European directives — the Medical Devices Directive, the Active Implantable Directive and the IVD Directive — and they remain the law for Great Britain.</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Schedule 2A</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Inserted to explain how the directive annexes referenced by the regulations are to be read in a UK context. This is the mechanism by which MDD annexes became UK requirements.</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Classification under the MDD rules</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Annex IX of Directive 93/42/EEC as modified by Schedule 2A — not MDR Annex VIII.</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Conformity assessment by a UK Approved Body</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Structurally the same idea as a notified body, designated by the MHRA and listed publicly.</a:t>
            </a:r>
            <a:endParaRPr lang="en-US" sz="1080" dirty="0"/>
          </a:p>
        </p:txBody>
      </p:sp>
      <p:sp>
        <p:nvSpPr>
          <p:cNvPr id="10" name="Text 8"/>
          <p:cNvSpPr txBox="1"/>
          <p:nvPr/>
        </p:nvSpPr>
        <p:spPr>
          <a:xfrm>
            <a:off x="6245352" y="1847088"/>
            <a:ext cx="5394960" cy="256032"/>
          </a:xfrm>
          <a:prstGeom prst="rect">
            <a:avLst/>
          </a:prstGeom>
          <a:noFill/>
          <a:ln/>
        </p:spPr>
        <p:txBody>
          <a:bodyPr wrap="square" lIns="0" tIns="0" rIns="0" bIns="0" rtlCol="0" anchor="ctr"/>
          <a:lstStyle/>
          <a:p>
            <a:pPr indent="0" marL="0">
              <a:buNone/>
            </a:pPr>
            <a:r>
              <a:rPr lang="en-US" sz="1100" b="1" spc="120" kern="0" dirty="0">
                <a:solidFill>
                  <a:srgbClr val="C77C1E"/>
                </a:solidFill>
                <a:latin typeface="Calibri" pitchFamily="34" charset="0"/>
                <a:ea typeface="Calibri" pitchFamily="34" charset="-122"/>
                <a:cs typeface="Calibri" pitchFamily="34" charset="-120"/>
              </a:rPr>
              <a:t>WHAT THAT MEANS IN PRACTICE</a:t>
            </a:r>
            <a:endParaRPr lang="en-US" sz="1100" dirty="0"/>
          </a:p>
        </p:txBody>
      </p:sp>
      <p:sp>
        <p:nvSpPr>
          <p:cNvPr id="11" name="Shape 9"/>
          <p:cNvSpPr/>
          <p:nvPr/>
        </p:nvSpPr>
        <p:spPr>
          <a:xfrm>
            <a:off x="6245352" y="2157984"/>
            <a:ext cx="5394960" cy="3566160"/>
          </a:xfrm>
          <a:prstGeom prst="roundRect">
            <a:avLst>
              <a:gd name="adj" fmla="val 1795"/>
            </a:avLst>
          </a:prstGeom>
          <a:solidFill>
            <a:srgbClr val="FBF0E2"/>
          </a:solidFill>
          <a:ln w="12700">
            <a:solidFill>
              <a:srgbClr val="E3C893"/>
            </a:solidFill>
            <a:prstDash val="solid"/>
          </a:ln>
        </p:spPr>
      </p:sp>
      <p:sp>
        <p:nvSpPr>
          <p:cNvPr id="12" name="Text 10"/>
          <p:cNvSpPr txBox="1"/>
          <p:nvPr/>
        </p:nvSpPr>
        <p:spPr>
          <a:xfrm>
            <a:off x="6483096" y="2340864"/>
            <a:ext cx="4919472" cy="3200400"/>
          </a:xfrm>
          <a:prstGeom prst="rect">
            <a:avLst/>
          </a:prstGeom>
          <a:noFill/>
          <a:ln/>
        </p:spPr>
        <p:txBody>
          <a:bodyPr wrap="square" lIns="0" tIns="0" rIns="0" bIns="0" rtlCol="0" anchor="t"/>
          <a:lstStyle/>
          <a:p>
            <a:pPr indent="0" marL="0">
              <a:lnSpc>
                <a:spcPct val="105000"/>
              </a:lnSpc>
              <a:buNone/>
            </a:pPr>
            <a:r>
              <a:rPr lang="en-US" sz="1200" b="1" dirty="0">
                <a:solidFill>
                  <a:srgbClr val="7A4E12"/>
                </a:solidFill>
                <a:latin typeface="Calibri" pitchFamily="34" charset="0"/>
                <a:ea typeface="Calibri" pitchFamily="34" charset="-122"/>
                <a:cs typeface="Calibri" pitchFamily="34" charset="-120"/>
              </a:rPr>
              <a:t>The UKCA requirements are, in substance, the MDD requirements.
</a:t>
            </a:r>
            <a:pPr indent="0" marL="0">
              <a:lnSpc>
                <a:spcPct val="105000"/>
              </a:lnSpc>
              <a:buNone/>
            </a:pPr>
            <a:r>
              <a:rPr lang="en-US" sz="1100" dirty="0">
                <a:solidFill>
                  <a:srgbClr val="22333B"/>
                </a:solidFill>
                <a:latin typeface="Calibri" pitchFamily="34" charset="0"/>
                <a:ea typeface="Calibri" pitchFamily="34" charset="-122"/>
                <a:cs typeface="Calibri" pitchFamily="34" charset="-120"/>
              </a:rPr>
              <a:t>So a manufacturer who holds an MDR technical file already exceeds what UKCA asks for in most respects. The file is not the obstacle — the assessment is.
</a:t>
            </a:r>
            <a:pPr indent="0" marL="0">
              <a:lnSpc>
                <a:spcPct val="105000"/>
              </a:lnSpc>
              <a:buNone/>
            </a:pPr>
            <a:r>
              <a:rPr lang="en-US" sz="1100" dirty="0">
                <a:solidFill>
                  <a:srgbClr val="22333B"/>
                </a:solidFill>
                <a:latin typeface="Calibri" pitchFamily="34" charset="0"/>
                <a:ea typeface="Calibri" pitchFamily="34" charset="-122"/>
                <a:cs typeface="Calibri" pitchFamily="34" charset="-120"/>
              </a:rPr>
              <a:t>It also means the two regimes have genuinely diverged, and the gap widens every time the EU amends MDR while the UK does not follow. Software is the clearest example: MDR has Rule 11, the UK does not.
</a:t>
            </a:r>
            <a:pPr indent="0" marL="0">
              <a:lnSpc>
                <a:spcPct val="105000"/>
              </a:lnSpc>
              <a:buNone/>
            </a:pPr>
            <a:r>
              <a:rPr lang="en-US" sz="1100" b="1" dirty="0">
                <a:solidFill>
                  <a:srgbClr val="22333B"/>
                </a:solidFill>
                <a:latin typeface="Calibri" pitchFamily="34" charset="0"/>
                <a:ea typeface="Calibri" pitchFamily="34" charset="-122"/>
                <a:cs typeface="Calibri" pitchFamily="34" charset="-120"/>
              </a:rPr>
              <a:t>And it means UK requirements are, today, less demanding than EU ones — which is exactly why the MHRA is building a replacement framework. Slide 37.
</a:t>
            </a:r>
            <a:pPr indent="0" marL="0">
              <a:lnSpc>
                <a:spcPct val="105000"/>
              </a:lnSpc>
              <a:buNone/>
            </a:pPr>
            <a:r>
              <a:rPr lang="en-US" sz="1100" dirty="0">
                <a:solidFill>
                  <a:srgbClr val="22333B"/>
                </a:solidFill>
                <a:latin typeface="Calibri" pitchFamily="34" charset="0"/>
                <a:ea typeface="Calibri" pitchFamily="34" charset="-122"/>
                <a:cs typeface="Calibri" pitchFamily="34" charset="-120"/>
              </a:rPr>
              <a:t>One consequence worth planning around: because GB classification follows the older rules, your UK classification rationale is a separate document citing separate rules. It is not your MDR rationale with the headings changed, and an assessor will notice if it is.</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ACCEPTANCE OF CE MARKING</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2800" b="1" dirty="0">
                <a:solidFill>
                  <a:srgbClr val="1B3A4B"/>
                </a:solidFill>
                <a:latin typeface="Cambria" pitchFamily="34" charset="0"/>
                <a:ea typeface="Cambria" pitchFamily="34" charset="-122"/>
                <a:cs typeface="Cambria" pitchFamily="34" charset="-120"/>
              </a:rPr>
              <a:t>The dates that govern Great Britain</a:t>
            </a:r>
            <a:endParaRPr lang="en-US" sz="28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32</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Verified against MHRA guidance at the time of preparation. Re-check before you act — these have moved more than once.</a:t>
            </a:r>
            <a:endParaRPr lang="en-US" sz="14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847088"/>
          <a:ext cx="11094415" cy="914400"/>
        </p:xfrm>
        <a:graphic>
          <a:graphicData uri="http://schemas.openxmlformats.org/drawingml/2006/table">
            <a:tbl>
              <a:tblPr/>
              <a:tblGrid>
                <a:gridCol w="2926080"/>
                <a:gridCol w="3200400"/>
                <a:gridCol w="4965192"/>
              </a:tblGrid>
              <a:tr h="639348">
                <a:tc>
                  <a:txBody>
                    <a:bodyPr/>
                    <a:lstStyle/>
                    <a:p>
                      <a:pPr algn="l" indent="0" marL="0">
                        <a:buNone/>
                      </a:pPr>
                      <a:r>
                        <a:rPr lang="en-US" sz="874" b="1" dirty="0">
                          <a:solidFill>
                            <a:srgbClr val="FFFFFF"/>
                          </a:solidFill>
                          <a:latin typeface="Calibri" pitchFamily="34" charset="0"/>
                          <a:ea typeface="Calibri" pitchFamily="34" charset="-122"/>
                          <a:cs typeface="Calibri" pitchFamily="34" charset="-120"/>
                        </a:rPr>
                        <a:t>What your device carries</a:t>
                      </a:r>
                      <a:endParaRPr lang="en-US" sz="87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874" b="1" dirty="0">
                          <a:solidFill>
                            <a:srgbClr val="FFFFFF"/>
                          </a:solidFill>
                          <a:latin typeface="Calibri" pitchFamily="34" charset="0"/>
                          <a:ea typeface="Calibri" pitchFamily="34" charset="-122"/>
                          <a:cs typeface="Calibri" pitchFamily="34" charset="-120"/>
                        </a:rPr>
                        <a:t>Accepted in Great Britain until</a:t>
                      </a:r>
                      <a:endParaRPr lang="en-US" sz="87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874" b="1" dirty="0">
                          <a:solidFill>
                            <a:srgbClr val="FFFFFF"/>
                          </a:solidFill>
                          <a:latin typeface="Calibri" pitchFamily="34" charset="0"/>
                          <a:ea typeface="Calibri" pitchFamily="34" charset="-122"/>
                          <a:cs typeface="Calibri" pitchFamily="34" charset="-120"/>
                        </a:rPr>
                        <a:t>What that means for you</a:t>
                      </a:r>
                      <a:endParaRPr lang="en-US" sz="87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r>
              <a:tr h="639348">
                <a:tc>
                  <a:txBody>
                    <a:bodyPr/>
                    <a:lstStyle/>
                    <a:p>
                      <a:pPr indent="0" marL="0">
                        <a:buNone/>
                      </a:pPr>
                      <a:r>
                        <a:rPr lang="en-US" sz="874" b="1" dirty="0">
                          <a:solidFill>
                            <a:srgbClr val="FFFFFF"/>
                          </a:solidFill>
                          <a:latin typeface="Calibri" pitchFamily="34" charset="0"/>
                          <a:ea typeface="Calibri" pitchFamily="34" charset="-122"/>
                          <a:cs typeface="Calibri" pitchFamily="34" charset="-120"/>
                        </a:rPr>
                        <a:t>CE marking under the EU MDR</a:t>
                      </a:r>
                      <a:endParaRPr lang="en-US" sz="87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E7A6E"/>
                    </a:solidFill>
                  </a:tcPr>
                </a:tc>
                <a:tc>
                  <a:txBody>
                    <a:bodyPr/>
                    <a:lstStyle/>
                    <a:p>
                      <a:pPr algn="ctr" indent="0" marL="0">
                        <a:buNone/>
                      </a:pPr>
                      <a:r>
                        <a:rPr lang="en-US" sz="1140" b="1" dirty="0">
                          <a:solidFill>
                            <a:srgbClr val="2A9D8F"/>
                          </a:solidFill>
                          <a:latin typeface="Calibri" pitchFamily="34" charset="0"/>
                          <a:ea typeface="Calibri" pitchFamily="34" charset="-122"/>
                          <a:cs typeface="Calibri" pitchFamily="34" charset="-120"/>
                        </a:rPr>
                        <a:t>30 June 2030</a:t>
                      </a:r>
                      <a:endParaRPr lang="en-US" sz="114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You can supply Great Britain on your EU certificate. The incremental work is registration and a UK Responsible Person</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639348">
                <a:tc>
                  <a:txBody>
                    <a:bodyPr/>
                    <a:lstStyle/>
                    <a:p>
                      <a:pPr indent="0" marL="0">
                        <a:buNone/>
                      </a:pPr>
                      <a:r>
                        <a:rPr lang="en-US" sz="874" b="1" dirty="0">
                          <a:solidFill>
                            <a:srgbClr val="FFFFFF"/>
                          </a:solidFill>
                          <a:latin typeface="Calibri" pitchFamily="34" charset="0"/>
                          <a:ea typeface="Calibri" pitchFamily="34" charset="-122"/>
                          <a:cs typeface="Calibri" pitchFamily="34" charset="-120"/>
                        </a:rPr>
                        <a:t>CE marking under the old MDD or AIMDD</a:t>
                      </a:r>
                      <a:endParaRPr lang="en-US" sz="87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A06318"/>
                    </a:solidFill>
                  </a:tcPr>
                </a:tc>
                <a:tc>
                  <a:txBody>
                    <a:bodyPr/>
                    <a:lstStyle/>
                    <a:p>
                      <a:pPr algn="ctr" indent="0" marL="0">
                        <a:buNone/>
                      </a:pPr>
                      <a:r>
                        <a:rPr lang="en-US" sz="988" b="1" dirty="0">
                          <a:solidFill>
                            <a:srgbClr val="C77C1E"/>
                          </a:solidFill>
                          <a:latin typeface="Calibri" pitchFamily="34" charset="0"/>
                          <a:ea typeface="Calibri" pitchFamily="34" charset="-122"/>
                          <a:cs typeface="Calibri" pitchFamily="34" charset="-120"/>
                        </a:rPr>
                        <a:t>the sooner of certificate expiry or 30 June 2028</a:t>
                      </a:r>
                      <a:endParaRPr lang="en-US" sz="98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b="1" dirty="0">
                          <a:solidFill>
                            <a:srgbClr val="22333B"/>
                          </a:solidFill>
                          <a:latin typeface="Calibri" pitchFamily="34" charset="0"/>
                          <a:ea typeface="Calibri" pitchFamily="34" charset="-122"/>
                          <a:cs typeface="Calibri" pitchFamily="34" charset="-120"/>
                        </a:rPr>
                        <a:t>Your GB access is tied to a legacy certificate that is itself expiring. Two clocks, and the earlier one governs</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639348">
                <a:tc>
                  <a:txBody>
                    <a:bodyPr/>
                    <a:lstStyle/>
                    <a:p>
                      <a:pPr indent="0" marL="0">
                        <a:buNone/>
                      </a:pPr>
                      <a:r>
                        <a:rPr lang="en-US" sz="874" b="1" dirty="0">
                          <a:solidFill>
                            <a:srgbClr val="FFFFFF"/>
                          </a:solidFill>
                          <a:latin typeface="Calibri" pitchFamily="34" charset="0"/>
                          <a:ea typeface="Calibri" pitchFamily="34" charset="-122"/>
                          <a:cs typeface="Calibri" pitchFamily="34" charset="-120"/>
                        </a:rPr>
                        <a:t>CE marking under the IVDD</a:t>
                      </a:r>
                      <a:endParaRPr lang="en-US" sz="87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0E7C7B"/>
                    </a:solidFill>
                  </a:tcPr>
                </a:tc>
                <a:tc>
                  <a:txBody>
                    <a:bodyPr/>
                    <a:lstStyle/>
                    <a:p>
                      <a:pPr algn="ctr" indent="0" marL="0">
                        <a:buNone/>
                      </a:pPr>
                      <a:r>
                        <a:rPr lang="en-US" sz="988" b="1" dirty="0">
                          <a:solidFill>
                            <a:srgbClr val="0E7C7B"/>
                          </a:solidFill>
                          <a:latin typeface="Calibri" pitchFamily="34" charset="0"/>
                          <a:ea typeface="Calibri" pitchFamily="34" charset="-122"/>
                          <a:cs typeface="Calibri" pitchFamily="34" charset="-120"/>
                        </a:rPr>
                        <a:t>the sooner of certificate expiry or 30 June 2030</a:t>
                      </a:r>
                      <a:endParaRPr lang="en-US" sz="98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Included for completeness — in vitro diagnostics run on their own timetable</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639348">
                <a:tc>
                  <a:txBody>
                    <a:bodyPr/>
                    <a:lstStyle/>
                    <a:p>
                      <a:pPr indent="0" marL="0">
                        <a:buNone/>
                      </a:pPr>
                      <a:r>
                        <a:rPr lang="en-US" sz="874" b="1" dirty="0">
                          <a:solidFill>
                            <a:srgbClr val="FFFFFF"/>
                          </a:solidFill>
                          <a:latin typeface="Calibri" pitchFamily="34" charset="0"/>
                          <a:ea typeface="Calibri" pitchFamily="34" charset="-122"/>
                          <a:cs typeface="Calibri" pitchFamily="34" charset="-120"/>
                        </a:rPr>
                        <a:t>UKCA marking</a:t>
                      </a:r>
                      <a:endParaRPr lang="en-US" sz="87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ctr" indent="0" marL="0">
                        <a:buNone/>
                      </a:pPr>
                      <a:r>
                        <a:rPr lang="en-US" sz="988" b="1" dirty="0">
                          <a:solidFill>
                            <a:srgbClr val="1B3A4B"/>
                          </a:solidFill>
                          <a:latin typeface="Calibri" pitchFamily="34" charset="0"/>
                          <a:ea typeface="Calibri" pitchFamily="34" charset="-122"/>
                          <a:cs typeface="Calibri" pitchFamily="34" charset="-120"/>
                        </a:rPr>
                        <a:t>no end date — and not mandatory</a:t>
                      </a:r>
                      <a:endParaRPr lang="en-US" sz="98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Available now. Currently a strategic choice rather than a requirement</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bl>
          </a:graphicData>
        </a:graphic>
      </p:graphicFrame>
      <p:sp>
        <p:nvSpPr>
          <p:cNvPr id="8" name="Shape 5"/>
          <p:cNvSpPr/>
          <p:nvPr/>
        </p:nvSpPr>
        <p:spPr>
          <a:xfrm>
            <a:off x="548640" y="5285232"/>
            <a:ext cx="11094415" cy="969264"/>
          </a:xfrm>
          <a:prstGeom prst="roundRect">
            <a:avLst>
              <a:gd name="adj" fmla="val 6604"/>
            </a:avLst>
          </a:prstGeom>
          <a:solidFill>
            <a:srgbClr val="EAF3F2"/>
          </a:solidFill>
          <a:ln w="12700">
            <a:solidFill>
              <a:srgbClr val="BFD9D6"/>
            </a:solidFill>
            <a:prstDash val="solid"/>
          </a:ln>
        </p:spPr>
      </p:sp>
      <p:sp>
        <p:nvSpPr>
          <p:cNvPr id="9" name="Text 6"/>
          <p:cNvSpPr txBox="1"/>
          <p:nvPr/>
        </p:nvSpPr>
        <p:spPr>
          <a:xfrm>
            <a:off x="786384" y="5394960"/>
            <a:ext cx="10618927" cy="749808"/>
          </a:xfrm>
          <a:prstGeom prst="rect">
            <a:avLst/>
          </a:prstGeom>
          <a:noFill/>
          <a:ln/>
        </p:spPr>
        <p:txBody>
          <a:bodyPr wrap="square" lIns="0" tIns="0" rIns="0" bIns="0" rtlCol="0" anchor="t"/>
          <a:lstStyle/>
          <a:p>
            <a:pPr indent="0" marL="0">
              <a:lnSpc>
                <a:spcPct val="105000"/>
              </a:lnSpc>
              <a:buNone/>
            </a:pPr>
            <a:r>
              <a:rPr lang="en-US" sz="1250" b="1" dirty="0">
                <a:solidFill>
                  <a:srgbClr val="1B3A4B"/>
                </a:solidFill>
                <a:latin typeface="Calibri" pitchFamily="34" charset="0"/>
                <a:ea typeface="Calibri" pitchFamily="34" charset="-122"/>
                <a:cs typeface="Calibri" pitchFamily="34" charset="-120"/>
              </a:rPr>
              <a:t>And the strategic question underneath:  </a:t>
            </a:r>
            <a:pPr indent="0" marL="0">
              <a:lnSpc>
                <a:spcPct val="105000"/>
              </a:lnSpc>
              <a:buNone/>
            </a:pPr>
            <a:r>
              <a:rPr lang="en-US" sz="1150" dirty="0">
                <a:solidFill>
                  <a:srgbClr val="22333B"/>
                </a:solidFill>
                <a:latin typeface="Calibri" pitchFamily="34" charset="0"/>
                <a:ea typeface="Calibri" pitchFamily="34" charset="-122"/>
                <a:cs typeface="Calibri" pitchFamily="34" charset="-120"/>
              </a:rPr>
              <a:t>the government has said it will consult on recognising CE marked devices indefinitely. If that happens, UKCA becomes optional in a much more permanent sense. Until it does, 30 June 2030 is the planning horizon for anyone relying on an MDR certificate.</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DIVERGENCE</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2900" b="1" dirty="0">
                <a:solidFill>
                  <a:srgbClr val="1B3A4B"/>
                </a:solidFill>
                <a:latin typeface="Cambria" pitchFamily="34" charset="0"/>
                <a:ea typeface="Cambria" pitchFamily="34" charset="-122"/>
                <a:cs typeface="Cambria" pitchFamily="34" charset="-120"/>
              </a:rPr>
              <a:t>Where the EU and UK have genuinely diverged</a:t>
            </a:r>
            <a:endParaRPr lang="en-US" sz="29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33</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The same device, the same intended purpose, two different regulatory answers. This is not an error — it is two rule sets.</a:t>
            </a:r>
            <a:endParaRPr lang="en-US" sz="14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914400"/>
        </p:xfrm>
        <a:graphic>
          <a:graphicData uri="http://schemas.openxmlformats.org/drawingml/2006/table">
            <a:tbl>
              <a:tblPr/>
              <a:tblGrid>
                <a:gridCol w="2286000"/>
                <a:gridCol w="4480560"/>
                <a:gridCol w="4325112"/>
              </a:tblGrid>
              <a:tr h="627644">
                <a:tc>
                  <a:txBody>
                    <a:bodyPr/>
                    <a:lstStyle/>
                    <a:p>
                      <a:pPr algn="l" indent="0" marL="0">
                        <a:buNone/>
                      </a:pPr>
                      <a:r>
                        <a:rPr lang="en-US" sz="1012" b="1" dirty="0">
                          <a:solidFill>
                            <a:srgbClr val="FFFFFF"/>
                          </a:solidFill>
                          <a:latin typeface="Calibri" pitchFamily="34" charset="0"/>
                          <a:ea typeface="Calibri" pitchFamily="34" charset="-122"/>
                          <a:cs typeface="Calibri" pitchFamily="34" charset="-120"/>
                        </a:rPr>
                        <a:t>Topic</a:t>
                      </a:r>
                      <a:endParaRPr lang="en-US" sz="1012"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1012" b="1" dirty="0">
                          <a:solidFill>
                            <a:srgbClr val="FFFFFF"/>
                          </a:solidFill>
                          <a:latin typeface="Calibri" pitchFamily="34" charset="0"/>
                          <a:ea typeface="Calibri" pitchFamily="34" charset="-122"/>
                          <a:cs typeface="Calibri" pitchFamily="34" charset="-120"/>
                        </a:rPr>
                        <a:t>EU MDR</a:t>
                      </a:r>
                      <a:endParaRPr lang="en-US" sz="1012"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1012" b="1" dirty="0">
                          <a:solidFill>
                            <a:srgbClr val="FFFFFF"/>
                          </a:solidFill>
                          <a:latin typeface="Calibri" pitchFamily="34" charset="0"/>
                          <a:ea typeface="Calibri" pitchFamily="34" charset="-122"/>
                          <a:cs typeface="Calibri" pitchFamily="34" charset="-120"/>
                        </a:rPr>
                        <a:t>Great Britain</a:t>
                      </a:r>
                      <a:endParaRPr lang="en-US" sz="1012"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r>
              <a:tr h="627644">
                <a:tc>
                  <a:txBody>
                    <a:bodyPr/>
                    <a:lstStyle/>
                    <a:p>
                      <a:pPr indent="0" marL="0">
                        <a:buNone/>
                      </a:pPr>
                      <a:r>
                        <a:rPr lang="en-US" sz="1012" b="1" dirty="0">
                          <a:solidFill>
                            <a:srgbClr val="1B3A4B"/>
                          </a:solidFill>
                          <a:latin typeface="Calibri" pitchFamily="34" charset="0"/>
                          <a:ea typeface="Calibri" pitchFamily="34" charset="-122"/>
                          <a:cs typeface="Calibri" pitchFamily="34" charset="-120"/>
                        </a:rPr>
                        <a:t>Classification rules</a:t>
                      </a:r>
                      <a:endParaRPr lang="en-US" sz="1012"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968" dirty="0">
                          <a:solidFill>
                            <a:srgbClr val="22333B"/>
                          </a:solidFill>
                          <a:latin typeface="Calibri" pitchFamily="34" charset="0"/>
                          <a:ea typeface="Calibri" pitchFamily="34" charset="-122"/>
                          <a:cs typeface="Calibri" pitchFamily="34" charset="-120"/>
                        </a:rPr>
                        <a:t>MDR Annex VIII — 22 rules, revised and generally stricter</a:t>
                      </a:r>
                      <a:endParaRPr lang="en-US" sz="96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968" dirty="0">
                          <a:solidFill>
                            <a:srgbClr val="22333B"/>
                          </a:solidFill>
                          <a:latin typeface="Calibri" pitchFamily="34" charset="0"/>
                          <a:ea typeface="Calibri" pitchFamily="34" charset="-122"/>
                          <a:cs typeface="Calibri" pitchFamily="34" charset="-120"/>
                        </a:rPr>
                        <a:t>MDD Annex IX via Schedule 2A — the pre-2021 rule set</a:t>
                      </a:r>
                      <a:endParaRPr lang="en-US" sz="96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627644">
                <a:tc>
                  <a:txBody>
                    <a:bodyPr/>
                    <a:lstStyle/>
                    <a:p>
                      <a:pPr indent="0" marL="0">
                        <a:buNone/>
                      </a:pPr>
                      <a:r>
                        <a:rPr lang="en-US" sz="1012" b="1" dirty="0">
                          <a:solidFill>
                            <a:srgbClr val="1B3A4B"/>
                          </a:solidFill>
                          <a:latin typeface="Calibri" pitchFamily="34" charset="0"/>
                          <a:ea typeface="Calibri" pitchFamily="34" charset="-122"/>
                          <a:cs typeface="Calibri" pitchFamily="34" charset="-120"/>
                        </a:rPr>
                        <a:t>Software</a:t>
                      </a:r>
                      <a:endParaRPr lang="en-US" sz="1012"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968" b="1" dirty="0">
                          <a:solidFill>
                            <a:srgbClr val="A83A3C"/>
                          </a:solidFill>
                          <a:latin typeface="Calibri" pitchFamily="34" charset="0"/>
                          <a:ea typeface="Calibri" pitchFamily="34" charset="-122"/>
                          <a:cs typeface="Calibri" pitchFamily="34" charset="-120"/>
                        </a:rPr>
                        <a:t>Rule 11 classifies software in its own right, commonly IIa or IIb</a:t>
                      </a:r>
                      <a:endParaRPr lang="en-US" sz="96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968" b="1" dirty="0">
                          <a:solidFill>
                            <a:srgbClr val="A83A3C"/>
                          </a:solidFill>
                          <a:latin typeface="Calibri" pitchFamily="34" charset="0"/>
                          <a:ea typeface="Calibri" pitchFamily="34" charset="-122"/>
                          <a:cs typeface="Calibri" pitchFamily="34" charset="-120"/>
                        </a:rPr>
                        <a:t>No equivalent rule. Software is classified under the older active-device provisions and can land lower</a:t>
                      </a:r>
                      <a:endParaRPr lang="en-US" sz="96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627644">
                <a:tc>
                  <a:txBody>
                    <a:bodyPr/>
                    <a:lstStyle/>
                    <a:p>
                      <a:pPr indent="0" marL="0">
                        <a:buNone/>
                      </a:pPr>
                      <a:r>
                        <a:rPr lang="en-US" sz="1012" b="1" dirty="0">
                          <a:solidFill>
                            <a:srgbClr val="1B3A4B"/>
                          </a:solidFill>
                          <a:latin typeface="Calibri" pitchFamily="34" charset="0"/>
                          <a:ea typeface="Calibri" pitchFamily="34" charset="-122"/>
                          <a:cs typeface="Calibri" pitchFamily="34" charset="-120"/>
                        </a:rPr>
                        <a:t>Clinical evidence</a:t>
                      </a:r>
                      <a:endParaRPr lang="en-US" sz="1012"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968" dirty="0">
                          <a:solidFill>
                            <a:srgbClr val="22333B"/>
                          </a:solidFill>
                          <a:latin typeface="Calibri" pitchFamily="34" charset="0"/>
                          <a:ea typeface="Calibri" pitchFamily="34" charset="-122"/>
                          <a:cs typeface="Calibri" pitchFamily="34" charset="-120"/>
                        </a:rPr>
                        <a:t>Article 61 and Annex XIV, with tightened equivalence and mandatory PMCF expectations</a:t>
                      </a:r>
                      <a:endParaRPr lang="en-US" sz="96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968" dirty="0">
                          <a:solidFill>
                            <a:srgbClr val="22333B"/>
                          </a:solidFill>
                          <a:latin typeface="Calibri" pitchFamily="34" charset="0"/>
                          <a:ea typeface="Calibri" pitchFamily="34" charset="-122"/>
                          <a:cs typeface="Calibri" pitchFamily="34" charset="-120"/>
                        </a:rPr>
                        <a:t>The directive-era expectations, which are materially lighter</a:t>
                      </a:r>
                      <a:endParaRPr lang="en-US" sz="96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627644">
                <a:tc>
                  <a:txBody>
                    <a:bodyPr/>
                    <a:lstStyle/>
                    <a:p>
                      <a:pPr indent="0" marL="0">
                        <a:buNone/>
                      </a:pPr>
                      <a:r>
                        <a:rPr lang="en-US" sz="1012" b="1" dirty="0">
                          <a:solidFill>
                            <a:srgbClr val="1B3A4B"/>
                          </a:solidFill>
                          <a:latin typeface="Calibri" pitchFamily="34" charset="0"/>
                          <a:ea typeface="Calibri" pitchFamily="34" charset="-122"/>
                          <a:cs typeface="Calibri" pitchFamily="34" charset="-120"/>
                        </a:rPr>
                        <a:t>Post-market surveillance</a:t>
                      </a:r>
                      <a:endParaRPr lang="en-US" sz="1012"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968" dirty="0">
                          <a:solidFill>
                            <a:srgbClr val="22333B"/>
                          </a:solidFill>
                          <a:latin typeface="Calibri" pitchFamily="34" charset="0"/>
                          <a:ea typeface="Calibri" pitchFamily="34" charset="-122"/>
                          <a:cs typeface="Calibri" pitchFamily="34" charset="-120"/>
                        </a:rPr>
                        <a:t>Annex III: PMS plan, PMCF, PSUR, trend reporting</a:t>
                      </a:r>
                      <a:endParaRPr lang="en-US" sz="96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968" dirty="0">
                          <a:solidFill>
                            <a:srgbClr val="22333B"/>
                          </a:solidFill>
                          <a:latin typeface="Calibri" pitchFamily="34" charset="0"/>
                          <a:ea typeface="Calibri" pitchFamily="34" charset="-122"/>
                          <a:cs typeface="Calibri" pitchFamily="34" charset="-120"/>
                        </a:rPr>
                        <a:t>Strengthened separately by the 2024 PMS regulations, in force since June 2025 — slide 36</a:t>
                      </a:r>
                      <a:endParaRPr lang="en-US" sz="96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627644">
                <a:tc>
                  <a:txBody>
                    <a:bodyPr/>
                    <a:lstStyle/>
                    <a:p>
                      <a:pPr indent="0" marL="0">
                        <a:buNone/>
                      </a:pPr>
                      <a:r>
                        <a:rPr lang="en-US" sz="1012" b="1" dirty="0">
                          <a:solidFill>
                            <a:srgbClr val="1B3A4B"/>
                          </a:solidFill>
                          <a:latin typeface="Calibri" pitchFamily="34" charset="0"/>
                          <a:ea typeface="Calibri" pitchFamily="34" charset="-122"/>
                          <a:cs typeface="Calibri" pitchFamily="34" charset="-120"/>
                        </a:rPr>
                        <a:t>Named compliance role</a:t>
                      </a:r>
                      <a:endParaRPr lang="en-US" sz="1012"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968" dirty="0">
                          <a:solidFill>
                            <a:srgbClr val="22333B"/>
                          </a:solidFill>
                          <a:latin typeface="Calibri" pitchFamily="34" charset="0"/>
                          <a:ea typeface="Calibri" pitchFamily="34" charset="-122"/>
                          <a:cs typeface="Calibri" pitchFamily="34" charset="-120"/>
                        </a:rPr>
                        <a:t>Article 15 PRRC, with defined qualifications</a:t>
                      </a:r>
                      <a:endParaRPr lang="en-US" sz="96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968" dirty="0">
                          <a:solidFill>
                            <a:srgbClr val="22333B"/>
                          </a:solidFill>
                          <a:latin typeface="Calibri" pitchFamily="34" charset="0"/>
                          <a:ea typeface="Calibri" pitchFamily="34" charset="-122"/>
                          <a:cs typeface="Calibri" pitchFamily="34" charset="-120"/>
                        </a:rPr>
                        <a:t>No direct equivalent; the UK Responsible Person is a different role with different duties</a:t>
                      </a:r>
                      <a:endParaRPr lang="en-US" sz="96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627644">
                <a:tc>
                  <a:txBody>
                    <a:bodyPr/>
                    <a:lstStyle/>
                    <a:p>
                      <a:pPr indent="0" marL="0">
                        <a:buNone/>
                      </a:pPr>
                      <a:r>
                        <a:rPr lang="en-US" sz="1012" b="1" dirty="0">
                          <a:solidFill>
                            <a:srgbClr val="1B3A4B"/>
                          </a:solidFill>
                          <a:latin typeface="Calibri" pitchFamily="34" charset="0"/>
                          <a:ea typeface="Calibri" pitchFamily="34" charset="-122"/>
                          <a:cs typeface="Calibri" pitchFamily="34" charset="-120"/>
                        </a:rPr>
                        <a:t>Database</a:t>
                      </a:r>
                      <a:endParaRPr lang="en-US" sz="1012"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968" dirty="0">
                          <a:solidFill>
                            <a:srgbClr val="22333B"/>
                          </a:solidFill>
                          <a:latin typeface="Calibri" pitchFamily="34" charset="0"/>
                          <a:ea typeface="Calibri" pitchFamily="34" charset="-122"/>
                          <a:cs typeface="Calibri" pitchFamily="34" charset="-120"/>
                        </a:rPr>
                        <a:t>EUDAMED</a:t>
                      </a:r>
                      <a:endParaRPr lang="en-US" sz="96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968" dirty="0">
                          <a:solidFill>
                            <a:srgbClr val="22333B"/>
                          </a:solidFill>
                          <a:latin typeface="Calibri" pitchFamily="34" charset="0"/>
                          <a:ea typeface="Calibri" pitchFamily="34" charset="-122"/>
                          <a:cs typeface="Calibri" pitchFamily="34" charset="-120"/>
                        </a:rPr>
                        <a:t>MHRA device registration — separate system, separate submission</a:t>
                      </a:r>
                      <a:endParaRPr lang="en-US" sz="96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ASSESSMENT</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UK Approved Bodies, and the capacity question</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34</a:t>
            </a:r>
            <a:endParaRPr lang="en-US" sz="900" dirty="0"/>
          </a:p>
        </p:txBody>
      </p:sp>
      <p:sp>
        <p:nvSpPr>
          <p:cNvPr id="6" name="Shape 4"/>
          <p:cNvSpPr/>
          <p:nvPr/>
        </p:nvSpPr>
        <p:spPr>
          <a:xfrm>
            <a:off x="548640" y="1627632"/>
            <a:ext cx="5410048" cy="1746504"/>
          </a:xfrm>
          <a:prstGeom prst="roundRect">
            <a:avLst>
              <a:gd name="adj" fmla="val 3665"/>
            </a:avLst>
          </a:prstGeom>
          <a:solidFill>
            <a:srgbClr val="F1F5F6"/>
          </a:solidFill>
          <a:ln w="12700">
            <a:solidFill>
              <a:srgbClr val="D7E2E5"/>
            </a:solidFill>
            <a:prstDash val="solid"/>
          </a:ln>
        </p:spPr>
      </p:sp>
      <p:sp>
        <p:nvSpPr>
          <p:cNvPr id="7" name="Text 5"/>
          <p:cNvSpPr txBox="1"/>
          <p:nvPr/>
        </p:nvSpPr>
        <p:spPr>
          <a:xfrm>
            <a:off x="768096" y="1828800"/>
            <a:ext cx="4971136" cy="330200"/>
          </a:xfrm>
          <a:prstGeom prst="rect">
            <a:avLst/>
          </a:prstGeom>
          <a:noFill/>
          <a:ln/>
        </p:spPr>
        <p:txBody>
          <a:bodyPr wrap="square" lIns="0" tIns="0" rIns="0" bIns="0" rtlCol="0" anchor="t"/>
          <a:lstStyle/>
          <a:p>
            <a:pPr indent="0" marL="0">
              <a:buNone/>
            </a:pPr>
            <a:r>
              <a:rPr lang="en-US" sz="1550" b="1" dirty="0">
                <a:solidFill>
                  <a:srgbClr val="0E7C7B"/>
                </a:solidFill>
                <a:latin typeface="Calibri" pitchFamily="34" charset="0"/>
                <a:ea typeface="Calibri" pitchFamily="34" charset="-122"/>
                <a:cs typeface="Calibri" pitchFamily="34" charset="-120"/>
              </a:rPr>
              <a:t>What they are</a:t>
            </a:r>
            <a:endParaRPr lang="en-US" sz="1550" dirty="0"/>
          </a:p>
        </p:txBody>
      </p:sp>
      <p:sp>
        <p:nvSpPr>
          <p:cNvPr id="8" name="Text 6"/>
          <p:cNvSpPr txBox="1"/>
          <p:nvPr/>
        </p:nvSpPr>
        <p:spPr>
          <a:xfrm>
            <a:off x="768096" y="2195576"/>
            <a:ext cx="4971136" cy="1032256"/>
          </a:xfrm>
          <a:prstGeom prst="rect">
            <a:avLst/>
          </a:prstGeom>
          <a:noFill/>
          <a:ln/>
        </p:spPr>
        <p:txBody>
          <a:bodyPr wrap="square" lIns="0" tIns="0" rIns="0" bIns="0" rtlCol="0" anchor="t"/>
          <a:lstStyle/>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Conformity assessment bodies designated by the MHRA to assess against the UK MDR 2002. Structurally the same role a notified body plays in the EU, and the designated list is published by the MHRA.</a:t>
            </a:r>
            <a:endParaRPr lang="en-US" sz="1150" dirty="0"/>
          </a:p>
        </p:txBody>
      </p:sp>
      <p:sp>
        <p:nvSpPr>
          <p:cNvPr id="9" name="Shape 7"/>
          <p:cNvSpPr/>
          <p:nvPr/>
        </p:nvSpPr>
        <p:spPr>
          <a:xfrm>
            <a:off x="6233008" y="1627632"/>
            <a:ext cx="5410048" cy="1746504"/>
          </a:xfrm>
          <a:prstGeom prst="roundRect">
            <a:avLst>
              <a:gd name="adj" fmla="val 3665"/>
            </a:avLst>
          </a:prstGeom>
          <a:solidFill>
            <a:srgbClr val="F1F5F6"/>
          </a:solidFill>
          <a:ln w="12700">
            <a:solidFill>
              <a:srgbClr val="D7E2E5"/>
            </a:solidFill>
            <a:prstDash val="solid"/>
          </a:ln>
        </p:spPr>
      </p:sp>
      <p:sp>
        <p:nvSpPr>
          <p:cNvPr id="10" name="Text 8"/>
          <p:cNvSpPr txBox="1"/>
          <p:nvPr/>
        </p:nvSpPr>
        <p:spPr>
          <a:xfrm>
            <a:off x="6452464" y="1828800"/>
            <a:ext cx="4971136" cy="330200"/>
          </a:xfrm>
          <a:prstGeom prst="rect">
            <a:avLst/>
          </a:prstGeom>
          <a:noFill/>
          <a:ln/>
        </p:spPr>
        <p:txBody>
          <a:bodyPr wrap="square" lIns="0" tIns="0" rIns="0" bIns="0" rtlCol="0" anchor="t"/>
          <a:lstStyle/>
          <a:p>
            <a:pPr indent="0" marL="0">
              <a:buNone/>
            </a:pPr>
            <a:r>
              <a:rPr lang="en-US" sz="1550" b="1" dirty="0">
                <a:solidFill>
                  <a:srgbClr val="C77C1E"/>
                </a:solidFill>
                <a:latin typeface="Calibri" pitchFamily="34" charset="0"/>
                <a:ea typeface="Calibri" pitchFamily="34" charset="-122"/>
                <a:cs typeface="Calibri" pitchFamily="34" charset="-120"/>
              </a:rPr>
              <a:t>How many there are</a:t>
            </a:r>
            <a:endParaRPr lang="en-US" sz="1550" dirty="0"/>
          </a:p>
        </p:txBody>
      </p:sp>
      <p:sp>
        <p:nvSpPr>
          <p:cNvPr id="11" name="Text 9"/>
          <p:cNvSpPr txBox="1"/>
          <p:nvPr/>
        </p:nvSpPr>
        <p:spPr>
          <a:xfrm>
            <a:off x="6452464" y="2195576"/>
            <a:ext cx="4971136" cy="1032256"/>
          </a:xfrm>
          <a:prstGeom prst="rect">
            <a:avLst/>
          </a:prstGeom>
          <a:noFill/>
          <a:ln/>
        </p:spPr>
        <p:txBody>
          <a:bodyPr wrap="square" lIns="0" tIns="0" rIns="0" bIns="0" rtlCol="0" anchor="t"/>
          <a:lstStyle/>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Far fewer than the EU's notified bodies. That is the point to plan around: a smaller pool assessing against an older rule set, for a market that currently also accepts CE marking.</a:t>
            </a:r>
            <a:endParaRPr lang="en-US" sz="1150" dirty="0"/>
          </a:p>
        </p:txBody>
      </p:sp>
      <p:sp>
        <p:nvSpPr>
          <p:cNvPr id="12" name="Shape 10"/>
          <p:cNvSpPr/>
          <p:nvPr/>
        </p:nvSpPr>
        <p:spPr>
          <a:xfrm>
            <a:off x="548640" y="3648456"/>
            <a:ext cx="5410048" cy="1746504"/>
          </a:xfrm>
          <a:prstGeom prst="roundRect">
            <a:avLst>
              <a:gd name="adj" fmla="val 3665"/>
            </a:avLst>
          </a:prstGeom>
          <a:solidFill>
            <a:srgbClr val="F1F5F6"/>
          </a:solidFill>
          <a:ln w="12700">
            <a:solidFill>
              <a:srgbClr val="D7E2E5"/>
            </a:solidFill>
            <a:prstDash val="solid"/>
          </a:ln>
        </p:spPr>
      </p:sp>
      <p:sp>
        <p:nvSpPr>
          <p:cNvPr id="13" name="Text 11"/>
          <p:cNvSpPr txBox="1"/>
          <p:nvPr/>
        </p:nvSpPr>
        <p:spPr>
          <a:xfrm>
            <a:off x="768096" y="3849624"/>
            <a:ext cx="4971136" cy="330200"/>
          </a:xfrm>
          <a:prstGeom prst="rect">
            <a:avLst/>
          </a:prstGeom>
          <a:noFill/>
          <a:ln/>
        </p:spPr>
        <p:txBody>
          <a:bodyPr wrap="square" lIns="0" tIns="0" rIns="0" bIns="0" rtlCol="0" anchor="t"/>
          <a:lstStyle/>
          <a:p>
            <a:pPr indent="0" marL="0">
              <a:buNone/>
            </a:pPr>
            <a:r>
              <a:rPr lang="en-US" sz="1550" b="1" dirty="0">
                <a:solidFill>
                  <a:srgbClr val="A83A3C"/>
                </a:solidFill>
                <a:latin typeface="Calibri" pitchFamily="34" charset="0"/>
                <a:ea typeface="Calibri" pitchFamily="34" charset="-122"/>
                <a:cs typeface="Calibri" pitchFamily="34" charset="-120"/>
              </a:rPr>
              <a:t>What that does to the queue</a:t>
            </a:r>
            <a:endParaRPr lang="en-US" sz="1550" dirty="0"/>
          </a:p>
        </p:txBody>
      </p:sp>
      <p:sp>
        <p:nvSpPr>
          <p:cNvPr id="14" name="Text 12"/>
          <p:cNvSpPr txBox="1"/>
          <p:nvPr/>
        </p:nvSpPr>
        <p:spPr>
          <a:xfrm>
            <a:off x="768096" y="4216400"/>
            <a:ext cx="4971136" cy="1032256"/>
          </a:xfrm>
          <a:prstGeom prst="rect">
            <a:avLst/>
          </a:prstGeom>
          <a:noFill/>
          <a:ln/>
        </p:spPr>
        <p:txBody>
          <a:bodyPr wrap="square" lIns="0" tIns="0" rIns="0" bIns="0" rtlCol="0" anchor="t"/>
          <a:lstStyle/>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A small pool means limited capacity and limited choice of scope. If your device code is not covered by a body with availability, UKCA is not a fast alternative to a notified body — it is a different queue.</a:t>
            </a:r>
            <a:endParaRPr lang="en-US" sz="1150" dirty="0"/>
          </a:p>
        </p:txBody>
      </p:sp>
      <p:sp>
        <p:nvSpPr>
          <p:cNvPr id="15" name="Shape 13"/>
          <p:cNvSpPr/>
          <p:nvPr/>
        </p:nvSpPr>
        <p:spPr>
          <a:xfrm>
            <a:off x="6233008" y="3648456"/>
            <a:ext cx="5410048" cy="1746504"/>
          </a:xfrm>
          <a:prstGeom prst="roundRect">
            <a:avLst>
              <a:gd name="adj" fmla="val 3665"/>
            </a:avLst>
          </a:prstGeom>
          <a:solidFill>
            <a:srgbClr val="F1F5F6"/>
          </a:solidFill>
          <a:ln w="12700">
            <a:solidFill>
              <a:srgbClr val="D7E2E5"/>
            </a:solidFill>
            <a:prstDash val="solid"/>
          </a:ln>
        </p:spPr>
      </p:sp>
      <p:sp>
        <p:nvSpPr>
          <p:cNvPr id="16" name="Text 14"/>
          <p:cNvSpPr txBox="1"/>
          <p:nvPr/>
        </p:nvSpPr>
        <p:spPr>
          <a:xfrm>
            <a:off x="6452464" y="3849624"/>
            <a:ext cx="4971136" cy="330200"/>
          </a:xfrm>
          <a:prstGeom prst="rect">
            <a:avLst/>
          </a:prstGeom>
          <a:noFill/>
          <a:ln/>
        </p:spPr>
        <p:txBody>
          <a:bodyPr wrap="square" lIns="0" tIns="0" rIns="0" bIns="0" rtlCol="0" anchor="t"/>
          <a:lstStyle/>
          <a:p>
            <a:pPr indent="0" marL="0">
              <a:buNone/>
            </a:pPr>
            <a:r>
              <a:rPr lang="en-US" sz="1550" b="1" dirty="0">
                <a:solidFill>
                  <a:srgbClr val="2A9D8F"/>
                </a:solidFill>
                <a:latin typeface="Calibri" pitchFamily="34" charset="0"/>
                <a:ea typeface="Calibri" pitchFamily="34" charset="-122"/>
                <a:cs typeface="Calibri" pitchFamily="34" charset="-120"/>
              </a:rPr>
              <a:t>The honest conclusion</a:t>
            </a:r>
            <a:endParaRPr lang="en-US" sz="1550" dirty="0"/>
          </a:p>
        </p:txBody>
      </p:sp>
      <p:sp>
        <p:nvSpPr>
          <p:cNvPr id="17" name="Text 15"/>
          <p:cNvSpPr txBox="1"/>
          <p:nvPr/>
        </p:nvSpPr>
        <p:spPr>
          <a:xfrm>
            <a:off x="6452464" y="4216400"/>
            <a:ext cx="4971136" cy="1032256"/>
          </a:xfrm>
          <a:prstGeom prst="rect">
            <a:avLst/>
          </a:prstGeom>
          <a:noFill/>
          <a:ln/>
        </p:spPr>
        <p:txBody>
          <a:bodyPr wrap="square" lIns="0" tIns="0" rIns="0" bIns="0" rtlCol="0" anchor="t"/>
          <a:lstStyle/>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For most manufacturers with an EU route, the Approved Body question does not arise, because CE marking already reaches Great Britain. Check the capacity position before assuming UKCA is the easier path.</a:t>
            </a:r>
            <a:endParaRPr lang="en-US" sz="1150" dirty="0"/>
          </a:p>
        </p:txBody>
      </p:sp>
      <p:sp>
        <p:nvSpPr>
          <p:cNvPr id="18" name="Shape 16"/>
          <p:cNvSpPr/>
          <p:nvPr/>
        </p:nvSpPr>
        <p:spPr>
          <a:xfrm>
            <a:off x="548640" y="5504688"/>
            <a:ext cx="11094415" cy="749808"/>
          </a:xfrm>
          <a:prstGeom prst="roundRect">
            <a:avLst>
              <a:gd name="adj" fmla="val 7317"/>
            </a:avLst>
          </a:prstGeom>
          <a:solidFill>
            <a:srgbClr val="EAF3F2"/>
          </a:solidFill>
          <a:ln w="12700">
            <a:solidFill>
              <a:srgbClr val="BFD9D6"/>
            </a:solidFill>
            <a:prstDash val="solid"/>
          </a:ln>
        </p:spPr>
      </p:sp>
      <p:sp>
        <p:nvSpPr>
          <p:cNvPr id="19" name="Text 17"/>
          <p:cNvSpPr txBox="1"/>
          <p:nvPr/>
        </p:nvSpPr>
        <p:spPr>
          <a:xfrm>
            <a:off x="786384" y="5504688"/>
            <a:ext cx="10618927" cy="749808"/>
          </a:xfrm>
          <a:prstGeom prst="rect">
            <a:avLst/>
          </a:prstGeom>
          <a:noFill/>
          <a:ln/>
        </p:spPr>
        <p:txBody>
          <a:bodyPr wrap="square" lIns="0" tIns="0" rIns="0" bIns="0" rtlCol="0" anchor="ctr"/>
          <a:lstStyle/>
          <a:p>
            <a:pPr indent="0" marL="0">
              <a:buNone/>
            </a:pPr>
            <a:r>
              <a:rPr lang="en-US" sz="1250" b="1" dirty="0">
                <a:solidFill>
                  <a:srgbClr val="1B3A4B"/>
                </a:solidFill>
                <a:latin typeface="Calibri" pitchFamily="34" charset="0"/>
                <a:ea typeface="Calibri" pitchFamily="34" charset="-122"/>
                <a:cs typeface="Calibri" pitchFamily="34" charset="-120"/>
              </a:rPr>
              <a:t>A useful sanity check: if the reason you are considering UKCA is that you cannot get a notified body slot, confirm an Approved Body can actually take you — for your device code, on your timescale — before you commit.</a:t>
            </a:r>
            <a:endParaRPr lang="en-US" sz="12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MECHANICS</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Registration and the UK Responsible Person</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35</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The work that actually applies to nearly everyone selling into the UK, whatever marking the device carries.</a:t>
            </a:r>
            <a:endParaRPr lang="en-US" sz="1400" dirty="0"/>
          </a:p>
        </p:txBody>
      </p:sp>
      <p:sp>
        <p:nvSpPr>
          <p:cNvPr id="7" name="Shape 5"/>
          <p:cNvSpPr/>
          <p:nvPr/>
        </p:nvSpPr>
        <p:spPr>
          <a:xfrm>
            <a:off x="548640" y="1847088"/>
            <a:ext cx="11094415" cy="1005840"/>
          </a:xfrm>
          <a:prstGeom prst="roundRect">
            <a:avLst>
              <a:gd name="adj" fmla="val 6364"/>
            </a:avLst>
          </a:prstGeom>
          <a:solidFill>
            <a:srgbClr val="F1F5F6"/>
          </a:solidFill>
          <a:ln w="12700">
            <a:solidFill>
              <a:srgbClr val="D7E2E5"/>
            </a:solidFill>
            <a:prstDash val="solid"/>
          </a:ln>
        </p:spPr>
      </p:sp>
      <p:sp>
        <p:nvSpPr>
          <p:cNvPr id="8" name="Shape 6"/>
          <p:cNvSpPr/>
          <p:nvPr/>
        </p:nvSpPr>
        <p:spPr>
          <a:xfrm>
            <a:off x="786384" y="2148840"/>
            <a:ext cx="402336" cy="402336"/>
          </a:xfrm>
          <a:prstGeom prst="ellipse">
            <a:avLst/>
          </a:prstGeom>
          <a:solidFill>
            <a:srgbClr val="0E7C7B"/>
          </a:solidFill>
          <a:ln w="12700">
            <a:solidFill>
              <a:srgbClr val="0E7C7B"/>
            </a:solidFill>
            <a:prstDash val="solid"/>
          </a:ln>
        </p:spPr>
      </p:sp>
      <p:sp>
        <p:nvSpPr>
          <p:cNvPr id="9" name="Text 7"/>
          <p:cNvSpPr txBox="1"/>
          <p:nvPr/>
        </p:nvSpPr>
        <p:spPr>
          <a:xfrm>
            <a:off x="786384" y="214884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1335024" y="1965960"/>
            <a:ext cx="10033711" cy="768096"/>
          </a:xfrm>
          <a:prstGeom prst="rect">
            <a:avLst/>
          </a:prstGeom>
          <a:noFill/>
          <a:ln/>
        </p:spPr>
        <p:txBody>
          <a:bodyPr wrap="square" lIns="0" tIns="0" rIns="0" bIns="0" rtlCol="0" anchor="ctr"/>
          <a:lstStyle/>
          <a:p>
            <a:pPr indent="0" marL="0">
              <a:lnSpc>
                <a:spcPct val="105000"/>
              </a:lnSpc>
              <a:buNone/>
            </a:pPr>
            <a:r>
              <a:rPr lang="en-US" sz="1350" b="1" dirty="0">
                <a:solidFill>
                  <a:srgbClr val="1B3A4B"/>
                </a:solidFill>
                <a:latin typeface="Calibri" pitchFamily="34" charset="0"/>
                <a:ea typeface="Calibri" pitchFamily="34" charset="-122"/>
                <a:cs typeface="Calibri" pitchFamily="34" charset="-120"/>
              </a:rPr>
              <a:t>Appoint a UK Responsible Person</a:t>
            </a:r>
            <a:endParaRPr lang="en-US" sz="1350" dirty="0"/>
          </a:p>
          <a:p>
            <a:pPr indent="0" marL="0">
              <a:lnSpc>
                <a:spcPct val="105000"/>
              </a:lnSpc>
              <a:buNone/>
            </a:pPr>
            <a:r>
              <a:rPr lang="en-US" sz="1120" dirty="0">
                <a:solidFill>
                  <a:srgbClr val="22333B"/>
                </a:solidFill>
                <a:latin typeface="Calibri" pitchFamily="34" charset="0"/>
                <a:ea typeface="Calibri" pitchFamily="34" charset="-122"/>
                <a:cs typeface="Calibri" pitchFamily="34" charset="-120"/>
              </a:rPr>
              <a:t>Required if you are established outside the United Kingdom. They must have a UK address, and the appointment is a written agreement. This is a separate role from your EU Authorised Representative, even where the same service provider performs both.</a:t>
            </a:r>
            <a:endParaRPr lang="en-US" sz="1350" dirty="0"/>
          </a:p>
        </p:txBody>
      </p:sp>
      <p:sp>
        <p:nvSpPr>
          <p:cNvPr id="11" name="Shape 9"/>
          <p:cNvSpPr/>
          <p:nvPr/>
        </p:nvSpPr>
        <p:spPr>
          <a:xfrm>
            <a:off x="548640" y="2980944"/>
            <a:ext cx="11094415" cy="1005840"/>
          </a:xfrm>
          <a:prstGeom prst="roundRect">
            <a:avLst>
              <a:gd name="adj" fmla="val 6364"/>
            </a:avLst>
          </a:prstGeom>
          <a:solidFill>
            <a:srgbClr val="F1F5F6"/>
          </a:solidFill>
          <a:ln w="12700">
            <a:solidFill>
              <a:srgbClr val="D7E2E5"/>
            </a:solidFill>
            <a:prstDash val="solid"/>
          </a:ln>
        </p:spPr>
      </p:sp>
      <p:sp>
        <p:nvSpPr>
          <p:cNvPr id="12" name="Shape 10"/>
          <p:cNvSpPr/>
          <p:nvPr/>
        </p:nvSpPr>
        <p:spPr>
          <a:xfrm>
            <a:off x="786384" y="3282696"/>
            <a:ext cx="402336" cy="402336"/>
          </a:xfrm>
          <a:prstGeom prst="ellipse">
            <a:avLst/>
          </a:prstGeom>
          <a:solidFill>
            <a:srgbClr val="2A9D8F"/>
          </a:solidFill>
          <a:ln w="12700">
            <a:solidFill>
              <a:srgbClr val="2A9D8F"/>
            </a:solidFill>
            <a:prstDash val="solid"/>
          </a:ln>
        </p:spPr>
      </p:sp>
      <p:sp>
        <p:nvSpPr>
          <p:cNvPr id="13" name="Text 11"/>
          <p:cNvSpPr txBox="1"/>
          <p:nvPr/>
        </p:nvSpPr>
        <p:spPr>
          <a:xfrm>
            <a:off x="786384" y="328269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1335024" y="3099816"/>
            <a:ext cx="10033711" cy="768096"/>
          </a:xfrm>
          <a:prstGeom prst="rect">
            <a:avLst/>
          </a:prstGeom>
          <a:noFill/>
          <a:ln/>
        </p:spPr>
        <p:txBody>
          <a:bodyPr wrap="square" lIns="0" tIns="0" rIns="0" bIns="0" rtlCol="0" anchor="ctr"/>
          <a:lstStyle/>
          <a:p>
            <a:pPr indent="0" marL="0">
              <a:lnSpc>
                <a:spcPct val="105000"/>
              </a:lnSpc>
              <a:buNone/>
            </a:pPr>
            <a:r>
              <a:rPr lang="en-US" sz="1350" b="1" dirty="0">
                <a:solidFill>
                  <a:srgbClr val="1B3A4B"/>
                </a:solidFill>
                <a:latin typeface="Calibri" pitchFamily="34" charset="0"/>
                <a:ea typeface="Calibri" pitchFamily="34" charset="-122"/>
                <a:cs typeface="Calibri" pitchFamily="34" charset="-120"/>
              </a:rPr>
              <a:t>Register with the MHRA</a:t>
            </a:r>
            <a:endParaRPr lang="en-US" sz="1350" dirty="0"/>
          </a:p>
          <a:p>
            <a:pPr indent="0" marL="0">
              <a:lnSpc>
                <a:spcPct val="105000"/>
              </a:lnSpc>
              <a:buNone/>
            </a:pPr>
            <a:r>
              <a:rPr lang="en-US" sz="1120" dirty="0">
                <a:solidFill>
                  <a:srgbClr val="22333B"/>
                </a:solidFill>
                <a:latin typeface="Calibri" pitchFamily="34" charset="0"/>
                <a:ea typeface="Calibri" pitchFamily="34" charset="-122"/>
                <a:cs typeface="Calibri" pitchFamily="34" charset="-120"/>
              </a:rPr>
              <a:t>Device registration applies across the United Kingdom regardless of whether the device carries UKCA or CE marking. The registration is made by the UK Responsible Person where the manufacturer is outside the UK.</a:t>
            </a:r>
            <a:endParaRPr lang="en-US" sz="1350" dirty="0"/>
          </a:p>
        </p:txBody>
      </p:sp>
      <p:sp>
        <p:nvSpPr>
          <p:cNvPr id="15" name="Shape 13"/>
          <p:cNvSpPr/>
          <p:nvPr/>
        </p:nvSpPr>
        <p:spPr>
          <a:xfrm>
            <a:off x="548640" y="4114800"/>
            <a:ext cx="11094415" cy="1005840"/>
          </a:xfrm>
          <a:prstGeom prst="roundRect">
            <a:avLst>
              <a:gd name="adj" fmla="val 6364"/>
            </a:avLst>
          </a:prstGeom>
          <a:solidFill>
            <a:srgbClr val="F1F5F6"/>
          </a:solidFill>
          <a:ln w="12700">
            <a:solidFill>
              <a:srgbClr val="D7E2E5"/>
            </a:solidFill>
            <a:prstDash val="solid"/>
          </a:ln>
        </p:spPr>
      </p:sp>
      <p:sp>
        <p:nvSpPr>
          <p:cNvPr id="16" name="Shape 14"/>
          <p:cNvSpPr/>
          <p:nvPr/>
        </p:nvSpPr>
        <p:spPr>
          <a:xfrm>
            <a:off x="786384" y="4416552"/>
            <a:ext cx="402336" cy="402336"/>
          </a:xfrm>
          <a:prstGeom prst="ellipse">
            <a:avLst/>
          </a:prstGeom>
          <a:solidFill>
            <a:srgbClr val="C77C1E"/>
          </a:solidFill>
          <a:ln w="12700">
            <a:solidFill>
              <a:srgbClr val="C77C1E"/>
            </a:solidFill>
            <a:prstDash val="solid"/>
          </a:ln>
        </p:spPr>
      </p:sp>
      <p:sp>
        <p:nvSpPr>
          <p:cNvPr id="17" name="Text 15"/>
          <p:cNvSpPr txBox="1"/>
          <p:nvPr/>
        </p:nvSpPr>
        <p:spPr>
          <a:xfrm>
            <a:off x="786384" y="441655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335024" y="4233672"/>
            <a:ext cx="10033711" cy="768096"/>
          </a:xfrm>
          <a:prstGeom prst="rect">
            <a:avLst/>
          </a:prstGeom>
          <a:noFill/>
          <a:ln/>
        </p:spPr>
        <p:txBody>
          <a:bodyPr wrap="square" lIns="0" tIns="0" rIns="0" bIns="0" rtlCol="0" anchor="ctr"/>
          <a:lstStyle/>
          <a:p>
            <a:pPr indent="0" marL="0">
              <a:lnSpc>
                <a:spcPct val="105000"/>
              </a:lnSpc>
              <a:buNone/>
            </a:pPr>
            <a:r>
              <a:rPr lang="en-US" sz="1350" b="1" dirty="0">
                <a:solidFill>
                  <a:srgbClr val="1B3A4B"/>
                </a:solidFill>
                <a:latin typeface="Calibri" pitchFamily="34" charset="0"/>
                <a:ea typeface="Calibri" pitchFamily="34" charset="-122"/>
                <a:cs typeface="Calibri" pitchFamily="34" charset="-120"/>
              </a:rPr>
              <a:t>Keep the documentation available</a:t>
            </a:r>
            <a:endParaRPr lang="en-US" sz="1350" dirty="0"/>
          </a:p>
          <a:p>
            <a:pPr indent="0" marL="0">
              <a:lnSpc>
                <a:spcPct val="105000"/>
              </a:lnSpc>
              <a:buNone/>
            </a:pPr>
            <a:r>
              <a:rPr lang="en-US" sz="1120" dirty="0">
                <a:solidFill>
                  <a:srgbClr val="22333B"/>
                </a:solidFill>
                <a:latin typeface="Calibri" pitchFamily="34" charset="0"/>
                <a:ea typeface="Calibri" pitchFamily="34" charset="-122"/>
                <a:cs typeface="Calibri" pitchFamily="34" charset="-120"/>
              </a:rPr>
              <a:t>The UK Responsible Person holds the technical documentation available for MHRA inspection and responds to MHRA requests. That means they need real access to your file, not a promise of it.</a:t>
            </a:r>
            <a:endParaRPr lang="en-US" sz="1350" dirty="0"/>
          </a:p>
        </p:txBody>
      </p:sp>
      <p:sp>
        <p:nvSpPr>
          <p:cNvPr id="19" name="Shape 17"/>
          <p:cNvSpPr/>
          <p:nvPr/>
        </p:nvSpPr>
        <p:spPr>
          <a:xfrm>
            <a:off x="548640" y="5248656"/>
            <a:ext cx="11094415" cy="1005840"/>
          </a:xfrm>
          <a:prstGeom prst="roundRect">
            <a:avLst>
              <a:gd name="adj" fmla="val 6364"/>
            </a:avLst>
          </a:prstGeom>
          <a:solidFill>
            <a:srgbClr val="F1F5F6"/>
          </a:solidFill>
          <a:ln w="12700">
            <a:solidFill>
              <a:srgbClr val="D7E2E5"/>
            </a:solidFill>
            <a:prstDash val="solid"/>
          </a:ln>
        </p:spPr>
      </p:sp>
      <p:sp>
        <p:nvSpPr>
          <p:cNvPr id="20" name="Shape 18"/>
          <p:cNvSpPr/>
          <p:nvPr/>
        </p:nvSpPr>
        <p:spPr>
          <a:xfrm>
            <a:off x="786384" y="5550408"/>
            <a:ext cx="402336" cy="402336"/>
          </a:xfrm>
          <a:prstGeom prst="ellipse">
            <a:avLst/>
          </a:prstGeom>
          <a:solidFill>
            <a:srgbClr val="A83A3C"/>
          </a:solidFill>
          <a:ln w="12700">
            <a:solidFill>
              <a:srgbClr val="A83A3C"/>
            </a:solidFill>
            <a:prstDash val="solid"/>
          </a:ln>
        </p:spPr>
      </p:sp>
      <p:sp>
        <p:nvSpPr>
          <p:cNvPr id="21" name="Text 19"/>
          <p:cNvSpPr txBox="1"/>
          <p:nvPr/>
        </p:nvSpPr>
        <p:spPr>
          <a:xfrm>
            <a:off x="786384" y="555040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1335024" y="5367528"/>
            <a:ext cx="10033711" cy="768096"/>
          </a:xfrm>
          <a:prstGeom prst="rect">
            <a:avLst/>
          </a:prstGeom>
          <a:noFill/>
          <a:ln/>
        </p:spPr>
        <p:txBody>
          <a:bodyPr wrap="square" lIns="0" tIns="0" rIns="0" bIns="0" rtlCol="0" anchor="ctr"/>
          <a:lstStyle/>
          <a:p>
            <a:pPr indent="0" marL="0">
              <a:lnSpc>
                <a:spcPct val="105000"/>
              </a:lnSpc>
              <a:buNone/>
            </a:pPr>
            <a:r>
              <a:rPr lang="en-US" sz="1350" b="1" dirty="0">
                <a:solidFill>
                  <a:srgbClr val="1B3A4B"/>
                </a:solidFill>
                <a:latin typeface="Calibri" pitchFamily="34" charset="0"/>
                <a:ea typeface="Calibri" pitchFamily="34" charset="-122"/>
                <a:cs typeface="Calibri" pitchFamily="34" charset="-120"/>
              </a:rPr>
              <a:t>Route complaints and vigilance</a:t>
            </a:r>
            <a:endParaRPr lang="en-US" sz="1350" dirty="0"/>
          </a:p>
          <a:p>
            <a:pPr indent="0" marL="0">
              <a:lnSpc>
                <a:spcPct val="105000"/>
              </a:lnSpc>
              <a:buNone/>
            </a:pPr>
            <a:r>
              <a:rPr lang="en-US" sz="1120" dirty="0">
                <a:solidFill>
                  <a:srgbClr val="22333B"/>
                </a:solidFill>
                <a:latin typeface="Calibri" pitchFamily="34" charset="0"/>
                <a:ea typeface="Calibri" pitchFamily="34" charset="-122"/>
                <a:cs typeface="Calibri" pitchFamily="34" charset="-120"/>
              </a:rPr>
              <a:t>They receive complaints and pass them to you, and they cooperate with the MHRA on safety matters. Build that into your complaint-handling process rather than bolting it on.</a:t>
            </a:r>
            <a:endParaRPr lang="en-US" sz="13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IN FORCE SINCE 16 JUNE 2025</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2800" b="1" dirty="0">
                <a:solidFill>
                  <a:srgbClr val="1B3A4B"/>
                </a:solidFill>
                <a:latin typeface="Cambria" pitchFamily="34" charset="0"/>
                <a:ea typeface="Cambria" pitchFamily="34" charset="-122"/>
                <a:cs typeface="Cambria" pitchFamily="34" charset="-120"/>
              </a:rPr>
              <a:t>The UK's post-market surveillance regulations</a:t>
            </a:r>
            <a:endParaRPr lang="en-US" sz="28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36</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The first substantive piece of the new UK framework to actually become law. It applies to every device on the UK market, however it is marked.</a:t>
            </a:r>
            <a:endParaRPr lang="en-US" sz="1400" dirty="0"/>
          </a:p>
        </p:txBody>
      </p:sp>
      <p:sp>
        <p:nvSpPr>
          <p:cNvPr id="7" name="Text 5"/>
          <p:cNvSpPr txBox="1"/>
          <p:nvPr/>
        </p:nvSpPr>
        <p:spPr>
          <a:xfrm>
            <a:off x="548640" y="1847088"/>
            <a:ext cx="5394960" cy="256032"/>
          </a:xfrm>
          <a:prstGeom prst="rect">
            <a:avLst/>
          </a:prstGeom>
          <a:noFill/>
          <a:ln/>
        </p:spPr>
        <p:txBody>
          <a:bodyPr wrap="square" lIns="0" tIns="0" rIns="0" bIns="0" rtlCol="0" anchor="ctr"/>
          <a:lstStyle/>
          <a:p>
            <a:pPr indent="0" marL="0">
              <a:buNone/>
            </a:pPr>
            <a:r>
              <a:rPr lang="en-US" sz="1100" b="1" spc="120" kern="0" dirty="0">
                <a:solidFill>
                  <a:srgbClr val="A83A3C"/>
                </a:solidFill>
                <a:latin typeface="Calibri" pitchFamily="34" charset="0"/>
                <a:ea typeface="Calibri" pitchFamily="34" charset="-122"/>
                <a:cs typeface="Calibri" pitchFamily="34" charset="-120"/>
              </a:rPr>
              <a:t>WHAT THEY INTRODUCED</a:t>
            </a:r>
            <a:endParaRPr lang="en-US" sz="1100" dirty="0"/>
          </a:p>
        </p:txBody>
      </p:sp>
      <p:sp>
        <p:nvSpPr>
          <p:cNvPr id="8" name="Shape 6"/>
          <p:cNvSpPr/>
          <p:nvPr/>
        </p:nvSpPr>
        <p:spPr>
          <a:xfrm>
            <a:off x="548640" y="2157984"/>
            <a:ext cx="5394960" cy="3566160"/>
          </a:xfrm>
          <a:prstGeom prst="roundRect">
            <a:avLst>
              <a:gd name="adj" fmla="val 1795"/>
            </a:avLst>
          </a:prstGeom>
          <a:solidFill>
            <a:srgbClr val="FBEDED"/>
          </a:solidFill>
          <a:ln w="12700">
            <a:solidFill>
              <a:srgbClr val="DFA9A9"/>
            </a:solidFill>
            <a:prstDash val="solid"/>
          </a:ln>
        </p:spPr>
      </p:sp>
      <p:sp>
        <p:nvSpPr>
          <p:cNvPr id="9" name="Text 7"/>
          <p:cNvSpPr txBox="1"/>
          <p:nvPr/>
        </p:nvSpPr>
        <p:spPr>
          <a:xfrm>
            <a:off x="786384" y="2340864"/>
            <a:ext cx="4919472" cy="3200400"/>
          </a:xfrm>
          <a:prstGeom prst="rect">
            <a:avLst/>
          </a:prstGeom>
          <a:noFill/>
          <a:ln/>
        </p:spPr>
        <p:txBody>
          <a:bodyPr wrap="square" lIns="0" tIns="0" rIns="0" bIns="0" rtlCol="0" anchor="t"/>
          <a:lstStyle/>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A statutory post-market surveillance system</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Proactive and systematic collection and analysis of data on devices on the UK market, with a documented plan behind it.</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Defined reporting to the MHRA</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Clearer obligations and timescales for reporting serious incidents and field safety corrective actions, with the aim of faster detection of trends.</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Periodic reporting</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Summary reporting on a defined cycle, so that safety signals surface between incidents rather than only after them.</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Application across the UK market</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It attaches to placing the device on the market, not to which conformity route you used. A CE marked device sold in Great Britain is in scope.</a:t>
            </a:r>
            <a:endParaRPr lang="en-US" sz="1080" dirty="0"/>
          </a:p>
        </p:txBody>
      </p:sp>
      <p:sp>
        <p:nvSpPr>
          <p:cNvPr id="10" name="Text 8"/>
          <p:cNvSpPr txBox="1"/>
          <p:nvPr/>
        </p:nvSpPr>
        <p:spPr>
          <a:xfrm>
            <a:off x="6245352" y="1847088"/>
            <a:ext cx="5394960" cy="256032"/>
          </a:xfrm>
          <a:prstGeom prst="rect">
            <a:avLst/>
          </a:prstGeom>
          <a:noFill/>
          <a:ln/>
        </p:spPr>
        <p:txBody>
          <a:bodyPr wrap="square" lIns="0" tIns="0" rIns="0" bIns="0" rtlCol="0" anchor="ctr"/>
          <a:lstStyle/>
          <a:p>
            <a:pPr indent="0" marL="0">
              <a:buNone/>
            </a:pPr>
            <a:r>
              <a:rPr lang="en-US" sz="1100" b="1" spc="120" kern="0" dirty="0">
                <a:solidFill>
                  <a:srgbClr val="0E7C7B"/>
                </a:solidFill>
                <a:latin typeface="Calibri" pitchFamily="34" charset="0"/>
                <a:ea typeface="Calibri" pitchFamily="34" charset="-122"/>
                <a:cs typeface="Calibri" pitchFamily="34" charset="-120"/>
              </a:rPr>
              <a:t>WHY THIS ONE MATTERS STRATEGICALLY</a:t>
            </a:r>
            <a:endParaRPr lang="en-US" sz="1100" dirty="0"/>
          </a:p>
        </p:txBody>
      </p:sp>
      <p:sp>
        <p:nvSpPr>
          <p:cNvPr id="11" name="Shape 9"/>
          <p:cNvSpPr/>
          <p:nvPr/>
        </p:nvSpPr>
        <p:spPr>
          <a:xfrm>
            <a:off x="6245352" y="2157984"/>
            <a:ext cx="5394960" cy="3566160"/>
          </a:xfrm>
          <a:prstGeom prst="roundRect">
            <a:avLst>
              <a:gd name="adj" fmla="val 1795"/>
            </a:avLst>
          </a:prstGeom>
          <a:solidFill>
            <a:srgbClr val="F1F5F6"/>
          </a:solidFill>
          <a:ln w="12700">
            <a:solidFill>
              <a:srgbClr val="D7E2E5"/>
            </a:solidFill>
            <a:prstDash val="solid"/>
          </a:ln>
        </p:spPr>
      </p:sp>
      <p:sp>
        <p:nvSpPr>
          <p:cNvPr id="12" name="Text 10"/>
          <p:cNvSpPr txBox="1"/>
          <p:nvPr/>
        </p:nvSpPr>
        <p:spPr>
          <a:xfrm>
            <a:off x="6483096" y="2340864"/>
            <a:ext cx="4919472" cy="3200400"/>
          </a:xfrm>
          <a:prstGeom prst="rect">
            <a:avLst/>
          </a:prstGeom>
          <a:noFill/>
          <a:ln/>
        </p:spPr>
        <p:txBody>
          <a:bodyPr wrap="square" lIns="0" tIns="0" rIns="0" bIns="0" rtlCol="0" anchor="t"/>
          <a:lstStyle/>
          <a:p>
            <a:pPr indent="0" marL="0">
              <a:lnSpc>
                <a:spcPct val="105000"/>
              </a:lnSpc>
              <a:buNone/>
            </a:pPr>
            <a:r>
              <a:rPr lang="en-US" sz="1200" b="1" dirty="0">
                <a:solidFill>
                  <a:srgbClr val="1B3A4B"/>
                </a:solidFill>
                <a:latin typeface="Calibri" pitchFamily="34" charset="0"/>
                <a:ea typeface="Calibri" pitchFamily="34" charset="-122"/>
                <a:cs typeface="Calibri" pitchFamily="34" charset="-120"/>
              </a:rPr>
              <a:t>It breaks the assumption that relying on CE marking means no UK regulatory work.
</a:t>
            </a:r>
            <a:pPr indent="0" marL="0">
              <a:lnSpc>
                <a:spcPct val="105000"/>
              </a:lnSpc>
              <a:buNone/>
            </a:pPr>
            <a:r>
              <a:rPr lang="en-US" sz="1100" dirty="0">
                <a:solidFill>
                  <a:srgbClr val="22333B"/>
                </a:solidFill>
                <a:latin typeface="Calibri" pitchFamily="34" charset="0"/>
                <a:ea typeface="Calibri" pitchFamily="34" charset="-122"/>
                <a:cs typeface="Calibri" pitchFamily="34" charset="-120"/>
              </a:rPr>
              <a:t>Up to this point the UK story for a CE marked device was registration and a Responsible Person — administrative, and easily delegated. Post-market surveillance is not administrative. It is an operational system with data collection, analysis, thresholds and reporting.
</a:t>
            </a:r>
            <a:pPr indent="0" marL="0">
              <a:lnSpc>
                <a:spcPct val="105000"/>
              </a:lnSpc>
              <a:buNone/>
            </a:pPr>
            <a:r>
              <a:rPr lang="en-US" sz="1100" dirty="0">
                <a:solidFill>
                  <a:srgbClr val="22333B"/>
                </a:solidFill>
                <a:latin typeface="Calibri" pitchFamily="34" charset="0"/>
                <a:ea typeface="Calibri" pitchFamily="34" charset="-122"/>
                <a:cs typeface="Calibri" pitchFamily="34" charset="-120"/>
              </a:rPr>
              <a:t>It is also a signal about direction. The MHRA legislated post-market first, before the pre-market framework. That tells you where they think the risk is, and it tells you the rest is coming.
</a:t>
            </a:r>
            <a:pPr indent="0" marL="0">
              <a:lnSpc>
                <a:spcPct val="105000"/>
              </a:lnSpc>
              <a:buNone/>
            </a:pPr>
            <a:r>
              <a:rPr lang="en-US" sz="1100" b="1" dirty="0">
                <a:solidFill>
                  <a:srgbClr val="22333B"/>
                </a:solidFill>
                <a:latin typeface="Calibri" pitchFamily="34" charset="0"/>
                <a:ea typeface="Calibri" pitchFamily="34" charset="-122"/>
                <a:cs typeface="Calibri" pitchFamily="34" charset="-120"/>
              </a:rPr>
              <a:t>Practical advice: if you already run an MDR-compliant PMS system, map it against the UK requirements rather than building a second one. The overlap is substantial but it is not complete.</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THE FUTURE UK FRAMEWORK</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2800" b="1" dirty="0">
                <a:solidFill>
                  <a:srgbClr val="1B3A4B"/>
                </a:solidFill>
                <a:latin typeface="Cambria" pitchFamily="34" charset="0"/>
                <a:ea typeface="Cambria" pitchFamily="34" charset="-122"/>
                <a:cs typeface="Cambria" pitchFamily="34" charset="-120"/>
              </a:rPr>
              <a:t>What is coming, and how to plan around it</a:t>
            </a:r>
            <a:endParaRPr lang="en-US" sz="28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37</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The UK regime is half-built. That is an uncomfortable planning environment, and it has a correct response.</a:t>
            </a:r>
            <a:endParaRPr lang="en-US" sz="1400" dirty="0"/>
          </a:p>
        </p:txBody>
      </p:sp>
      <p:sp>
        <p:nvSpPr>
          <p:cNvPr id="7" name="Shape 5"/>
          <p:cNvSpPr/>
          <p:nvPr/>
        </p:nvSpPr>
        <p:spPr>
          <a:xfrm>
            <a:off x="548640" y="1883664"/>
            <a:ext cx="5410048" cy="1563624"/>
          </a:xfrm>
          <a:prstGeom prst="roundRect">
            <a:avLst>
              <a:gd name="adj" fmla="val 4094"/>
            </a:avLst>
          </a:prstGeom>
          <a:solidFill>
            <a:srgbClr val="F1F5F6"/>
          </a:solidFill>
          <a:ln w="12700">
            <a:solidFill>
              <a:srgbClr val="D7E2E5"/>
            </a:solidFill>
            <a:prstDash val="solid"/>
          </a:ln>
        </p:spPr>
      </p:sp>
      <p:sp>
        <p:nvSpPr>
          <p:cNvPr id="8" name="Shape 6"/>
          <p:cNvSpPr/>
          <p:nvPr/>
        </p:nvSpPr>
        <p:spPr>
          <a:xfrm>
            <a:off x="768096" y="2084832"/>
            <a:ext cx="365760" cy="365760"/>
          </a:xfrm>
          <a:prstGeom prst="ellipse">
            <a:avLst/>
          </a:prstGeom>
          <a:solidFill>
            <a:srgbClr val="0E7C7B"/>
          </a:solidFill>
          <a:ln w="12700">
            <a:solidFill>
              <a:srgbClr val="0E7C7B"/>
            </a:solidFill>
            <a:prstDash val="solid"/>
          </a:ln>
        </p:spPr>
      </p:sp>
      <p:sp>
        <p:nvSpPr>
          <p:cNvPr id="9" name="Text 7"/>
          <p:cNvSpPr txBox="1"/>
          <p:nvPr/>
        </p:nvSpPr>
        <p:spPr>
          <a:xfrm>
            <a:off x="768096" y="20848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768096" y="2560320"/>
            <a:ext cx="4971136" cy="315976"/>
          </a:xfrm>
          <a:prstGeom prst="rect">
            <a:avLst/>
          </a:prstGeom>
          <a:noFill/>
          <a:ln/>
        </p:spPr>
        <p:txBody>
          <a:bodyPr wrap="square" lIns="0" tIns="0" rIns="0" bIns="0" rtlCol="0" anchor="t"/>
          <a:lstStyle/>
          <a:p>
            <a:pPr indent="0" marL="0">
              <a:buNone/>
            </a:pPr>
            <a:r>
              <a:rPr lang="en-US" sz="1450" b="1" dirty="0">
                <a:solidFill>
                  <a:srgbClr val="1B3A4B"/>
                </a:solidFill>
                <a:latin typeface="Calibri" pitchFamily="34" charset="0"/>
                <a:ea typeface="Calibri" pitchFamily="34" charset="-122"/>
                <a:cs typeface="Calibri" pitchFamily="34" charset="-120"/>
              </a:rPr>
              <a:t>Post-market is done</a:t>
            </a:r>
            <a:endParaRPr lang="en-US" sz="1450" dirty="0"/>
          </a:p>
        </p:txBody>
      </p:sp>
      <p:sp>
        <p:nvSpPr>
          <p:cNvPr id="11" name="Text 9"/>
          <p:cNvSpPr txBox="1"/>
          <p:nvPr/>
        </p:nvSpPr>
        <p:spPr>
          <a:xfrm>
            <a:off x="768096" y="2912872"/>
            <a:ext cx="4971136" cy="388112"/>
          </a:xfrm>
          <a:prstGeom prst="rect">
            <a:avLst/>
          </a:prstGeom>
          <a:noFill/>
          <a:ln/>
        </p:spPr>
        <p:txBody>
          <a:bodyPr wrap="square" lIns="0" tIns="0" rIns="0" bIns="0" rtlCol="0" anchor="t"/>
          <a:lstStyle/>
          <a:p>
            <a:pPr indent="0" marL="0">
              <a:lnSpc>
                <a:spcPct val="106000"/>
              </a:lnSpc>
              <a:buNone/>
            </a:pPr>
            <a:r>
              <a:rPr lang="en-US" sz="880" dirty="0">
                <a:solidFill>
                  <a:srgbClr val="22333B"/>
                </a:solidFill>
                <a:latin typeface="Calibri" pitchFamily="34" charset="0"/>
                <a:ea typeface="Calibri" pitchFamily="34" charset="-122"/>
                <a:cs typeface="Calibri" pitchFamily="34" charset="-120"/>
              </a:rPr>
              <a:t>The 2024 regulations are in force. This part of the new framework is no longer speculative — it is law and it applies to you now.</a:t>
            </a:r>
            <a:endParaRPr lang="en-US" sz="880" dirty="0"/>
          </a:p>
        </p:txBody>
      </p:sp>
      <p:sp>
        <p:nvSpPr>
          <p:cNvPr id="12" name="Shape 10"/>
          <p:cNvSpPr/>
          <p:nvPr/>
        </p:nvSpPr>
        <p:spPr>
          <a:xfrm>
            <a:off x="6233008" y="1883664"/>
            <a:ext cx="5410048" cy="1563624"/>
          </a:xfrm>
          <a:prstGeom prst="roundRect">
            <a:avLst>
              <a:gd name="adj" fmla="val 4094"/>
            </a:avLst>
          </a:prstGeom>
          <a:solidFill>
            <a:srgbClr val="F1F5F6"/>
          </a:solidFill>
          <a:ln w="12700">
            <a:solidFill>
              <a:srgbClr val="D7E2E5"/>
            </a:solidFill>
            <a:prstDash val="solid"/>
          </a:ln>
        </p:spPr>
      </p:sp>
      <p:sp>
        <p:nvSpPr>
          <p:cNvPr id="13" name="Shape 11"/>
          <p:cNvSpPr/>
          <p:nvPr/>
        </p:nvSpPr>
        <p:spPr>
          <a:xfrm>
            <a:off x="6452464" y="2084832"/>
            <a:ext cx="365760" cy="365760"/>
          </a:xfrm>
          <a:prstGeom prst="ellipse">
            <a:avLst/>
          </a:prstGeom>
          <a:solidFill>
            <a:srgbClr val="C77C1E"/>
          </a:solidFill>
          <a:ln w="12700">
            <a:solidFill>
              <a:srgbClr val="C77C1E"/>
            </a:solidFill>
            <a:prstDash val="solid"/>
          </a:ln>
        </p:spPr>
      </p:sp>
      <p:sp>
        <p:nvSpPr>
          <p:cNvPr id="14" name="Text 12"/>
          <p:cNvSpPr txBox="1"/>
          <p:nvPr/>
        </p:nvSpPr>
        <p:spPr>
          <a:xfrm>
            <a:off x="6452464" y="20848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6452464" y="2560320"/>
            <a:ext cx="4971136" cy="315976"/>
          </a:xfrm>
          <a:prstGeom prst="rect">
            <a:avLst/>
          </a:prstGeom>
          <a:noFill/>
          <a:ln/>
        </p:spPr>
        <p:txBody>
          <a:bodyPr wrap="square" lIns="0" tIns="0" rIns="0" bIns="0" rtlCol="0" anchor="t"/>
          <a:lstStyle/>
          <a:p>
            <a:pPr indent="0" marL="0">
              <a:buNone/>
            </a:pPr>
            <a:r>
              <a:rPr lang="en-US" sz="1450" b="1" dirty="0">
                <a:solidFill>
                  <a:srgbClr val="1B3A4B"/>
                </a:solidFill>
                <a:latin typeface="Calibri" pitchFamily="34" charset="0"/>
                <a:ea typeface="Calibri" pitchFamily="34" charset="-122"/>
                <a:cs typeface="Calibri" pitchFamily="34" charset="-120"/>
              </a:rPr>
              <a:t>Pre-market is expected</a:t>
            </a:r>
            <a:endParaRPr lang="en-US" sz="1450" dirty="0"/>
          </a:p>
        </p:txBody>
      </p:sp>
      <p:sp>
        <p:nvSpPr>
          <p:cNvPr id="16" name="Text 14"/>
          <p:cNvSpPr txBox="1"/>
          <p:nvPr/>
        </p:nvSpPr>
        <p:spPr>
          <a:xfrm>
            <a:off x="6452464" y="2912872"/>
            <a:ext cx="4971136" cy="388112"/>
          </a:xfrm>
          <a:prstGeom prst="rect">
            <a:avLst/>
          </a:prstGeom>
          <a:noFill/>
          <a:ln/>
        </p:spPr>
        <p:txBody>
          <a:bodyPr wrap="square" lIns="0" tIns="0" rIns="0" bIns="0" rtlCol="0" anchor="t"/>
          <a:lstStyle/>
          <a:p>
            <a:pPr indent="0" marL="0">
              <a:lnSpc>
                <a:spcPct val="106000"/>
              </a:lnSpc>
              <a:buNone/>
            </a:pPr>
            <a:r>
              <a:rPr lang="en-US" sz="880" dirty="0">
                <a:solidFill>
                  <a:srgbClr val="22333B"/>
                </a:solidFill>
                <a:latin typeface="Calibri" pitchFamily="34" charset="0"/>
                <a:ea typeface="Calibri" pitchFamily="34" charset="-122"/>
                <a:cs typeface="Calibri" pitchFamily="34" charset="-120"/>
              </a:rPr>
              <a:t>The MHRA has signalled a strengthened pre-market regime to replace the 2002 regulations. Timing has moved before; treat any date you hear as provisional.</a:t>
            </a:r>
            <a:endParaRPr lang="en-US" sz="880" dirty="0"/>
          </a:p>
        </p:txBody>
      </p:sp>
      <p:sp>
        <p:nvSpPr>
          <p:cNvPr id="17" name="Shape 15"/>
          <p:cNvSpPr/>
          <p:nvPr/>
        </p:nvSpPr>
        <p:spPr>
          <a:xfrm>
            <a:off x="548640" y="3721608"/>
            <a:ext cx="5410048" cy="1563624"/>
          </a:xfrm>
          <a:prstGeom prst="roundRect">
            <a:avLst>
              <a:gd name="adj" fmla="val 4094"/>
            </a:avLst>
          </a:prstGeom>
          <a:solidFill>
            <a:srgbClr val="F1F5F6"/>
          </a:solidFill>
          <a:ln w="12700">
            <a:solidFill>
              <a:srgbClr val="D7E2E5"/>
            </a:solidFill>
            <a:prstDash val="solid"/>
          </a:ln>
        </p:spPr>
      </p:sp>
      <p:sp>
        <p:nvSpPr>
          <p:cNvPr id="18" name="Shape 16"/>
          <p:cNvSpPr/>
          <p:nvPr/>
        </p:nvSpPr>
        <p:spPr>
          <a:xfrm>
            <a:off x="768096" y="3922776"/>
            <a:ext cx="365760" cy="365760"/>
          </a:xfrm>
          <a:prstGeom prst="ellipse">
            <a:avLst/>
          </a:prstGeom>
          <a:solidFill>
            <a:srgbClr val="2A9D8F"/>
          </a:solidFill>
          <a:ln w="12700">
            <a:solidFill>
              <a:srgbClr val="2A9D8F"/>
            </a:solidFill>
            <a:prstDash val="solid"/>
          </a:ln>
        </p:spPr>
      </p:sp>
      <p:sp>
        <p:nvSpPr>
          <p:cNvPr id="19" name="Text 17"/>
          <p:cNvSpPr txBox="1"/>
          <p:nvPr/>
        </p:nvSpPr>
        <p:spPr>
          <a:xfrm>
            <a:off x="768096" y="39227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768096" y="4398264"/>
            <a:ext cx="4971136" cy="315976"/>
          </a:xfrm>
          <a:prstGeom prst="rect">
            <a:avLst/>
          </a:prstGeom>
          <a:noFill/>
          <a:ln/>
        </p:spPr>
        <p:txBody>
          <a:bodyPr wrap="square" lIns="0" tIns="0" rIns="0" bIns="0" rtlCol="0" anchor="t"/>
          <a:lstStyle/>
          <a:p>
            <a:pPr indent="0" marL="0">
              <a:buNone/>
            </a:pPr>
            <a:r>
              <a:rPr lang="en-US" sz="1450" b="1" dirty="0">
                <a:solidFill>
                  <a:srgbClr val="1B3A4B"/>
                </a:solidFill>
                <a:latin typeface="Calibri" pitchFamily="34" charset="0"/>
                <a:ea typeface="Calibri" pitchFamily="34" charset="-122"/>
                <a:cs typeface="Calibri" pitchFamily="34" charset="-120"/>
              </a:rPr>
              <a:t>CE recognition may become permanent</a:t>
            </a:r>
            <a:endParaRPr lang="en-US" sz="1450" dirty="0"/>
          </a:p>
        </p:txBody>
      </p:sp>
      <p:sp>
        <p:nvSpPr>
          <p:cNvPr id="21" name="Text 19"/>
          <p:cNvSpPr txBox="1"/>
          <p:nvPr/>
        </p:nvSpPr>
        <p:spPr>
          <a:xfrm>
            <a:off x="768096" y="4750816"/>
            <a:ext cx="4971136" cy="388112"/>
          </a:xfrm>
          <a:prstGeom prst="rect">
            <a:avLst/>
          </a:prstGeom>
          <a:noFill/>
          <a:ln/>
        </p:spPr>
        <p:txBody>
          <a:bodyPr wrap="square" lIns="0" tIns="0" rIns="0" bIns="0" rtlCol="0" anchor="t"/>
          <a:lstStyle/>
          <a:p>
            <a:pPr indent="0" marL="0">
              <a:lnSpc>
                <a:spcPct val="106000"/>
              </a:lnSpc>
              <a:buNone/>
            </a:pPr>
            <a:r>
              <a:rPr lang="en-US" sz="880" dirty="0">
                <a:solidFill>
                  <a:srgbClr val="22333B"/>
                </a:solidFill>
                <a:latin typeface="Calibri" pitchFamily="34" charset="0"/>
                <a:ea typeface="Calibri" pitchFamily="34" charset="-122"/>
                <a:cs typeface="Calibri" pitchFamily="34" charset="-120"/>
              </a:rPr>
              <a:t>The government has said it will consult on indefinite recognition. If that lands, the case for UKCA narrows sharply for anyone with an EU route.</a:t>
            </a:r>
            <a:endParaRPr lang="en-US" sz="880" dirty="0"/>
          </a:p>
        </p:txBody>
      </p:sp>
      <p:sp>
        <p:nvSpPr>
          <p:cNvPr id="22" name="Shape 20"/>
          <p:cNvSpPr/>
          <p:nvPr/>
        </p:nvSpPr>
        <p:spPr>
          <a:xfrm>
            <a:off x="6233008" y="3721608"/>
            <a:ext cx="5410048" cy="1563624"/>
          </a:xfrm>
          <a:prstGeom prst="roundRect">
            <a:avLst>
              <a:gd name="adj" fmla="val 4094"/>
            </a:avLst>
          </a:prstGeom>
          <a:solidFill>
            <a:srgbClr val="F1F5F6"/>
          </a:solidFill>
          <a:ln w="12700">
            <a:solidFill>
              <a:srgbClr val="D7E2E5"/>
            </a:solidFill>
            <a:prstDash val="solid"/>
          </a:ln>
        </p:spPr>
      </p:sp>
      <p:sp>
        <p:nvSpPr>
          <p:cNvPr id="23" name="Shape 21"/>
          <p:cNvSpPr/>
          <p:nvPr/>
        </p:nvSpPr>
        <p:spPr>
          <a:xfrm>
            <a:off x="6452464" y="3922776"/>
            <a:ext cx="365760" cy="365760"/>
          </a:xfrm>
          <a:prstGeom prst="ellipse">
            <a:avLst/>
          </a:prstGeom>
          <a:solidFill>
            <a:srgbClr val="A83A3C"/>
          </a:solidFill>
          <a:ln w="12700">
            <a:solidFill>
              <a:srgbClr val="A83A3C"/>
            </a:solidFill>
            <a:prstDash val="solid"/>
          </a:ln>
        </p:spPr>
      </p:sp>
      <p:sp>
        <p:nvSpPr>
          <p:cNvPr id="24" name="Text 22"/>
          <p:cNvSpPr txBox="1"/>
          <p:nvPr/>
        </p:nvSpPr>
        <p:spPr>
          <a:xfrm>
            <a:off x="6452464" y="39227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txBox="1"/>
          <p:nvPr/>
        </p:nvSpPr>
        <p:spPr>
          <a:xfrm>
            <a:off x="6452464" y="4398264"/>
            <a:ext cx="4971136" cy="315976"/>
          </a:xfrm>
          <a:prstGeom prst="rect">
            <a:avLst/>
          </a:prstGeom>
          <a:noFill/>
          <a:ln/>
        </p:spPr>
        <p:txBody>
          <a:bodyPr wrap="square" lIns="0" tIns="0" rIns="0" bIns="0" rtlCol="0" anchor="t"/>
          <a:lstStyle/>
          <a:p>
            <a:pPr indent="0" marL="0">
              <a:buNone/>
            </a:pPr>
            <a:r>
              <a:rPr lang="en-US" sz="1450" b="1" dirty="0">
                <a:solidFill>
                  <a:srgbClr val="1B3A4B"/>
                </a:solidFill>
                <a:latin typeface="Calibri" pitchFamily="34" charset="0"/>
                <a:ea typeface="Calibri" pitchFamily="34" charset="-122"/>
                <a:cs typeface="Calibri" pitchFamily="34" charset="-120"/>
              </a:rPr>
              <a:t>International reliance is the direction</a:t>
            </a:r>
            <a:endParaRPr lang="en-US" sz="1450" dirty="0"/>
          </a:p>
        </p:txBody>
      </p:sp>
      <p:sp>
        <p:nvSpPr>
          <p:cNvPr id="26" name="Text 24"/>
          <p:cNvSpPr txBox="1"/>
          <p:nvPr/>
        </p:nvSpPr>
        <p:spPr>
          <a:xfrm>
            <a:off x="6452464" y="4750816"/>
            <a:ext cx="4971136" cy="388112"/>
          </a:xfrm>
          <a:prstGeom prst="rect">
            <a:avLst/>
          </a:prstGeom>
          <a:noFill/>
          <a:ln/>
        </p:spPr>
        <p:txBody>
          <a:bodyPr wrap="square" lIns="0" tIns="0" rIns="0" bIns="0" rtlCol="0" anchor="t"/>
          <a:lstStyle/>
          <a:p>
            <a:pPr indent="0" marL="0">
              <a:lnSpc>
                <a:spcPct val="106000"/>
              </a:lnSpc>
              <a:buNone/>
            </a:pPr>
            <a:r>
              <a:rPr lang="en-US" sz="880" dirty="0">
                <a:solidFill>
                  <a:srgbClr val="22333B"/>
                </a:solidFill>
                <a:latin typeface="Calibri" pitchFamily="34" charset="0"/>
                <a:ea typeface="Calibri" pitchFamily="34" charset="-122"/>
                <a:cs typeface="Calibri" pitchFamily="34" charset="-120"/>
              </a:rPr>
              <a:t>The MHRA has been building routes that lean on approvals from trusted regulators rather than duplicating assessment. Most likely shape of the future.</a:t>
            </a:r>
            <a:endParaRPr lang="en-US" sz="880" dirty="0"/>
          </a:p>
        </p:txBody>
      </p:sp>
      <p:sp>
        <p:nvSpPr>
          <p:cNvPr id="27" name="Shape 25"/>
          <p:cNvSpPr/>
          <p:nvPr/>
        </p:nvSpPr>
        <p:spPr>
          <a:xfrm>
            <a:off x="548640" y="5394960"/>
            <a:ext cx="11094415" cy="859536"/>
          </a:xfrm>
          <a:prstGeom prst="roundRect">
            <a:avLst>
              <a:gd name="adj" fmla="val 7447"/>
            </a:avLst>
          </a:prstGeom>
          <a:solidFill>
            <a:srgbClr val="EAF3F2"/>
          </a:solidFill>
          <a:ln w="12700">
            <a:solidFill>
              <a:srgbClr val="BFD9D6"/>
            </a:solidFill>
            <a:prstDash val="solid"/>
          </a:ln>
        </p:spPr>
      </p:sp>
      <p:sp>
        <p:nvSpPr>
          <p:cNvPr id="28" name="Text 26"/>
          <p:cNvSpPr txBox="1"/>
          <p:nvPr/>
        </p:nvSpPr>
        <p:spPr>
          <a:xfrm>
            <a:off x="786384" y="5486400"/>
            <a:ext cx="10618927" cy="713232"/>
          </a:xfrm>
          <a:prstGeom prst="rect">
            <a:avLst/>
          </a:prstGeom>
          <a:noFill/>
          <a:ln/>
        </p:spPr>
        <p:txBody>
          <a:bodyPr wrap="square" lIns="0" tIns="0" rIns="0" bIns="0" rtlCol="0" anchor="t"/>
          <a:lstStyle/>
          <a:p>
            <a:pPr indent="0" marL="0">
              <a:lnSpc>
                <a:spcPct val="105000"/>
              </a:lnSpc>
              <a:buNone/>
            </a:pPr>
            <a:r>
              <a:rPr lang="en-US" sz="1250" b="1" dirty="0">
                <a:solidFill>
                  <a:srgbClr val="1B3A4B"/>
                </a:solidFill>
                <a:latin typeface="Calibri" pitchFamily="34" charset="0"/>
                <a:ea typeface="Calibri" pitchFamily="34" charset="-122"/>
                <a:cs typeface="Calibri" pitchFamily="34" charset="-120"/>
              </a:rPr>
              <a:t>The correct response to a half-built framework:  </a:t>
            </a:r>
            <a:pPr indent="0" marL="0">
              <a:lnSpc>
                <a:spcPct val="105000"/>
              </a:lnSpc>
              <a:buNone/>
            </a:pPr>
            <a:r>
              <a:rPr lang="en-US" sz="1150" dirty="0">
                <a:solidFill>
                  <a:srgbClr val="22333B"/>
                </a:solidFill>
                <a:latin typeface="Calibri" pitchFamily="34" charset="0"/>
                <a:ea typeface="Calibri" pitchFamily="34" charset="-122"/>
                <a:cs typeface="Calibri" pitchFamily="34" charset="-120"/>
              </a:rPr>
              <a:t>comply fully with what is in force, build nothing speculative for what is not, and make sure someone owns watching it. The manufacturers who lose money here are the ones who either ignore the UK entirely or try to build for a regime that has not been written.</a:t>
            </a:r>
            <a:endParaRPr lang="en-US" sz="1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2232E"/>
        </a:solidFill>
      </p:bgPr>
    </p:bg>
    <p:spTree>
      <p:nvGrpSpPr>
        <p:cNvPr id="1" name=""/>
        <p:cNvGrpSpPr/>
        <p:nvPr/>
      </p:nvGrpSpPr>
      <p:grpSpPr>
        <a:xfrm>
          <a:off x="0" y="0"/>
          <a:ext cx="0" cy="0"/>
          <a:chOff x="0" y="0"/>
          <a:chExt cx="0" cy="0"/>
        </a:xfrm>
      </p:grpSpPr>
      <p:sp>
        <p:nvSpPr>
          <p:cNvPr id="2" name="Text 0"/>
          <p:cNvSpPr txBox="1"/>
          <p:nvPr/>
        </p:nvSpPr>
        <p:spPr>
          <a:xfrm>
            <a:off x="548640" y="2057400"/>
            <a:ext cx="11094415" cy="292608"/>
          </a:xfrm>
          <a:prstGeom prst="rect">
            <a:avLst/>
          </a:prstGeom>
          <a:noFill/>
          <a:ln/>
        </p:spPr>
        <p:txBody>
          <a:bodyPr wrap="square" lIns="0" tIns="0" rIns="0" bIns="0" rtlCol="0" anchor="ctr"/>
          <a:lstStyle/>
          <a:p>
            <a:pPr indent="0" marL="0">
              <a:buNone/>
            </a:pPr>
            <a:r>
              <a:rPr lang="en-US" sz="1300" b="1" spc="220" kern="0" dirty="0">
                <a:solidFill>
                  <a:srgbClr val="2A9D8F"/>
                </a:solidFill>
                <a:latin typeface="Calibri" pitchFamily="34" charset="0"/>
                <a:ea typeface="Calibri" pitchFamily="34" charset="-122"/>
                <a:cs typeface="Calibri" pitchFamily="34" charset="-120"/>
              </a:rPr>
              <a:t>PART FOUR</a:t>
            </a:r>
            <a:endParaRPr lang="en-US" sz="1300" dirty="0"/>
          </a:p>
        </p:txBody>
      </p:sp>
      <p:sp>
        <p:nvSpPr>
          <p:cNvPr id="3" name="Text 1"/>
          <p:cNvSpPr txBox="1"/>
          <p:nvPr/>
        </p:nvSpPr>
        <p:spPr>
          <a:xfrm>
            <a:off x="548640" y="2450592"/>
            <a:ext cx="9692640" cy="11430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United States and Japan</a:t>
            </a:r>
            <a:endParaRPr lang="en-US" sz="4000" dirty="0"/>
          </a:p>
        </p:txBody>
      </p:sp>
      <p:sp>
        <p:nvSpPr>
          <p:cNvPr id="4" name="Text 2"/>
          <p:cNvSpPr txBox="1"/>
          <p:nvPr/>
        </p:nvSpPr>
        <p:spPr>
          <a:xfrm>
            <a:off x="548640" y="3657600"/>
            <a:ext cx="8961120" cy="822960"/>
          </a:xfrm>
          <a:prstGeom prst="rect">
            <a:avLst/>
          </a:prstGeom>
          <a:noFill/>
          <a:ln/>
        </p:spPr>
        <p:txBody>
          <a:bodyPr wrap="square" lIns="0" tIns="0" rIns="0" bIns="0" rtlCol="0" anchor="ctr"/>
          <a:lstStyle/>
          <a:p>
            <a:pPr indent="0" marL="0">
              <a:buNone/>
            </a:pPr>
            <a:r>
              <a:rPr lang="en-US" sz="1500" dirty="0">
                <a:solidFill>
                  <a:srgbClr val="BCCCD2"/>
                </a:solidFill>
                <a:latin typeface="Calibri" pitchFamily="34" charset="0"/>
                <a:ea typeface="Calibri" pitchFamily="34" charset="-122"/>
                <a:cs typeface="Calibri" pitchFamily="34" charset="-120"/>
              </a:rPr>
              <a:t>The comparative view: a regulator that reviews you directly, and one that routes you by code.</a:t>
            </a:r>
            <a:endParaRPr lang="en-US" sz="1500" dirty="0"/>
          </a:p>
        </p:txBody>
      </p:sp>
      <p:sp>
        <p:nvSpPr>
          <p:cNvPr id="5" name="Text 3"/>
          <p:cNvSpPr txBox="1"/>
          <p:nvPr/>
        </p:nvSpPr>
        <p:spPr>
          <a:xfrm>
            <a:off x="548640" y="4617720"/>
            <a:ext cx="5486400" cy="320040"/>
          </a:xfrm>
          <a:prstGeom prst="rect">
            <a:avLst/>
          </a:prstGeom>
          <a:noFill/>
          <a:ln/>
        </p:spPr>
        <p:txBody>
          <a:bodyPr wrap="square" lIns="0" tIns="0" rIns="0" bIns="0" rtlCol="0" anchor="ctr"/>
          <a:lstStyle/>
          <a:p>
            <a:pPr indent="0" marL="0">
              <a:buNone/>
            </a:pPr>
            <a:r>
              <a:rPr lang="en-US" sz="1200" b="1" spc="100" kern="0" dirty="0">
                <a:solidFill>
                  <a:srgbClr val="C77C1E"/>
                </a:solidFill>
                <a:latin typeface="Calibri" pitchFamily="34" charset="0"/>
                <a:ea typeface="Calibri" pitchFamily="34" charset="-122"/>
                <a:cs typeface="Calibri" pitchFamily="34" charset="-120"/>
              </a:rPr>
              <a:t>11 minutes</a:t>
            </a:r>
            <a:endParaRPr lang="en-US" sz="1200" dirty="0"/>
          </a:p>
        </p:txBody>
      </p:sp>
      <p:sp>
        <p:nvSpPr>
          <p:cNvPr id="6" name="Text 4"/>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809AA4"/>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UNITED STATES</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200" b="1" dirty="0">
                <a:solidFill>
                  <a:srgbClr val="1B3A4B"/>
                </a:solidFill>
                <a:latin typeface="Cambria" pitchFamily="34" charset="0"/>
                <a:ea typeface="Cambria" pitchFamily="34" charset="-122"/>
                <a:cs typeface="Cambria" pitchFamily="34" charset="-120"/>
              </a:rPr>
              <a:t>The 510(k) in one slide</a:t>
            </a:r>
            <a:endParaRPr lang="en-US" sz="32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39</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A comparative claim, not an absolute one. This is the structural difference from everything in Part 2.</a:t>
            </a:r>
            <a:endParaRPr lang="en-US" sz="1400" dirty="0"/>
          </a:p>
        </p:txBody>
      </p:sp>
      <p:sp>
        <p:nvSpPr>
          <p:cNvPr id="7" name="Shape 5"/>
          <p:cNvSpPr/>
          <p:nvPr/>
        </p:nvSpPr>
        <p:spPr>
          <a:xfrm>
            <a:off x="548640" y="1847088"/>
            <a:ext cx="11094415" cy="790956"/>
          </a:xfrm>
          <a:prstGeom prst="roundRect">
            <a:avLst>
              <a:gd name="adj" fmla="val 8092"/>
            </a:avLst>
          </a:prstGeom>
          <a:solidFill>
            <a:srgbClr val="F1F5F6"/>
          </a:solidFill>
          <a:ln w="12700">
            <a:solidFill>
              <a:srgbClr val="D7E2E5"/>
            </a:solidFill>
            <a:prstDash val="solid"/>
          </a:ln>
        </p:spPr>
      </p:sp>
      <p:sp>
        <p:nvSpPr>
          <p:cNvPr id="8" name="Shape 6"/>
          <p:cNvSpPr/>
          <p:nvPr/>
        </p:nvSpPr>
        <p:spPr>
          <a:xfrm>
            <a:off x="786384" y="2041398"/>
            <a:ext cx="402336" cy="402336"/>
          </a:xfrm>
          <a:prstGeom prst="ellipse">
            <a:avLst/>
          </a:prstGeom>
          <a:solidFill>
            <a:srgbClr val="0E7C7B"/>
          </a:solidFill>
          <a:ln w="12700">
            <a:solidFill>
              <a:srgbClr val="0E7C7B"/>
            </a:solidFill>
            <a:prstDash val="solid"/>
          </a:ln>
        </p:spPr>
      </p:sp>
      <p:sp>
        <p:nvSpPr>
          <p:cNvPr id="9" name="Text 7"/>
          <p:cNvSpPr txBox="1"/>
          <p:nvPr/>
        </p:nvSpPr>
        <p:spPr>
          <a:xfrm>
            <a:off x="786384" y="204139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1335024" y="1965960"/>
            <a:ext cx="10033711" cy="553212"/>
          </a:xfrm>
          <a:prstGeom prst="rect">
            <a:avLst/>
          </a:prstGeom>
          <a:noFill/>
          <a:ln/>
        </p:spPr>
        <p:txBody>
          <a:bodyPr wrap="square" lIns="0" tIns="0" rIns="0" bIns="0" rtlCol="0" anchor="ctr"/>
          <a:lstStyle/>
          <a:p>
            <a:pPr indent="0" marL="0">
              <a:lnSpc>
                <a:spcPct val="105000"/>
              </a:lnSpc>
              <a:buNone/>
            </a:pPr>
            <a:r>
              <a:rPr lang="en-US" sz="1350" b="1" dirty="0">
                <a:solidFill>
                  <a:srgbClr val="1B3A4B"/>
                </a:solidFill>
                <a:latin typeface="Calibri" pitchFamily="34" charset="0"/>
                <a:ea typeface="Calibri" pitchFamily="34" charset="-122"/>
                <a:cs typeface="Calibri" pitchFamily="34" charset="-120"/>
              </a:rPr>
              <a:t>Find a predicate</a:t>
            </a:r>
            <a:endParaRPr lang="en-US" sz="1350" dirty="0"/>
          </a:p>
          <a:p>
            <a:pPr indent="0" marL="0">
              <a:lnSpc>
                <a:spcPct val="105000"/>
              </a:lnSpc>
              <a:buNone/>
            </a:pPr>
            <a:r>
              <a:rPr lang="en-US" sz="1120" dirty="0">
                <a:solidFill>
                  <a:srgbClr val="22333B"/>
                </a:solidFill>
                <a:latin typeface="Calibri" pitchFamily="34" charset="0"/>
                <a:ea typeface="Calibri" pitchFamily="34" charset="-122"/>
                <a:cs typeface="Calibri" pitchFamily="34" charset="-120"/>
              </a:rPr>
              <a:t>A legally marketed device to which you will claim substantial equivalence. The choice of predicate shapes the entire submission — and a predicate that has been recalled or withdrawn is a problem you want to find early, not late.</a:t>
            </a:r>
            <a:endParaRPr lang="en-US" sz="1350" dirty="0"/>
          </a:p>
        </p:txBody>
      </p:sp>
      <p:sp>
        <p:nvSpPr>
          <p:cNvPr id="11" name="Shape 9"/>
          <p:cNvSpPr/>
          <p:nvPr/>
        </p:nvSpPr>
        <p:spPr>
          <a:xfrm>
            <a:off x="548640" y="2766060"/>
            <a:ext cx="11094415" cy="790956"/>
          </a:xfrm>
          <a:prstGeom prst="roundRect">
            <a:avLst>
              <a:gd name="adj" fmla="val 8092"/>
            </a:avLst>
          </a:prstGeom>
          <a:solidFill>
            <a:srgbClr val="F1F5F6"/>
          </a:solidFill>
          <a:ln w="12700">
            <a:solidFill>
              <a:srgbClr val="D7E2E5"/>
            </a:solidFill>
            <a:prstDash val="solid"/>
          </a:ln>
        </p:spPr>
      </p:sp>
      <p:sp>
        <p:nvSpPr>
          <p:cNvPr id="12" name="Shape 10"/>
          <p:cNvSpPr/>
          <p:nvPr/>
        </p:nvSpPr>
        <p:spPr>
          <a:xfrm>
            <a:off x="786384" y="2960370"/>
            <a:ext cx="402336" cy="402336"/>
          </a:xfrm>
          <a:prstGeom prst="ellipse">
            <a:avLst/>
          </a:prstGeom>
          <a:solidFill>
            <a:srgbClr val="2A9D8F"/>
          </a:solidFill>
          <a:ln w="12700">
            <a:solidFill>
              <a:srgbClr val="2A9D8F"/>
            </a:solidFill>
            <a:prstDash val="solid"/>
          </a:ln>
        </p:spPr>
      </p:sp>
      <p:sp>
        <p:nvSpPr>
          <p:cNvPr id="13" name="Text 11"/>
          <p:cNvSpPr txBox="1"/>
          <p:nvPr/>
        </p:nvSpPr>
        <p:spPr>
          <a:xfrm>
            <a:off x="786384" y="296037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1335024" y="2884932"/>
            <a:ext cx="10033711" cy="553212"/>
          </a:xfrm>
          <a:prstGeom prst="rect">
            <a:avLst/>
          </a:prstGeom>
          <a:noFill/>
          <a:ln/>
        </p:spPr>
        <p:txBody>
          <a:bodyPr wrap="square" lIns="0" tIns="0" rIns="0" bIns="0" rtlCol="0" anchor="ctr"/>
          <a:lstStyle/>
          <a:p>
            <a:pPr indent="0" marL="0">
              <a:lnSpc>
                <a:spcPct val="105000"/>
              </a:lnSpc>
              <a:buNone/>
            </a:pPr>
            <a:r>
              <a:rPr lang="en-US" sz="1350" b="1" dirty="0">
                <a:solidFill>
                  <a:srgbClr val="1B3A4B"/>
                </a:solidFill>
                <a:latin typeface="Calibri" pitchFamily="34" charset="0"/>
                <a:ea typeface="Calibri" pitchFamily="34" charset="-122"/>
                <a:cs typeface="Calibri" pitchFamily="34" charset="-120"/>
              </a:rPr>
              <a:t>Establish substantial equivalence</a:t>
            </a:r>
            <a:endParaRPr lang="en-US" sz="1350" dirty="0"/>
          </a:p>
          <a:p>
            <a:pPr indent="0" marL="0">
              <a:lnSpc>
                <a:spcPct val="105000"/>
              </a:lnSpc>
              <a:buNone/>
            </a:pPr>
            <a:r>
              <a:rPr lang="en-US" sz="1120" dirty="0">
                <a:solidFill>
                  <a:srgbClr val="22333B"/>
                </a:solidFill>
                <a:latin typeface="Calibri" pitchFamily="34" charset="0"/>
                <a:ea typeface="Calibri" pitchFamily="34" charset="-122"/>
                <a:cs typeface="Calibri" pitchFamily="34" charset="-120"/>
              </a:rPr>
              <a:t>Same intended use as the predicate, and either the same technological characteristics, or different characteristics that do not raise different questions of safety and effectiveness and are supported by performance data.</a:t>
            </a:r>
            <a:endParaRPr lang="en-US" sz="1350" dirty="0"/>
          </a:p>
        </p:txBody>
      </p:sp>
      <p:sp>
        <p:nvSpPr>
          <p:cNvPr id="15" name="Shape 13"/>
          <p:cNvSpPr/>
          <p:nvPr/>
        </p:nvSpPr>
        <p:spPr>
          <a:xfrm>
            <a:off x="548640" y="3685032"/>
            <a:ext cx="11094415" cy="790956"/>
          </a:xfrm>
          <a:prstGeom prst="roundRect">
            <a:avLst>
              <a:gd name="adj" fmla="val 8092"/>
            </a:avLst>
          </a:prstGeom>
          <a:solidFill>
            <a:srgbClr val="F1F5F6"/>
          </a:solidFill>
          <a:ln w="12700">
            <a:solidFill>
              <a:srgbClr val="D7E2E5"/>
            </a:solidFill>
            <a:prstDash val="solid"/>
          </a:ln>
        </p:spPr>
      </p:sp>
      <p:sp>
        <p:nvSpPr>
          <p:cNvPr id="16" name="Shape 14"/>
          <p:cNvSpPr/>
          <p:nvPr/>
        </p:nvSpPr>
        <p:spPr>
          <a:xfrm>
            <a:off x="786384" y="3879342"/>
            <a:ext cx="402336" cy="402336"/>
          </a:xfrm>
          <a:prstGeom prst="ellipse">
            <a:avLst/>
          </a:prstGeom>
          <a:solidFill>
            <a:srgbClr val="C77C1E"/>
          </a:solidFill>
          <a:ln w="12700">
            <a:solidFill>
              <a:srgbClr val="C77C1E"/>
            </a:solidFill>
            <a:prstDash val="solid"/>
          </a:ln>
        </p:spPr>
      </p:sp>
      <p:sp>
        <p:nvSpPr>
          <p:cNvPr id="17" name="Text 15"/>
          <p:cNvSpPr txBox="1"/>
          <p:nvPr/>
        </p:nvSpPr>
        <p:spPr>
          <a:xfrm>
            <a:off x="786384" y="38793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335024" y="3803904"/>
            <a:ext cx="10033711" cy="553212"/>
          </a:xfrm>
          <a:prstGeom prst="rect">
            <a:avLst/>
          </a:prstGeom>
          <a:noFill/>
          <a:ln/>
        </p:spPr>
        <p:txBody>
          <a:bodyPr wrap="square" lIns="0" tIns="0" rIns="0" bIns="0" rtlCol="0" anchor="ctr"/>
          <a:lstStyle/>
          <a:p>
            <a:pPr indent="0" marL="0">
              <a:lnSpc>
                <a:spcPct val="105000"/>
              </a:lnSpc>
              <a:buNone/>
            </a:pPr>
            <a:r>
              <a:rPr lang="en-US" sz="1350" b="1" dirty="0">
                <a:solidFill>
                  <a:srgbClr val="1B3A4B"/>
                </a:solidFill>
                <a:latin typeface="Calibri" pitchFamily="34" charset="0"/>
                <a:ea typeface="Calibri" pitchFamily="34" charset="-122"/>
                <a:cs typeface="Calibri" pitchFamily="34" charset="-120"/>
              </a:rPr>
              <a:t>Assemble the submission</a:t>
            </a:r>
            <a:endParaRPr lang="en-US" sz="1350" dirty="0"/>
          </a:p>
          <a:p>
            <a:pPr indent="0" marL="0">
              <a:lnSpc>
                <a:spcPct val="105000"/>
              </a:lnSpc>
              <a:buNone/>
            </a:pPr>
            <a:r>
              <a:rPr lang="en-US" sz="1120" dirty="0">
                <a:solidFill>
                  <a:srgbClr val="22333B"/>
                </a:solidFill>
                <a:latin typeface="Calibri" pitchFamily="34" charset="0"/>
                <a:ea typeface="Calibri" pitchFamily="34" charset="-122"/>
                <a:cs typeface="Calibri" pitchFamily="34" charset="-120"/>
              </a:rPr>
              <a:t>Device description, comparison to the predicate, performance testing, biocompatibility, sterilisation, software documentation, labelling. Submitted electronically through eSTAR.</a:t>
            </a:r>
            <a:endParaRPr lang="en-US" sz="1350" dirty="0"/>
          </a:p>
        </p:txBody>
      </p:sp>
      <p:sp>
        <p:nvSpPr>
          <p:cNvPr id="19" name="Shape 17"/>
          <p:cNvSpPr/>
          <p:nvPr/>
        </p:nvSpPr>
        <p:spPr>
          <a:xfrm>
            <a:off x="548640" y="4604004"/>
            <a:ext cx="11094415" cy="790956"/>
          </a:xfrm>
          <a:prstGeom prst="roundRect">
            <a:avLst>
              <a:gd name="adj" fmla="val 8092"/>
            </a:avLst>
          </a:prstGeom>
          <a:solidFill>
            <a:srgbClr val="F1F5F6"/>
          </a:solidFill>
          <a:ln w="12700">
            <a:solidFill>
              <a:srgbClr val="D7E2E5"/>
            </a:solidFill>
            <a:prstDash val="solid"/>
          </a:ln>
        </p:spPr>
      </p:sp>
      <p:sp>
        <p:nvSpPr>
          <p:cNvPr id="20" name="Shape 18"/>
          <p:cNvSpPr/>
          <p:nvPr/>
        </p:nvSpPr>
        <p:spPr>
          <a:xfrm>
            <a:off x="786384" y="4798314"/>
            <a:ext cx="402336" cy="402336"/>
          </a:xfrm>
          <a:prstGeom prst="ellipse">
            <a:avLst/>
          </a:prstGeom>
          <a:solidFill>
            <a:srgbClr val="A83A3C"/>
          </a:solidFill>
          <a:ln w="12700">
            <a:solidFill>
              <a:srgbClr val="A83A3C"/>
            </a:solidFill>
            <a:prstDash val="solid"/>
          </a:ln>
        </p:spPr>
      </p:sp>
      <p:sp>
        <p:nvSpPr>
          <p:cNvPr id="21" name="Text 19"/>
          <p:cNvSpPr txBox="1"/>
          <p:nvPr/>
        </p:nvSpPr>
        <p:spPr>
          <a:xfrm>
            <a:off x="786384" y="479831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1335024" y="4722876"/>
            <a:ext cx="10033711" cy="553212"/>
          </a:xfrm>
          <a:prstGeom prst="rect">
            <a:avLst/>
          </a:prstGeom>
          <a:noFill/>
          <a:ln/>
        </p:spPr>
        <p:txBody>
          <a:bodyPr wrap="square" lIns="0" tIns="0" rIns="0" bIns="0" rtlCol="0" anchor="ctr"/>
          <a:lstStyle/>
          <a:p>
            <a:pPr indent="0" marL="0">
              <a:lnSpc>
                <a:spcPct val="105000"/>
              </a:lnSpc>
              <a:buNone/>
            </a:pPr>
            <a:r>
              <a:rPr lang="en-US" sz="1350" b="1" dirty="0">
                <a:solidFill>
                  <a:srgbClr val="1B3A4B"/>
                </a:solidFill>
                <a:latin typeface="Calibri" pitchFamily="34" charset="0"/>
                <a:ea typeface="Calibri" pitchFamily="34" charset="-122"/>
                <a:cs typeface="Calibri" pitchFamily="34" charset="-120"/>
              </a:rPr>
              <a:t>Survive acceptance review, then substantive review</a:t>
            </a:r>
            <a:endParaRPr lang="en-US" sz="1350" dirty="0"/>
          </a:p>
          <a:p>
            <a:pPr indent="0" marL="0">
              <a:lnSpc>
                <a:spcPct val="105000"/>
              </a:lnSpc>
              <a:buNone/>
            </a:pPr>
            <a:r>
              <a:rPr lang="en-US" sz="1120" dirty="0">
                <a:solidFill>
                  <a:srgbClr val="22333B"/>
                </a:solidFill>
                <a:latin typeface="Calibri" pitchFamily="34" charset="0"/>
                <a:ea typeface="Calibri" pitchFamily="34" charset="-122"/>
                <a:cs typeface="Calibri" pitchFamily="34" charset="-120"/>
              </a:rPr>
              <a:t>An acceptance check first — fail it and the submission is refused before review begins. Then substantive review, with the clock pausing whenever FDA asks you a question and restarting when you answer.</a:t>
            </a:r>
            <a:endParaRPr lang="en-US" sz="1350" dirty="0"/>
          </a:p>
        </p:txBody>
      </p:sp>
      <p:sp>
        <p:nvSpPr>
          <p:cNvPr id="23" name="Shape 21"/>
          <p:cNvSpPr/>
          <p:nvPr/>
        </p:nvSpPr>
        <p:spPr>
          <a:xfrm>
            <a:off x="548640" y="5504688"/>
            <a:ext cx="11094415" cy="749808"/>
          </a:xfrm>
          <a:prstGeom prst="roundRect">
            <a:avLst>
              <a:gd name="adj" fmla="val 7317"/>
            </a:avLst>
          </a:prstGeom>
          <a:solidFill>
            <a:srgbClr val="EAF3F2"/>
          </a:solidFill>
          <a:ln w="12700">
            <a:solidFill>
              <a:srgbClr val="BFD9D6"/>
            </a:solidFill>
            <a:prstDash val="solid"/>
          </a:ln>
        </p:spPr>
      </p:sp>
      <p:sp>
        <p:nvSpPr>
          <p:cNvPr id="24" name="Text 22"/>
          <p:cNvSpPr txBox="1"/>
          <p:nvPr/>
        </p:nvSpPr>
        <p:spPr>
          <a:xfrm>
            <a:off x="786384" y="5504688"/>
            <a:ext cx="10618927" cy="749808"/>
          </a:xfrm>
          <a:prstGeom prst="rect">
            <a:avLst/>
          </a:prstGeom>
          <a:noFill/>
          <a:ln/>
        </p:spPr>
        <p:txBody>
          <a:bodyPr wrap="square" lIns="0" tIns="0" rIns="0" bIns="0" rtlCol="0" anchor="ctr"/>
          <a:lstStyle/>
          <a:p>
            <a:pPr indent="0" marL="0">
              <a:buNone/>
            </a:pPr>
            <a:r>
              <a:rPr lang="en-US" sz="1250" b="1" dirty="0">
                <a:solidFill>
                  <a:srgbClr val="1B3A4B"/>
                </a:solidFill>
                <a:latin typeface="Calibri" pitchFamily="34" charset="0"/>
                <a:ea typeface="Calibri" pitchFamily="34" charset="-122"/>
                <a:cs typeface="Calibri" pitchFamily="34" charset="-120"/>
              </a:rPr>
              <a:t>And check whether you need one at all: many Class II devices are exempt from premarket notification, subject to limitations. That determination is worth making before you build a submission.</a:t>
            </a:r>
            <a:endParaRPr lang="en-US" sz="12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UNITED STATES</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100" b="1" dirty="0">
                <a:solidFill>
                  <a:srgbClr val="1B3A4B"/>
                </a:solidFill>
                <a:latin typeface="Cambria" pitchFamily="34" charset="0"/>
                <a:ea typeface="Cambria" pitchFamily="34" charset="-122"/>
                <a:cs typeface="Cambria" pitchFamily="34" charset="-120"/>
              </a:rPr>
              <a:t>The obligations either side of clearance</a:t>
            </a:r>
            <a:endParaRPr lang="en-US" sz="31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40</a:t>
            </a:r>
            <a:endParaRPr lang="en-US" sz="900" dirty="0"/>
          </a:p>
        </p:txBody>
      </p:sp>
      <p:sp>
        <p:nvSpPr>
          <p:cNvPr id="6" name="Text 4"/>
          <p:cNvSpPr txBox="1"/>
          <p:nvPr/>
        </p:nvSpPr>
        <p:spPr>
          <a:xfrm>
            <a:off x="548640" y="1481328"/>
            <a:ext cx="5394960" cy="256032"/>
          </a:xfrm>
          <a:prstGeom prst="rect">
            <a:avLst/>
          </a:prstGeom>
          <a:noFill/>
          <a:ln/>
        </p:spPr>
        <p:txBody>
          <a:bodyPr wrap="square" lIns="0" tIns="0" rIns="0" bIns="0" rtlCol="0" anchor="ctr"/>
          <a:lstStyle/>
          <a:p>
            <a:pPr indent="0" marL="0">
              <a:buNone/>
            </a:pPr>
            <a:r>
              <a:rPr lang="en-US" sz="1100" b="1" spc="120" kern="0" dirty="0">
                <a:solidFill>
                  <a:srgbClr val="0E7C7B"/>
                </a:solidFill>
                <a:latin typeface="Calibri" pitchFamily="34" charset="0"/>
                <a:ea typeface="Calibri" pitchFamily="34" charset="-122"/>
                <a:cs typeface="Calibri" pitchFamily="34" charset="-120"/>
              </a:rPr>
              <a:t>BEFORE AND AT SUBMISSION</a:t>
            </a:r>
            <a:endParaRPr lang="en-US" sz="1100" dirty="0"/>
          </a:p>
        </p:txBody>
      </p:sp>
      <p:sp>
        <p:nvSpPr>
          <p:cNvPr id="7" name="Shape 5"/>
          <p:cNvSpPr/>
          <p:nvPr/>
        </p:nvSpPr>
        <p:spPr>
          <a:xfrm>
            <a:off x="548640" y="1792224"/>
            <a:ext cx="5394960" cy="4480560"/>
          </a:xfrm>
          <a:prstGeom prst="roundRect">
            <a:avLst>
              <a:gd name="adj" fmla="val 1429"/>
            </a:avLst>
          </a:prstGeom>
          <a:solidFill>
            <a:srgbClr val="F1F5F6"/>
          </a:solidFill>
          <a:ln w="12700">
            <a:solidFill>
              <a:srgbClr val="D7E2E5"/>
            </a:solidFill>
            <a:prstDash val="solid"/>
          </a:ln>
        </p:spPr>
      </p:sp>
      <p:sp>
        <p:nvSpPr>
          <p:cNvPr id="8" name="Text 6"/>
          <p:cNvSpPr txBox="1"/>
          <p:nvPr/>
        </p:nvSpPr>
        <p:spPr>
          <a:xfrm>
            <a:off x="786384" y="1975104"/>
            <a:ext cx="4919472" cy="4114800"/>
          </a:xfrm>
          <a:prstGeom prst="rect">
            <a:avLst/>
          </a:prstGeom>
          <a:noFill/>
          <a:ln/>
        </p:spPr>
        <p:txBody>
          <a:bodyPr wrap="square" lIns="0" tIns="0" rIns="0" bIns="0" rtlCol="0" anchor="t"/>
          <a:lstStyle/>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Determine the classification and product code</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The class is assigned by regulation for the device type. Find the regulation and read the special controls that come with it — they are requirements, not guidance.</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Decide the route</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510(k), De Novo where there is no predicate, or PMA. Consider a pre-submission meeting where the route or the evidence is genuinely uncertain.</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Design controls and the quality system</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In place before you submit, not after. Design history file, risk management, verification and validation.</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Human factors where the use is demanding</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For devices where use error carries risk, expect usability evidence to be part of the package.</a:t>
            </a:r>
            <a:endParaRPr lang="en-US" sz="1080" dirty="0"/>
          </a:p>
        </p:txBody>
      </p:sp>
      <p:sp>
        <p:nvSpPr>
          <p:cNvPr id="9" name="Text 7"/>
          <p:cNvSpPr txBox="1"/>
          <p:nvPr/>
        </p:nvSpPr>
        <p:spPr>
          <a:xfrm>
            <a:off x="6245352" y="1481328"/>
            <a:ext cx="5394960" cy="256032"/>
          </a:xfrm>
          <a:prstGeom prst="rect">
            <a:avLst/>
          </a:prstGeom>
          <a:noFill/>
          <a:ln/>
        </p:spPr>
        <p:txBody>
          <a:bodyPr wrap="square" lIns="0" tIns="0" rIns="0" bIns="0" rtlCol="0" anchor="ctr"/>
          <a:lstStyle/>
          <a:p>
            <a:pPr indent="0" marL="0">
              <a:buNone/>
            </a:pPr>
            <a:r>
              <a:rPr lang="en-US" sz="1100" b="1" spc="120" kern="0" dirty="0">
                <a:solidFill>
                  <a:srgbClr val="C77C1E"/>
                </a:solidFill>
                <a:latin typeface="Calibri" pitchFamily="34" charset="0"/>
                <a:ea typeface="Calibri" pitchFamily="34" charset="-122"/>
                <a:cs typeface="Calibri" pitchFamily="34" charset="-120"/>
              </a:rPr>
              <a:t>AFTER CLEARANCE — AND THESE NEVER STOP</a:t>
            </a:r>
            <a:endParaRPr lang="en-US" sz="1100" dirty="0"/>
          </a:p>
        </p:txBody>
      </p:sp>
      <p:sp>
        <p:nvSpPr>
          <p:cNvPr id="10" name="Shape 8"/>
          <p:cNvSpPr/>
          <p:nvPr/>
        </p:nvSpPr>
        <p:spPr>
          <a:xfrm>
            <a:off x="6245352" y="1792224"/>
            <a:ext cx="5394960" cy="4480560"/>
          </a:xfrm>
          <a:prstGeom prst="roundRect">
            <a:avLst>
              <a:gd name="adj" fmla="val 1429"/>
            </a:avLst>
          </a:prstGeom>
          <a:solidFill>
            <a:srgbClr val="FBF0E2"/>
          </a:solidFill>
          <a:ln w="12700">
            <a:solidFill>
              <a:srgbClr val="E3C893"/>
            </a:solidFill>
            <a:prstDash val="solid"/>
          </a:ln>
        </p:spPr>
      </p:sp>
      <p:sp>
        <p:nvSpPr>
          <p:cNvPr id="11" name="Text 9"/>
          <p:cNvSpPr txBox="1"/>
          <p:nvPr/>
        </p:nvSpPr>
        <p:spPr>
          <a:xfrm>
            <a:off x="6483096" y="1975104"/>
            <a:ext cx="4919472" cy="4114800"/>
          </a:xfrm>
          <a:prstGeom prst="rect">
            <a:avLst/>
          </a:prstGeom>
          <a:noFill/>
          <a:ln/>
        </p:spPr>
        <p:txBody>
          <a:bodyPr wrap="square" lIns="0" tIns="0" rIns="0" bIns="0" rtlCol="0" anchor="t"/>
          <a:lstStyle/>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Establishment registration and device listing</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Annual, with a fee, and a US Agent named if you are a foreign establishment.</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The Quality Management System Regulation</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21 CFR 820 now incorporates ISO 13485:2016. In force since 2 February 2026 — the substance largely carries over from the old QSR, the clause numbers you cite do not.</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UDI and the GUDID</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Device identifiers on labels and packaging, and data submitted to FDA's database.</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Medical Device Reporting and corrections</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Adverse event reporting under 21 CFR 803, and reporting of corrections and removals under 21 CFR 806.</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Deciding when a change needs a new 510(k)</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Documented for every significant change, and retained whether or not you conclude a submission is needed.</a:t>
            </a:r>
            <a:endParaRPr lang="en-US" sz="108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PMD ACT</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100" b="1" dirty="0">
                <a:solidFill>
                  <a:srgbClr val="1B3A4B"/>
                </a:solidFill>
                <a:latin typeface="Cambria" pitchFamily="34" charset="0"/>
                <a:ea typeface="Cambria" pitchFamily="34" charset="-122"/>
                <a:cs typeface="Cambria" pitchFamily="34" charset="-120"/>
              </a:rPr>
              <a:t>Japan: the route depends on your code</a:t>
            </a:r>
            <a:endParaRPr lang="en-US" sz="31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41</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The most structurally different of the four. Two things decide your path, and you control neither directly.</a:t>
            </a:r>
            <a:endParaRPr lang="en-US" sz="14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1847088"/>
          <a:ext cx="11094415" cy="914400"/>
        </p:xfrm>
        <a:graphic>
          <a:graphicData uri="http://schemas.openxmlformats.org/drawingml/2006/table">
            <a:tbl>
              <a:tblPr/>
              <a:tblGrid>
                <a:gridCol w="822960"/>
                <a:gridCol w="2743200"/>
                <a:gridCol w="4572000"/>
                <a:gridCol w="2953512"/>
              </a:tblGrid>
              <a:tr h="658368">
                <a:tc>
                  <a:txBody>
                    <a:bodyPr/>
                    <a:lstStyle/>
                    <a:p>
                      <a:pPr algn="l" indent="0" marL="0">
                        <a:buNone/>
                      </a:pPr>
                      <a:r>
                        <a:rPr lang="en-US" sz="920" b="1" dirty="0">
                          <a:solidFill>
                            <a:srgbClr val="FFFFFF"/>
                          </a:solidFill>
                          <a:latin typeface="Calibri" pitchFamily="34" charset="0"/>
                          <a:ea typeface="Calibri" pitchFamily="34" charset="-122"/>
                          <a:cs typeface="Calibri" pitchFamily="34" charset="-120"/>
                        </a:rPr>
                        <a:t>Class</a:t>
                      </a:r>
                      <a:endParaRPr lang="en-US" sz="92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920" b="1" dirty="0">
                          <a:solidFill>
                            <a:srgbClr val="FFFFFF"/>
                          </a:solidFill>
                          <a:latin typeface="Calibri" pitchFamily="34" charset="0"/>
                          <a:ea typeface="Calibri" pitchFamily="34" charset="-122"/>
                          <a:cs typeface="Calibri" pitchFamily="34" charset="-120"/>
                        </a:rPr>
                        <a:t>Regulatory category</a:t>
                      </a:r>
                      <a:endParaRPr lang="en-US" sz="92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920" b="1" dirty="0">
                          <a:solidFill>
                            <a:srgbClr val="FFFFFF"/>
                          </a:solidFill>
                          <a:latin typeface="Calibri" pitchFamily="34" charset="0"/>
                          <a:ea typeface="Calibri" pitchFamily="34" charset="-122"/>
                          <a:cs typeface="Calibri" pitchFamily="34" charset="-120"/>
                        </a:rPr>
                        <a:t>Premarket route</a:t>
                      </a:r>
                      <a:endParaRPr lang="en-US" sz="92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920" b="1" dirty="0">
                          <a:solidFill>
                            <a:srgbClr val="FFFFFF"/>
                          </a:solidFill>
                          <a:latin typeface="Calibri" pitchFamily="34" charset="0"/>
                          <a:ea typeface="Calibri" pitchFamily="34" charset="-122"/>
                          <a:cs typeface="Calibri" pitchFamily="34" charset="-120"/>
                        </a:rPr>
                        <a:t>Who decides</a:t>
                      </a:r>
                      <a:endParaRPr lang="en-US" sz="92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r>
              <a:tr h="658368">
                <a:tc>
                  <a:txBody>
                    <a:bodyPr/>
                    <a:lstStyle/>
                    <a:p>
                      <a:pPr algn="ctr" indent="0" marL="0">
                        <a:buNone/>
                      </a:pPr>
                      <a:r>
                        <a:rPr lang="en-US" sz="1440" b="1" dirty="0">
                          <a:solidFill>
                            <a:srgbClr val="FFFFFF"/>
                          </a:solidFill>
                          <a:latin typeface="Calibri" pitchFamily="34" charset="0"/>
                          <a:ea typeface="Calibri" pitchFamily="34" charset="-122"/>
                          <a:cs typeface="Calibri" pitchFamily="34" charset="-120"/>
                        </a:rPr>
                        <a:t>I</a:t>
                      </a:r>
                      <a:endParaRPr lang="en-US" sz="144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0E7C7B"/>
                    </a:solidFill>
                  </a:tcPr>
                </a:tc>
                <a:tc>
                  <a:txBody>
                    <a:bodyPr/>
                    <a:lstStyle/>
                    <a:p>
                      <a:pPr indent="0" marL="0">
                        <a:buNone/>
                      </a:pPr>
                      <a:r>
                        <a:rPr lang="en-US" sz="880" dirty="0">
                          <a:solidFill>
                            <a:srgbClr val="22333B"/>
                          </a:solidFill>
                          <a:latin typeface="Calibri" pitchFamily="34" charset="0"/>
                          <a:ea typeface="Calibri" pitchFamily="34" charset="-122"/>
                          <a:cs typeface="Calibri" pitchFamily="34" charset="-120"/>
                        </a:rPr>
                        <a:t>General medical device</a:t>
                      </a:r>
                      <a:endParaRPr lang="en-US" sz="88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880" b="1" dirty="0">
                          <a:solidFill>
                            <a:srgbClr val="22333B"/>
                          </a:solidFill>
                          <a:latin typeface="Calibri" pitchFamily="34" charset="0"/>
                          <a:ea typeface="Calibri" pitchFamily="34" charset="-122"/>
                          <a:cs typeface="Calibri" pitchFamily="34" charset="-120"/>
                        </a:rPr>
                        <a:t>Todokede — notification</a:t>
                      </a:r>
                      <a:endParaRPr lang="en-US" sz="88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840" dirty="0">
                          <a:solidFill>
                            <a:srgbClr val="22333B"/>
                          </a:solidFill>
                          <a:latin typeface="Calibri" pitchFamily="34" charset="0"/>
                          <a:ea typeface="Calibri" pitchFamily="34" charset="-122"/>
                          <a:cs typeface="Calibri" pitchFamily="34" charset="-120"/>
                        </a:rPr>
                        <a:t>Submitted to the PMDA</a:t>
                      </a:r>
                      <a:endParaRPr lang="en-US" sz="84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658368">
                <a:tc>
                  <a:txBody>
                    <a:bodyPr/>
                    <a:lstStyle/>
                    <a:p>
                      <a:pPr algn="ctr" indent="0" marL="0">
                        <a:buNone/>
                      </a:pPr>
                      <a:r>
                        <a:rPr lang="en-US" sz="1440" b="1" dirty="0">
                          <a:solidFill>
                            <a:srgbClr val="FFFFFF"/>
                          </a:solidFill>
                          <a:latin typeface="Calibri" pitchFamily="34" charset="0"/>
                          <a:ea typeface="Calibri" pitchFamily="34" charset="-122"/>
                          <a:cs typeface="Calibri" pitchFamily="34" charset="-120"/>
                        </a:rPr>
                        <a:t>II</a:t>
                      </a:r>
                      <a:endParaRPr lang="en-US" sz="144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A06318"/>
                    </a:solidFill>
                  </a:tcPr>
                </a:tc>
                <a:tc>
                  <a:txBody>
                    <a:bodyPr/>
                    <a:lstStyle/>
                    <a:p>
                      <a:pPr indent="0" marL="0">
                        <a:buNone/>
                      </a:pPr>
                      <a:r>
                        <a:rPr lang="en-US" sz="880" dirty="0">
                          <a:solidFill>
                            <a:srgbClr val="22333B"/>
                          </a:solidFill>
                          <a:latin typeface="Calibri" pitchFamily="34" charset="0"/>
                          <a:ea typeface="Calibri" pitchFamily="34" charset="-122"/>
                          <a:cs typeface="Calibri" pitchFamily="34" charset="-120"/>
                        </a:rPr>
                        <a:t>Controlled medical device</a:t>
                      </a:r>
                      <a:endParaRPr lang="en-US" sz="88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880" b="1" dirty="0">
                          <a:solidFill>
                            <a:srgbClr val="A83A3C"/>
                          </a:solidFill>
                          <a:latin typeface="Calibri" pitchFamily="34" charset="0"/>
                          <a:ea typeface="Calibri" pitchFamily="34" charset="-122"/>
                          <a:cs typeface="Calibri" pitchFamily="34" charset="-120"/>
                        </a:rPr>
                        <a:t>WITH a certification standard: Ninsho — certification.  WITHOUT one: Shonin — approval.</a:t>
                      </a:r>
                      <a:endParaRPr lang="en-US" sz="88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840" dirty="0">
                          <a:solidFill>
                            <a:srgbClr val="22333B"/>
                          </a:solidFill>
                          <a:latin typeface="Calibri" pitchFamily="34" charset="0"/>
                          <a:ea typeface="Calibri" pitchFamily="34" charset="-122"/>
                          <a:cs typeface="Calibri" pitchFamily="34" charset="-120"/>
                        </a:rPr>
                        <a:t>A Registered Certification Body, or MHLW on PMDA review</a:t>
                      </a:r>
                      <a:endParaRPr lang="en-US" sz="84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658368">
                <a:tc>
                  <a:txBody>
                    <a:bodyPr/>
                    <a:lstStyle/>
                    <a:p>
                      <a:pPr algn="ctr" indent="0" marL="0">
                        <a:buNone/>
                      </a:pPr>
                      <a:r>
                        <a:rPr lang="en-US" sz="1440" b="1" dirty="0">
                          <a:solidFill>
                            <a:srgbClr val="FFFFFF"/>
                          </a:solidFill>
                          <a:latin typeface="Calibri" pitchFamily="34" charset="0"/>
                          <a:ea typeface="Calibri" pitchFamily="34" charset="-122"/>
                          <a:cs typeface="Calibri" pitchFamily="34" charset="-120"/>
                        </a:rPr>
                        <a:t>III</a:t>
                      </a:r>
                      <a:endParaRPr lang="en-US" sz="144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B5762E"/>
                    </a:solidFill>
                  </a:tcPr>
                </a:tc>
                <a:tc>
                  <a:txBody>
                    <a:bodyPr/>
                    <a:lstStyle/>
                    <a:p>
                      <a:pPr indent="0" marL="0">
                        <a:buNone/>
                      </a:pPr>
                      <a:r>
                        <a:rPr lang="en-US" sz="880" dirty="0">
                          <a:solidFill>
                            <a:srgbClr val="22333B"/>
                          </a:solidFill>
                          <a:latin typeface="Calibri" pitchFamily="34" charset="0"/>
                          <a:ea typeface="Calibri" pitchFamily="34" charset="-122"/>
                          <a:cs typeface="Calibri" pitchFamily="34" charset="-120"/>
                        </a:rPr>
                        <a:t>Specially controlled medical device</a:t>
                      </a:r>
                      <a:endParaRPr lang="en-US" sz="88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880" dirty="0">
                          <a:solidFill>
                            <a:srgbClr val="22333B"/>
                          </a:solidFill>
                          <a:latin typeface="Calibri" pitchFamily="34" charset="0"/>
                          <a:ea typeface="Calibri" pitchFamily="34" charset="-122"/>
                          <a:cs typeface="Calibri" pitchFamily="34" charset="-120"/>
                        </a:rPr>
                        <a:t>The same split: Ninsho where a certification standard exists, otherwise Shonin</a:t>
                      </a:r>
                      <a:endParaRPr lang="en-US" sz="88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840" dirty="0">
                          <a:solidFill>
                            <a:srgbClr val="22333B"/>
                          </a:solidFill>
                          <a:latin typeface="Calibri" pitchFamily="34" charset="0"/>
                          <a:ea typeface="Calibri" pitchFamily="34" charset="-122"/>
                          <a:cs typeface="Calibri" pitchFamily="34" charset="-120"/>
                        </a:rPr>
                        <a:t>As above</a:t>
                      </a:r>
                      <a:endParaRPr lang="en-US" sz="84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658368">
                <a:tc>
                  <a:txBody>
                    <a:bodyPr/>
                    <a:lstStyle/>
                    <a:p>
                      <a:pPr algn="ctr" indent="0" marL="0">
                        <a:buNone/>
                      </a:pPr>
                      <a:r>
                        <a:rPr lang="en-US" sz="1440" b="1" dirty="0">
                          <a:solidFill>
                            <a:srgbClr val="FFFFFF"/>
                          </a:solidFill>
                          <a:latin typeface="Calibri" pitchFamily="34" charset="0"/>
                          <a:ea typeface="Calibri" pitchFamily="34" charset="-122"/>
                          <a:cs typeface="Calibri" pitchFamily="34" charset="-120"/>
                        </a:rPr>
                        <a:t>IV</a:t>
                      </a:r>
                      <a:endParaRPr lang="en-US" sz="144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A83A3C"/>
                    </a:solidFill>
                  </a:tcPr>
                </a:tc>
                <a:tc>
                  <a:txBody>
                    <a:bodyPr/>
                    <a:lstStyle/>
                    <a:p>
                      <a:pPr indent="0" marL="0">
                        <a:buNone/>
                      </a:pPr>
                      <a:r>
                        <a:rPr lang="en-US" sz="880" dirty="0">
                          <a:solidFill>
                            <a:srgbClr val="22333B"/>
                          </a:solidFill>
                          <a:latin typeface="Calibri" pitchFamily="34" charset="0"/>
                          <a:ea typeface="Calibri" pitchFamily="34" charset="-122"/>
                          <a:cs typeface="Calibri" pitchFamily="34" charset="-120"/>
                        </a:rPr>
                        <a:t>Specially controlled medical device</a:t>
                      </a:r>
                      <a:endParaRPr lang="en-US" sz="88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880" b="1" dirty="0">
                          <a:solidFill>
                            <a:srgbClr val="22333B"/>
                          </a:solidFill>
                          <a:latin typeface="Calibri" pitchFamily="34" charset="0"/>
                          <a:ea typeface="Calibri" pitchFamily="34" charset="-122"/>
                          <a:cs typeface="Calibri" pitchFamily="34" charset="-120"/>
                        </a:rPr>
                        <a:t>Shonin — approval</a:t>
                      </a:r>
                      <a:endParaRPr lang="en-US" sz="88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840" dirty="0">
                          <a:solidFill>
                            <a:srgbClr val="22333B"/>
                          </a:solidFill>
                          <a:latin typeface="Calibri" pitchFamily="34" charset="0"/>
                          <a:ea typeface="Calibri" pitchFamily="34" charset="-122"/>
                          <a:cs typeface="Calibri" pitchFamily="34" charset="-120"/>
                        </a:rPr>
                        <a:t>MHLW, on PMDA review</a:t>
                      </a:r>
                      <a:endParaRPr lang="en-US" sz="84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bl>
          </a:graphicData>
        </a:graphic>
      </p:graphicFrame>
      <p:sp>
        <p:nvSpPr>
          <p:cNvPr id="8" name="Shape 5"/>
          <p:cNvSpPr/>
          <p:nvPr/>
        </p:nvSpPr>
        <p:spPr>
          <a:xfrm>
            <a:off x="548640" y="5285232"/>
            <a:ext cx="11094415" cy="969264"/>
          </a:xfrm>
          <a:prstGeom prst="roundRect">
            <a:avLst>
              <a:gd name="adj" fmla="val 5660"/>
            </a:avLst>
          </a:prstGeom>
          <a:solidFill>
            <a:srgbClr val="EAF3F2"/>
          </a:solidFill>
          <a:ln w="12700">
            <a:solidFill>
              <a:srgbClr val="BFD9D6"/>
            </a:solidFill>
            <a:prstDash val="solid"/>
          </a:ln>
        </p:spPr>
      </p:sp>
      <p:sp>
        <p:nvSpPr>
          <p:cNvPr id="9" name="Text 6"/>
          <p:cNvSpPr txBox="1"/>
          <p:nvPr/>
        </p:nvSpPr>
        <p:spPr>
          <a:xfrm>
            <a:off x="786384" y="5285232"/>
            <a:ext cx="10618927" cy="969264"/>
          </a:xfrm>
          <a:prstGeom prst="rect">
            <a:avLst/>
          </a:prstGeom>
          <a:noFill/>
          <a:ln/>
        </p:spPr>
        <p:txBody>
          <a:bodyPr wrap="square" lIns="0" tIns="0" rIns="0" bIns="0" rtlCol="0" anchor="ctr"/>
          <a:lstStyle/>
          <a:p>
            <a:pPr indent="0" marL="0">
              <a:buNone/>
            </a:pPr>
            <a:r>
              <a:rPr lang="en-US" sz="1250" b="1" dirty="0">
                <a:solidFill>
                  <a:srgbClr val="1B3A4B"/>
                </a:solidFill>
                <a:latin typeface="Calibri" pitchFamily="34" charset="0"/>
                <a:ea typeface="Calibri" pitchFamily="34" charset="-122"/>
                <a:cs typeface="Calibri" pitchFamily="34" charset="-120"/>
              </a:rPr>
              <a:t>Both determinants are lookups, not arguments. Your class follows the JMDN code your device maps to; whether you get Ninsho or Shonin follows whether a certification standard exists for that code. Do this research first — it decides your timeline and your budget.</a:t>
            </a:r>
            <a:endParaRPr lang="en-US" sz="12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MAH, DMAH AND REGISTRATION</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Who holds what in Japan</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42</a:t>
            </a:r>
            <a:endParaRPr lang="en-US" sz="900" dirty="0"/>
          </a:p>
        </p:txBody>
      </p:sp>
      <p:sp>
        <p:nvSpPr>
          <p:cNvPr id="6" name="Shape 4"/>
          <p:cNvSpPr/>
          <p:nvPr/>
        </p:nvSpPr>
        <p:spPr>
          <a:xfrm>
            <a:off x="548640" y="1627632"/>
            <a:ext cx="5410048" cy="1682496"/>
          </a:xfrm>
          <a:prstGeom prst="roundRect">
            <a:avLst>
              <a:gd name="adj" fmla="val 3804"/>
            </a:avLst>
          </a:prstGeom>
          <a:solidFill>
            <a:srgbClr val="F1F5F6"/>
          </a:solidFill>
          <a:ln w="12700">
            <a:solidFill>
              <a:srgbClr val="D7E2E5"/>
            </a:solidFill>
            <a:prstDash val="solid"/>
          </a:ln>
        </p:spPr>
      </p:sp>
      <p:sp>
        <p:nvSpPr>
          <p:cNvPr id="7" name="Text 5"/>
          <p:cNvSpPr txBox="1"/>
          <p:nvPr/>
        </p:nvSpPr>
        <p:spPr>
          <a:xfrm>
            <a:off x="768096" y="1828800"/>
            <a:ext cx="4971136" cy="330200"/>
          </a:xfrm>
          <a:prstGeom prst="rect">
            <a:avLst/>
          </a:prstGeom>
          <a:noFill/>
          <a:ln/>
        </p:spPr>
        <p:txBody>
          <a:bodyPr wrap="square" lIns="0" tIns="0" rIns="0" bIns="0" rtlCol="0" anchor="t"/>
          <a:lstStyle/>
          <a:p>
            <a:pPr indent="0" marL="0">
              <a:buNone/>
            </a:pPr>
            <a:r>
              <a:rPr lang="en-US" sz="1550" b="1" dirty="0">
                <a:solidFill>
                  <a:srgbClr val="0E7C7B"/>
                </a:solidFill>
                <a:latin typeface="Calibri" pitchFamily="34" charset="0"/>
                <a:ea typeface="Calibri" pitchFamily="34" charset="-122"/>
                <a:cs typeface="Calibri" pitchFamily="34" charset="-120"/>
              </a:rPr>
              <a:t>The Marketing Authorization Holder</a:t>
            </a:r>
            <a:endParaRPr lang="en-US" sz="1550" dirty="0"/>
          </a:p>
        </p:txBody>
      </p:sp>
      <p:sp>
        <p:nvSpPr>
          <p:cNvPr id="8" name="Text 6"/>
          <p:cNvSpPr txBox="1"/>
          <p:nvPr/>
        </p:nvSpPr>
        <p:spPr>
          <a:xfrm>
            <a:off x="768096" y="2195576"/>
            <a:ext cx="4971136" cy="968248"/>
          </a:xfrm>
          <a:prstGeom prst="rect">
            <a:avLst/>
          </a:prstGeom>
          <a:noFill/>
          <a:ln/>
        </p:spPr>
        <p:txBody>
          <a:bodyPr wrap="square" lIns="0" tIns="0" rIns="0" bIns="0" rtlCol="0" anchor="t"/>
          <a:lstStyle/>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A company established in Japan holds the marketing authorisation and carries the quality and safety responsibility. A foreign manufacturer cannot hold it directly — there must be a Japanese entity.</a:t>
            </a:r>
            <a:endParaRPr lang="en-US" sz="1150" dirty="0"/>
          </a:p>
        </p:txBody>
      </p:sp>
      <p:sp>
        <p:nvSpPr>
          <p:cNvPr id="9" name="Shape 7"/>
          <p:cNvSpPr/>
          <p:nvPr/>
        </p:nvSpPr>
        <p:spPr>
          <a:xfrm>
            <a:off x="6233008" y="1627632"/>
            <a:ext cx="5410048" cy="1682496"/>
          </a:xfrm>
          <a:prstGeom prst="roundRect">
            <a:avLst>
              <a:gd name="adj" fmla="val 3804"/>
            </a:avLst>
          </a:prstGeom>
          <a:solidFill>
            <a:srgbClr val="F1F5F6"/>
          </a:solidFill>
          <a:ln w="12700">
            <a:solidFill>
              <a:srgbClr val="D7E2E5"/>
            </a:solidFill>
            <a:prstDash val="solid"/>
          </a:ln>
        </p:spPr>
      </p:sp>
      <p:sp>
        <p:nvSpPr>
          <p:cNvPr id="10" name="Text 8"/>
          <p:cNvSpPr txBox="1"/>
          <p:nvPr/>
        </p:nvSpPr>
        <p:spPr>
          <a:xfrm>
            <a:off x="6452464" y="1828800"/>
            <a:ext cx="4971136" cy="330200"/>
          </a:xfrm>
          <a:prstGeom prst="rect">
            <a:avLst/>
          </a:prstGeom>
          <a:noFill/>
          <a:ln/>
        </p:spPr>
        <p:txBody>
          <a:bodyPr wrap="square" lIns="0" tIns="0" rIns="0" bIns="0" rtlCol="0" anchor="t"/>
          <a:lstStyle/>
          <a:p>
            <a:pPr indent="0" marL="0">
              <a:buNone/>
            </a:pPr>
            <a:r>
              <a:rPr lang="en-US" sz="1550" b="1" dirty="0">
                <a:solidFill>
                  <a:srgbClr val="2A9D8F"/>
                </a:solidFill>
                <a:latin typeface="Calibri" pitchFamily="34" charset="0"/>
                <a:ea typeface="Calibri" pitchFamily="34" charset="-122"/>
                <a:cs typeface="Calibri" pitchFamily="34" charset="-120"/>
              </a:rPr>
              <a:t>The Designated MAH</a:t>
            </a:r>
            <a:endParaRPr lang="en-US" sz="1550" dirty="0"/>
          </a:p>
        </p:txBody>
      </p:sp>
      <p:sp>
        <p:nvSpPr>
          <p:cNvPr id="11" name="Text 9"/>
          <p:cNvSpPr txBox="1"/>
          <p:nvPr/>
        </p:nvSpPr>
        <p:spPr>
          <a:xfrm>
            <a:off x="6452464" y="2195576"/>
            <a:ext cx="4971136" cy="968248"/>
          </a:xfrm>
          <a:prstGeom prst="rect">
            <a:avLst/>
          </a:prstGeom>
          <a:noFill/>
          <a:ln/>
        </p:spPr>
        <p:txBody>
          <a:bodyPr wrap="square" lIns="0" tIns="0" rIns="0" bIns="0" rtlCol="0" anchor="t"/>
          <a:lstStyle/>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Where a foreign manufacturer does not have its own Japanese entity, a DMAH holds the authorisation on its behalf. Often a distributor or a specialist service provider — and the choice has long consequences.</a:t>
            </a:r>
            <a:endParaRPr lang="en-US" sz="1150" dirty="0"/>
          </a:p>
        </p:txBody>
      </p:sp>
      <p:sp>
        <p:nvSpPr>
          <p:cNvPr id="12" name="Shape 10"/>
          <p:cNvSpPr/>
          <p:nvPr/>
        </p:nvSpPr>
        <p:spPr>
          <a:xfrm>
            <a:off x="548640" y="3584448"/>
            <a:ext cx="5410048" cy="1682496"/>
          </a:xfrm>
          <a:prstGeom prst="roundRect">
            <a:avLst>
              <a:gd name="adj" fmla="val 3804"/>
            </a:avLst>
          </a:prstGeom>
          <a:solidFill>
            <a:srgbClr val="F1F5F6"/>
          </a:solidFill>
          <a:ln w="12700">
            <a:solidFill>
              <a:srgbClr val="D7E2E5"/>
            </a:solidFill>
            <a:prstDash val="solid"/>
          </a:ln>
        </p:spPr>
      </p:sp>
      <p:sp>
        <p:nvSpPr>
          <p:cNvPr id="13" name="Text 11"/>
          <p:cNvSpPr txBox="1"/>
          <p:nvPr/>
        </p:nvSpPr>
        <p:spPr>
          <a:xfrm>
            <a:off x="768096" y="3785616"/>
            <a:ext cx="4971136" cy="330200"/>
          </a:xfrm>
          <a:prstGeom prst="rect">
            <a:avLst/>
          </a:prstGeom>
          <a:noFill/>
          <a:ln/>
        </p:spPr>
        <p:txBody>
          <a:bodyPr wrap="square" lIns="0" tIns="0" rIns="0" bIns="0" rtlCol="0" anchor="t"/>
          <a:lstStyle/>
          <a:p>
            <a:pPr indent="0" marL="0">
              <a:buNone/>
            </a:pPr>
            <a:r>
              <a:rPr lang="en-US" sz="1550" b="1" dirty="0">
                <a:solidFill>
                  <a:srgbClr val="C77C1E"/>
                </a:solidFill>
                <a:latin typeface="Calibri" pitchFamily="34" charset="0"/>
                <a:ea typeface="Calibri" pitchFamily="34" charset="-122"/>
                <a:cs typeface="Calibri" pitchFamily="34" charset="-120"/>
              </a:rPr>
              <a:t>Foreign Manufacturer Registration</a:t>
            </a:r>
            <a:endParaRPr lang="en-US" sz="1550" dirty="0"/>
          </a:p>
        </p:txBody>
      </p:sp>
      <p:sp>
        <p:nvSpPr>
          <p:cNvPr id="14" name="Text 12"/>
          <p:cNvSpPr txBox="1"/>
          <p:nvPr/>
        </p:nvSpPr>
        <p:spPr>
          <a:xfrm>
            <a:off x="768096" y="4152392"/>
            <a:ext cx="4971136" cy="968248"/>
          </a:xfrm>
          <a:prstGeom prst="rect">
            <a:avLst/>
          </a:prstGeom>
          <a:noFill/>
          <a:ln/>
        </p:spPr>
        <p:txBody>
          <a:bodyPr wrap="square" lIns="0" tIns="0" rIns="0" bIns="0" rtlCol="0" anchor="t"/>
          <a:lstStyle/>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The overseas manufacturing site itself is registered with the Japanese authorities. A separate step from the product application, and one that runs in parallel rather than after it.</a:t>
            </a:r>
            <a:endParaRPr lang="en-US" sz="1150" dirty="0"/>
          </a:p>
        </p:txBody>
      </p:sp>
      <p:sp>
        <p:nvSpPr>
          <p:cNvPr id="15" name="Shape 13"/>
          <p:cNvSpPr/>
          <p:nvPr/>
        </p:nvSpPr>
        <p:spPr>
          <a:xfrm>
            <a:off x="6233008" y="3584448"/>
            <a:ext cx="5410048" cy="1682496"/>
          </a:xfrm>
          <a:prstGeom prst="roundRect">
            <a:avLst>
              <a:gd name="adj" fmla="val 3804"/>
            </a:avLst>
          </a:prstGeom>
          <a:solidFill>
            <a:srgbClr val="F1F5F6"/>
          </a:solidFill>
          <a:ln w="12700">
            <a:solidFill>
              <a:srgbClr val="D7E2E5"/>
            </a:solidFill>
            <a:prstDash val="solid"/>
          </a:ln>
        </p:spPr>
      </p:sp>
      <p:sp>
        <p:nvSpPr>
          <p:cNvPr id="16" name="Text 14"/>
          <p:cNvSpPr txBox="1"/>
          <p:nvPr/>
        </p:nvSpPr>
        <p:spPr>
          <a:xfrm>
            <a:off x="6452464" y="3785616"/>
            <a:ext cx="4971136" cy="330200"/>
          </a:xfrm>
          <a:prstGeom prst="rect">
            <a:avLst/>
          </a:prstGeom>
          <a:noFill/>
          <a:ln/>
        </p:spPr>
        <p:txBody>
          <a:bodyPr wrap="square" lIns="0" tIns="0" rIns="0" bIns="0" rtlCol="0" anchor="t"/>
          <a:lstStyle/>
          <a:p>
            <a:pPr indent="0" marL="0">
              <a:buNone/>
            </a:pPr>
            <a:r>
              <a:rPr lang="en-US" sz="1550" b="1" dirty="0">
                <a:solidFill>
                  <a:srgbClr val="A83A3C"/>
                </a:solidFill>
                <a:latin typeface="Calibri" pitchFamily="34" charset="0"/>
                <a:ea typeface="Calibri" pitchFamily="34" charset="-122"/>
                <a:cs typeface="Calibri" pitchFamily="34" charset="-120"/>
              </a:rPr>
              <a:t>QMS conformity</a:t>
            </a:r>
            <a:endParaRPr lang="en-US" sz="1550" dirty="0"/>
          </a:p>
        </p:txBody>
      </p:sp>
      <p:sp>
        <p:nvSpPr>
          <p:cNvPr id="17" name="Text 15"/>
          <p:cNvSpPr txBox="1"/>
          <p:nvPr/>
        </p:nvSpPr>
        <p:spPr>
          <a:xfrm>
            <a:off x="6452464" y="4152392"/>
            <a:ext cx="4971136" cy="968248"/>
          </a:xfrm>
          <a:prstGeom prst="rect">
            <a:avLst/>
          </a:prstGeom>
          <a:noFill/>
          <a:ln/>
        </p:spPr>
        <p:txBody>
          <a:bodyPr wrap="square" lIns="0" tIns="0" rIns="0" bIns="0" rtlCol="0" anchor="t"/>
          <a:lstStyle/>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Assessed against the Japanese QMS Ordinance, which is built on ISO 13485 with Japan-specific additions. Conformity is confirmed on a cycle, not once.</a:t>
            </a:r>
            <a:endParaRPr lang="en-US" sz="1150" dirty="0"/>
          </a:p>
        </p:txBody>
      </p:sp>
      <p:sp>
        <p:nvSpPr>
          <p:cNvPr id="18" name="Shape 16"/>
          <p:cNvSpPr/>
          <p:nvPr/>
        </p:nvSpPr>
        <p:spPr>
          <a:xfrm>
            <a:off x="548640" y="5376672"/>
            <a:ext cx="11094415" cy="877824"/>
          </a:xfrm>
          <a:prstGeom prst="roundRect">
            <a:avLst>
              <a:gd name="adj" fmla="val 6250"/>
            </a:avLst>
          </a:prstGeom>
          <a:solidFill>
            <a:srgbClr val="FBEDED"/>
          </a:solidFill>
          <a:ln w="12700">
            <a:solidFill>
              <a:srgbClr val="DFA9A9"/>
            </a:solidFill>
            <a:prstDash val="solid"/>
          </a:ln>
        </p:spPr>
      </p:sp>
      <p:sp>
        <p:nvSpPr>
          <p:cNvPr id="19" name="Text 17"/>
          <p:cNvSpPr txBox="1"/>
          <p:nvPr/>
        </p:nvSpPr>
        <p:spPr>
          <a:xfrm>
            <a:off x="786384" y="5376672"/>
            <a:ext cx="10618927" cy="877824"/>
          </a:xfrm>
          <a:prstGeom prst="rect">
            <a:avLst/>
          </a:prstGeom>
          <a:noFill/>
          <a:ln/>
        </p:spPr>
        <p:txBody>
          <a:bodyPr wrap="square" lIns="0" tIns="0" rIns="0" bIns="0" rtlCol="0" anchor="ctr"/>
          <a:lstStyle/>
          <a:p>
            <a:pPr indent="0" marL="0">
              <a:buNone/>
            </a:pPr>
            <a:r>
              <a:rPr lang="en-US" sz="1250" b="1" dirty="0">
                <a:solidFill>
                  <a:srgbClr val="7A2A2B"/>
                </a:solidFill>
                <a:latin typeface="Calibri" pitchFamily="34" charset="0"/>
                <a:ea typeface="Calibri" pitchFamily="34" charset="-122"/>
                <a:cs typeface="Calibri" pitchFamily="34" charset="-120"/>
              </a:rPr>
              <a:t>The commercial trap: if your distributor is your DMAH, your market authorisation sits with your distributor. Negotiate transfer terms at the start of the relationship, not when you want to change partner.</a:t>
            </a:r>
            <a:endParaRPr lang="en-US" sz="12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PRACTICALITIES</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Japan: evidence, language and getting paid</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43</a:t>
            </a:r>
            <a:endParaRPr lang="en-US" sz="900" dirty="0"/>
          </a:p>
        </p:txBody>
      </p:sp>
      <p:sp>
        <p:nvSpPr>
          <p:cNvPr id="6" name="Shape 4"/>
          <p:cNvSpPr/>
          <p:nvPr/>
        </p:nvSpPr>
        <p:spPr>
          <a:xfrm>
            <a:off x="548640" y="1627632"/>
            <a:ext cx="5410048" cy="1773936"/>
          </a:xfrm>
          <a:prstGeom prst="roundRect">
            <a:avLst>
              <a:gd name="adj" fmla="val 3608"/>
            </a:avLst>
          </a:prstGeom>
          <a:solidFill>
            <a:srgbClr val="F1F5F6"/>
          </a:solidFill>
          <a:ln w="12700">
            <a:solidFill>
              <a:srgbClr val="D7E2E5"/>
            </a:solidFill>
            <a:prstDash val="solid"/>
          </a:ln>
        </p:spPr>
      </p:sp>
      <p:sp>
        <p:nvSpPr>
          <p:cNvPr id="7" name="Shape 5"/>
          <p:cNvSpPr/>
          <p:nvPr/>
        </p:nvSpPr>
        <p:spPr>
          <a:xfrm>
            <a:off x="768096" y="1828800"/>
            <a:ext cx="365760" cy="365760"/>
          </a:xfrm>
          <a:prstGeom prst="ellipse">
            <a:avLst/>
          </a:prstGeom>
          <a:solidFill>
            <a:srgbClr val="0E7C7B"/>
          </a:solidFill>
          <a:ln w="12700">
            <a:solidFill>
              <a:srgbClr val="0E7C7B"/>
            </a:solidFill>
            <a:prstDash val="solid"/>
          </a:ln>
        </p:spPr>
      </p:sp>
      <p:sp>
        <p:nvSpPr>
          <p:cNvPr id="8" name="Text 6"/>
          <p:cNvSpPr txBox="1"/>
          <p:nvPr/>
        </p:nvSpPr>
        <p:spPr>
          <a:xfrm>
            <a:off x="768096" y="18288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768096" y="2304288"/>
            <a:ext cx="4971136" cy="508000"/>
          </a:xfrm>
          <a:prstGeom prst="rect">
            <a:avLst/>
          </a:prstGeom>
          <a:noFill/>
          <a:ln/>
        </p:spPr>
        <p:txBody>
          <a:bodyPr wrap="square" lIns="0" tIns="0" rIns="0" bIns="0" rtlCol="0" anchor="t"/>
          <a:lstStyle/>
          <a:p>
            <a:pPr indent="0" marL="0">
              <a:buNone/>
            </a:pPr>
            <a:r>
              <a:rPr lang="en-US" sz="1400" b="1" dirty="0">
                <a:solidFill>
                  <a:srgbClr val="1B3A4B"/>
                </a:solidFill>
                <a:latin typeface="Calibri" pitchFamily="34" charset="0"/>
                <a:ea typeface="Calibri" pitchFamily="34" charset="-122"/>
                <a:cs typeface="Calibri" pitchFamily="34" charset="-120"/>
              </a:rPr>
              <a:t>Foreign clinical data is accepted — conditionally</a:t>
            </a:r>
            <a:endParaRPr lang="en-US" sz="1400" dirty="0"/>
          </a:p>
        </p:txBody>
      </p:sp>
      <p:sp>
        <p:nvSpPr>
          <p:cNvPr id="10" name="Text 8"/>
          <p:cNvSpPr txBox="1"/>
          <p:nvPr/>
        </p:nvSpPr>
        <p:spPr>
          <a:xfrm>
            <a:off x="768096" y="2848864"/>
            <a:ext cx="4971136" cy="406400"/>
          </a:xfrm>
          <a:prstGeom prst="rect">
            <a:avLst/>
          </a:prstGeom>
          <a:noFill/>
          <a:ln/>
        </p:spPr>
        <p:txBody>
          <a:bodyPr wrap="square" lIns="0" tIns="0" rIns="0" bIns="0" rtlCol="0" anchor="t"/>
          <a:lstStyle/>
          <a:p>
            <a:pPr indent="0" marL="0">
              <a:lnSpc>
                <a:spcPct val="106000"/>
              </a:lnSpc>
              <a:buNone/>
            </a:pPr>
            <a:r>
              <a:rPr lang="en-US" sz="850" dirty="0">
                <a:solidFill>
                  <a:srgbClr val="22333B"/>
                </a:solidFill>
                <a:latin typeface="Calibri" pitchFamily="34" charset="0"/>
                <a:ea typeface="Calibri" pitchFamily="34" charset="-122"/>
                <a:cs typeface="Calibri" pitchFamily="34" charset="-120"/>
              </a:rPr>
              <a:t>Japan does accept data generated elsewhere. The question is whether differences in population, clinical practice or device use mean bridging data is needed. Ask that question early, because the answer can define your programme.</a:t>
            </a:r>
            <a:endParaRPr lang="en-US" sz="850" dirty="0"/>
          </a:p>
        </p:txBody>
      </p:sp>
      <p:sp>
        <p:nvSpPr>
          <p:cNvPr id="11" name="Shape 9"/>
          <p:cNvSpPr/>
          <p:nvPr/>
        </p:nvSpPr>
        <p:spPr>
          <a:xfrm>
            <a:off x="6233008" y="1627632"/>
            <a:ext cx="5410048" cy="1773936"/>
          </a:xfrm>
          <a:prstGeom prst="roundRect">
            <a:avLst>
              <a:gd name="adj" fmla="val 3608"/>
            </a:avLst>
          </a:prstGeom>
          <a:solidFill>
            <a:srgbClr val="F1F5F6"/>
          </a:solidFill>
          <a:ln w="12700">
            <a:solidFill>
              <a:srgbClr val="D7E2E5"/>
            </a:solidFill>
            <a:prstDash val="solid"/>
          </a:ln>
        </p:spPr>
      </p:sp>
      <p:sp>
        <p:nvSpPr>
          <p:cNvPr id="12" name="Shape 10"/>
          <p:cNvSpPr/>
          <p:nvPr/>
        </p:nvSpPr>
        <p:spPr>
          <a:xfrm>
            <a:off x="6452464" y="1828800"/>
            <a:ext cx="365760" cy="365760"/>
          </a:xfrm>
          <a:prstGeom prst="ellipse">
            <a:avLst/>
          </a:prstGeom>
          <a:solidFill>
            <a:srgbClr val="2A9D8F"/>
          </a:solidFill>
          <a:ln w="12700">
            <a:solidFill>
              <a:srgbClr val="2A9D8F"/>
            </a:solidFill>
            <a:prstDash val="solid"/>
          </a:ln>
        </p:spPr>
      </p:sp>
      <p:sp>
        <p:nvSpPr>
          <p:cNvPr id="13" name="Text 11"/>
          <p:cNvSpPr txBox="1"/>
          <p:nvPr/>
        </p:nvSpPr>
        <p:spPr>
          <a:xfrm>
            <a:off x="6452464" y="18288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6452464" y="2304288"/>
            <a:ext cx="4971136" cy="508000"/>
          </a:xfrm>
          <a:prstGeom prst="rect">
            <a:avLst/>
          </a:prstGeom>
          <a:noFill/>
          <a:ln/>
        </p:spPr>
        <p:txBody>
          <a:bodyPr wrap="square" lIns="0" tIns="0" rIns="0" bIns="0" rtlCol="0" anchor="t"/>
          <a:lstStyle/>
          <a:p>
            <a:pPr indent="0" marL="0">
              <a:buNone/>
            </a:pPr>
            <a:r>
              <a:rPr lang="en-US" sz="1400" b="1" dirty="0">
                <a:solidFill>
                  <a:srgbClr val="1B3A4B"/>
                </a:solidFill>
                <a:latin typeface="Calibri" pitchFamily="34" charset="0"/>
                <a:ea typeface="Calibri" pitchFamily="34" charset="-122"/>
                <a:cs typeface="Calibri" pitchFamily="34" charset="-120"/>
              </a:rPr>
              <a:t>Japanese is not optional</a:t>
            </a:r>
            <a:endParaRPr lang="en-US" sz="1400" dirty="0"/>
          </a:p>
        </p:txBody>
      </p:sp>
      <p:sp>
        <p:nvSpPr>
          <p:cNvPr id="15" name="Text 13"/>
          <p:cNvSpPr txBox="1"/>
          <p:nvPr/>
        </p:nvSpPr>
        <p:spPr>
          <a:xfrm>
            <a:off x="6452464" y="2848864"/>
            <a:ext cx="4971136" cy="406400"/>
          </a:xfrm>
          <a:prstGeom prst="rect">
            <a:avLst/>
          </a:prstGeom>
          <a:noFill/>
          <a:ln/>
        </p:spPr>
        <p:txBody>
          <a:bodyPr wrap="square" lIns="0" tIns="0" rIns="0" bIns="0" rtlCol="0" anchor="t"/>
          <a:lstStyle/>
          <a:p>
            <a:pPr indent="0" marL="0">
              <a:lnSpc>
                <a:spcPct val="106000"/>
              </a:lnSpc>
              <a:buNone/>
            </a:pPr>
            <a:r>
              <a:rPr lang="en-US" sz="850" dirty="0">
                <a:solidFill>
                  <a:srgbClr val="22333B"/>
                </a:solidFill>
                <a:latin typeface="Calibri" pitchFamily="34" charset="0"/>
                <a:ea typeface="Calibri" pitchFamily="34" charset="-122"/>
                <a:cs typeface="Calibri" pitchFamily="34" charset="-120"/>
              </a:rPr>
              <a:t>Labelling, instructions and the application itself are in Japanese. Specialist translation with regulatory consequence, not a localisation task.</a:t>
            </a:r>
            <a:endParaRPr lang="en-US" sz="850" dirty="0"/>
          </a:p>
        </p:txBody>
      </p:sp>
      <p:sp>
        <p:nvSpPr>
          <p:cNvPr id="16" name="Shape 14"/>
          <p:cNvSpPr/>
          <p:nvPr/>
        </p:nvSpPr>
        <p:spPr>
          <a:xfrm>
            <a:off x="548640" y="3675888"/>
            <a:ext cx="5410048" cy="1773936"/>
          </a:xfrm>
          <a:prstGeom prst="roundRect">
            <a:avLst>
              <a:gd name="adj" fmla="val 3608"/>
            </a:avLst>
          </a:prstGeom>
          <a:solidFill>
            <a:srgbClr val="F1F5F6"/>
          </a:solidFill>
          <a:ln w="12700">
            <a:solidFill>
              <a:srgbClr val="D7E2E5"/>
            </a:solidFill>
            <a:prstDash val="solid"/>
          </a:ln>
        </p:spPr>
      </p:sp>
      <p:sp>
        <p:nvSpPr>
          <p:cNvPr id="17" name="Shape 15"/>
          <p:cNvSpPr/>
          <p:nvPr/>
        </p:nvSpPr>
        <p:spPr>
          <a:xfrm>
            <a:off x="768096" y="3877056"/>
            <a:ext cx="365760" cy="365760"/>
          </a:xfrm>
          <a:prstGeom prst="ellipse">
            <a:avLst/>
          </a:prstGeom>
          <a:solidFill>
            <a:srgbClr val="C77C1E"/>
          </a:solidFill>
          <a:ln w="12700">
            <a:solidFill>
              <a:srgbClr val="C77C1E"/>
            </a:solidFill>
            <a:prstDash val="solid"/>
          </a:ln>
        </p:spPr>
      </p:sp>
      <p:sp>
        <p:nvSpPr>
          <p:cNvPr id="18" name="Text 16"/>
          <p:cNvSpPr txBox="1"/>
          <p:nvPr/>
        </p:nvSpPr>
        <p:spPr>
          <a:xfrm>
            <a:off x="768096" y="38770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768096" y="4352544"/>
            <a:ext cx="4971136" cy="508000"/>
          </a:xfrm>
          <a:prstGeom prst="rect">
            <a:avLst/>
          </a:prstGeom>
          <a:noFill/>
          <a:ln/>
        </p:spPr>
        <p:txBody>
          <a:bodyPr wrap="square" lIns="0" tIns="0" rIns="0" bIns="0" rtlCol="0" anchor="t"/>
          <a:lstStyle/>
          <a:p>
            <a:pPr indent="0" marL="0">
              <a:buNone/>
            </a:pPr>
            <a:r>
              <a:rPr lang="en-US" sz="1400" b="1" dirty="0">
                <a:solidFill>
                  <a:srgbClr val="1B3A4B"/>
                </a:solidFill>
                <a:latin typeface="Calibri" pitchFamily="34" charset="0"/>
                <a:ea typeface="Calibri" pitchFamily="34" charset="-122"/>
                <a:cs typeface="Calibri" pitchFamily="34" charset="-120"/>
              </a:rPr>
              <a:t>QMS conformity is assessed on a cycle</a:t>
            </a:r>
            <a:endParaRPr lang="en-US" sz="1400" dirty="0"/>
          </a:p>
        </p:txBody>
      </p:sp>
      <p:sp>
        <p:nvSpPr>
          <p:cNvPr id="20" name="Text 18"/>
          <p:cNvSpPr txBox="1"/>
          <p:nvPr/>
        </p:nvSpPr>
        <p:spPr>
          <a:xfrm>
            <a:off x="768096" y="4897120"/>
            <a:ext cx="4971136" cy="406400"/>
          </a:xfrm>
          <a:prstGeom prst="rect">
            <a:avLst/>
          </a:prstGeom>
          <a:noFill/>
          <a:ln/>
        </p:spPr>
        <p:txBody>
          <a:bodyPr wrap="square" lIns="0" tIns="0" rIns="0" bIns="0" rtlCol="0" anchor="t"/>
          <a:lstStyle/>
          <a:p>
            <a:pPr indent="0" marL="0">
              <a:lnSpc>
                <a:spcPct val="106000"/>
              </a:lnSpc>
              <a:buNone/>
            </a:pPr>
            <a:r>
              <a:rPr lang="en-US" sz="850" dirty="0">
                <a:solidFill>
                  <a:srgbClr val="22333B"/>
                </a:solidFill>
                <a:latin typeface="Calibri" pitchFamily="34" charset="0"/>
                <a:ea typeface="Calibri" pitchFamily="34" charset="-122"/>
                <a:cs typeface="Calibri" pitchFamily="34" charset="-120"/>
              </a:rPr>
              <a:t>Against the Japanese QMS Ordinance, which is ISO 13485 with additions. Plan for periodic re-confirmation rather than a one-time event.</a:t>
            </a:r>
            <a:endParaRPr lang="en-US" sz="850" dirty="0"/>
          </a:p>
        </p:txBody>
      </p:sp>
      <p:sp>
        <p:nvSpPr>
          <p:cNvPr id="21" name="Shape 19"/>
          <p:cNvSpPr/>
          <p:nvPr/>
        </p:nvSpPr>
        <p:spPr>
          <a:xfrm>
            <a:off x="6233008" y="3675888"/>
            <a:ext cx="5410048" cy="1773936"/>
          </a:xfrm>
          <a:prstGeom prst="roundRect">
            <a:avLst>
              <a:gd name="adj" fmla="val 3608"/>
            </a:avLst>
          </a:prstGeom>
          <a:solidFill>
            <a:srgbClr val="F1F5F6"/>
          </a:solidFill>
          <a:ln w="12700">
            <a:solidFill>
              <a:srgbClr val="D7E2E5"/>
            </a:solidFill>
            <a:prstDash val="solid"/>
          </a:ln>
        </p:spPr>
      </p:sp>
      <p:sp>
        <p:nvSpPr>
          <p:cNvPr id="22" name="Shape 20"/>
          <p:cNvSpPr/>
          <p:nvPr/>
        </p:nvSpPr>
        <p:spPr>
          <a:xfrm>
            <a:off x="6452464" y="3877056"/>
            <a:ext cx="365760" cy="365760"/>
          </a:xfrm>
          <a:prstGeom prst="ellipse">
            <a:avLst/>
          </a:prstGeom>
          <a:solidFill>
            <a:srgbClr val="A83A3C"/>
          </a:solidFill>
          <a:ln w="12700">
            <a:solidFill>
              <a:srgbClr val="A83A3C"/>
            </a:solidFill>
            <a:prstDash val="solid"/>
          </a:ln>
        </p:spPr>
      </p:sp>
      <p:sp>
        <p:nvSpPr>
          <p:cNvPr id="23" name="Text 21"/>
          <p:cNvSpPr txBox="1"/>
          <p:nvPr/>
        </p:nvSpPr>
        <p:spPr>
          <a:xfrm>
            <a:off x="6452464" y="38770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6452464" y="4352544"/>
            <a:ext cx="4971136" cy="508000"/>
          </a:xfrm>
          <a:prstGeom prst="rect">
            <a:avLst/>
          </a:prstGeom>
          <a:noFill/>
          <a:ln/>
        </p:spPr>
        <p:txBody>
          <a:bodyPr wrap="square" lIns="0" tIns="0" rIns="0" bIns="0" rtlCol="0" anchor="t"/>
          <a:lstStyle/>
          <a:p>
            <a:pPr indent="0" marL="0">
              <a:buNone/>
            </a:pPr>
            <a:r>
              <a:rPr lang="en-US" sz="1400" b="1" dirty="0">
                <a:solidFill>
                  <a:srgbClr val="1B3A4B"/>
                </a:solidFill>
                <a:latin typeface="Calibri" pitchFamily="34" charset="0"/>
                <a:ea typeface="Calibri" pitchFamily="34" charset="-122"/>
                <a:cs typeface="Calibri" pitchFamily="34" charset="-120"/>
              </a:rPr>
              <a:t>Approval is not reimbursement</a:t>
            </a:r>
            <a:endParaRPr lang="en-US" sz="1400" dirty="0"/>
          </a:p>
        </p:txBody>
      </p:sp>
      <p:sp>
        <p:nvSpPr>
          <p:cNvPr id="25" name="Text 23"/>
          <p:cNvSpPr txBox="1"/>
          <p:nvPr/>
        </p:nvSpPr>
        <p:spPr>
          <a:xfrm>
            <a:off x="6452464" y="4897120"/>
            <a:ext cx="4971136" cy="406400"/>
          </a:xfrm>
          <a:prstGeom prst="rect">
            <a:avLst/>
          </a:prstGeom>
          <a:noFill/>
          <a:ln/>
        </p:spPr>
        <p:txBody>
          <a:bodyPr wrap="square" lIns="0" tIns="0" rIns="0" bIns="0" rtlCol="0" anchor="t"/>
          <a:lstStyle/>
          <a:p>
            <a:pPr indent="0" marL="0">
              <a:lnSpc>
                <a:spcPct val="106000"/>
              </a:lnSpc>
              <a:buNone/>
            </a:pPr>
            <a:r>
              <a:rPr lang="en-US" sz="850" dirty="0">
                <a:solidFill>
                  <a:srgbClr val="22333B"/>
                </a:solidFill>
                <a:latin typeface="Calibri" pitchFamily="34" charset="0"/>
                <a:ea typeface="Calibri" pitchFamily="34" charset="-122"/>
                <a:cs typeface="Calibri" pitchFamily="34" charset="-120"/>
              </a:rPr>
              <a:t>Approval and reimbursement are separate processes on separate clocks. A device that is approved but not reimbursed has regulatory access and no commercial access.</a:t>
            </a:r>
            <a:endParaRPr lang="en-US" sz="850" dirty="0"/>
          </a:p>
        </p:txBody>
      </p:sp>
      <p:sp>
        <p:nvSpPr>
          <p:cNvPr id="26" name="Shape 24"/>
          <p:cNvSpPr/>
          <p:nvPr/>
        </p:nvSpPr>
        <p:spPr>
          <a:xfrm>
            <a:off x="548640" y="5559552"/>
            <a:ext cx="11094415" cy="694944"/>
          </a:xfrm>
          <a:prstGeom prst="roundRect">
            <a:avLst>
              <a:gd name="adj" fmla="val 7895"/>
            </a:avLst>
          </a:prstGeom>
          <a:solidFill>
            <a:srgbClr val="EAF3F2"/>
          </a:solidFill>
          <a:ln w="12700">
            <a:solidFill>
              <a:srgbClr val="BFD9D6"/>
            </a:solidFill>
            <a:prstDash val="solid"/>
          </a:ln>
        </p:spPr>
      </p:sp>
      <p:sp>
        <p:nvSpPr>
          <p:cNvPr id="27" name="Text 25"/>
          <p:cNvSpPr txBox="1"/>
          <p:nvPr/>
        </p:nvSpPr>
        <p:spPr>
          <a:xfrm>
            <a:off x="786384" y="5559552"/>
            <a:ext cx="10618927" cy="694944"/>
          </a:xfrm>
          <a:prstGeom prst="rect">
            <a:avLst/>
          </a:prstGeom>
          <a:noFill/>
          <a:ln/>
        </p:spPr>
        <p:txBody>
          <a:bodyPr wrap="square" lIns="0" tIns="0" rIns="0" bIns="0" rtlCol="0" anchor="ctr"/>
          <a:lstStyle/>
          <a:p>
            <a:pPr indent="0" marL="0">
              <a:buNone/>
            </a:pPr>
            <a:r>
              <a:rPr lang="en-US" sz="1250" b="1" dirty="0">
                <a:solidFill>
                  <a:srgbClr val="1B3A4B"/>
                </a:solidFill>
                <a:latin typeface="Calibri" pitchFamily="34" charset="0"/>
                <a:ea typeface="Calibri" pitchFamily="34" charset="-122"/>
                <a:cs typeface="Calibri" pitchFamily="34" charset="-120"/>
              </a:rPr>
              <a:t>Point 4 is the one that surprises people. Build the reimbursement pathway into the plan from the beginning — in Japan it is often the longer of the two clocks, and it is not the regulatory team's instinct to own it.</a:t>
            </a:r>
            <a:endParaRPr lang="en-US" sz="12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THE QMS LAYER</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100" b="1" dirty="0">
                <a:solidFill>
                  <a:srgbClr val="1B3A4B"/>
                </a:solidFill>
                <a:latin typeface="Cambria" pitchFamily="34" charset="0"/>
                <a:ea typeface="Cambria" pitchFamily="34" charset="-122"/>
                <a:cs typeface="Cambria" pitchFamily="34" charset="-120"/>
              </a:rPr>
              <a:t>One quality system, four audiences</a:t>
            </a:r>
            <a:endParaRPr lang="en-US" sz="31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44</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The good news of this whole session: you do not need four quality systems. You need one, built well, with four sets of additions.</a:t>
            </a:r>
            <a:endParaRPr lang="en-US" sz="14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1847088"/>
          <a:ext cx="11094415" cy="914400"/>
        </p:xfrm>
        <a:graphic>
          <a:graphicData uri="http://schemas.openxmlformats.org/drawingml/2006/table">
            <a:tbl>
              <a:tblPr/>
              <a:tblGrid>
                <a:gridCol w="1828800"/>
                <a:gridCol w="3657600"/>
                <a:gridCol w="2468880"/>
                <a:gridCol w="3136392"/>
              </a:tblGrid>
              <a:tr h="653247">
                <a:tc>
                  <a:txBody>
                    <a:bodyPr/>
                    <a:lstStyle/>
                    <a:p>
                      <a:pPr algn="l" indent="0" marL="0">
                        <a:buNone/>
                      </a:pPr>
                      <a:r>
                        <a:rPr lang="en-US" sz="874" b="1" dirty="0">
                          <a:solidFill>
                            <a:srgbClr val="FFFFFF"/>
                          </a:solidFill>
                          <a:latin typeface="Calibri" pitchFamily="34" charset="0"/>
                          <a:ea typeface="Calibri" pitchFamily="34" charset="-122"/>
                          <a:cs typeface="Calibri" pitchFamily="34" charset="-120"/>
                        </a:rPr>
                        <a:t>Jurisdiction</a:t>
                      </a:r>
                      <a:endParaRPr lang="en-US" sz="87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874" b="1" dirty="0">
                          <a:solidFill>
                            <a:srgbClr val="FFFFFF"/>
                          </a:solidFill>
                          <a:latin typeface="Calibri" pitchFamily="34" charset="0"/>
                          <a:ea typeface="Calibri" pitchFamily="34" charset="-122"/>
                          <a:cs typeface="Calibri" pitchFamily="34" charset="-120"/>
                        </a:rPr>
                        <a:t>What is required</a:t>
                      </a:r>
                      <a:endParaRPr lang="en-US" sz="87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874" b="1" dirty="0">
                          <a:solidFill>
                            <a:srgbClr val="FFFFFF"/>
                          </a:solidFill>
                          <a:latin typeface="Calibri" pitchFamily="34" charset="0"/>
                          <a:ea typeface="Calibri" pitchFamily="34" charset="-122"/>
                          <a:cs typeface="Calibri" pitchFamily="34" charset="-120"/>
                        </a:rPr>
                        <a:t>How it is checked</a:t>
                      </a:r>
                      <a:endParaRPr lang="en-US" sz="87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874" b="1" dirty="0">
                          <a:solidFill>
                            <a:srgbClr val="FFFFFF"/>
                          </a:solidFill>
                          <a:latin typeface="Calibri" pitchFamily="34" charset="0"/>
                          <a:ea typeface="Calibri" pitchFamily="34" charset="-122"/>
                          <a:cs typeface="Calibri" pitchFamily="34" charset="-120"/>
                        </a:rPr>
                        <a:t>Does MDSAP help?</a:t>
                      </a:r>
                      <a:endParaRPr lang="en-US" sz="87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r>
              <a:tr h="653247">
                <a:tc>
                  <a:txBody>
                    <a:bodyPr/>
                    <a:lstStyle/>
                    <a:p>
                      <a:pPr indent="0" marL="0">
                        <a:buNone/>
                      </a:pPr>
                      <a:r>
                        <a:rPr lang="en-US" sz="874" b="1" dirty="0">
                          <a:solidFill>
                            <a:srgbClr val="FFFFFF"/>
                          </a:solidFill>
                          <a:latin typeface="Calibri" pitchFamily="34" charset="0"/>
                          <a:ea typeface="Calibri" pitchFamily="34" charset="-122"/>
                          <a:cs typeface="Calibri" pitchFamily="34" charset="-120"/>
                        </a:rPr>
                        <a:t>United States</a:t>
                      </a:r>
                      <a:endParaRPr lang="en-US" sz="87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0E7C7B"/>
                    </a:solidFill>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The Quality Management System Regulation — 21 CFR 820, incorporating ISO 13485:2016</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FDA inspection</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b="1" dirty="0">
                          <a:solidFill>
                            <a:srgbClr val="0E7C7B"/>
                          </a:solidFill>
                          <a:latin typeface="Calibri" pitchFamily="34" charset="0"/>
                          <a:ea typeface="Calibri" pitchFamily="34" charset="-122"/>
                          <a:cs typeface="Calibri" pitchFamily="34" charset="-120"/>
                        </a:rPr>
                        <a:t>Yes — FDA accepts MDSAP audit reports in place of routine inspections</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653247">
                <a:tc>
                  <a:txBody>
                    <a:bodyPr/>
                    <a:lstStyle/>
                    <a:p>
                      <a:pPr indent="0" marL="0">
                        <a:buNone/>
                      </a:pPr>
                      <a:r>
                        <a:rPr lang="en-US" sz="874" b="1" dirty="0">
                          <a:solidFill>
                            <a:srgbClr val="FFFFFF"/>
                          </a:solidFill>
                          <a:latin typeface="Calibri" pitchFamily="34" charset="0"/>
                          <a:ea typeface="Calibri" pitchFamily="34" charset="-122"/>
                          <a:cs typeface="Calibri" pitchFamily="34" charset="-120"/>
                        </a:rPr>
                        <a:t>European Union</a:t>
                      </a:r>
                      <a:endParaRPr lang="en-US" sz="87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E7A6E"/>
                    </a:solidFill>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A QMS under MDR Article 10(9), in practice built on ISO 13485</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Notified body audit</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b="1" dirty="0">
                          <a:solidFill>
                            <a:srgbClr val="A83A3C"/>
                          </a:solidFill>
                          <a:latin typeface="Calibri" pitchFamily="34" charset="0"/>
                          <a:ea typeface="Calibri" pitchFamily="34" charset="-122"/>
                          <a:cs typeface="Calibri" pitchFamily="34" charset="-120"/>
                        </a:rPr>
                        <a:t>No — the EU is not an MDSAP participant. Your notified body audits you</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653247">
                <a:tc>
                  <a:txBody>
                    <a:bodyPr/>
                    <a:lstStyle/>
                    <a:p>
                      <a:pPr indent="0" marL="0">
                        <a:buNone/>
                      </a:pPr>
                      <a:r>
                        <a:rPr lang="en-US" sz="874" b="1" dirty="0">
                          <a:solidFill>
                            <a:srgbClr val="FFFFFF"/>
                          </a:solidFill>
                          <a:latin typeface="Calibri" pitchFamily="34" charset="0"/>
                          <a:ea typeface="Calibri" pitchFamily="34" charset="-122"/>
                          <a:cs typeface="Calibri" pitchFamily="34" charset="-120"/>
                        </a:rPr>
                        <a:t>Great Britain</a:t>
                      </a:r>
                      <a:endParaRPr lang="en-US" sz="87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A06318"/>
                    </a:solidFill>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Per the UK MDR 2002 route you take; ISO 13485 in practice</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UK Approved Body, where UKCA is pursued</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Not as a substitute. Check current MHRA policy</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653247">
                <a:tc>
                  <a:txBody>
                    <a:bodyPr/>
                    <a:lstStyle/>
                    <a:p>
                      <a:pPr indent="0" marL="0">
                        <a:buNone/>
                      </a:pPr>
                      <a:r>
                        <a:rPr lang="en-US" sz="874" b="1" dirty="0">
                          <a:solidFill>
                            <a:srgbClr val="FFFFFF"/>
                          </a:solidFill>
                          <a:latin typeface="Calibri" pitchFamily="34" charset="0"/>
                          <a:ea typeface="Calibri" pitchFamily="34" charset="-122"/>
                          <a:cs typeface="Calibri" pitchFamily="34" charset="-120"/>
                        </a:rPr>
                        <a:t>Japan</a:t>
                      </a:r>
                      <a:endParaRPr lang="en-US" sz="87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A83A3C"/>
                    </a:solidFill>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The QMS Ordinance — ISO 13485 with Japan-specific additions</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QMS conformity assessment, on a cycle</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b="1" dirty="0">
                          <a:solidFill>
                            <a:srgbClr val="22333B"/>
                          </a:solidFill>
                          <a:latin typeface="Calibri" pitchFamily="34" charset="0"/>
                          <a:ea typeface="Calibri" pitchFamily="34" charset="-122"/>
                          <a:cs typeface="Calibri" pitchFamily="34" charset="-120"/>
                        </a:rPr>
                        <a:t>Japan participates in MDSAP — but confirm what it covers for your route</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bl>
          </a:graphicData>
        </a:graphic>
      </p:graphicFrame>
      <p:sp>
        <p:nvSpPr>
          <p:cNvPr id="8" name="Shape 5"/>
          <p:cNvSpPr/>
          <p:nvPr/>
        </p:nvSpPr>
        <p:spPr>
          <a:xfrm>
            <a:off x="548640" y="5358384"/>
            <a:ext cx="11094415" cy="896112"/>
          </a:xfrm>
          <a:prstGeom prst="roundRect">
            <a:avLst>
              <a:gd name="adj" fmla="val 6122"/>
            </a:avLst>
          </a:prstGeom>
          <a:solidFill>
            <a:srgbClr val="EAF3F2"/>
          </a:solidFill>
          <a:ln w="12700">
            <a:solidFill>
              <a:srgbClr val="BFD9D6"/>
            </a:solidFill>
            <a:prstDash val="solid"/>
          </a:ln>
        </p:spPr>
      </p:sp>
      <p:sp>
        <p:nvSpPr>
          <p:cNvPr id="9" name="Text 6"/>
          <p:cNvSpPr txBox="1"/>
          <p:nvPr/>
        </p:nvSpPr>
        <p:spPr>
          <a:xfrm>
            <a:off x="786384" y="5358384"/>
            <a:ext cx="10618927" cy="896112"/>
          </a:xfrm>
          <a:prstGeom prst="rect">
            <a:avLst/>
          </a:prstGeom>
          <a:noFill/>
          <a:ln/>
        </p:spPr>
        <p:txBody>
          <a:bodyPr wrap="square" lIns="0" tIns="0" rIns="0" bIns="0" rtlCol="0" anchor="ctr"/>
          <a:lstStyle/>
          <a:p>
            <a:pPr indent="0" marL="0">
              <a:buNone/>
            </a:pPr>
            <a:r>
              <a:rPr lang="en-US" sz="1250" b="1" dirty="0">
                <a:solidFill>
                  <a:srgbClr val="1B3A4B"/>
                </a:solidFill>
                <a:latin typeface="Calibri" pitchFamily="34" charset="0"/>
                <a:ea typeface="Calibri" pitchFamily="34" charset="-122"/>
                <a:cs typeface="Calibri" pitchFamily="34" charset="-120"/>
              </a:rPr>
              <a:t>Build to ISO 13485 as the base, then layer the jurisdiction-specific additions on top. Building four systems is the most expensive mistake available in this room, and it is entirely avoidable.</a:t>
            </a:r>
            <a:endParaRPr lang="en-US" sz="12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STANDARDS AND EVIDENCE</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2900" b="1" dirty="0">
                <a:solidFill>
                  <a:srgbClr val="1B3A4B"/>
                </a:solidFill>
                <a:latin typeface="Cambria" pitchFamily="34" charset="0"/>
                <a:ea typeface="Cambria" pitchFamily="34" charset="-122"/>
                <a:cs typeface="Cambria" pitchFamily="34" charset="-120"/>
              </a:rPr>
              <a:t>Test once, file four times — with care</a:t>
            </a:r>
            <a:endParaRPr lang="en-US" sz="29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45</a:t>
            </a:r>
            <a:endParaRPr lang="en-US" sz="900" dirty="0"/>
          </a:p>
        </p:txBody>
      </p:sp>
      <p:sp>
        <p:nvSpPr>
          <p:cNvPr id="6" name="Text 4"/>
          <p:cNvSpPr txBox="1"/>
          <p:nvPr/>
        </p:nvSpPr>
        <p:spPr>
          <a:xfrm>
            <a:off x="548640" y="1481328"/>
            <a:ext cx="5394960" cy="256032"/>
          </a:xfrm>
          <a:prstGeom prst="rect">
            <a:avLst/>
          </a:prstGeom>
          <a:noFill/>
          <a:ln/>
        </p:spPr>
        <p:txBody>
          <a:bodyPr wrap="square" lIns="0" tIns="0" rIns="0" bIns="0" rtlCol="0" anchor="ctr"/>
          <a:lstStyle/>
          <a:p>
            <a:pPr indent="0" marL="0">
              <a:buNone/>
            </a:pPr>
            <a:r>
              <a:rPr lang="en-US" sz="1100" b="1" spc="120" kern="0" dirty="0">
                <a:solidFill>
                  <a:srgbClr val="0E7C7B"/>
                </a:solidFill>
                <a:latin typeface="Calibri" pitchFamily="34" charset="0"/>
                <a:ea typeface="Calibri" pitchFamily="34" charset="-122"/>
                <a:cs typeface="Calibri" pitchFamily="34" charset="-120"/>
              </a:rPr>
              <a:t>THE HORIZONTAL STANDARDS A CLASS II DEVICE USUALLY NEEDS</a:t>
            </a:r>
            <a:endParaRPr lang="en-US" sz="1100" dirty="0"/>
          </a:p>
        </p:txBody>
      </p:sp>
      <p:sp>
        <p:nvSpPr>
          <p:cNvPr id="7" name="Shape 5"/>
          <p:cNvSpPr/>
          <p:nvPr/>
        </p:nvSpPr>
        <p:spPr>
          <a:xfrm>
            <a:off x="548640" y="1792224"/>
            <a:ext cx="5394960" cy="4480560"/>
          </a:xfrm>
          <a:prstGeom prst="roundRect">
            <a:avLst>
              <a:gd name="adj" fmla="val 1429"/>
            </a:avLst>
          </a:prstGeom>
          <a:solidFill>
            <a:srgbClr val="F1F5F6"/>
          </a:solidFill>
          <a:ln w="12700">
            <a:solidFill>
              <a:srgbClr val="D7E2E5"/>
            </a:solidFill>
            <a:prstDash val="solid"/>
          </a:ln>
        </p:spPr>
      </p:sp>
      <p:sp>
        <p:nvSpPr>
          <p:cNvPr id="8" name="Text 6"/>
          <p:cNvSpPr txBox="1"/>
          <p:nvPr/>
        </p:nvSpPr>
        <p:spPr>
          <a:xfrm>
            <a:off x="786384" y="1975104"/>
            <a:ext cx="4919472" cy="4114800"/>
          </a:xfrm>
          <a:prstGeom prst="rect">
            <a:avLst/>
          </a:prstGeom>
          <a:noFill/>
          <a:ln/>
        </p:spPr>
        <p:txBody>
          <a:bodyPr wrap="square" lIns="0" tIns="0" rIns="0" bIns="0" rtlCol="0" anchor="t"/>
          <a:lstStyle/>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ISO 14971 — risk management</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The foundation under all four regimes. One file, maintained across the lifecycle.</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ISO 10993 — biological evaluation</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Where the device contacts the patient. Test the final, sterilised product.</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IEC 60601 series — electrical equipment</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The general standard plus the collateral and particular standards that apply to your device type.</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IEC 62304 — software lifecycle</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And IEC 62366 for usability engineering where use error carries risk.</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Sterilisation, packaging and shelf life</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ISO 11135, 11137, 11607 and the stability programme behind your claimed shelf life.</a:t>
            </a:r>
            <a:endParaRPr lang="en-US" sz="1080" dirty="0"/>
          </a:p>
        </p:txBody>
      </p:sp>
      <p:sp>
        <p:nvSpPr>
          <p:cNvPr id="9" name="Text 7"/>
          <p:cNvSpPr txBox="1"/>
          <p:nvPr/>
        </p:nvSpPr>
        <p:spPr>
          <a:xfrm>
            <a:off x="6245352" y="1481328"/>
            <a:ext cx="5394960" cy="256032"/>
          </a:xfrm>
          <a:prstGeom prst="rect">
            <a:avLst/>
          </a:prstGeom>
          <a:noFill/>
          <a:ln/>
        </p:spPr>
        <p:txBody>
          <a:bodyPr wrap="square" lIns="0" tIns="0" rIns="0" bIns="0" rtlCol="0" anchor="ctr"/>
          <a:lstStyle/>
          <a:p>
            <a:pPr indent="0" marL="0">
              <a:buNone/>
            </a:pPr>
            <a:r>
              <a:rPr lang="en-US" sz="1100" b="1" spc="120" kern="0" dirty="0">
                <a:solidFill>
                  <a:srgbClr val="A83A3C"/>
                </a:solidFill>
                <a:latin typeface="Calibri" pitchFamily="34" charset="0"/>
                <a:ea typeface="Calibri" pitchFamily="34" charset="-122"/>
                <a:cs typeface="Calibri" pitchFamily="34" charset="-120"/>
              </a:rPr>
              <a:t>WHY “TEST ONCE” NEEDS THE QUALIFIER</a:t>
            </a:r>
            <a:endParaRPr lang="en-US" sz="1100" dirty="0"/>
          </a:p>
        </p:txBody>
      </p:sp>
      <p:sp>
        <p:nvSpPr>
          <p:cNvPr id="10" name="Shape 8"/>
          <p:cNvSpPr/>
          <p:nvPr/>
        </p:nvSpPr>
        <p:spPr>
          <a:xfrm>
            <a:off x="6245352" y="1792224"/>
            <a:ext cx="5394960" cy="4480560"/>
          </a:xfrm>
          <a:prstGeom prst="roundRect">
            <a:avLst>
              <a:gd name="adj" fmla="val 1429"/>
            </a:avLst>
          </a:prstGeom>
          <a:solidFill>
            <a:srgbClr val="FBEDED"/>
          </a:solidFill>
          <a:ln w="12700">
            <a:solidFill>
              <a:srgbClr val="DFA9A9"/>
            </a:solidFill>
            <a:prstDash val="solid"/>
          </a:ln>
        </p:spPr>
      </p:sp>
      <p:sp>
        <p:nvSpPr>
          <p:cNvPr id="11" name="Text 9"/>
          <p:cNvSpPr txBox="1"/>
          <p:nvPr/>
        </p:nvSpPr>
        <p:spPr>
          <a:xfrm>
            <a:off x="6483096" y="1975104"/>
            <a:ext cx="4919472" cy="4114800"/>
          </a:xfrm>
          <a:prstGeom prst="rect">
            <a:avLst/>
          </a:prstGeom>
          <a:noFill/>
          <a:ln/>
        </p:spPr>
        <p:txBody>
          <a:bodyPr wrap="square" lIns="0" tIns="0" rIns="0" bIns="0" rtlCol="0" anchor="t"/>
          <a:lstStyle/>
          <a:p>
            <a:pPr indent="0" marL="0">
              <a:lnSpc>
                <a:spcPct val="105000"/>
              </a:lnSpc>
              <a:buNone/>
            </a:pPr>
            <a:r>
              <a:rPr lang="en-US" sz="1150" b="1" dirty="0">
                <a:solidFill>
                  <a:srgbClr val="A83A3C"/>
                </a:solidFill>
                <a:latin typeface="Calibri" pitchFamily="34" charset="0"/>
                <a:ea typeface="Calibri" pitchFamily="34" charset="-122"/>
                <a:cs typeface="Calibri" pitchFamily="34" charset="-120"/>
              </a:rPr>
              <a:t>Each regulator maintains its own list of recognised or harmonised standards — and the lists are not synchronised.
</a:t>
            </a:r>
            <a:pPr indent="0" marL="0">
              <a:lnSpc>
                <a:spcPct val="105000"/>
              </a:lnSpc>
              <a:buNone/>
            </a:pPr>
            <a:r>
              <a:rPr lang="en-US" sz="1100" dirty="0">
                <a:solidFill>
                  <a:srgbClr val="22333B"/>
                </a:solidFill>
                <a:latin typeface="Calibri" pitchFamily="34" charset="0"/>
                <a:ea typeface="Calibri" pitchFamily="34" charset="-122"/>
                <a:cs typeface="Calibri" pitchFamily="34" charset="-120"/>
              </a:rPr>
              <a:t>The EU publishes harmonised standards giving presumption of conformity with the GSPRs. The FDA maintains its own recognised consensus standards list. Japan has its own. The editions each recognises can differ, and they change at different times.
</a:t>
            </a:r>
            <a:pPr indent="0" marL="0">
              <a:lnSpc>
                <a:spcPct val="105000"/>
              </a:lnSpc>
              <a:buNone/>
            </a:pPr>
            <a:r>
              <a:rPr lang="en-US" sz="1100" dirty="0">
                <a:solidFill>
                  <a:srgbClr val="22333B"/>
                </a:solidFill>
                <a:latin typeface="Calibri" pitchFamily="34" charset="0"/>
                <a:ea typeface="Calibri" pitchFamily="34" charset="-122"/>
                <a:cs typeface="Calibri" pitchFamily="34" charset="-120"/>
              </a:rPr>
              <a:t>So testing to the newest edition of a standard does not guarantee that the edition is the one a given regulator recognises — and testing to an older edition can leave you outside the harmonised list in Europe.
</a:t>
            </a:r>
            <a:pPr indent="0" marL="0">
              <a:lnSpc>
                <a:spcPct val="105000"/>
              </a:lnSpc>
              <a:buNone/>
            </a:pPr>
            <a:r>
              <a:rPr lang="en-US" sz="1100" b="1" dirty="0">
                <a:solidFill>
                  <a:srgbClr val="22333B"/>
                </a:solidFill>
                <a:latin typeface="Calibri" pitchFamily="34" charset="0"/>
                <a:ea typeface="Calibri" pitchFamily="34" charset="-122"/>
                <a:cs typeface="Calibri" pitchFamily="34" charset="-120"/>
              </a:rPr>
              <a:t>The practical rule: check every relevant recognised-standard list BEFORE you book the test, and record which edition you tested to and why. It is a one-hour check that protects a six-figure test programme.</a:t>
            </a:r>
            <a:endParaRPr lang="en-US" sz="11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3A2226"/>
        </a:solidFill>
      </p:bgPr>
    </p:bg>
    <p:spTree>
      <p:nvGrpSpPr>
        <p:cNvPr id="1" name=""/>
        <p:cNvGrpSpPr/>
        <p:nvPr/>
      </p:nvGrpSpPr>
      <p:grpSpPr>
        <a:xfrm>
          <a:off x="0" y="0"/>
          <a:ext cx="0" cy="0"/>
          <a:chOff x="0" y="0"/>
          <a:chExt cx="0" cy="0"/>
        </a:xfrm>
      </p:grpSpPr>
      <p:sp>
        <p:nvSpPr>
          <p:cNvPr id="2" name="Text 0"/>
          <p:cNvSpPr txBox="1"/>
          <p:nvPr/>
        </p:nvSpPr>
        <p:spPr>
          <a:xfrm>
            <a:off x="548640" y="402336"/>
            <a:ext cx="11094415" cy="310896"/>
          </a:xfrm>
          <a:prstGeom prst="rect">
            <a:avLst/>
          </a:prstGeom>
          <a:noFill/>
          <a:ln/>
        </p:spPr>
        <p:txBody>
          <a:bodyPr wrap="square" lIns="0" tIns="0" rIns="0" bIns="0" rtlCol="0" anchor="ctr"/>
          <a:lstStyle/>
          <a:p>
            <a:pPr indent="0" marL="0">
              <a:buNone/>
            </a:pPr>
            <a:r>
              <a:rPr lang="en-US" sz="1250" b="1" spc="200" kern="0" dirty="0">
                <a:solidFill>
                  <a:srgbClr val="E8A87C"/>
                </a:solidFill>
                <a:latin typeface="Calibri" pitchFamily="34" charset="0"/>
                <a:ea typeface="Calibri" pitchFamily="34" charset="-122"/>
                <a:cs typeface="Calibri" pitchFamily="34" charset="-120"/>
              </a:rPr>
              <a:t>WORKING SESSION TWO  ·  10 MINUTES  ·  TABLETOP</a:t>
            </a:r>
            <a:endParaRPr lang="en-US" sz="1250" dirty="0"/>
          </a:p>
        </p:txBody>
      </p:sp>
      <p:sp>
        <p:nvSpPr>
          <p:cNvPr id="3" name="Text 1"/>
          <p:cNvSpPr txBox="1"/>
          <p:nvPr/>
        </p:nvSpPr>
        <p:spPr>
          <a:xfrm>
            <a:off x="548640" y="749808"/>
            <a:ext cx="11094415" cy="56692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Eighteen months of runway</a:t>
            </a:r>
            <a:endParaRPr lang="en-US" sz="3200" dirty="0"/>
          </a:p>
        </p:txBody>
      </p:sp>
      <p:sp>
        <p:nvSpPr>
          <p:cNvPr id="4" name="Shape 2"/>
          <p:cNvSpPr/>
          <p:nvPr/>
        </p:nvSpPr>
        <p:spPr>
          <a:xfrm>
            <a:off x="548640" y="1426464"/>
            <a:ext cx="11094415" cy="1481328"/>
          </a:xfrm>
          <a:prstGeom prst="roundRect">
            <a:avLst>
              <a:gd name="adj" fmla="val 4321"/>
            </a:avLst>
          </a:prstGeom>
          <a:solidFill>
            <a:srgbClr val="4E2E33"/>
          </a:solidFill>
          <a:ln w="12700">
            <a:solidFill>
              <a:srgbClr val="6B4147"/>
            </a:solidFill>
            <a:prstDash val="solid"/>
          </a:ln>
        </p:spPr>
      </p:sp>
      <p:sp>
        <p:nvSpPr>
          <p:cNvPr id="5" name="Text 3"/>
          <p:cNvSpPr txBox="1"/>
          <p:nvPr/>
        </p:nvSpPr>
        <p:spPr>
          <a:xfrm>
            <a:off x="822960" y="1554480"/>
            <a:ext cx="10545775" cy="1243584"/>
          </a:xfrm>
          <a:prstGeom prst="rect">
            <a:avLst/>
          </a:prstGeom>
          <a:noFill/>
          <a:ln/>
        </p:spPr>
        <p:txBody>
          <a:bodyPr wrap="square" lIns="0" tIns="0" rIns="0" bIns="0" rtlCol="0" anchor="t"/>
          <a:lstStyle/>
          <a:p>
            <a:pPr indent="0" marL="0">
              <a:lnSpc>
                <a:spcPct val="104000"/>
              </a:lnSpc>
              <a:buNone/>
            </a:pPr>
            <a:r>
              <a:rPr lang="en-US" sz="1250" b="1" dirty="0">
                <a:solidFill>
                  <a:srgbClr val="FFFFFF"/>
                </a:solidFill>
                <a:latin typeface="Calibri" pitchFamily="34" charset="0"/>
                <a:ea typeface="Calibri" pitchFamily="34" charset="-122"/>
                <a:cs typeface="Calibri" pitchFamily="34" charset="-120"/>
              </a:rPr>
              <a:t>You are the regulatory lead. </a:t>
            </a:r>
            <a:pPr indent="0" marL="0">
              <a:lnSpc>
                <a:spcPct val="104000"/>
              </a:lnSpc>
              <a:buNone/>
            </a:pPr>
            <a:r>
              <a:rPr lang="en-US" sz="1250" dirty="0">
                <a:solidFill>
                  <a:srgbClr val="EBD8D8"/>
                </a:solidFill>
                <a:latin typeface="Calibri" pitchFamily="34" charset="0"/>
                <a:ea typeface="Calibri" pitchFamily="34" charset="-122"/>
                <a:cs typeface="Calibri" pitchFamily="34" charset="-120"/>
              </a:rPr>
              <a:t>Your company has the wearable monitor from the first session. It is cleared in the US and selling modestly. You have 18 months of runway, one regulatory hire you have not yet made, and a board that wants international revenue in this financial year.
</a:t>
            </a:r>
            <a:pPr indent="0" marL="0">
              <a:lnSpc>
                <a:spcPct val="104000"/>
              </a:lnSpc>
              <a:buNone/>
            </a:pPr>
            <a:r>
              <a:rPr lang="en-US" sz="1250" b="1" dirty="0">
                <a:solidFill>
                  <a:srgbClr val="F0C9C9"/>
                </a:solidFill>
                <a:latin typeface="Calibri" pitchFamily="34" charset="0"/>
                <a:ea typeface="Calibri" pitchFamily="34" charset="-122"/>
                <a:cs typeface="Calibri" pitchFamily="34" charset="-120"/>
              </a:rPr>
              <a:t>Your CEO has decided you will “do Europe, the UK and Japan”. Your clinical evidence is bench testing and a 60-patient usability study. You have no notified body contract. Your Japanese distributor has offered to act as DMAH “at no cost”.</a:t>
            </a:r>
            <a:endParaRPr lang="en-US" sz="1250" dirty="0"/>
          </a:p>
        </p:txBody>
      </p:sp>
      <p:sp>
        <p:nvSpPr>
          <p:cNvPr id="6" name="Shape 4"/>
          <p:cNvSpPr/>
          <p:nvPr/>
        </p:nvSpPr>
        <p:spPr>
          <a:xfrm>
            <a:off x="548640" y="3072384"/>
            <a:ext cx="3515258" cy="2615184"/>
          </a:xfrm>
          <a:prstGeom prst="roundRect">
            <a:avLst>
              <a:gd name="adj" fmla="val 2448"/>
            </a:avLst>
          </a:prstGeom>
          <a:solidFill>
            <a:srgbClr val="4E2E33"/>
          </a:solidFill>
          <a:ln w="12700">
            <a:solidFill>
              <a:srgbClr val="6B4147"/>
            </a:solidFill>
            <a:prstDash val="solid"/>
          </a:ln>
        </p:spPr>
      </p:sp>
      <p:sp>
        <p:nvSpPr>
          <p:cNvPr id="7" name="Text 5"/>
          <p:cNvSpPr txBox="1"/>
          <p:nvPr/>
        </p:nvSpPr>
        <p:spPr>
          <a:xfrm>
            <a:off x="786384" y="3236976"/>
            <a:ext cx="3039770" cy="237744"/>
          </a:xfrm>
          <a:prstGeom prst="rect">
            <a:avLst/>
          </a:prstGeom>
          <a:noFill/>
          <a:ln/>
        </p:spPr>
        <p:txBody>
          <a:bodyPr wrap="square" lIns="0" tIns="0" rIns="0" bIns="0" rtlCol="0" anchor="ctr"/>
          <a:lstStyle/>
          <a:p>
            <a:pPr indent="0" marL="0">
              <a:buNone/>
            </a:pPr>
            <a:r>
              <a:rPr lang="en-US" sz="1050" b="1" spc="140" kern="0" dirty="0">
                <a:solidFill>
                  <a:srgbClr val="E8A87C"/>
                </a:solidFill>
                <a:latin typeface="Calibri" pitchFamily="34" charset="0"/>
                <a:ea typeface="Calibri" pitchFamily="34" charset="-122"/>
                <a:cs typeface="Calibri" pitchFamily="34" charset="-120"/>
              </a:rPr>
              <a:t>ROUND 1</a:t>
            </a:r>
            <a:endParaRPr lang="en-US" sz="1050" dirty="0"/>
          </a:p>
        </p:txBody>
      </p:sp>
      <p:sp>
        <p:nvSpPr>
          <p:cNvPr id="8" name="Text 6"/>
          <p:cNvSpPr txBox="1"/>
          <p:nvPr/>
        </p:nvSpPr>
        <p:spPr>
          <a:xfrm>
            <a:off x="786384" y="3493008"/>
            <a:ext cx="303977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Sequence it</a:t>
            </a:r>
            <a:endParaRPr lang="en-US" sz="1500" dirty="0"/>
          </a:p>
        </p:txBody>
      </p:sp>
      <p:sp>
        <p:nvSpPr>
          <p:cNvPr id="9" name="Text 7"/>
          <p:cNvSpPr txBox="1"/>
          <p:nvPr/>
        </p:nvSpPr>
        <p:spPr>
          <a:xfrm>
            <a:off x="786384" y="3877056"/>
            <a:ext cx="3039770" cy="1700784"/>
          </a:xfrm>
          <a:prstGeom prst="rect">
            <a:avLst/>
          </a:prstGeom>
          <a:noFill/>
          <a:ln/>
        </p:spPr>
        <p:txBody>
          <a:bodyPr wrap="square" lIns="0" tIns="0" rIns="0" bIns="0" rtlCol="0" anchor="t"/>
          <a:lstStyle/>
          <a:p>
            <a:pPr marL="177800" indent="-177800">
              <a:lnSpc>
                <a:spcPct val="105000"/>
              </a:lnSpc>
              <a:spcAft>
                <a:spcPts val="900"/>
              </a:spcAft>
              <a:buSzPct val="100000"/>
              <a:buChar char="•"/>
            </a:pPr>
            <a:r>
              <a:rPr lang="en-US" sz="1100" dirty="0">
                <a:solidFill>
                  <a:srgbClr val="EBD8D8"/>
                </a:solidFill>
                <a:latin typeface="Calibri" pitchFamily="34" charset="0"/>
                <a:ea typeface="Calibri" pitchFamily="34" charset="-122"/>
                <a:cs typeface="Calibri" pitchFamily="34" charset="-120"/>
              </a:rPr>
              <a:t>Which market do you go for first, and why?</a:t>
            </a:r>
            <a:endParaRPr lang="en-US" sz="1100" dirty="0"/>
          </a:p>
          <a:p>
            <a:pPr marL="177800" indent="-177800">
              <a:lnSpc>
                <a:spcPct val="105000"/>
              </a:lnSpc>
              <a:spcAft>
                <a:spcPts val="900"/>
              </a:spcAft>
              <a:buSzPct val="100000"/>
              <a:buChar char="•"/>
            </a:pPr>
            <a:r>
              <a:rPr lang="en-US" sz="1100" dirty="0">
                <a:solidFill>
                  <a:srgbClr val="EBD8D8"/>
                </a:solidFill>
                <a:latin typeface="Calibri" pitchFamily="34" charset="0"/>
                <a:ea typeface="Calibri" pitchFamily="34" charset="-122"/>
                <a:cs typeface="Calibri" pitchFamily="34" charset="-120"/>
              </a:rPr>
              <a:t>What do you tell the board about revenue this year?</a:t>
            </a:r>
            <a:endParaRPr lang="en-US" sz="1100" dirty="0"/>
          </a:p>
          <a:p>
            <a:pPr marL="177800" indent="-177800">
              <a:lnSpc>
                <a:spcPct val="105000"/>
              </a:lnSpc>
              <a:spcAft>
                <a:spcPts val="900"/>
              </a:spcAft>
              <a:buSzPct val="100000"/>
              <a:buChar char="•"/>
            </a:pPr>
            <a:r>
              <a:rPr lang="en-US" sz="1100" dirty="0">
                <a:solidFill>
                  <a:srgbClr val="EBD8D8"/>
                </a:solidFill>
                <a:latin typeface="Calibri" pitchFamily="34" charset="0"/>
                <a:ea typeface="Calibri" pitchFamily="34" charset="-122"/>
                <a:cs typeface="Calibri" pitchFamily="34" charset="-120"/>
              </a:rPr>
              <a:t>What does your one hire need to be good at?</a:t>
            </a:r>
            <a:endParaRPr lang="en-US" sz="1100" dirty="0"/>
          </a:p>
        </p:txBody>
      </p:sp>
      <p:sp>
        <p:nvSpPr>
          <p:cNvPr id="10" name="Shape 8"/>
          <p:cNvSpPr/>
          <p:nvPr/>
        </p:nvSpPr>
        <p:spPr>
          <a:xfrm>
            <a:off x="4338218" y="3072384"/>
            <a:ext cx="3515258" cy="2615184"/>
          </a:xfrm>
          <a:prstGeom prst="roundRect">
            <a:avLst>
              <a:gd name="adj" fmla="val 2448"/>
            </a:avLst>
          </a:prstGeom>
          <a:solidFill>
            <a:srgbClr val="4E2E33"/>
          </a:solidFill>
          <a:ln w="12700">
            <a:solidFill>
              <a:srgbClr val="6B4147"/>
            </a:solidFill>
            <a:prstDash val="solid"/>
          </a:ln>
        </p:spPr>
      </p:sp>
      <p:sp>
        <p:nvSpPr>
          <p:cNvPr id="11" name="Text 9"/>
          <p:cNvSpPr txBox="1"/>
          <p:nvPr/>
        </p:nvSpPr>
        <p:spPr>
          <a:xfrm>
            <a:off x="4575962" y="3236976"/>
            <a:ext cx="3039770" cy="237744"/>
          </a:xfrm>
          <a:prstGeom prst="rect">
            <a:avLst/>
          </a:prstGeom>
          <a:noFill/>
          <a:ln/>
        </p:spPr>
        <p:txBody>
          <a:bodyPr wrap="square" lIns="0" tIns="0" rIns="0" bIns="0" rtlCol="0" anchor="ctr"/>
          <a:lstStyle/>
          <a:p>
            <a:pPr indent="0" marL="0">
              <a:buNone/>
            </a:pPr>
            <a:r>
              <a:rPr lang="en-US" sz="1050" b="1" spc="140" kern="0" dirty="0">
                <a:solidFill>
                  <a:srgbClr val="E8A87C"/>
                </a:solidFill>
                <a:latin typeface="Calibri" pitchFamily="34" charset="0"/>
                <a:ea typeface="Calibri" pitchFamily="34" charset="-122"/>
                <a:cs typeface="Calibri" pitchFamily="34" charset="-120"/>
              </a:rPr>
              <a:t>ROUND 2</a:t>
            </a:r>
            <a:endParaRPr lang="en-US" sz="1050" dirty="0"/>
          </a:p>
        </p:txBody>
      </p:sp>
      <p:sp>
        <p:nvSpPr>
          <p:cNvPr id="12" name="Text 10"/>
          <p:cNvSpPr txBox="1"/>
          <p:nvPr/>
        </p:nvSpPr>
        <p:spPr>
          <a:xfrm>
            <a:off x="4575962" y="3493008"/>
            <a:ext cx="303977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Find what breaks</a:t>
            </a:r>
            <a:endParaRPr lang="en-US" sz="1500" dirty="0"/>
          </a:p>
        </p:txBody>
      </p:sp>
      <p:sp>
        <p:nvSpPr>
          <p:cNvPr id="13" name="Text 11"/>
          <p:cNvSpPr txBox="1"/>
          <p:nvPr/>
        </p:nvSpPr>
        <p:spPr>
          <a:xfrm>
            <a:off x="4575962" y="3877056"/>
            <a:ext cx="3039770" cy="1700784"/>
          </a:xfrm>
          <a:prstGeom prst="rect">
            <a:avLst/>
          </a:prstGeom>
          <a:noFill/>
          <a:ln/>
        </p:spPr>
        <p:txBody>
          <a:bodyPr wrap="square" lIns="0" tIns="0" rIns="0" bIns="0" rtlCol="0" anchor="t"/>
          <a:lstStyle/>
          <a:p>
            <a:pPr marL="177800" indent="-177800">
              <a:lnSpc>
                <a:spcPct val="105000"/>
              </a:lnSpc>
              <a:spcAft>
                <a:spcPts val="900"/>
              </a:spcAft>
              <a:buSzPct val="100000"/>
              <a:buChar char="•"/>
            </a:pPr>
            <a:r>
              <a:rPr lang="en-US" sz="1100" dirty="0">
                <a:solidFill>
                  <a:srgbClr val="EBD8D8"/>
                </a:solidFill>
                <a:latin typeface="Calibri" pitchFamily="34" charset="0"/>
                <a:ea typeface="Calibri" pitchFamily="34" charset="-122"/>
                <a:cs typeface="Calibri" pitchFamily="34" charset="-120"/>
              </a:rPr>
              <a:t>Where does the clinical evidence fall short, and for which market?</a:t>
            </a:r>
            <a:endParaRPr lang="en-US" sz="1100" dirty="0"/>
          </a:p>
          <a:p>
            <a:pPr marL="177800" indent="-177800">
              <a:lnSpc>
                <a:spcPct val="105000"/>
              </a:lnSpc>
              <a:spcAft>
                <a:spcPts val="900"/>
              </a:spcAft>
              <a:buSzPct val="100000"/>
              <a:buChar char="•"/>
            </a:pPr>
            <a:r>
              <a:rPr lang="en-US" sz="1100" dirty="0">
                <a:solidFill>
                  <a:srgbClr val="EBD8D8"/>
                </a:solidFill>
                <a:latin typeface="Calibri" pitchFamily="34" charset="0"/>
                <a:ea typeface="Calibri" pitchFamily="34" charset="-122"/>
                <a:cs typeface="Calibri" pitchFamily="34" charset="-120"/>
              </a:rPr>
              <a:t>What is the earliest date you could realistically sell in the EU?</a:t>
            </a:r>
            <a:endParaRPr lang="en-US" sz="1100" dirty="0"/>
          </a:p>
          <a:p>
            <a:pPr marL="177800" indent="-177800">
              <a:lnSpc>
                <a:spcPct val="105000"/>
              </a:lnSpc>
              <a:spcAft>
                <a:spcPts val="900"/>
              </a:spcAft>
              <a:buSzPct val="100000"/>
              <a:buChar char="•"/>
            </a:pPr>
            <a:r>
              <a:rPr lang="en-US" sz="1100" dirty="0">
                <a:solidFill>
                  <a:srgbClr val="EBD8D8"/>
                </a:solidFill>
                <a:latin typeface="Calibri" pitchFamily="34" charset="0"/>
                <a:ea typeface="Calibri" pitchFamily="34" charset="-122"/>
                <a:cs typeface="Calibri" pitchFamily="34" charset="-120"/>
              </a:rPr>
              <a:t>What would you do about the UK, specifically?</a:t>
            </a:r>
            <a:endParaRPr lang="en-US" sz="1100" dirty="0"/>
          </a:p>
        </p:txBody>
      </p:sp>
      <p:sp>
        <p:nvSpPr>
          <p:cNvPr id="14" name="Shape 12"/>
          <p:cNvSpPr/>
          <p:nvPr/>
        </p:nvSpPr>
        <p:spPr>
          <a:xfrm>
            <a:off x="8127797" y="3072384"/>
            <a:ext cx="3515258" cy="2615184"/>
          </a:xfrm>
          <a:prstGeom prst="roundRect">
            <a:avLst>
              <a:gd name="adj" fmla="val 2448"/>
            </a:avLst>
          </a:prstGeom>
          <a:solidFill>
            <a:srgbClr val="4E2E33"/>
          </a:solidFill>
          <a:ln w="12700">
            <a:solidFill>
              <a:srgbClr val="6B4147"/>
            </a:solidFill>
            <a:prstDash val="solid"/>
          </a:ln>
        </p:spPr>
      </p:sp>
      <p:sp>
        <p:nvSpPr>
          <p:cNvPr id="15" name="Text 13"/>
          <p:cNvSpPr txBox="1"/>
          <p:nvPr/>
        </p:nvSpPr>
        <p:spPr>
          <a:xfrm>
            <a:off x="8365541" y="3236976"/>
            <a:ext cx="3039770" cy="237744"/>
          </a:xfrm>
          <a:prstGeom prst="rect">
            <a:avLst/>
          </a:prstGeom>
          <a:noFill/>
          <a:ln/>
        </p:spPr>
        <p:txBody>
          <a:bodyPr wrap="square" lIns="0" tIns="0" rIns="0" bIns="0" rtlCol="0" anchor="ctr"/>
          <a:lstStyle/>
          <a:p>
            <a:pPr indent="0" marL="0">
              <a:buNone/>
            </a:pPr>
            <a:r>
              <a:rPr lang="en-US" sz="1050" b="1" spc="140" kern="0" dirty="0">
                <a:solidFill>
                  <a:srgbClr val="E8A87C"/>
                </a:solidFill>
                <a:latin typeface="Calibri" pitchFamily="34" charset="0"/>
                <a:ea typeface="Calibri" pitchFamily="34" charset="-122"/>
                <a:cs typeface="Calibri" pitchFamily="34" charset="-120"/>
              </a:rPr>
              <a:t>ROUND 3</a:t>
            </a:r>
            <a:endParaRPr lang="en-US" sz="1050" dirty="0"/>
          </a:p>
        </p:txBody>
      </p:sp>
      <p:sp>
        <p:nvSpPr>
          <p:cNvPr id="16" name="Text 14"/>
          <p:cNvSpPr txBox="1"/>
          <p:nvPr/>
        </p:nvSpPr>
        <p:spPr>
          <a:xfrm>
            <a:off x="8365541" y="3493008"/>
            <a:ext cx="303977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decisions you cannot reverse</a:t>
            </a:r>
            <a:endParaRPr lang="en-US" sz="1500" dirty="0"/>
          </a:p>
        </p:txBody>
      </p:sp>
      <p:sp>
        <p:nvSpPr>
          <p:cNvPr id="17" name="Text 15"/>
          <p:cNvSpPr txBox="1"/>
          <p:nvPr/>
        </p:nvSpPr>
        <p:spPr>
          <a:xfrm>
            <a:off x="8365541" y="3877056"/>
            <a:ext cx="3039770" cy="1700784"/>
          </a:xfrm>
          <a:prstGeom prst="rect">
            <a:avLst/>
          </a:prstGeom>
          <a:noFill/>
          <a:ln/>
        </p:spPr>
        <p:txBody>
          <a:bodyPr wrap="square" lIns="0" tIns="0" rIns="0" bIns="0" rtlCol="0" anchor="t"/>
          <a:lstStyle/>
          <a:p>
            <a:pPr marL="177800" indent="-177800">
              <a:lnSpc>
                <a:spcPct val="105000"/>
              </a:lnSpc>
              <a:spcAft>
                <a:spcPts val="900"/>
              </a:spcAft>
              <a:buSzPct val="100000"/>
              <a:buChar char="•"/>
            </a:pPr>
            <a:r>
              <a:rPr lang="en-US" sz="1100" dirty="0">
                <a:solidFill>
                  <a:srgbClr val="EBD8D8"/>
                </a:solidFill>
                <a:latin typeface="Calibri" pitchFamily="34" charset="0"/>
                <a:ea typeface="Calibri" pitchFamily="34" charset="-122"/>
                <a:cs typeface="Calibri" pitchFamily="34" charset="-120"/>
              </a:rPr>
              <a:t>What do you say to the offer from the Japanese distributor?</a:t>
            </a:r>
            <a:endParaRPr lang="en-US" sz="1100" dirty="0"/>
          </a:p>
          <a:p>
            <a:pPr marL="177800" indent="-177800">
              <a:lnSpc>
                <a:spcPct val="105000"/>
              </a:lnSpc>
              <a:spcAft>
                <a:spcPts val="900"/>
              </a:spcAft>
              <a:buSzPct val="100000"/>
              <a:buChar char="•"/>
            </a:pPr>
            <a:r>
              <a:rPr lang="en-US" sz="1100" dirty="0">
                <a:solidFill>
                  <a:srgbClr val="EBD8D8"/>
                </a:solidFill>
                <a:latin typeface="Calibri" pitchFamily="34" charset="0"/>
                <a:ea typeface="Calibri" pitchFamily="34" charset="-122"/>
                <a:cs typeface="Calibri" pitchFamily="34" charset="-120"/>
              </a:rPr>
              <a:t>What must be decided in the next 30 days?</a:t>
            </a:r>
            <a:endParaRPr lang="en-US" sz="1100" dirty="0"/>
          </a:p>
          <a:p>
            <a:pPr marL="177800" indent="-177800">
              <a:lnSpc>
                <a:spcPct val="105000"/>
              </a:lnSpc>
              <a:spcAft>
                <a:spcPts val="900"/>
              </a:spcAft>
              <a:buSzPct val="100000"/>
              <a:buChar char="•"/>
            </a:pPr>
            <a:r>
              <a:rPr lang="en-US" sz="1100" dirty="0">
                <a:solidFill>
                  <a:srgbClr val="EBD8D8"/>
                </a:solidFill>
                <a:latin typeface="Calibri" pitchFamily="34" charset="0"/>
                <a:ea typeface="Calibri" pitchFamily="34" charset="-122"/>
                <a:cs typeface="Calibri" pitchFamily="34" charset="-120"/>
              </a:rPr>
              <a:t>What would you refuse to do, even under board pressure?</a:t>
            </a:r>
            <a:endParaRPr lang="en-US" sz="1100" dirty="0"/>
          </a:p>
        </p:txBody>
      </p:sp>
      <p:sp>
        <p:nvSpPr>
          <p:cNvPr id="18" name="Text 16"/>
          <p:cNvSpPr txBox="1"/>
          <p:nvPr/>
        </p:nvSpPr>
        <p:spPr>
          <a:xfrm>
            <a:off x="548640" y="5852160"/>
            <a:ext cx="11094415" cy="310896"/>
          </a:xfrm>
          <a:prstGeom prst="rect">
            <a:avLst/>
          </a:prstGeom>
          <a:noFill/>
          <a:ln/>
        </p:spPr>
        <p:txBody>
          <a:bodyPr wrap="square" lIns="0" tIns="0" rIns="0" bIns="0" rtlCol="0" anchor="ctr"/>
          <a:lstStyle/>
          <a:p>
            <a:pPr indent="0" marL="0">
              <a:buNone/>
            </a:pPr>
            <a:r>
              <a:rPr lang="en-US" sz="1150" i="1" dirty="0">
                <a:solidFill>
                  <a:srgbClr val="C9A9A9"/>
                </a:solidFill>
                <a:latin typeface="Calibri" pitchFamily="34" charset="0"/>
                <a:ea typeface="Calibri" pitchFamily="34" charset="-122"/>
                <a:cs typeface="Calibri" pitchFamily="34" charset="-120"/>
              </a:rPr>
              <a:t>Workbook page 9  ·  3 minutes per round  ·  I will call the rounds  ·  There is no clean answer here — I want the trade-off you are willing to defend</a:t>
            </a:r>
            <a:endParaRPr lang="en-US" sz="1150" dirty="0"/>
          </a:p>
        </p:txBody>
      </p:sp>
      <p:sp>
        <p:nvSpPr>
          <p:cNvPr id="19" name="Text 17"/>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8A6A6A"/>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2232E"/>
        </a:solidFill>
      </p:bgPr>
    </p:bg>
    <p:spTree>
      <p:nvGrpSpPr>
        <p:cNvPr id="1" name=""/>
        <p:cNvGrpSpPr/>
        <p:nvPr/>
      </p:nvGrpSpPr>
      <p:grpSpPr>
        <a:xfrm>
          <a:off x="0" y="0"/>
          <a:ext cx="0" cy="0"/>
          <a:chOff x="0" y="0"/>
          <a:chExt cx="0" cy="0"/>
        </a:xfrm>
      </p:grpSpPr>
      <p:sp>
        <p:nvSpPr>
          <p:cNvPr id="2" name="Text 0"/>
          <p:cNvSpPr txBox="1"/>
          <p:nvPr/>
        </p:nvSpPr>
        <p:spPr>
          <a:xfrm>
            <a:off x="548640" y="2057400"/>
            <a:ext cx="11094415" cy="292608"/>
          </a:xfrm>
          <a:prstGeom prst="rect">
            <a:avLst/>
          </a:prstGeom>
          <a:noFill/>
          <a:ln/>
        </p:spPr>
        <p:txBody>
          <a:bodyPr wrap="square" lIns="0" tIns="0" rIns="0" bIns="0" rtlCol="0" anchor="ctr"/>
          <a:lstStyle/>
          <a:p>
            <a:pPr indent="0" marL="0">
              <a:buNone/>
            </a:pPr>
            <a:r>
              <a:rPr lang="en-US" sz="1300" b="1" spc="220" kern="0" dirty="0">
                <a:solidFill>
                  <a:srgbClr val="2A9D8F"/>
                </a:solidFill>
                <a:latin typeface="Calibri" pitchFamily="34" charset="0"/>
                <a:ea typeface="Calibri" pitchFamily="34" charset="-122"/>
                <a:cs typeface="Calibri" pitchFamily="34" charset="-120"/>
              </a:rPr>
              <a:t>PART FIVE</a:t>
            </a:r>
            <a:endParaRPr lang="en-US" sz="1300" dirty="0"/>
          </a:p>
        </p:txBody>
      </p:sp>
      <p:sp>
        <p:nvSpPr>
          <p:cNvPr id="3" name="Text 1"/>
          <p:cNvSpPr txBox="1"/>
          <p:nvPr/>
        </p:nvSpPr>
        <p:spPr>
          <a:xfrm>
            <a:off x="548640" y="2450592"/>
            <a:ext cx="9692640" cy="11430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Making it work</a:t>
            </a:r>
            <a:endParaRPr lang="en-US" sz="4000" dirty="0"/>
          </a:p>
        </p:txBody>
      </p:sp>
      <p:sp>
        <p:nvSpPr>
          <p:cNvPr id="4" name="Text 2"/>
          <p:cNvSpPr txBox="1"/>
          <p:nvPr/>
        </p:nvSpPr>
        <p:spPr>
          <a:xfrm>
            <a:off x="548640" y="3657600"/>
            <a:ext cx="8961120" cy="822960"/>
          </a:xfrm>
          <a:prstGeom prst="rect">
            <a:avLst/>
          </a:prstGeom>
          <a:noFill/>
          <a:ln/>
        </p:spPr>
        <p:txBody>
          <a:bodyPr wrap="square" lIns="0" tIns="0" rIns="0" bIns="0" rtlCol="0" anchor="ctr"/>
          <a:lstStyle/>
          <a:p>
            <a:pPr indent="0" marL="0">
              <a:buNone/>
            </a:pPr>
            <a:r>
              <a:rPr lang="en-US" sz="1500" dirty="0">
                <a:solidFill>
                  <a:srgbClr val="BCCCD2"/>
                </a:solidFill>
                <a:latin typeface="Calibri" pitchFamily="34" charset="0"/>
                <a:ea typeface="Calibri" pitchFamily="34" charset="-122"/>
                <a:cs typeface="Calibri" pitchFamily="34" charset="-120"/>
              </a:rPr>
              <a:t>One file, four submissions, and the decisions that are expensive to reverse.</a:t>
            </a:r>
            <a:endParaRPr lang="en-US" sz="1500" dirty="0"/>
          </a:p>
        </p:txBody>
      </p:sp>
      <p:sp>
        <p:nvSpPr>
          <p:cNvPr id="5" name="Text 3"/>
          <p:cNvSpPr txBox="1"/>
          <p:nvPr/>
        </p:nvSpPr>
        <p:spPr>
          <a:xfrm>
            <a:off x="548640" y="4617720"/>
            <a:ext cx="5486400" cy="320040"/>
          </a:xfrm>
          <a:prstGeom prst="rect">
            <a:avLst/>
          </a:prstGeom>
          <a:noFill/>
          <a:ln/>
        </p:spPr>
        <p:txBody>
          <a:bodyPr wrap="square" lIns="0" tIns="0" rIns="0" bIns="0" rtlCol="0" anchor="ctr"/>
          <a:lstStyle/>
          <a:p>
            <a:pPr indent="0" marL="0">
              <a:buNone/>
            </a:pPr>
            <a:r>
              <a:rPr lang="en-US" sz="1200" b="1" spc="100" kern="0" dirty="0">
                <a:solidFill>
                  <a:srgbClr val="C77C1E"/>
                </a:solidFill>
                <a:latin typeface="Calibri" pitchFamily="34" charset="0"/>
                <a:ea typeface="Calibri" pitchFamily="34" charset="-122"/>
                <a:cs typeface="Calibri" pitchFamily="34" charset="-120"/>
              </a:rPr>
              <a:t>7 minutes</a:t>
            </a:r>
            <a:endParaRPr lang="en-US" sz="1200" dirty="0"/>
          </a:p>
        </p:txBody>
      </p:sp>
      <p:sp>
        <p:nvSpPr>
          <p:cNvPr id="6" name="Text 4"/>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809AA4"/>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COMPARISON</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100" b="1" dirty="0">
                <a:solidFill>
                  <a:srgbClr val="1B3A4B"/>
                </a:solidFill>
                <a:latin typeface="Cambria" pitchFamily="34" charset="0"/>
                <a:ea typeface="Cambria" pitchFamily="34" charset="-122"/>
                <a:cs typeface="Cambria" pitchFamily="34" charset="-120"/>
              </a:rPr>
              <a:t>The four markets, side by side</a:t>
            </a:r>
            <a:endParaRPr lang="en-US" sz="31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48</a:t>
            </a:r>
            <a:endParaRPr lang="en-US" sz="9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4415" cy="914400"/>
        </p:xfrm>
        <a:graphic>
          <a:graphicData uri="http://schemas.openxmlformats.org/drawingml/2006/table">
            <a:tbl>
              <a:tblPr/>
              <a:tblGrid>
                <a:gridCol w="1399032"/>
                <a:gridCol w="2423160"/>
                <a:gridCol w="2423160"/>
                <a:gridCol w="2423160"/>
                <a:gridCol w="2423160"/>
              </a:tblGrid>
              <a:tr h="384048">
                <a:tc>
                  <a:txBody>
                    <a:bodyPr/>
                    <a:lstStyle/>
                    <a:p>
                      <a:pPr algn="l" indent="0" marL="0">
                        <a:buNone/>
                      </a:pPr>
                      <a:endParaRPr lang="en-US" sz="96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966" b="1" dirty="0">
                          <a:solidFill>
                            <a:srgbClr val="FFFFFF"/>
                          </a:solidFill>
                          <a:latin typeface="Calibri" pitchFamily="34" charset="0"/>
                          <a:ea typeface="Calibri" pitchFamily="34" charset="-122"/>
                          <a:cs typeface="Calibri" pitchFamily="34" charset="-120"/>
                        </a:rPr>
                        <a:t>United States</a:t>
                      </a:r>
                      <a:endParaRPr lang="en-US" sz="96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966" b="1" dirty="0">
                          <a:solidFill>
                            <a:srgbClr val="FFFFFF"/>
                          </a:solidFill>
                          <a:latin typeface="Calibri" pitchFamily="34" charset="0"/>
                          <a:ea typeface="Calibri" pitchFamily="34" charset="-122"/>
                          <a:cs typeface="Calibri" pitchFamily="34" charset="-120"/>
                        </a:rPr>
                        <a:t>European Union</a:t>
                      </a:r>
                      <a:endParaRPr lang="en-US" sz="96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966" b="1" dirty="0">
                          <a:solidFill>
                            <a:srgbClr val="FFFFFF"/>
                          </a:solidFill>
                          <a:latin typeface="Calibri" pitchFamily="34" charset="0"/>
                          <a:ea typeface="Calibri" pitchFamily="34" charset="-122"/>
                          <a:cs typeface="Calibri" pitchFamily="34" charset="-120"/>
                        </a:rPr>
                        <a:t>Great Britain</a:t>
                      </a:r>
                      <a:endParaRPr lang="en-US" sz="96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966" b="1" dirty="0">
                          <a:solidFill>
                            <a:srgbClr val="FFFFFF"/>
                          </a:solidFill>
                          <a:latin typeface="Calibri" pitchFamily="34" charset="0"/>
                          <a:ea typeface="Calibri" pitchFamily="34" charset="-122"/>
                          <a:cs typeface="Calibri" pitchFamily="34" charset="-120"/>
                        </a:rPr>
                        <a:t>Japan</a:t>
                      </a:r>
                      <a:endParaRPr lang="en-US" sz="96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r>
              <a:tr h="384048">
                <a:tc>
                  <a:txBody>
                    <a:bodyPr/>
                    <a:lstStyle/>
                    <a:p>
                      <a:pPr indent="0" marL="0">
                        <a:buNone/>
                      </a:pPr>
                      <a:r>
                        <a:rPr lang="en-US" sz="840" b="1" dirty="0">
                          <a:solidFill>
                            <a:srgbClr val="1B3A4B"/>
                          </a:solidFill>
                          <a:latin typeface="Calibri" pitchFamily="34" charset="0"/>
                          <a:ea typeface="Calibri" pitchFamily="34" charset="-122"/>
                          <a:cs typeface="Calibri" pitchFamily="34" charset="-120"/>
                        </a:rPr>
                        <a:t>Class basis</a:t>
                      </a:r>
                      <a:endParaRPr lang="en-US" sz="84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Assigned by regulation per device type</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Derived from MDR Annex VIII rules</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Derived from MDD Annex IX rules</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Follows the JMDN code</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384048">
                <a:tc>
                  <a:txBody>
                    <a:bodyPr/>
                    <a:lstStyle/>
                    <a:p>
                      <a:pPr indent="0" marL="0">
                        <a:buNone/>
                      </a:pPr>
                      <a:r>
                        <a:rPr lang="en-US" sz="840" b="1" dirty="0">
                          <a:solidFill>
                            <a:srgbClr val="1B3A4B"/>
                          </a:solidFill>
                          <a:latin typeface="Calibri" pitchFamily="34" charset="0"/>
                          <a:ea typeface="Calibri" pitchFamily="34" charset="-122"/>
                          <a:cs typeface="Calibri" pitchFamily="34" charset="-120"/>
                        </a:rPr>
                        <a:t>Who assesses</a:t>
                      </a:r>
                      <a:endParaRPr lang="en-US" sz="84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FDA directly</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A notified body</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A UK Approved Body</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A Registered Certification Body, or PMDA/MHLW</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384048">
                <a:tc>
                  <a:txBody>
                    <a:bodyPr/>
                    <a:lstStyle/>
                    <a:p>
                      <a:pPr indent="0" marL="0">
                        <a:buNone/>
                      </a:pPr>
                      <a:r>
                        <a:rPr lang="en-US" sz="840" b="1" dirty="0">
                          <a:solidFill>
                            <a:srgbClr val="1B3A4B"/>
                          </a:solidFill>
                          <a:latin typeface="Calibri" pitchFamily="34" charset="0"/>
                          <a:ea typeface="Calibri" pitchFamily="34" charset="-122"/>
                          <a:cs typeface="Calibri" pitchFamily="34" charset="-120"/>
                        </a:rPr>
                        <a:t>Premarket route</a:t>
                      </a:r>
                      <a:endParaRPr lang="en-US" sz="84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510(k), De Novo or PMA — or exempt</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Conformity assessment under Annex IX, X or XI</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b="1" dirty="0">
                          <a:solidFill>
                            <a:srgbClr val="22333B"/>
                          </a:solidFill>
                          <a:latin typeface="Calibri" pitchFamily="34" charset="0"/>
                          <a:ea typeface="Calibri" pitchFamily="34" charset="-122"/>
                          <a:cs typeface="Calibri" pitchFamily="34" charset="-120"/>
                        </a:rPr>
                        <a:t>UKCA — or rely on CE marking for now</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Todokede, Ninsho or Shonin</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384048">
                <a:tc>
                  <a:txBody>
                    <a:bodyPr/>
                    <a:lstStyle/>
                    <a:p>
                      <a:pPr indent="0" marL="0">
                        <a:buNone/>
                      </a:pPr>
                      <a:r>
                        <a:rPr lang="en-US" sz="840" b="1" dirty="0">
                          <a:solidFill>
                            <a:srgbClr val="1B3A4B"/>
                          </a:solidFill>
                          <a:latin typeface="Calibri" pitchFamily="34" charset="0"/>
                          <a:ea typeface="Calibri" pitchFamily="34" charset="-122"/>
                          <a:cs typeface="Calibri" pitchFamily="34" charset="-120"/>
                        </a:rPr>
                        <a:t>Core question</a:t>
                      </a:r>
                      <a:endParaRPr lang="en-US" sz="84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Substantially equivalent to a predicate?</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Does it meet the GSPRs?</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Does it meet the directive requirements?</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Does it meet the standard for its code?</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384048">
                <a:tc>
                  <a:txBody>
                    <a:bodyPr/>
                    <a:lstStyle/>
                    <a:p>
                      <a:pPr indent="0" marL="0">
                        <a:buNone/>
                      </a:pPr>
                      <a:r>
                        <a:rPr lang="en-US" sz="840" b="1" dirty="0">
                          <a:solidFill>
                            <a:srgbClr val="1B3A4B"/>
                          </a:solidFill>
                          <a:latin typeface="Calibri" pitchFamily="34" charset="0"/>
                          <a:ea typeface="Calibri" pitchFamily="34" charset="-122"/>
                          <a:cs typeface="Calibri" pitchFamily="34" charset="-120"/>
                        </a:rPr>
                        <a:t>Clinical evidence</a:t>
                      </a:r>
                      <a:endParaRPr lang="en-US" sz="84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Often none for a 510(k)</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b="1" dirty="0">
                          <a:solidFill>
                            <a:srgbClr val="A83A3C"/>
                          </a:solidFill>
                          <a:latin typeface="Calibri" pitchFamily="34" charset="0"/>
                          <a:ea typeface="Calibri" pitchFamily="34" charset="-122"/>
                          <a:cs typeface="Calibri" pitchFamily="34" charset="-120"/>
                        </a:rPr>
                        <a:t>Clinical evaluation for every device</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Directive-era expectations — lighter</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Foreign data accepted; bridging may be required</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384048">
                <a:tc>
                  <a:txBody>
                    <a:bodyPr/>
                    <a:lstStyle/>
                    <a:p>
                      <a:pPr indent="0" marL="0">
                        <a:buNone/>
                      </a:pPr>
                      <a:r>
                        <a:rPr lang="en-US" sz="840" b="1" dirty="0">
                          <a:solidFill>
                            <a:srgbClr val="1B3A4B"/>
                          </a:solidFill>
                          <a:latin typeface="Calibri" pitchFamily="34" charset="0"/>
                          <a:ea typeface="Calibri" pitchFamily="34" charset="-122"/>
                          <a:cs typeface="Calibri" pitchFamily="34" charset="-120"/>
                        </a:rPr>
                        <a:t>Local role</a:t>
                      </a:r>
                      <a:endParaRPr lang="en-US" sz="84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US Agent</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Authorised Representative — jointly liable</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UK Responsible Person</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b="1" dirty="0">
                          <a:solidFill>
                            <a:srgbClr val="22333B"/>
                          </a:solidFill>
                          <a:latin typeface="Calibri" pitchFamily="34" charset="0"/>
                          <a:ea typeface="Calibri" pitchFamily="34" charset="-122"/>
                          <a:cs typeface="Calibri" pitchFamily="34" charset="-120"/>
                        </a:rPr>
                        <a:t>MAH or DMAH — holds the authorisation</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384048">
                <a:tc>
                  <a:txBody>
                    <a:bodyPr/>
                    <a:lstStyle/>
                    <a:p>
                      <a:pPr indent="0" marL="0">
                        <a:buNone/>
                      </a:pPr>
                      <a:r>
                        <a:rPr lang="en-US" sz="840" b="1" dirty="0">
                          <a:solidFill>
                            <a:srgbClr val="1B3A4B"/>
                          </a:solidFill>
                          <a:latin typeface="Calibri" pitchFamily="34" charset="0"/>
                          <a:ea typeface="Calibri" pitchFamily="34" charset="-122"/>
                          <a:cs typeface="Calibri" pitchFamily="34" charset="-120"/>
                        </a:rPr>
                        <a:t>Registration</a:t>
                      </a:r>
                      <a:endParaRPr lang="en-US" sz="84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Establishment registration and listing, annual</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EUDAMED</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MHRA registration — whatever the marking</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Via the MAH</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384048">
                <a:tc>
                  <a:txBody>
                    <a:bodyPr/>
                    <a:lstStyle/>
                    <a:p>
                      <a:pPr indent="0" marL="0">
                        <a:buNone/>
                      </a:pPr>
                      <a:r>
                        <a:rPr lang="en-US" sz="840" b="1" dirty="0">
                          <a:solidFill>
                            <a:srgbClr val="1B3A4B"/>
                          </a:solidFill>
                          <a:latin typeface="Calibri" pitchFamily="34" charset="0"/>
                          <a:ea typeface="Calibri" pitchFamily="34" charset="-122"/>
                          <a:cs typeface="Calibri" pitchFamily="34" charset="-120"/>
                        </a:rPr>
                        <a:t>QMS</a:t>
                      </a:r>
                      <a:endParaRPr lang="en-US" sz="84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QMSR — 21 CFR 820 on ISO 13485</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MDR Article 10(9); ISO 13485 in practice</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Per the UK MDR route; ISO 13485</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QMS Ordinance — ISO 13485 plus additions</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384048">
                <a:tc>
                  <a:txBody>
                    <a:bodyPr/>
                    <a:lstStyle/>
                    <a:p>
                      <a:pPr indent="0" marL="0">
                        <a:buNone/>
                      </a:pPr>
                      <a:r>
                        <a:rPr lang="en-US" sz="840" b="1" dirty="0">
                          <a:solidFill>
                            <a:srgbClr val="1B3A4B"/>
                          </a:solidFill>
                          <a:latin typeface="Calibri" pitchFamily="34" charset="0"/>
                          <a:ea typeface="Calibri" pitchFamily="34" charset="-122"/>
                          <a:cs typeface="Calibri" pitchFamily="34" charset="-120"/>
                        </a:rPr>
                        <a:t>MDSAP accepted</a:t>
                      </a:r>
                      <a:endParaRPr lang="en-US" sz="84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798" b="1" dirty="0">
                          <a:solidFill>
                            <a:srgbClr val="0E7C7B"/>
                          </a:solidFill>
                          <a:latin typeface="Calibri" pitchFamily="34" charset="0"/>
                          <a:ea typeface="Calibri" pitchFamily="34" charset="-122"/>
                          <a:cs typeface="Calibri" pitchFamily="34" charset="-120"/>
                        </a:rPr>
                        <a:t>Yes, for routine inspections</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b="1" dirty="0">
                          <a:solidFill>
                            <a:srgbClr val="A83A3C"/>
                          </a:solidFill>
                          <a:latin typeface="Calibri" pitchFamily="34" charset="0"/>
                          <a:ea typeface="Calibri" pitchFamily="34" charset="-122"/>
                          <a:cs typeface="Calibri" pitchFamily="34" charset="-120"/>
                        </a:rPr>
                        <a:t>No</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Not as a substitute — check policy</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Participates — confirm scope</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384048">
                <a:tc>
                  <a:txBody>
                    <a:bodyPr/>
                    <a:lstStyle/>
                    <a:p>
                      <a:pPr indent="0" marL="0">
                        <a:buNone/>
                      </a:pPr>
                      <a:r>
                        <a:rPr lang="en-US" sz="840" b="1" dirty="0">
                          <a:solidFill>
                            <a:srgbClr val="1B3A4B"/>
                          </a:solidFill>
                          <a:latin typeface="Calibri" pitchFamily="34" charset="0"/>
                          <a:ea typeface="Calibri" pitchFamily="34" charset="-122"/>
                          <a:cs typeface="Calibri" pitchFamily="34" charset="-120"/>
                        </a:rPr>
                        <a:t>Post-market</a:t>
                      </a:r>
                      <a:endParaRPr lang="en-US" sz="84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MDR reporting; corrections and removals</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Annex III: PMS, PMCF, PSUR, trends</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b="1" dirty="0">
                          <a:solidFill>
                            <a:srgbClr val="22333B"/>
                          </a:solidFill>
                          <a:latin typeface="Calibri" pitchFamily="34" charset="0"/>
                          <a:ea typeface="Calibri" pitchFamily="34" charset="-122"/>
                          <a:cs typeface="Calibri" pitchFamily="34" charset="-120"/>
                        </a:rPr>
                        <a:t>PMS regulations in force since Jun 2025</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dirty="0">
                          <a:solidFill>
                            <a:srgbClr val="22333B"/>
                          </a:solidFill>
                          <a:latin typeface="Calibri" pitchFamily="34" charset="0"/>
                          <a:ea typeface="Calibri" pitchFamily="34" charset="-122"/>
                          <a:cs typeface="Calibri" pitchFamily="34" charset="-120"/>
                        </a:rPr>
                        <a:t>Via the MAH, on a QMS cycle</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384048">
                <a:tc>
                  <a:txBody>
                    <a:bodyPr/>
                    <a:lstStyle/>
                    <a:p>
                      <a:pPr indent="0" marL="0">
                        <a:buNone/>
                      </a:pPr>
                      <a:r>
                        <a:rPr lang="en-US" sz="840" b="1" dirty="0">
                          <a:solidFill>
                            <a:srgbClr val="FFFFFF"/>
                          </a:solidFill>
                          <a:latin typeface="Calibri" pitchFamily="34" charset="0"/>
                          <a:ea typeface="Calibri" pitchFamily="34" charset="-122"/>
                          <a:cs typeface="Calibri" pitchFamily="34" charset="-120"/>
                        </a:rPr>
                        <a:t>The trap</a:t>
                      </a:r>
                      <a:endParaRPr lang="en-US" sz="84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A83A3C"/>
                    </a:solidFill>
                  </a:tcPr>
                </a:tc>
                <a:tc>
                  <a:txBody>
                    <a:bodyPr/>
                    <a:lstStyle/>
                    <a:p>
                      <a:pPr indent="0" marL="0">
                        <a:buNone/>
                      </a:pPr>
                      <a:r>
                        <a:rPr lang="en-US" sz="798" i="1" dirty="0">
                          <a:solidFill>
                            <a:srgbClr val="22333B"/>
                          </a:solidFill>
                          <a:latin typeface="Calibri" pitchFamily="34" charset="0"/>
                          <a:ea typeface="Calibri" pitchFamily="34" charset="-122"/>
                          <a:cs typeface="Calibri" pitchFamily="34" charset="-120"/>
                        </a:rPr>
                        <a:t>Assuming clearance means the file travels</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i="1" dirty="0">
                          <a:solidFill>
                            <a:srgbClr val="22333B"/>
                          </a:solidFill>
                          <a:latin typeface="Calibri" pitchFamily="34" charset="0"/>
                          <a:ea typeface="Calibri" pitchFamily="34" charset="-122"/>
                          <a:cs typeface="Calibri" pitchFamily="34" charset="-120"/>
                        </a:rPr>
                        <a:t>Discovering the clinical gap after contracting a notified body</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i="1" dirty="0">
                          <a:solidFill>
                            <a:srgbClr val="22333B"/>
                          </a:solidFill>
                          <a:latin typeface="Calibri" pitchFamily="34" charset="0"/>
                          <a:ea typeface="Calibri" pitchFamily="34" charset="-122"/>
                          <a:cs typeface="Calibri" pitchFamily="34" charset="-120"/>
                        </a:rPr>
                        <a:t>Building UKCA you may never need</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798" i="1" dirty="0">
                          <a:solidFill>
                            <a:srgbClr val="22333B"/>
                          </a:solidFill>
                          <a:latin typeface="Calibri" pitchFamily="34" charset="0"/>
                          <a:ea typeface="Calibri" pitchFamily="34" charset="-122"/>
                          <a:cs typeface="Calibri" pitchFamily="34" charset="-120"/>
                        </a:rPr>
                        <a:t>Letting your distributor hold the authorisation</a:t>
                      </a:r>
                      <a:endParaRPr lang="en-US" sz="79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STRUCTURE</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100" b="1" dirty="0">
                <a:solidFill>
                  <a:srgbClr val="1B3A4B"/>
                </a:solidFill>
                <a:latin typeface="Cambria" pitchFamily="34" charset="0"/>
                <a:ea typeface="Cambria" pitchFamily="34" charset="-122"/>
                <a:cs typeface="Cambria" pitchFamily="34" charset="-120"/>
              </a:rPr>
              <a:t>One technical file, four submissions</a:t>
            </a:r>
            <a:endParaRPr lang="en-US" sz="31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49</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Build the evidence once, in a structure that lets you assemble four different documents from it.</a:t>
            </a:r>
            <a:endParaRPr lang="en-US" sz="1400" dirty="0"/>
          </a:p>
        </p:txBody>
      </p:sp>
      <p:sp>
        <p:nvSpPr>
          <p:cNvPr id="7" name="Shape 5"/>
          <p:cNvSpPr/>
          <p:nvPr/>
        </p:nvSpPr>
        <p:spPr>
          <a:xfrm>
            <a:off x="548640" y="1865376"/>
            <a:ext cx="5410048" cy="1645920"/>
          </a:xfrm>
          <a:prstGeom prst="roundRect">
            <a:avLst>
              <a:gd name="adj" fmla="val 3889"/>
            </a:avLst>
          </a:prstGeom>
          <a:solidFill>
            <a:srgbClr val="F1F5F6"/>
          </a:solidFill>
          <a:ln w="12700">
            <a:solidFill>
              <a:srgbClr val="D7E2E5"/>
            </a:solidFill>
            <a:prstDash val="solid"/>
          </a:ln>
        </p:spPr>
      </p:sp>
      <p:sp>
        <p:nvSpPr>
          <p:cNvPr id="8" name="Shape 6"/>
          <p:cNvSpPr/>
          <p:nvPr/>
        </p:nvSpPr>
        <p:spPr>
          <a:xfrm>
            <a:off x="768096" y="2066544"/>
            <a:ext cx="365760" cy="365760"/>
          </a:xfrm>
          <a:prstGeom prst="ellipse">
            <a:avLst/>
          </a:prstGeom>
          <a:solidFill>
            <a:srgbClr val="0E7C7B"/>
          </a:solidFill>
          <a:ln w="12700">
            <a:solidFill>
              <a:srgbClr val="0E7C7B"/>
            </a:solidFill>
            <a:prstDash val="solid"/>
          </a:ln>
        </p:spPr>
      </p:sp>
      <p:sp>
        <p:nvSpPr>
          <p:cNvPr id="9" name="Text 7"/>
          <p:cNvSpPr txBox="1"/>
          <p:nvPr/>
        </p:nvSpPr>
        <p:spPr>
          <a:xfrm>
            <a:off x="768096" y="206654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768096" y="2542032"/>
            <a:ext cx="4971136" cy="323088"/>
          </a:xfrm>
          <a:prstGeom prst="rect">
            <a:avLst/>
          </a:prstGeom>
          <a:noFill/>
          <a:ln/>
        </p:spPr>
        <p:txBody>
          <a:bodyPr wrap="square" lIns="0" tIns="0" rIns="0" bIns="0" rtlCol="0" anchor="t"/>
          <a:lstStyle/>
          <a:p>
            <a:pPr indent="0" marL="0">
              <a:buNone/>
            </a:pPr>
            <a:r>
              <a:rPr lang="en-US" sz="1500" b="1" dirty="0">
                <a:solidFill>
                  <a:srgbClr val="1B3A4B"/>
                </a:solidFill>
                <a:latin typeface="Calibri" pitchFamily="34" charset="0"/>
                <a:ea typeface="Calibri" pitchFamily="34" charset="-122"/>
                <a:cs typeface="Calibri" pitchFamily="34" charset="-120"/>
              </a:rPr>
              <a:t>Hold evidence separately from submissions</a:t>
            </a:r>
            <a:endParaRPr lang="en-US" sz="1500" dirty="0"/>
          </a:p>
        </p:txBody>
      </p:sp>
      <p:sp>
        <p:nvSpPr>
          <p:cNvPr id="11" name="Text 9"/>
          <p:cNvSpPr txBox="1"/>
          <p:nvPr/>
        </p:nvSpPr>
        <p:spPr>
          <a:xfrm>
            <a:off x="768096" y="2901696"/>
            <a:ext cx="4971136" cy="463296"/>
          </a:xfrm>
          <a:prstGeom prst="rect">
            <a:avLst/>
          </a:prstGeom>
          <a:noFill/>
          <a:ln/>
        </p:spPr>
        <p:txBody>
          <a:bodyPr wrap="square" lIns="0" tIns="0" rIns="0" bIns="0" rtlCol="0" anchor="t"/>
          <a:lstStyle/>
          <a:p>
            <a:pPr indent="0" marL="0">
              <a:lnSpc>
                <a:spcPct val="106000"/>
              </a:lnSpc>
              <a:buNone/>
            </a:pPr>
            <a:r>
              <a:rPr lang="en-US" sz="950" dirty="0">
                <a:solidFill>
                  <a:srgbClr val="22333B"/>
                </a:solidFill>
                <a:latin typeface="Calibri" pitchFamily="34" charset="0"/>
                <a:ea typeface="Calibri" pitchFamily="34" charset="-122"/>
                <a:cs typeface="Calibri" pitchFamily="34" charset="-120"/>
              </a:rPr>
              <a:t>Test reports, the risk file, clinical data and design records are assets. A 510(k), an Annex II file, a UKCA file and a Ninsho application are views of those assets assembled for different readers.</a:t>
            </a:r>
            <a:endParaRPr lang="en-US" sz="950" dirty="0"/>
          </a:p>
        </p:txBody>
      </p:sp>
      <p:sp>
        <p:nvSpPr>
          <p:cNvPr id="12" name="Shape 10"/>
          <p:cNvSpPr/>
          <p:nvPr/>
        </p:nvSpPr>
        <p:spPr>
          <a:xfrm>
            <a:off x="6233008" y="1865376"/>
            <a:ext cx="5410048" cy="1645920"/>
          </a:xfrm>
          <a:prstGeom prst="roundRect">
            <a:avLst>
              <a:gd name="adj" fmla="val 3889"/>
            </a:avLst>
          </a:prstGeom>
          <a:solidFill>
            <a:srgbClr val="F1F5F6"/>
          </a:solidFill>
          <a:ln w="12700">
            <a:solidFill>
              <a:srgbClr val="D7E2E5"/>
            </a:solidFill>
            <a:prstDash val="solid"/>
          </a:ln>
        </p:spPr>
      </p:sp>
      <p:sp>
        <p:nvSpPr>
          <p:cNvPr id="13" name="Shape 11"/>
          <p:cNvSpPr/>
          <p:nvPr/>
        </p:nvSpPr>
        <p:spPr>
          <a:xfrm>
            <a:off x="6452464" y="2066544"/>
            <a:ext cx="365760" cy="365760"/>
          </a:xfrm>
          <a:prstGeom prst="ellipse">
            <a:avLst/>
          </a:prstGeom>
          <a:solidFill>
            <a:srgbClr val="2A9D8F"/>
          </a:solidFill>
          <a:ln w="12700">
            <a:solidFill>
              <a:srgbClr val="2A9D8F"/>
            </a:solidFill>
            <a:prstDash val="solid"/>
          </a:ln>
        </p:spPr>
      </p:sp>
      <p:sp>
        <p:nvSpPr>
          <p:cNvPr id="14" name="Text 12"/>
          <p:cNvSpPr txBox="1"/>
          <p:nvPr/>
        </p:nvSpPr>
        <p:spPr>
          <a:xfrm>
            <a:off x="6452464" y="206654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6452464" y="2542032"/>
            <a:ext cx="4971136" cy="323088"/>
          </a:xfrm>
          <a:prstGeom prst="rect">
            <a:avLst/>
          </a:prstGeom>
          <a:noFill/>
          <a:ln/>
        </p:spPr>
        <p:txBody>
          <a:bodyPr wrap="square" lIns="0" tIns="0" rIns="0" bIns="0" rtlCol="0" anchor="t"/>
          <a:lstStyle/>
          <a:p>
            <a:pPr indent="0" marL="0">
              <a:buNone/>
            </a:pPr>
            <a:r>
              <a:rPr lang="en-US" sz="1500" b="1" dirty="0">
                <a:solidFill>
                  <a:srgbClr val="1B3A4B"/>
                </a:solidFill>
                <a:latin typeface="Calibri" pitchFamily="34" charset="0"/>
                <a:ea typeface="Calibri" pitchFamily="34" charset="-122"/>
                <a:cs typeface="Calibri" pitchFamily="34" charset="-120"/>
              </a:rPr>
              <a:t>Index against the strictest requirement set</a:t>
            </a:r>
            <a:endParaRPr lang="en-US" sz="1500" dirty="0"/>
          </a:p>
        </p:txBody>
      </p:sp>
      <p:sp>
        <p:nvSpPr>
          <p:cNvPr id="16" name="Text 14"/>
          <p:cNvSpPr txBox="1"/>
          <p:nvPr/>
        </p:nvSpPr>
        <p:spPr>
          <a:xfrm>
            <a:off x="6452464" y="2901696"/>
            <a:ext cx="4971136" cy="463296"/>
          </a:xfrm>
          <a:prstGeom prst="rect">
            <a:avLst/>
          </a:prstGeom>
          <a:noFill/>
          <a:ln/>
        </p:spPr>
        <p:txBody>
          <a:bodyPr wrap="square" lIns="0" tIns="0" rIns="0" bIns="0" rtlCol="0" anchor="t"/>
          <a:lstStyle/>
          <a:p>
            <a:pPr indent="0" marL="0">
              <a:lnSpc>
                <a:spcPct val="106000"/>
              </a:lnSpc>
              <a:buNone/>
            </a:pPr>
            <a:r>
              <a:rPr lang="en-US" sz="950" dirty="0">
                <a:solidFill>
                  <a:srgbClr val="22333B"/>
                </a:solidFill>
                <a:latin typeface="Calibri" pitchFamily="34" charset="0"/>
                <a:ea typeface="Calibri" pitchFamily="34" charset="-122"/>
                <a:cs typeface="Calibri" pitchFamily="34" charset="-120"/>
              </a:rPr>
              <a:t>Build your index around MDR Annex II and the GSPR checklist, because it is the most demanding. Everything else is then a subset or a reformatting, not new work.</a:t>
            </a:r>
            <a:endParaRPr lang="en-US" sz="950" dirty="0"/>
          </a:p>
        </p:txBody>
      </p:sp>
      <p:sp>
        <p:nvSpPr>
          <p:cNvPr id="17" name="Shape 15"/>
          <p:cNvSpPr/>
          <p:nvPr/>
        </p:nvSpPr>
        <p:spPr>
          <a:xfrm>
            <a:off x="548640" y="3785616"/>
            <a:ext cx="5410048" cy="1645920"/>
          </a:xfrm>
          <a:prstGeom prst="roundRect">
            <a:avLst>
              <a:gd name="adj" fmla="val 3889"/>
            </a:avLst>
          </a:prstGeom>
          <a:solidFill>
            <a:srgbClr val="F1F5F6"/>
          </a:solidFill>
          <a:ln w="12700">
            <a:solidFill>
              <a:srgbClr val="D7E2E5"/>
            </a:solidFill>
            <a:prstDash val="solid"/>
          </a:ln>
        </p:spPr>
      </p:sp>
      <p:sp>
        <p:nvSpPr>
          <p:cNvPr id="18" name="Shape 16"/>
          <p:cNvSpPr/>
          <p:nvPr/>
        </p:nvSpPr>
        <p:spPr>
          <a:xfrm>
            <a:off x="768096" y="3986784"/>
            <a:ext cx="365760" cy="365760"/>
          </a:xfrm>
          <a:prstGeom prst="ellipse">
            <a:avLst/>
          </a:prstGeom>
          <a:solidFill>
            <a:srgbClr val="C77C1E"/>
          </a:solidFill>
          <a:ln w="12700">
            <a:solidFill>
              <a:srgbClr val="C77C1E"/>
            </a:solidFill>
            <a:prstDash val="solid"/>
          </a:ln>
        </p:spPr>
      </p:sp>
      <p:sp>
        <p:nvSpPr>
          <p:cNvPr id="19" name="Text 17"/>
          <p:cNvSpPr txBox="1"/>
          <p:nvPr/>
        </p:nvSpPr>
        <p:spPr>
          <a:xfrm>
            <a:off x="768096" y="398678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768096" y="4462272"/>
            <a:ext cx="4971136" cy="323088"/>
          </a:xfrm>
          <a:prstGeom prst="rect">
            <a:avLst/>
          </a:prstGeom>
          <a:noFill/>
          <a:ln/>
        </p:spPr>
        <p:txBody>
          <a:bodyPr wrap="square" lIns="0" tIns="0" rIns="0" bIns="0" rtlCol="0" anchor="t"/>
          <a:lstStyle/>
          <a:p>
            <a:pPr indent="0" marL="0">
              <a:buNone/>
            </a:pPr>
            <a:r>
              <a:rPr lang="en-US" sz="1500" b="1" dirty="0">
                <a:solidFill>
                  <a:srgbClr val="1B3A4B"/>
                </a:solidFill>
                <a:latin typeface="Calibri" pitchFamily="34" charset="0"/>
                <a:ea typeface="Calibri" pitchFamily="34" charset="-122"/>
                <a:cs typeface="Calibri" pitchFamily="34" charset="-120"/>
              </a:rPr>
              <a:t>Keep four classification rationales</a:t>
            </a:r>
            <a:endParaRPr lang="en-US" sz="1500" dirty="0"/>
          </a:p>
        </p:txBody>
      </p:sp>
      <p:sp>
        <p:nvSpPr>
          <p:cNvPr id="21" name="Text 19"/>
          <p:cNvSpPr txBox="1"/>
          <p:nvPr/>
        </p:nvSpPr>
        <p:spPr>
          <a:xfrm>
            <a:off x="768096" y="4821936"/>
            <a:ext cx="4971136" cy="463296"/>
          </a:xfrm>
          <a:prstGeom prst="rect">
            <a:avLst/>
          </a:prstGeom>
          <a:noFill/>
          <a:ln/>
        </p:spPr>
        <p:txBody>
          <a:bodyPr wrap="square" lIns="0" tIns="0" rIns="0" bIns="0" rtlCol="0" anchor="t"/>
          <a:lstStyle/>
          <a:p>
            <a:pPr indent="0" marL="0">
              <a:lnSpc>
                <a:spcPct val="106000"/>
              </a:lnSpc>
              <a:buNone/>
            </a:pPr>
            <a:r>
              <a:rPr lang="en-US" sz="950" dirty="0">
                <a:solidFill>
                  <a:srgbClr val="22333B"/>
                </a:solidFill>
                <a:latin typeface="Calibri" pitchFamily="34" charset="0"/>
                <a:ea typeface="Calibri" pitchFamily="34" charset="-122"/>
                <a:cs typeface="Calibri" pitchFamily="34" charset="-120"/>
              </a:rPr>
              <a:t>One document per jurisdiction, each citing its own rules, each dated. This is a two-hour job that prevents a recurring argument and answers the first question every assessor asks.</a:t>
            </a:r>
            <a:endParaRPr lang="en-US" sz="950" dirty="0"/>
          </a:p>
        </p:txBody>
      </p:sp>
      <p:sp>
        <p:nvSpPr>
          <p:cNvPr id="22" name="Shape 20"/>
          <p:cNvSpPr/>
          <p:nvPr/>
        </p:nvSpPr>
        <p:spPr>
          <a:xfrm>
            <a:off x="6233008" y="3785616"/>
            <a:ext cx="5410048" cy="1645920"/>
          </a:xfrm>
          <a:prstGeom prst="roundRect">
            <a:avLst>
              <a:gd name="adj" fmla="val 3889"/>
            </a:avLst>
          </a:prstGeom>
          <a:solidFill>
            <a:srgbClr val="F1F5F6"/>
          </a:solidFill>
          <a:ln w="12700">
            <a:solidFill>
              <a:srgbClr val="D7E2E5"/>
            </a:solidFill>
            <a:prstDash val="solid"/>
          </a:ln>
        </p:spPr>
      </p:sp>
      <p:sp>
        <p:nvSpPr>
          <p:cNvPr id="23" name="Shape 21"/>
          <p:cNvSpPr/>
          <p:nvPr/>
        </p:nvSpPr>
        <p:spPr>
          <a:xfrm>
            <a:off x="6452464" y="3986784"/>
            <a:ext cx="365760" cy="365760"/>
          </a:xfrm>
          <a:prstGeom prst="ellipse">
            <a:avLst/>
          </a:prstGeom>
          <a:solidFill>
            <a:srgbClr val="A83A3C"/>
          </a:solidFill>
          <a:ln w="12700">
            <a:solidFill>
              <a:srgbClr val="A83A3C"/>
            </a:solidFill>
            <a:prstDash val="solid"/>
          </a:ln>
        </p:spPr>
      </p:sp>
      <p:sp>
        <p:nvSpPr>
          <p:cNvPr id="24" name="Text 22"/>
          <p:cNvSpPr txBox="1"/>
          <p:nvPr/>
        </p:nvSpPr>
        <p:spPr>
          <a:xfrm>
            <a:off x="6452464" y="398678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txBox="1"/>
          <p:nvPr/>
        </p:nvSpPr>
        <p:spPr>
          <a:xfrm>
            <a:off x="6452464" y="4462272"/>
            <a:ext cx="4971136" cy="323088"/>
          </a:xfrm>
          <a:prstGeom prst="rect">
            <a:avLst/>
          </a:prstGeom>
          <a:noFill/>
          <a:ln/>
        </p:spPr>
        <p:txBody>
          <a:bodyPr wrap="square" lIns="0" tIns="0" rIns="0" bIns="0" rtlCol="0" anchor="t"/>
          <a:lstStyle/>
          <a:p>
            <a:pPr indent="0" marL="0">
              <a:buNone/>
            </a:pPr>
            <a:r>
              <a:rPr lang="en-US" sz="1500" b="1" dirty="0">
                <a:solidFill>
                  <a:srgbClr val="1B3A4B"/>
                </a:solidFill>
                <a:latin typeface="Calibri" pitchFamily="34" charset="0"/>
                <a:ea typeface="Calibri" pitchFamily="34" charset="-122"/>
                <a:cs typeface="Calibri" pitchFamily="34" charset="-120"/>
              </a:rPr>
              <a:t>Track standards and editions in one place</a:t>
            </a:r>
            <a:endParaRPr lang="en-US" sz="1500" dirty="0"/>
          </a:p>
        </p:txBody>
      </p:sp>
      <p:sp>
        <p:nvSpPr>
          <p:cNvPr id="26" name="Text 24"/>
          <p:cNvSpPr txBox="1"/>
          <p:nvPr/>
        </p:nvSpPr>
        <p:spPr>
          <a:xfrm>
            <a:off x="6452464" y="4821936"/>
            <a:ext cx="4971136" cy="463296"/>
          </a:xfrm>
          <a:prstGeom prst="rect">
            <a:avLst/>
          </a:prstGeom>
          <a:noFill/>
          <a:ln/>
        </p:spPr>
        <p:txBody>
          <a:bodyPr wrap="square" lIns="0" tIns="0" rIns="0" bIns="0" rtlCol="0" anchor="t"/>
          <a:lstStyle/>
          <a:p>
            <a:pPr indent="0" marL="0">
              <a:lnSpc>
                <a:spcPct val="106000"/>
              </a:lnSpc>
              <a:buNone/>
            </a:pPr>
            <a:r>
              <a:rPr lang="en-US" sz="950" dirty="0">
                <a:solidFill>
                  <a:srgbClr val="22333B"/>
                </a:solidFill>
                <a:latin typeface="Calibri" pitchFamily="34" charset="0"/>
                <a:ea typeface="Calibri" pitchFamily="34" charset="-122"/>
                <a:cs typeface="Calibri" pitchFamily="34" charset="-120"/>
              </a:rPr>
              <a:t>A single register of which standard, which edition, which report, and which regulator recognises it. This is where the reuse either works or quietly fails.</a:t>
            </a:r>
            <a:endParaRPr lang="en-US" sz="950" dirty="0"/>
          </a:p>
        </p:txBody>
      </p:sp>
      <p:sp>
        <p:nvSpPr>
          <p:cNvPr id="27" name="Shape 25"/>
          <p:cNvSpPr/>
          <p:nvPr/>
        </p:nvSpPr>
        <p:spPr>
          <a:xfrm>
            <a:off x="548640" y="5541264"/>
            <a:ext cx="11094415" cy="713232"/>
          </a:xfrm>
          <a:prstGeom prst="roundRect">
            <a:avLst>
              <a:gd name="adj" fmla="val 7692"/>
            </a:avLst>
          </a:prstGeom>
          <a:solidFill>
            <a:srgbClr val="EAF3F2"/>
          </a:solidFill>
          <a:ln w="12700">
            <a:solidFill>
              <a:srgbClr val="BFD9D6"/>
            </a:solidFill>
            <a:prstDash val="solid"/>
          </a:ln>
        </p:spPr>
      </p:sp>
      <p:sp>
        <p:nvSpPr>
          <p:cNvPr id="28" name="Text 26"/>
          <p:cNvSpPr txBox="1"/>
          <p:nvPr/>
        </p:nvSpPr>
        <p:spPr>
          <a:xfrm>
            <a:off x="786384" y="5541264"/>
            <a:ext cx="10618927" cy="713232"/>
          </a:xfrm>
          <a:prstGeom prst="rect">
            <a:avLst/>
          </a:prstGeom>
          <a:noFill/>
          <a:ln/>
        </p:spPr>
        <p:txBody>
          <a:bodyPr wrap="square" lIns="0" tIns="0" rIns="0" bIns="0" rtlCol="0" anchor="ctr"/>
          <a:lstStyle/>
          <a:p>
            <a:pPr indent="0" marL="0">
              <a:buNone/>
            </a:pPr>
            <a:r>
              <a:rPr lang="en-US" sz="1250" b="1" dirty="0">
                <a:solidFill>
                  <a:srgbClr val="1B3A4B"/>
                </a:solidFill>
                <a:latin typeface="Calibri" pitchFamily="34" charset="0"/>
                <a:ea typeface="Calibri" pitchFamily="34" charset="-122"/>
                <a:cs typeface="Calibri" pitchFamily="34" charset="-120"/>
              </a:rPr>
              <a:t>The failure mode this prevents: four teams building four files from four copies of the truth, which then diverge — and nobody can say which version of the risk file is current.</a:t>
            </a:r>
            <a:endParaRPr lang="en-US" sz="12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SEQUENCING</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200" b="1" dirty="0">
                <a:solidFill>
                  <a:srgbClr val="1B3A4B"/>
                </a:solidFill>
                <a:latin typeface="Cambria" pitchFamily="34" charset="0"/>
                <a:ea typeface="Cambria" pitchFamily="34" charset="-122"/>
                <a:cs typeface="Cambria" pitchFamily="34" charset="-120"/>
              </a:rPr>
              <a:t>Which market first?</a:t>
            </a:r>
            <a:endParaRPr lang="en-US" sz="32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50</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The conventional answer is Europe. The conventional answer is often wrong, and it is worth knowing why.</a:t>
            </a:r>
            <a:endParaRPr lang="en-US" sz="1400" dirty="0"/>
          </a:p>
        </p:txBody>
      </p:sp>
      <p:sp>
        <p:nvSpPr>
          <p:cNvPr id="7" name="Text 5"/>
          <p:cNvSpPr txBox="1"/>
          <p:nvPr/>
        </p:nvSpPr>
        <p:spPr>
          <a:xfrm>
            <a:off x="548640" y="1847088"/>
            <a:ext cx="5394960" cy="256032"/>
          </a:xfrm>
          <a:prstGeom prst="rect">
            <a:avLst/>
          </a:prstGeom>
          <a:noFill/>
          <a:ln/>
        </p:spPr>
        <p:txBody>
          <a:bodyPr wrap="square" lIns="0" tIns="0" rIns="0" bIns="0" rtlCol="0" anchor="ctr"/>
          <a:lstStyle/>
          <a:p>
            <a:pPr indent="0" marL="0">
              <a:buNone/>
            </a:pPr>
            <a:r>
              <a:rPr lang="en-US" sz="1100" b="1" spc="120" kern="0" dirty="0">
                <a:solidFill>
                  <a:srgbClr val="0E7C7B"/>
                </a:solidFill>
                <a:latin typeface="Calibri" pitchFamily="34" charset="0"/>
                <a:ea typeface="Calibri" pitchFamily="34" charset="-122"/>
                <a:cs typeface="Calibri" pitchFamily="34" charset="-120"/>
              </a:rPr>
              <a:t>THE CASE FOR EUROPE FIRST</a:t>
            </a:r>
            <a:endParaRPr lang="en-US" sz="1100" dirty="0"/>
          </a:p>
        </p:txBody>
      </p:sp>
      <p:sp>
        <p:nvSpPr>
          <p:cNvPr id="8" name="Shape 6"/>
          <p:cNvSpPr/>
          <p:nvPr/>
        </p:nvSpPr>
        <p:spPr>
          <a:xfrm>
            <a:off x="548640" y="2157984"/>
            <a:ext cx="5394960" cy="3200400"/>
          </a:xfrm>
          <a:prstGeom prst="roundRect">
            <a:avLst>
              <a:gd name="adj" fmla="val 2000"/>
            </a:avLst>
          </a:prstGeom>
          <a:solidFill>
            <a:srgbClr val="F1F5F6"/>
          </a:solidFill>
          <a:ln w="12700">
            <a:solidFill>
              <a:srgbClr val="D7E2E5"/>
            </a:solidFill>
            <a:prstDash val="solid"/>
          </a:ln>
        </p:spPr>
      </p:sp>
      <p:sp>
        <p:nvSpPr>
          <p:cNvPr id="9" name="Text 7"/>
          <p:cNvSpPr txBox="1"/>
          <p:nvPr/>
        </p:nvSpPr>
        <p:spPr>
          <a:xfrm>
            <a:off x="786384" y="2322576"/>
            <a:ext cx="4919472" cy="2889504"/>
          </a:xfrm>
          <a:prstGeom prst="rect">
            <a:avLst/>
          </a:prstGeom>
          <a:noFill/>
          <a:ln/>
        </p:spPr>
        <p:txBody>
          <a:bodyPr wrap="square" lIns="0" tIns="0" rIns="0" bIns="0" rtlCol="0" anchor="t"/>
          <a:lstStyle/>
          <a:p>
            <a:pPr marL="203200" indent="-203200">
              <a:lnSpc>
                <a:spcPct val="108000"/>
              </a:lnSpc>
              <a:spcAft>
                <a:spcPts val="400"/>
              </a:spcAft>
              <a:buSzPct val="100000"/>
              <a:buChar char="•"/>
            </a:pPr>
            <a:r>
              <a:rPr lang="en-US" sz="1080" dirty="0">
                <a:solidFill>
                  <a:srgbClr val="22333B"/>
                </a:solidFill>
                <a:latin typeface="Calibri" pitchFamily="34" charset="0"/>
                <a:ea typeface="Calibri" pitchFamily="34" charset="-122"/>
                <a:cs typeface="Calibri" pitchFamily="34" charset="-120"/>
              </a:rPr>
              <a:t>It is the most demanding, so everything else becomes a subset of work you have already done</a:t>
            </a:r>
            <a:endParaRPr lang="en-US" sz="1080" dirty="0"/>
          </a:p>
          <a:p>
            <a:pPr marL="203200" indent="-203200">
              <a:lnSpc>
                <a:spcPct val="108000"/>
              </a:lnSpc>
              <a:spcAft>
                <a:spcPts val="400"/>
              </a:spcAft>
              <a:buSzPct val="100000"/>
              <a:buChar char="•"/>
            </a:pPr>
            <a:r>
              <a:rPr lang="en-US" sz="1080" dirty="0">
                <a:solidFill>
                  <a:srgbClr val="22333B"/>
                </a:solidFill>
                <a:latin typeface="Calibri" pitchFamily="34" charset="0"/>
                <a:ea typeface="Calibri" pitchFamily="34" charset="-122"/>
                <a:cs typeface="Calibri" pitchFamily="34" charset="-120"/>
              </a:rPr>
              <a:t>The MDR technical file over-satisfies UKCA, and much of it serves Japan</a:t>
            </a:r>
            <a:endParaRPr lang="en-US" sz="1080" dirty="0"/>
          </a:p>
          <a:p>
            <a:pPr marL="203200" indent="-203200">
              <a:lnSpc>
                <a:spcPct val="108000"/>
              </a:lnSpc>
              <a:spcAft>
                <a:spcPts val="400"/>
              </a:spcAft>
              <a:buSzPct val="100000"/>
              <a:buChar char="•"/>
            </a:pPr>
            <a:r>
              <a:rPr lang="en-US" sz="1080" dirty="0">
                <a:solidFill>
                  <a:srgbClr val="22333B"/>
                </a:solidFill>
                <a:latin typeface="Calibri" pitchFamily="34" charset="0"/>
                <a:ea typeface="Calibri" pitchFamily="34" charset="-122"/>
                <a:cs typeface="Calibri" pitchFamily="34" charset="-120"/>
              </a:rPr>
              <a:t>A CE certificate currently reaches the whole United Kingdom as well</a:t>
            </a:r>
            <a:endParaRPr lang="en-US" sz="1080" dirty="0"/>
          </a:p>
          <a:p>
            <a:pPr marL="203200" indent="-203200">
              <a:lnSpc>
                <a:spcPct val="108000"/>
              </a:lnSpc>
              <a:spcAft>
                <a:spcPts val="400"/>
              </a:spcAft>
              <a:buSzPct val="100000"/>
              <a:buChar char="•"/>
            </a:pPr>
            <a:r>
              <a:rPr lang="en-US" sz="1080" dirty="0">
                <a:solidFill>
                  <a:srgbClr val="22333B"/>
                </a:solidFill>
                <a:latin typeface="Calibri" pitchFamily="34" charset="0"/>
                <a:ea typeface="Calibri" pitchFamily="34" charset="-122"/>
                <a:cs typeface="Calibri" pitchFamily="34" charset="-120"/>
              </a:rPr>
              <a:t>Notified body queues are long, so starting early has option value</a:t>
            </a:r>
            <a:endParaRPr lang="en-US" sz="1080" dirty="0"/>
          </a:p>
          <a:p>
            <a:pPr marL="203200" indent="-203200">
              <a:lnSpc>
                <a:spcPct val="108000"/>
              </a:lnSpc>
              <a:spcAft>
                <a:spcPts val="400"/>
              </a:spcAft>
              <a:buSzPct val="100000"/>
              <a:buChar char="•"/>
            </a:pPr>
            <a:r>
              <a:rPr lang="en-US" sz="1080" b="1" dirty="0">
                <a:solidFill>
                  <a:srgbClr val="22333B"/>
                </a:solidFill>
                <a:latin typeface="Calibri" pitchFamily="34" charset="0"/>
                <a:ea typeface="Calibri" pitchFamily="34" charset="-122"/>
                <a:cs typeface="Calibri" pitchFamily="34" charset="-120"/>
              </a:rPr>
              <a:t>Take this route when</a:t>
            </a:r>
            <a:endParaRPr lang="en-US" sz="1080" dirty="0"/>
          </a:p>
          <a:p>
            <a:pPr marL="203200" indent="-203200">
              <a:lnSpc>
                <a:spcPct val="108000"/>
              </a:lnSpc>
              <a:spcAft>
                <a:spcPts val="400"/>
              </a:spcAft>
              <a:buSzPct val="100000"/>
              <a:buChar char="•"/>
            </a:pPr>
            <a:r>
              <a:rPr lang="en-US" sz="1080" dirty="0">
                <a:solidFill>
                  <a:srgbClr val="22333B"/>
                </a:solidFill>
                <a:latin typeface="Calibri" pitchFamily="34" charset="0"/>
                <a:ea typeface="Calibri" pitchFamily="34" charset="-122"/>
                <a:cs typeface="Calibri" pitchFamily="34" charset="-120"/>
              </a:rPr>
              <a:t>You have the clinical evidence or the runway to generate it, and Europe is a genuine commercial priority rather than an aspiration.</a:t>
            </a:r>
            <a:endParaRPr lang="en-US" sz="1080" dirty="0"/>
          </a:p>
        </p:txBody>
      </p:sp>
      <p:sp>
        <p:nvSpPr>
          <p:cNvPr id="10" name="Text 8"/>
          <p:cNvSpPr txBox="1"/>
          <p:nvPr/>
        </p:nvSpPr>
        <p:spPr>
          <a:xfrm>
            <a:off x="6245352" y="1847088"/>
            <a:ext cx="5394960" cy="256032"/>
          </a:xfrm>
          <a:prstGeom prst="rect">
            <a:avLst/>
          </a:prstGeom>
          <a:noFill/>
          <a:ln/>
        </p:spPr>
        <p:txBody>
          <a:bodyPr wrap="square" lIns="0" tIns="0" rIns="0" bIns="0" rtlCol="0" anchor="ctr"/>
          <a:lstStyle/>
          <a:p>
            <a:pPr indent="0" marL="0">
              <a:buNone/>
            </a:pPr>
            <a:r>
              <a:rPr lang="en-US" sz="1100" b="1" spc="120" kern="0" dirty="0">
                <a:solidFill>
                  <a:srgbClr val="C77C1E"/>
                </a:solidFill>
                <a:latin typeface="Calibri" pitchFamily="34" charset="0"/>
                <a:ea typeface="Calibri" pitchFamily="34" charset="-122"/>
                <a:cs typeface="Calibri" pitchFamily="34" charset="-120"/>
              </a:rPr>
              <a:t>THE CASE AGAINST — AND WHAT TO DO INSTEAD</a:t>
            </a:r>
            <a:endParaRPr lang="en-US" sz="1100" dirty="0"/>
          </a:p>
        </p:txBody>
      </p:sp>
      <p:sp>
        <p:nvSpPr>
          <p:cNvPr id="11" name="Shape 9"/>
          <p:cNvSpPr/>
          <p:nvPr/>
        </p:nvSpPr>
        <p:spPr>
          <a:xfrm>
            <a:off x="6245352" y="2157984"/>
            <a:ext cx="5394960" cy="3200400"/>
          </a:xfrm>
          <a:prstGeom prst="roundRect">
            <a:avLst>
              <a:gd name="adj" fmla="val 2000"/>
            </a:avLst>
          </a:prstGeom>
          <a:solidFill>
            <a:srgbClr val="FBF0E2"/>
          </a:solidFill>
          <a:ln w="12700">
            <a:solidFill>
              <a:srgbClr val="E3C893"/>
            </a:solidFill>
            <a:prstDash val="solid"/>
          </a:ln>
        </p:spPr>
      </p:sp>
      <p:sp>
        <p:nvSpPr>
          <p:cNvPr id="12" name="Text 10"/>
          <p:cNvSpPr txBox="1"/>
          <p:nvPr/>
        </p:nvSpPr>
        <p:spPr>
          <a:xfrm>
            <a:off x="6483096" y="2322576"/>
            <a:ext cx="4919472" cy="2889504"/>
          </a:xfrm>
          <a:prstGeom prst="rect">
            <a:avLst/>
          </a:prstGeom>
          <a:noFill/>
          <a:ln/>
        </p:spPr>
        <p:txBody>
          <a:bodyPr wrap="square" lIns="0" tIns="0" rIns="0" bIns="0" rtlCol="0" anchor="t"/>
          <a:lstStyle/>
          <a:p>
            <a:pPr marL="203200" indent="-203200">
              <a:lnSpc>
                <a:spcPct val="108000"/>
              </a:lnSpc>
              <a:spcAft>
                <a:spcPts val="400"/>
              </a:spcAft>
              <a:buSzPct val="100000"/>
              <a:buChar char="•"/>
            </a:pPr>
            <a:r>
              <a:rPr lang="en-US" sz="1080" dirty="0">
                <a:solidFill>
                  <a:srgbClr val="22333B"/>
                </a:solidFill>
                <a:latin typeface="Calibri" pitchFamily="34" charset="0"/>
                <a:ea typeface="Calibri" pitchFamily="34" charset="-122"/>
                <a:cs typeface="Calibri" pitchFamily="34" charset="-120"/>
              </a:rPr>
              <a:t>It is the slowest and most expensive first step, and a company with limited runway may not survive it</a:t>
            </a:r>
            <a:endParaRPr lang="en-US" sz="1080" dirty="0"/>
          </a:p>
          <a:p>
            <a:pPr marL="203200" indent="-203200">
              <a:lnSpc>
                <a:spcPct val="108000"/>
              </a:lnSpc>
              <a:spcAft>
                <a:spcPts val="400"/>
              </a:spcAft>
              <a:buSzPct val="100000"/>
              <a:buChar char="•"/>
            </a:pPr>
            <a:r>
              <a:rPr lang="en-US" sz="1080" dirty="0">
                <a:solidFill>
                  <a:srgbClr val="22333B"/>
                </a:solidFill>
                <a:latin typeface="Calibri" pitchFamily="34" charset="0"/>
                <a:ea typeface="Calibri" pitchFamily="34" charset="-122"/>
                <a:cs typeface="Calibri" pitchFamily="34" charset="-120"/>
              </a:rPr>
              <a:t>The clinical evidence gap is discovered on the critical path rather than beside it</a:t>
            </a:r>
            <a:endParaRPr lang="en-US" sz="1080" dirty="0"/>
          </a:p>
          <a:p>
            <a:pPr marL="203200" indent="-203200">
              <a:lnSpc>
                <a:spcPct val="108000"/>
              </a:lnSpc>
              <a:spcAft>
                <a:spcPts val="400"/>
              </a:spcAft>
              <a:buSzPct val="100000"/>
              <a:buChar char="•"/>
            </a:pPr>
            <a:r>
              <a:rPr lang="en-US" sz="1080" dirty="0">
                <a:solidFill>
                  <a:srgbClr val="22333B"/>
                </a:solidFill>
                <a:latin typeface="Calibri" pitchFamily="34" charset="0"/>
                <a:ea typeface="Calibri" pitchFamily="34" charset="-122"/>
                <a:cs typeface="Calibri" pitchFamily="34" charset="-120"/>
              </a:rPr>
              <a:t>Revenue arrives last, which is the opposite of what most boards need</a:t>
            </a:r>
            <a:endParaRPr lang="en-US" sz="1080" dirty="0"/>
          </a:p>
          <a:p>
            <a:pPr marL="203200" indent="-203200">
              <a:lnSpc>
                <a:spcPct val="108000"/>
              </a:lnSpc>
              <a:spcAft>
                <a:spcPts val="400"/>
              </a:spcAft>
              <a:buSzPct val="100000"/>
              <a:buChar char="•"/>
            </a:pPr>
            <a:r>
              <a:rPr lang="en-US" sz="1080" b="1" dirty="0">
                <a:solidFill>
                  <a:srgbClr val="22333B"/>
                </a:solidFill>
                <a:latin typeface="Calibri" pitchFamily="34" charset="0"/>
                <a:ea typeface="Calibri" pitchFamily="34" charset="-122"/>
                <a:cs typeface="Calibri" pitchFamily="34" charset="-120"/>
              </a:rPr>
              <a:t>The alternative</a:t>
            </a:r>
            <a:endParaRPr lang="en-US" sz="1080" dirty="0"/>
          </a:p>
          <a:p>
            <a:pPr marL="203200" indent="-203200">
              <a:lnSpc>
                <a:spcPct val="108000"/>
              </a:lnSpc>
              <a:spcAft>
                <a:spcPts val="400"/>
              </a:spcAft>
              <a:buSzPct val="100000"/>
              <a:buChar char="•"/>
            </a:pPr>
            <a:r>
              <a:rPr lang="en-US" sz="1080" dirty="0">
                <a:solidFill>
                  <a:srgbClr val="22333B"/>
                </a:solidFill>
                <a:latin typeface="Calibri" pitchFamily="34" charset="0"/>
                <a:ea typeface="Calibri" pitchFamily="34" charset="-122"/>
                <a:cs typeface="Calibri" pitchFamily="34" charset="-120"/>
              </a:rPr>
              <a:t>Sequence by what unblocks revenue soonest while building toward the strictest file. For many companies that means securing the easier market first, using the cash and the learning to fund the European programme — provided you are building the evidence for Europe in parallel from day one.</a:t>
            </a:r>
            <a:endParaRPr lang="en-US" sz="1080" dirty="0"/>
          </a:p>
        </p:txBody>
      </p:sp>
      <p:sp>
        <p:nvSpPr>
          <p:cNvPr id="13" name="Shape 11"/>
          <p:cNvSpPr/>
          <p:nvPr/>
        </p:nvSpPr>
        <p:spPr>
          <a:xfrm>
            <a:off x="548640" y="5504688"/>
            <a:ext cx="11094415" cy="749808"/>
          </a:xfrm>
          <a:prstGeom prst="roundRect">
            <a:avLst>
              <a:gd name="adj" fmla="val 7317"/>
            </a:avLst>
          </a:prstGeom>
          <a:solidFill>
            <a:srgbClr val="EAF3F2"/>
          </a:solidFill>
          <a:ln w="12700">
            <a:solidFill>
              <a:srgbClr val="BFD9D6"/>
            </a:solidFill>
            <a:prstDash val="solid"/>
          </a:ln>
        </p:spPr>
      </p:sp>
      <p:sp>
        <p:nvSpPr>
          <p:cNvPr id="14" name="Text 12"/>
          <p:cNvSpPr txBox="1"/>
          <p:nvPr/>
        </p:nvSpPr>
        <p:spPr>
          <a:xfrm>
            <a:off x="786384" y="5504688"/>
            <a:ext cx="10618927" cy="749808"/>
          </a:xfrm>
          <a:prstGeom prst="rect">
            <a:avLst/>
          </a:prstGeom>
          <a:noFill/>
          <a:ln/>
        </p:spPr>
        <p:txBody>
          <a:bodyPr wrap="square" lIns="0" tIns="0" rIns="0" bIns="0" rtlCol="0" anchor="ctr"/>
          <a:lstStyle/>
          <a:p>
            <a:pPr indent="0" marL="0">
              <a:buNone/>
            </a:pPr>
            <a:r>
              <a:rPr lang="en-US" sz="1250" b="1" dirty="0">
                <a:solidFill>
                  <a:srgbClr val="1B3A4B"/>
                </a:solidFill>
                <a:latin typeface="Calibri" pitchFamily="34" charset="0"/>
                <a:ea typeface="Calibri" pitchFamily="34" charset="-122"/>
                <a:cs typeface="Calibri" pitchFamily="34" charset="-120"/>
              </a:rPr>
              <a:t>Whichever order you choose: start the clinical evidence strategy on day one, in every scenario. It is the only work item whose duration you cannot compress later with money.</a:t>
            </a:r>
            <a:endParaRPr lang="en-US" sz="12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TAKEAWAYS</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Five things worth remembering</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51</a:t>
            </a:r>
            <a:endParaRPr lang="en-US" sz="900" dirty="0"/>
          </a:p>
        </p:txBody>
      </p:sp>
      <p:sp>
        <p:nvSpPr>
          <p:cNvPr id="6" name="Shape 4"/>
          <p:cNvSpPr/>
          <p:nvPr/>
        </p:nvSpPr>
        <p:spPr>
          <a:xfrm>
            <a:off x="548640" y="1536192"/>
            <a:ext cx="11094415" cy="841248"/>
          </a:xfrm>
          <a:prstGeom prst="roundRect">
            <a:avLst>
              <a:gd name="adj" fmla="val 7609"/>
            </a:avLst>
          </a:prstGeom>
          <a:solidFill>
            <a:srgbClr val="F1F5F6"/>
          </a:solidFill>
          <a:ln w="12700">
            <a:solidFill>
              <a:srgbClr val="D7E2E5"/>
            </a:solidFill>
            <a:prstDash val="solid"/>
          </a:ln>
        </p:spPr>
      </p:sp>
      <p:sp>
        <p:nvSpPr>
          <p:cNvPr id="7" name="Shape 5"/>
          <p:cNvSpPr/>
          <p:nvPr/>
        </p:nvSpPr>
        <p:spPr>
          <a:xfrm>
            <a:off x="786384" y="1755648"/>
            <a:ext cx="402336" cy="402336"/>
          </a:xfrm>
          <a:prstGeom prst="ellipse">
            <a:avLst/>
          </a:prstGeom>
          <a:solidFill>
            <a:srgbClr val="0E7C7B"/>
          </a:solidFill>
          <a:ln w="12700">
            <a:solidFill>
              <a:srgbClr val="0E7C7B"/>
            </a:solidFill>
            <a:prstDash val="solid"/>
          </a:ln>
        </p:spPr>
      </p:sp>
      <p:sp>
        <p:nvSpPr>
          <p:cNvPr id="8" name="Text 6"/>
          <p:cNvSpPr txBox="1"/>
          <p:nvPr/>
        </p:nvSpPr>
        <p:spPr>
          <a:xfrm>
            <a:off x="786384" y="17556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335024" y="1655064"/>
            <a:ext cx="10033711" cy="603504"/>
          </a:xfrm>
          <a:prstGeom prst="rect">
            <a:avLst/>
          </a:prstGeom>
          <a:noFill/>
          <a:ln/>
        </p:spPr>
        <p:txBody>
          <a:bodyPr wrap="square" lIns="0" tIns="0" rIns="0" bIns="0" rtlCol="0" anchor="ctr"/>
          <a:lstStyle/>
          <a:p>
            <a:pPr indent="0" marL="0">
              <a:lnSpc>
                <a:spcPct val="105000"/>
              </a:lnSpc>
              <a:buNone/>
            </a:pPr>
            <a:r>
              <a:rPr lang="en-US" sz="1450" b="1" dirty="0">
                <a:solidFill>
                  <a:srgbClr val="1B3A4B"/>
                </a:solidFill>
                <a:latin typeface="Calibri" pitchFamily="34" charset="0"/>
                <a:ea typeface="Calibri" pitchFamily="34" charset="-122"/>
                <a:cs typeface="Calibri" pitchFamily="34" charset="-120"/>
              </a:rPr>
              <a:t>“Class II” is a US term and it does not travel</a:t>
            </a:r>
            <a:endParaRPr lang="en-US" sz="1450" dirty="0"/>
          </a:p>
          <a:p>
            <a:pPr indent="0" marL="0">
              <a:lnSpc>
                <a:spcPct val="105000"/>
              </a:lnSpc>
              <a:buNone/>
            </a:pPr>
            <a:r>
              <a:rPr lang="en-US" sz="1150" dirty="0">
                <a:solidFill>
                  <a:srgbClr val="22333B"/>
                </a:solidFill>
                <a:latin typeface="Calibri" pitchFamily="34" charset="0"/>
                <a:ea typeface="Calibri" pitchFamily="34" charset="-122"/>
                <a:cs typeface="Calibri" pitchFamily="34" charset="-120"/>
              </a:rPr>
              <a:t>Four jurisdictions, four classification systems, four determinations from the same intended purpose. Write the reasoning down for each, at the time.</a:t>
            </a:r>
            <a:endParaRPr lang="en-US" sz="1450" dirty="0"/>
          </a:p>
        </p:txBody>
      </p:sp>
      <p:sp>
        <p:nvSpPr>
          <p:cNvPr id="10" name="Shape 8"/>
          <p:cNvSpPr/>
          <p:nvPr/>
        </p:nvSpPr>
        <p:spPr>
          <a:xfrm>
            <a:off x="548640" y="2505456"/>
            <a:ext cx="11094415" cy="841248"/>
          </a:xfrm>
          <a:prstGeom prst="roundRect">
            <a:avLst>
              <a:gd name="adj" fmla="val 7609"/>
            </a:avLst>
          </a:prstGeom>
          <a:solidFill>
            <a:srgbClr val="F1F5F6"/>
          </a:solidFill>
          <a:ln w="12700">
            <a:solidFill>
              <a:srgbClr val="D7E2E5"/>
            </a:solidFill>
            <a:prstDash val="solid"/>
          </a:ln>
        </p:spPr>
      </p:sp>
      <p:sp>
        <p:nvSpPr>
          <p:cNvPr id="11" name="Shape 9"/>
          <p:cNvSpPr/>
          <p:nvPr/>
        </p:nvSpPr>
        <p:spPr>
          <a:xfrm>
            <a:off x="786384" y="2724912"/>
            <a:ext cx="402336" cy="402336"/>
          </a:xfrm>
          <a:prstGeom prst="ellipse">
            <a:avLst/>
          </a:prstGeom>
          <a:solidFill>
            <a:srgbClr val="2A9D8F"/>
          </a:solidFill>
          <a:ln w="12700">
            <a:solidFill>
              <a:srgbClr val="2A9D8F"/>
            </a:solidFill>
            <a:prstDash val="solid"/>
          </a:ln>
        </p:spPr>
      </p:sp>
      <p:sp>
        <p:nvSpPr>
          <p:cNvPr id="12" name="Text 10"/>
          <p:cNvSpPr txBox="1"/>
          <p:nvPr/>
        </p:nvSpPr>
        <p:spPr>
          <a:xfrm>
            <a:off x="786384" y="272491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335024" y="2624328"/>
            <a:ext cx="10033711" cy="603504"/>
          </a:xfrm>
          <a:prstGeom prst="rect">
            <a:avLst/>
          </a:prstGeom>
          <a:noFill/>
          <a:ln/>
        </p:spPr>
        <p:txBody>
          <a:bodyPr wrap="square" lIns="0" tIns="0" rIns="0" bIns="0" rtlCol="0" anchor="ctr"/>
          <a:lstStyle/>
          <a:p>
            <a:pPr indent="0" marL="0">
              <a:lnSpc>
                <a:spcPct val="105000"/>
              </a:lnSpc>
              <a:buNone/>
            </a:pPr>
            <a:r>
              <a:rPr lang="en-US" sz="1450" b="1" dirty="0">
                <a:solidFill>
                  <a:srgbClr val="1B3A4B"/>
                </a:solidFill>
                <a:latin typeface="Calibri" pitchFamily="34" charset="0"/>
                <a:ea typeface="Calibri" pitchFamily="34" charset="-122"/>
                <a:cs typeface="Calibri" pitchFamily="34" charset="-120"/>
              </a:rPr>
              <a:t>The four regulators ask different questions</a:t>
            </a:r>
            <a:endParaRPr lang="en-US" sz="1450" dirty="0"/>
          </a:p>
          <a:p>
            <a:pPr indent="0" marL="0">
              <a:lnSpc>
                <a:spcPct val="105000"/>
              </a:lnSpc>
              <a:buNone/>
            </a:pPr>
            <a:r>
              <a:rPr lang="en-US" sz="1150" dirty="0">
                <a:solidFill>
                  <a:srgbClr val="22333B"/>
                </a:solidFill>
                <a:latin typeface="Calibri" pitchFamily="34" charset="0"/>
                <a:ea typeface="Calibri" pitchFamily="34" charset="-122"/>
                <a:cs typeface="Calibri" pitchFamily="34" charset="-120"/>
              </a:rPr>
              <a:t>Substantial equivalence, conformity with the GSPRs, conformity with the directives, conformity with a standard. Different questions need different evidence, however similar the device.</a:t>
            </a:r>
            <a:endParaRPr lang="en-US" sz="1450" dirty="0"/>
          </a:p>
        </p:txBody>
      </p:sp>
      <p:sp>
        <p:nvSpPr>
          <p:cNvPr id="14" name="Shape 12"/>
          <p:cNvSpPr/>
          <p:nvPr/>
        </p:nvSpPr>
        <p:spPr>
          <a:xfrm>
            <a:off x="548640" y="3474720"/>
            <a:ext cx="11094415" cy="841248"/>
          </a:xfrm>
          <a:prstGeom prst="roundRect">
            <a:avLst>
              <a:gd name="adj" fmla="val 7609"/>
            </a:avLst>
          </a:prstGeom>
          <a:solidFill>
            <a:srgbClr val="F1F5F6"/>
          </a:solidFill>
          <a:ln w="12700">
            <a:solidFill>
              <a:srgbClr val="D7E2E5"/>
            </a:solidFill>
            <a:prstDash val="solid"/>
          </a:ln>
        </p:spPr>
      </p:sp>
      <p:sp>
        <p:nvSpPr>
          <p:cNvPr id="15" name="Shape 13"/>
          <p:cNvSpPr/>
          <p:nvPr/>
        </p:nvSpPr>
        <p:spPr>
          <a:xfrm>
            <a:off x="786384" y="3694176"/>
            <a:ext cx="402336" cy="402336"/>
          </a:xfrm>
          <a:prstGeom prst="ellipse">
            <a:avLst/>
          </a:prstGeom>
          <a:solidFill>
            <a:srgbClr val="A83A3C"/>
          </a:solidFill>
          <a:ln w="12700">
            <a:solidFill>
              <a:srgbClr val="A83A3C"/>
            </a:solidFill>
            <a:prstDash val="solid"/>
          </a:ln>
        </p:spPr>
      </p:sp>
      <p:sp>
        <p:nvSpPr>
          <p:cNvPr id="16" name="Text 14"/>
          <p:cNvSpPr txBox="1"/>
          <p:nvPr/>
        </p:nvSpPr>
        <p:spPr>
          <a:xfrm>
            <a:off x="786384"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335024" y="3593592"/>
            <a:ext cx="10033711" cy="603504"/>
          </a:xfrm>
          <a:prstGeom prst="rect">
            <a:avLst/>
          </a:prstGeom>
          <a:noFill/>
          <a:ln/>
        </p:spPr>
        <p:txBody>
          <a:bodyPr wrap="square" lIns="0" tIns="0" rIns="0" bIns="0" rtlCol="0" anchor="ctr"/>
          <a:lstStyle/>
          <a:p>
            <a:pPr indent="0" marL="0">
              <a:lnSpc>
                <a:spcPct val="105000"/>
              </a:lnSpc>
              <a:buNone/>
            </a:pPr>
            <a:r>
              <a:rPr lang="en-US" sz="1450" b="1" dirty="0">
                <a:solidFill>
                  <a:srgbClr val="1B3A4B"/>
                </a:solidFill>
                <a:latin typeface="Calibri" pitchFamily="34" charset="0"/>
                <a:ea typeface="Calibri" pitchFamily="34" charset="-122"/>
                <a:cs typeface="Calibri" pitchFamily="34" charset="-120"/>
              </a:rPr>
              <a:t>Clinical evidence is the incompressible item</a:t>
            </a:r>
            <a:endParaRPr lang="en-US" sz="1450" dirty="0"/>
          </a:p>
          <a:p>
            <a:pPr indent="0" marL="0">
              <a:lnSpc>
                <a:spcPct val="105000"/>
              </a:lnSpc>
              <a:buNone/>
            </a:pPr>
            <a:r>
              <a:rPr lang="en-US" sz="1150" dirty="0">
                <a:solidFill>
                  <a:srgbClr val="22333B"/>
                </a:solidFill>
                <a:latin typeface="Calibri" pitchFamily="34" charset="0"/>
                <a:ea typeface="Calibri" pitchFamily="34" charset="-122"/>
                <a:cs typeface="Calibri" pitchFamily="34" charset="-120"/>
              </a:rPr>
              <a:t>It is the largest gap between an FDA clearance and a CE certificate, and the only workstream you cannot accelerate with money. Start it on day one.</a:t>
            </a:r>
            <a:endParaRPr lang="en-US" sz="1450" dirty="0"/>
          </a:p>
        </p:txBody>
      </p:sp>
      <p:sp>
        <p:nvSpPr>
          <p:cNvPr id="18" name="Shape 16"/>
          <p:cNvSpPr/>
          <p:nvPr/>
        </p:nvSpPr>
        <p:spPr>
          <a:xfrm>
            <a:off x="548640" y="4443984"/>
            <a:ext cx="11094415" cy="841248"/>
          </a:xfrm>
          <a:prstGeom prst="roundRect">
            <a:avLst>
              <a:gd name="adj" fmla="val 7609"/>
            </a:avLst>
          </a:prstGeom>
          <a:solidFill>
            <a:srgbClr val="F1F5F6"/>
          </a:solidFill>
          <a:ln w="12700">
            <a:solidFill>
              <a:srgbClr val="D7E2E5"/>
            </a:solidFill>
            <a:prstDash val="solid"/>
          </a:ln>
        </p:spPr>
      </p:sp>
      <p:sp>
        <p:nvSpPr>
          <p:cNvPr id="19" name="Shape 17"/>
          <p:cNvSpPr/>
          <p:nvPr/>
        </p:nvSpPr>
        <p:spPr>
          <a:xfrm>
            <a:off x="786384" y="4663440"/>
            <a:ext cx="402336" cy="402336"/>
          </a:xfrm>
          <a:prstGeom prst="ellipse">
            <a:avLst/>
          </a:prstGeom>
          <a:solidFill>
            <a:srgbClr val="C77C1E"/>
          </a:solidFill>
          <a:ln w="12700">
            <a:solidFill>
              <a:srgbClr val="C77C1E"/>
            </a:solidFill>
            <a:prstDash val="solid"/>
          </a:ln>
        </p:spPr>
      </p:sp>
      <p:sp>
        <p:nvSpPr>
          <p:cNvPr id="20" name="Text 18"/>
          <p:cNvSpPr txBox="1"/>
          <p:nvPr/>
        </p:nvSpPr>
        <p:spPr>
          <a:xfrm>
            <a:off x="786384" y="466344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1335024" y="4562856"/>
            <a:ext cx="10033711" cy="603504"/>
          </a:xfrm>
          <a:prstGeom prst="rect">
            <a:avLst/>
          </a:prstGeom>
          <a:noFill/>
          <a:ln/>
        </p:spPr>
        <p:txBody>
          <a:bodyPr wrap="square" lIns="0" tIns="0" rIns="0" bIns="0" rtlCol="0" anchor="ctr"/>
          <a:lstStyle/>
          <a:p>
            <a:pPr indent="0" marL="0">
              <a:lnSpc>
                <a:spcPct val="105000"/>
              </a:lnSpc>
              <a:buNone/>
            </a:pPr>
            <a:r>
              <a:rPr lang="en-US" sz="1450" b="1" dirty="0">
                <a:solidFill>
                  <a:srgbClr val="1B3A4B"/>
                </a:solidFill>
                <a:latin typeface="Calibri" pitchFamily="34" charset="0"/>
                <a:ea typeface="Calibri" pitchFamily="34" charset="-122"/>
                <a:cs typeface="Calibri" pitchFamily="34" charset="-120"/>
              </a:rPr>
              <a:t>Know what is in force, adopted, and merely proposed</a:t>
            </a:r>
            <a:endParaRPr lang="en-US" sz="1450" dirty="0"/>
          </a:p>
          <a:p>
            <a:pPr indent="0" marL="0">
              <a:lnSpc>
                <a:spcPct val="105000"/>
              </a:lnSpc>
              <a:buNone/>
            </a:pPr>
            <a:r>
              <a:rPr lang="en-US" sz="1150" dirty="0">
                <a:solidFill>
                  <a:srgbClr val="22333B"/>
                </a:solidFill>
                <a:latin typeface="Calibri" pitchFamily="34" charset="0"/>
                <a:ea typeface="Calibri" pitchFamily="34" charset="-122"/>
                <a:cs typeface="Calibri" pitchFamily="34" charset="-120"/>
              </a:rPr>
              <a:t>The EU simplification package is a proposal. The UK pre-market framework is an intention. The UK post-market regulations are law. Plan on the third category only.</a:t>
            </a:r>
            <a:endParaRPr lang="en-US" sz="1450" dirty="0"/>
          </a:p>
        </p:txBody>
      </p:sp>
      <p:sp>
        <p:nvSpPr>
          <p:cNvPr id="22" name="Shape 20"/>
          <p:cNvSpPr/>
          <p:nvPr/>
        </p:nvSpPr>
        <p:spPr>
          <a:xfrm>
            <a:off x="548640" y="5413248"/>
            <a:ext cx="11094415" cy="841248"/>
          </a:xfrm>
          <a:prstGeom prst="roundRect">
            <a:avLst>
              <a:gd name="adj" fmla="val 7609"/>
            </a:avLst>
          </a:prstGeom>
          <a:solidFill>
            <a:srgbClr val="F1F5F6"/>
          </a:solidFill>
          <a:ln w="12700">
            <a:solidFill>
              <a:srgbClr val="D7E2E5"/>
            </a:solidFill>
            <a:prstDash val="solid"/>
          </a:ln>
        </p:spPr>
      </p:sp>
      <p:sp>
        <p:nvSpPr>
          <p:cNvPr id="23" name="Shape 21"/>
          <p:cNvSpPr/>
          <p:nvPr/>
        </p:nvSpPr>
        <p:spPr>
          <a:xfrm>
            <a:off x="786384" y="5632704"/>
            <a:ext cx="402336" cy="402336"/>
          </a:xfrm>
          <a:prstGeom prst="ellipse">
            <a:avLst/>
          </a:prstGeom>
          <a:solidFill>
            <a:srgbClr val="0E7C7B"/>
          </a:solidFill>
          <a:ln w="12700">
            <a:solidFill>
              <a:srgbClr val="0E7C7B"/>
            </a:solidFill>
            <a:prstDash val="solid"/>
          </a:ln>
        </p:spPr>
      </p:sp>
      <p:sp>
        <p:nvSpPr>
          <p:cNvPr id="24" name="Text 22"/>
          <p:cNvSpPr txBox="1"/>
          <p:nvPr/>
        </p:nvSpPr>
        <p:spPr>
          <a:xfrm>
            <a:off x="786384" y="563270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5" name="Text 23"/>
          <p:cNvSpPr txBox="1"/>
          <p:nvPr/>
        </p:nvSpPr>
        <p:spPr>
          <a:xfrm>
            <a:off x="1335024" y="5532120"/>
            <a:ext cx="10033711" cy="603504"/>
          </a:xfrm>
          <a:prstGeom prst="rect">
            <a:avLst/>
          </a:prstGeom>
          <a:noFill/>
          <a:ln/>
        </p:spPr>
        <p:txBody>
          <a:bodyPr wrap="square" lIns="0" tIns="0" rIns="0" bIns="0" rtlCol="0" anchor="ctr"/>
          <a:lstStyle/>
          <a:p>
            <a:pPr indent="0" marL="0">
              <a:lnSpc>
                <a:spcPct val="105000"/>
              </a:lnSpc>
              <a:buNone/>
            </a:pPr>
            <a:r>
              <a:rPr lang="en-US" sz="1450" b="1" dirty="0">
                <a:solidFill>
                  <a:srgbClr val="1B3A4B"/>
                </a:solidFill>
                <a:latin typeface="Calibri" pitchFamily="34" charset="0"/>
                <a:ea typeface="Calibri" pitchFamily="34" charset="-122"/>
                <a:cs typeface="Calibri" pitchFamily="34" charset="-120"/>
              </a:rPr>
              <a:t>The expensive decisions are made early and cheaply</a:t>
            </a:r>
            <a:endParaRPr lang="en-US" sz="1450" dirty="0"/>
          </a:p>
          <a:p>
            <a:pPr indent="0" marL="0">
              <a:lnSpc>
                <a:spcPct val="105000"/>
              </a:lnSpc>
              <a:buNone/>
            </a:pPr>
            <a:r>
              <a:rPr lang="en-US" sz="1150" dirty="0">
                <a:solidFill>
                  <a:srgbClr val="22333B"/>
                </a:solidFill>
                <a:latin typeface="Calibri" pitchFamily="34" charset="0"/>
                <a:ea typeface="Calibri" pitchFamily="34" charset="-122"/>
                <a:cs typeface="Calibri" pitchFamily="34" charset="-120"/>
              </a:rPr>
              <a:t>The intended purpose sentence, the predicate, the notified body, the DMAH agreement. None feels like a major decision at the time; all are costly to reverse.</a:t>
            </a:r>
            <a:endParaRPr lang="en-US" sz="14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RESOURCES</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Where to go next</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Global Market Entry  |  US · EU · UK · Japan</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52</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Primary sources only. Confirm current versions before relying on any of these — several are moving.</a:t>
            </a:r>
            <a:endParaRPr lang="en-US" sz="1400" dirty="0"/>
          </a:p>
        </p:txBody>
      </p:sp>
      <p:sp>
        <p:nvSpPr>
          <p:cNvPr id="7" name="Text 5"/>
          <p:cNvSpPr txBox="1"/>
          <p:nvPr/>
        </p:nvSpPr>
        <p:spPr>
          <a:xfrm>
            <a:off x="548640" y="1828800"/>
            <a:ext cx="5394960" cy="256032"/>
          </a:xfrm>
          <a:prstGeom prst="rect">
            <a:avLst/>
          </a:prstGeom>
          <a:noFill/>
          <a:ln/>
        </p:spPr>
        <p:txBody>
          <a:bodyPr wrap="square" lIns="0" tIns="0" rIns="0" bIns="0" rtlCol="0" anchor="ctr"/>
          <a:lstStyle/>
          <a:p>
            <a:pPr indent="0" marL="0">
              <a:buNone/>
            </a:pPr>
            <a:r>
              <a:rPr lang="en-US" sz="1100" b="1" spc="120" kern="0" dirty="0">
                <a:solidFill>
                  <a:srgbClr val="0E7C7B"/>
                </a:solidFill>
                <a:latin typeface="Calibri" pitchFamily="34" charset="0"/>
                <a:ea typeface="Calibri" pitchFamily="34" charset="-122"/>
                <a:cs typeface="Calibri" pitchFamily="34" charset="-120"/>
              </a:rPr>
              <a:t>EUROPEAN UNION</a:t>
            </a:r>
            <a:endParaRPr lang="en-US" sz="1100" dirty="0"/>
          </a:p>
        </p:txBody>
      </p:sp>
      <p:sp>
        <p:nvSpPr>
          <p:cNvPr id="8" name="Shape 6"/>
          <p:cNvSpPr/>
          <p:nvPr/>
        </p:nvSpPr>
        <p:spPr>
          <a:xfrm>
            <a:off x="548640" y="2139696"/>
            <a:ext cx="5394960" cy="3877056"/>
          </a:xfrm>
          <a:prstGeom prst="roundRect">
            <a:avLst>
              <a:gd name="adj" fmla="val 1651"/>
            </a:avLst>
          </a:prstGeom>
          <a:solidFill>
            <a:srgbClr val="F1F5F6"/>
          </a:solidFill>
          <a:ln w="12700">
            <a:solidFill>
              <a:srgbClr val="D7E2E5"/>
            </a:solidFill>
            <a:prstDash val="solid"/>
          </a:ln>
        </p:spPr>
      </p:sp>
      <p:sp>
        <p:nvSpPr>
          <p:cNvPr id="9" name="Text 7"/>
          <p:cNvSpPr txBox="1"/>
          <p:nvPr/>
        </p:nvSpPr>
        <p:spPr>
          <a:xfrm>
            <a:off x="786384" y="2322576"/>
            <a:ext cx="4919472" cy="3511296"/>
          </a:xfrm>
          <a:prstGeom prst="rect">
            <a:avLst/>
          </a:prstGeom>
          <a:noFill/>
          <a:ln/>
        </p:spPr>
        <p:txBody>
          <a:bodyPr wrap="square" lIns="0" tIns="0" rIns="0" bIns="0" rtlCol="0" anchor="t"/>
          <a:lstStyle/>
          <a:p>
            <a:pPr marL="203200" indent="-203200">
              <a:lnSpc>
                <a:spcPct val="108000"/>
              </a:lnSpc>
              <a:spcAft>
                <a:spcPts val="700"/>
              </a:spcAft>
              <a:buSzPct val="100000"/>
              <a:buChar char="•"/>
            </a:pPr>
            <a:r>
              <a:rPr lang="en-US" sz="1040" dirty="0">
                <a:solidFill>
                  <a:srgbClr val="22333B"/>
                </a:solidFill>
                <a:latin typeface="Calibri" pitchFamily="34" charset="0"/>
                <a:ea typeface="Calibri" pitchFamily="34" charset="-122"/>
                <a:cs typeface="Calibri" pitchFamily="34" charset="-120"/>
              </a:rPr>
              <a:t>Regulation (EU) 2017/745 (MDR) — the consolidated text on EUR-Lex, not a summary</a:t>
            </a:r>
            <a:endParaRPr lang="en-US" sz="1040" dirty="0"/>
          </a:p>
          <a:p>
            <a:pPr marL="203200" indent="-203200">
              <a:lnSpc>
                <a:spcPct val="108000"/>
              </a:lnSpc>
              <a:spcAft>
                <a:spcPts val="700"/>
              </a:spcAft>
              <a:buSzPct val="100000"/>
              <a:buChar char="•"/>
            </a:pPr>
            <a:r>
              <a:rPr lang="en-US" sz="1040" dirty="0">
                <a:solidFill>
                  <a:srgbClr val="22333B"/>
                </a:solidFill>
                <a:latin typeface="Calibri" pitchFamily="34" charset="0"/>
                <a:ea typeface="Calibri" pitchFamily="34" charset="-122"/>
                <a:cs typeface="Calibri" pitchFamily="34" charset="-120"/>
              </a:rPr>
              <a:t>Regulation (EU) 2023/607 — the extended transition and its conditions</a:t>
            </a:r>
            <a:endParaRPr lang="en-US" sz="1040" dirty="0"/>
          </a:p>
          <a:p>
            <a:pPr marL="203200" indent="-203200">
              <a:lnSpc>
                <a:spcPct val="108000"/>
              </a:lnSpc>
              <a:spcAft>
                <a:spcPts val="700"/>
              </a:spcAft>
              <a:buSzPct val="100000"/>
              <a:buChar char="•"/>
            </a:pPr>
            <a:r>
              <a:rPr lang="en-US" sz="1040" dirty="0">
                <a:solidFill>
                  <a:srgbClr val="22333B"/>
                </a:solidFill>
                <a:latin typeface="Calibri" pitchFamily="34" charset="0"/>
                <a:ea typeface="Calibri" pitchFamily="34" charset="-122"/>
                <a:cs typeface="Calibri" pitchFamily="34" charset="-120"/>
              </a:rPr>
              <a:t>COM(2025) 1023 final, procedure 2025/0404(COD) — the simplification proposal. Check its current stage</a:t>
            </a:r>
            <a:endParaRPr lang="en-US" sz="1040" dirty="0"/>
          </a:p>
          <a:p>
            <a:pPr marL="203200" indent="-203200">
              <a:lnSpc>
                <a:spcPct val="108000"/>
              </a:lnSpc>
              <a:spcAft>
                <a:spcPts val="700"/>
              </a:spcAft>
              <a:buSzPct val="100000"/>
              <a:buChar char="•"/>
            </a:pPr>
            <a:r>
              <a:rPr lang="en-US" sz="1040" dirty="0">
                <a:solidFill>
                  <a:srgbClr val="22333B"/>
                </a:solidFill>
                <a:latin typeface="Calibri" pitchFamily="34" charset="0"/>
                <a:ea typeface="Calibri" pitchFamily="34" charset="-122"/>
                <a:cs typeface="Calibri" pitchFamily="34" charset="-120"/>
              </a:rPr>
              <a:t>MDCG guidance, especially 2020-5 and 2020-6 on equivalence and legacy clinical data</a:t>
            </a:r>
            <a:endParaRPr lang="en-US" sz="1040" dirty="0"/>
          </a:p>
          <a:p>
            <a:pPr marL="203200" indent="-203200">
              <a:lnSpc>
                <a:spcPct val="108000"/>
              </a:lnSpc>
              <a:spcAft>
                <a:spcPts val="700"/>
              </a:spcAft>
              <a:buSzPct val="100000"/>
              <a:buChar char="•"/>
            </a:pPr>
            <a:r>
              <a:rPr lang="en-US" sz="1040" dirty="0">
                <a:solidFill>
                  <a:srgbClr val="22333B"/>
                </a:solidFill>
                <a:latin typeface="Calibri" pitchFamily="34" charset="0"/>
                <a:ea typeface="Calibri" pitchFamily="34" charset="-122"/>
                <a:cs typeface="Calibri" pitchFamily="34" charset="-120"/>
              </a:rPr>
              <a:t>The European Commission's EUDAMED pages — for which modules are mandatory today</a:t>
            </a:r>
            <a:endParaRPr lang="en-US" sz="1040" dirty="0"/>
          </a:p>
          <a:p>
            <a:pPr marL="203200" indent="-203200">
              <a:lnSpc>
                <a:spcPct val="108000"/>
              </a:lnSpc>
              <a:spcAft>
                <a:spcPts val="700"/>
              </a:spcAft>
              <a:buSzPct val="100000"/>
              <a:buChar char="•"/>
            </a:pPr>
            <a:r>
              <a:rPr lang="en-US" sz="1040" dirty="0">
                <a:solidFill>
                  <a:srgbClr val="22333B"/>
                </a:solidFill>
                <a:latin typeface="Calibri" pitchFamily="34" charset="0"/>
                <a:ea typeface="Calibri" pitchFamily="34" charset="-122"/>
                <a:cs typeface="Calibri" pitchFamily="34" charset="-120"/>
              </a:rPr>
              <a:t>NANDO — the notified body designation database, for scope and codes</a:t>
            </a:r>
            <a:endParaRPr lang="en-US" sz="1040" dirty="0"/>
          </a:p>
        </p:txBody>
      </p:sp>
      <p:sp>
        <p:nvSpPr>
          <p:cNvPr id="10" name="Text 8"/>
          <p:cNvSpPr txBox="1"/>
          <p:nvPr/>
        </p:nvSpPr>
        <p:spPr>
          <a:xfrm>
            <a:off x="6245352" y="1828800"/>
            <a:ext cx="5394960" cy="256032"/>
          </a:xfrm>
          <a:prstGeom prst="rect">
            <a:avLst/>
          </a:prstGeom>
          <a:noFill/>
          <a:ln/>
        </p:spPr>
        <p:txBody>
          <a:bodyPr wrap="square" lIns="0" tIns="0" rIns="0" bIns="0" rtlCol="0" anchor="ctr"/>
          <a:lstStyle/>
          <a:p>
            <a:pPr indent="0" marL="0">
              <a:buNone/>
            </a:pPr>
            <a:r>
              <a:rPr lang="en-US" sz="1100" b="1" spc="120" kern="0" dirty="0">
                <a:solidFill>
                  <a:srgbClr val="C77C1E"/>
                </a:solidFill>
                <a:latin typeface="Calibri" pitchFamily="34" charset="0"/>
                <a:ea typeface="Calibri" pitchFamily="34" charset="-122"/>
                <a:cs typeface="Calibri" pitchFamily="34" charset="-120"/>
              </a:rPr>
              <a:t>UNITED KINGDOM, UNITED STATES AND JAPAN</a:t>
            </a:r>
            <a:endParaRPr lang="en-US" sz="1100" dirty="0"/>
          </a:p>
        </p:txBody>
      </p:sp>
      <p:sp>
        <p:nvSpPr>
          <p:cNvPr id="11" name="Shape 9"/>
          <p:cNvSpPr/>
          <p:nvPr/>
        </p:nvSpPr>
        <p:spPr>
          <a:xfrm>
            <a:off x="6245352" y="2139696"/>
            <a:ext cx="5394960" cy="3877056"/>
          </a:xfrm>
          <a:prstGeom prst="roundRect">
            <a:avLst>
              <a:gd name="adj" fmla="val 1651"/>
            </a:avLst>
          </a:prstGeom>
          <a:solidFill>
            <a:srgbClr val="FBF0E2"/>
          </a:solidFill>
          <a:ln w="12700">
            <a:solidFill>
              <a:srgbClr val="E3C893"/>
            </a:solidFill>
            <a:prstDash val="solid"/>
          </a:ln>
        </p:spPr>
      </p:sp>
      <p:sp>
        <p:nvSpPr>
          <p:cNvPr id="12" name="Text 10"/>
          <p:cNvSpPr txBox="1"/>
          <p:nvPr/>
        </p:nvSpPr>
        <p:spPr>
          <a:xfrm>
            <a:off x="6483096" y="2322576"/>
            <a:ext cx="4919472" cy="3511296"/>
          </a:xfrm>
          <a:prstGeom prst="rect">
            <a:avLst/>
          </a:prstGeom>
          <a:noFill/>
          <a:ln/>
        </p:spPr>
        <p:txBody>
          <a:bodyPr wrap="square" lIns="0" tIns="0" rIns="0" bIns="0" rtlCol="0" anchor="t"/>
          <a:lstStyle/>
          <a:p>
            <a:pPr marL="203200" indent="-203200">
              <a:lnSpc>
                <a:spcPct val="108000"/>
              </a:lnSpc>
              <a:spcAft>
                <a:spcPts val="700"/>
              </a:spcAft>
              <a:buSzPct val="100000"/>
              <a:buChar char="•"/>
            </a:pPr>
            <a:r>
              <a:rPr lang="en-US" sz="1040" dirty="0">
                <a:solidFill>
                  <a:srgbClr val="22333B"/>
                </a:solidFill>
                <a:latin typeface="Calibri" pitchFamily="34" charset="0"/>
                <a:ea typeface="Calibri" pitchFamily="34" charset="-122"/>
                <a:cs typeface="Calibri" pitchFamily="34" charset="-120"/>
              </a:rPr>
              <a:t>gov.uk — Regulating medical devices in the UK: the acceptance dates and registration guidance</a:t>
            </a:r>
            <a:endParaRPr lang="en-US" sz="1040" dirty="0"/>
          </a:p>
          <a:p>
            <a:pPr marL="203200" indent="-203200">
              <a:lnSpc>
                <a:spcPct val="108000"/>
              </a:lnSpc>
              <a:spcAft>
                <a:spcPts val="700"/>
              </a:spcAft>
              <a:buSzPct val="100000"/>
              <a:buChar char="•"/>
            </a:pPr>
            <a:r>
              <a:rPr lang="en-US" sz="1040" dirty="0">
                <a:solidFill>
                  <a:srgbClr val="22333B"/>
                </a:solidFill>
                <a:latin typeface="Calibri" pitchFamily="34" charset="0"/>
                <a:ea typeface="Calibri" pitchFamily="34" charset="-122"/>
                <a:cs typeface="Calibri" pitchFamily="34" charset="-120"/>
              </a:rPr>
              <a:t>The Medical Devices Regulations 2002 on legislation.gov.uk, including Schedule 2A</a:t>
            </a:r>
            <a:endParaRPr lang="en-US" sz="1040" dirty="0"/>
          </a:p>
          <a:p>
            <a:pPr marL="203200" indent="-203200">
              <a:lnSpc>
                <a:spcPct val="108000"/>
              </a:lnSpc>
              <a:spcAft>
                <a:spcPts val="700"/>
              </a:spcAft>
              <a:buSzPct val="100000"/>
              <a:buChar char="•"/>
            </a:pPr>
            <a:r>
              <a:rPr lang="en-US" sz="1040" dirty="0">
                <a:solidFill>
                  <a:srgbClr val="22333B"/>
                </a:solidFill>
                <a:latin typeface="Calibri" pitchFamily="34" charset="0"/>
                <a:ea typeface="Calibri" pitchFamily="34" charset="-122"/>
                <a:cs typeface="Calibri" pitchFamily="34" charset="-120"/>
              </a:rPr>
              <a:t>The Medical Devices (Post-market Surveillance Requirements) Regulations 2024</a:t>
            </a:r>
            <a:endParaRPr lang="en-US" sz="1040" dirty="0"/>
          </a:p>
          <a:p>
            <a:pPr marL="203200" indent="-203200">
              <a:lnSpc>
                <a:spcPct val="108000"/>
              </a:lnSpc>
              <a:spcAft>
                <a:spcPts val="700"/>
              </a:spcAft>
              <a:buSzPct val="100000"/>
              <a:buChar char="•"/>
            </a:pPr>
            <a:r>
              <a:rPr lang="en-US" sz="1040" dirty="0">
                <a:solidFill>
                  <a:srgbClr val="22333B"/>
                </a:solidFill>
                <a:latin typeface="Calibri" pitchFamily="34" charset="0"/>
                <a:ea typeface="Calibri" pitchFamily="34" charset="-122"/>
                <a:cs typeface="Calibri" pitchFamily="34" charset="-120"/>
              </a:rPr>
              <a:t>The MHRA's list of UK Approved Bodies and their scopes</a:t>
            </a:r>
            <a:endParaRPr lang="en-US" sz="1040" dirty="0"/>
          </a:p>
          <a:p>
            <a:pPr marL="203200" indent="-203200">
              <a:lnSpc>
                <a:spcPct val="108000"/>
              </a:lnSpc>
              <a:spcAft>
                <a:spcPts val="700"/>
              </a:spcAft>
              <a:buSzPct val="100000"/>
              <a:buChar char="•"/>
            </a:pPr>
            <a:r>
              <a:rPr lang="en-US" sz="1040" dirty="0">
                <a:solidFill>
                  <a:srgbClr val="22333B"/>
                </a:solidFill>
                <a:latin typeface="Calibri" pitchFamily="34" charset="0"/>
                <a:ea typeface="Calibri" pitchFamily="34" charset="-122"/>
                <a:cs typeface="Calibri" pitchFamily="34" charset="-120"/>
              </a:rPr>
              <a:t>FDA — the classification database, the product code, and the applicable special controls</a:t>
            </a:r>
            <a:endParaRPr lang="en-US" sz="1040" dirty="0"/>
          </a:p>
          <a:p>
            <a:pPr marL="203200" indent="-203200">
              <a:lnSpc>
                <a:spcPct val="108000"/>
              </a:lnSpc>
              <a:spcAft>
                <a:spcPts val="700"/>
              </a:spcAft>
              <a:buSzPct val="100000"/>
              <a:buChar char="•"/>
            </a:pPr>
            <a:r>
              <a:rPr lang="en-US" sz="1040" dirty="0">
                <a:solidFill>
                  <a:srgbClr val="22333B"/>
                </a:solidFill>
                <a:latin typeface="Calibri" pitchFamily="34" charset="0"/>
                <a:ea typeface="Calibri" pitchFamily="34" charset="-122"/>
                <a:cs typeface="Calibri" pitchFamily="34" charset="-120"/>
              </a:rPr>
              <a:t>FDA guidance on the 510(k) programme, De Novo, and the QMSR</a:t>
            </a:r>
            <a:endParaRPr lang="en-US" sz="1040" dirty="0"/>
          </a:p>
          <a:p>
            <a:pPr marL="203200" indent="-203200">
              <a:lnSpc>
                <a:spcPct val="108000"/>
              </a:lnSpc>
              <a:spcAft>
                <a:spcPts val="700"/>
              </a:spcAft>
              <a:buSzPct val="100000"/>
              <a:buChar char="•"/>
            </a:pPr>
            <a:r>
              <a:rPr lang="en-US" sz="1040" dirty="0">
                <a:solidFill>
                  <a:srgbClr val="22333B"/>
                </a:solidFill>
                <a:latin typeface="Calibri" pitchFamily="34" charset="0"/>
                <a:ea typeface="Calibri" pitchFamily="34" charset="-122"/>
                <a:cs typeface="Calibri" pitchFamily="34" charset="-120"/>
              </a:rPr>
              <a:t>PMDA — Regulations and Approval/Certification of Medical Devices, and the JMDN listings</a:t>
            </a:r>
            <a:endParaRPr lang="en-US" sz="1040" dirty="0"/>
          </a:p>
          <a:p>
            <a:pPr marL="203200" indent="-203200">
              <a:lnSpc>
                <a:spcPct val="108000"/>
              </a:lnSpc>
              <a:spcAft>
                <a:spcPts val="700"/>
              </a:spcAft>
              <a:buSzPct val="100000"/>
              <a:buChar char="•"/>
            </a:pPr>
            <a:r>
              <a:rPr lang="en-US" sz="1040" dirty="0">
                <a:solidFill>
                  <a:srgbClr val="22333B"/>
                </a:solidFill>
                <a:latin typeface="Calibri" pitchFamily="34" charset="0"/>
                <a:ea typeface="Calibri" pitchFamily="34" charset="-122"/>
                <a:cs typeface="Calibri" pitchFamily="34" charset="-120"/>
              </a:rPr>
              <a:t>MDSAP programme documents — for which regulators accept what</a:t>
            </a:r>
            <a:endParaRPr lang="en-US" sz="104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2232E"/>
        </a:solidFill>
      </p:bgPr>
    </p:bg>
    <p:spTree>
      <p:nvGrpSpPr>
        <p:cNvPr id="1" name=""/>
        <p:cNvGrpSpPr/>
        <p:nvPr/>
      </p:nvGrpSpPr>
      <p:grpSpPr>
        <a:xfrm>
          <a:off x="0" y="0"/>
          <a:ext cx="0" cy="0"/>
          <a:chOff x="0" y="0"/>
          <a:chExt cx="0" cy="0"/>
        </a:xfrm>
      </p:grpSpPr>
      <p:sp>
        <p:nvSpPr>
          <p:cNvPr id="2" name="Text 0"/>
          <p:cNvSpPr txBox="1"/>
          <p:nvPr/>
        </p:nvSpPr>
        <p:spPr>
          <a:xfrm>
            <a:off x="548640" y="1371600"/>
            <a:ext cx="11094415" cy="310896"/>
          </a:xfrm>
          <a:prstGeom prst="rect">
            <a:avLst/>
          </a:prstGeom>
          <a:noFill/>
          <a:ln/>
        </p:spPr>
        <p:txBody>
          <a:bodyPr wrap="square" lIns="0" tIns="0" rIns="0" bIns="0" rtlCol="0" anchor="ctr"/>
          <a:lstStyle/>
          <a:p>
            <a:pPr indent="0" marL="0">
              <a:buNone/>
            </a:pPr>
            <a:r>
              <a:rPr lang="en-US" sz="1300" b="1" spc="240" kern="0" dirty="0">
                <a:solidFill>
                  <a:srgbClr val="2A9D8F"/>
                </a:solidFill>
                <a:latin typeface="Calibri" pitchFamily="34" charset="0"/>
                <a:ea typeface="Calibri" pitchFamily="34" charset="-122"/>
                <a:cs typeface="Calibri" pitchFamily="34" charset="-120"/>
              </a:rPr>
              <a:t>DISCUSSION</a:t>
            </a:r>
            <a:endParaRPr lang="en-US" sz="1300" dirty="0"/>
          </a:p>
        </p:txBody>
      </p:sp>
      <p:sp>
        <p:nvSpPr>
          <p:cNvPr id="3" name="Text 1"/>
          <p:cNvSpPr txBox="1"/>
          <p:nvPr/>
        </p:nvSpPr>
        <p:spPr>
          <a:xfrm>
            <a:off x="548640" y="1755648"/>
            <a:ext cx="73152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Questions</a:t>
            </a:r>
            <a:endParaRPr lang="en-US" sz="4000" dirty="0"/>
          </a:p>
        </p:txBody>
      </p:sp>
      <p:sp>
        <p:nvSpPr>
          <p:cNvPr id="4" name="Text 2"/>
          <p:cNvSpPr txBox="1"/>
          <p:nvPr/>
        </p:nvSpPr>
        <p:spPr>
          <a:xfrm>
            <a:off x="548640" y="2743200"/>
            <a:ext cx="7315200" cy="310896"/>
          </a:xfrm>
          <a:prstGeom prst="rect">
            <a:avLst/>
          </a:prstGeom>
          <a:noFill/>
          <a:ln/>
        </p:spPr>
        <p:txBody>
          <a:bodyPr wrap="square" lIns="0" tIns="0" rIns="0" bIns="0" rtlCol="0" anchor="ctr"/>
          <a:lstStyle/>
          <a:p>
            <a:pPr indent="0" marL="0">
              <a:buNone/>
            </a:pPr>
            <a:r>
              <a:rPr lang="en-US" sz="1300" i="1" dirty="0">
                <a:solidFill>
                  <a:srgbClr val="8FA6AE"/>
                </a:solidFill>
                <a:latin typeface="Calibri" pitchFamily="34" charset="0"/>
                <a:ea typeface="Calibri" pitchFamily="34" charset="-122"/>
                <a:cs typeface="Calibri" pitchFamily="34" charset="-120"/>
              </a:rPr>
              <a:t>If the room is quiet, start here:</a:t>
            </a:r>
            <a:endParaRPr lang="en-US" sz="1300" dirty="0"/>
          </a:p>
        </p:txBody>
      </p:sp>
      <p:sp>
        <p:nvSpPr>
          <p:cNvPr id="5" name="Shape 3"/>
          <p:cNvSpPr/>
          <p:nvPr/>
        </p:nvSpPr>
        <p:spPr>
          <a:xfrm>
            <a:off x="548640" y="3145536"/>
            <a:ext cx="9692640" cy="512064"/>
          </a:xfrm>
          <a:prstGeom prst="roundRect">
            <a:avLst>
              <a:gd name="adj" fmla="val 8929"/>
            </a:avLst>
          </a:prstGeom>
          <a:solidFill>
            <a:srgbClr val="1D3644"/>
          </a:solidFill>
          <a:ln w="12700">
            <a:solidFill>
              <a:srgbClr val="2E5162"/>
            </a:solidFill>
            <a:prstDash val="solid"/>
          </a:ln>
        </p:spPr>
      </p:sp>
      <p:sp>
        <p:nvSpPr>
          <p:cNvPr id="6" name="Text 4"/>
          <p:cNvSpPr txBox="1"/>
          <p:nvPr/>
        </p:nvSpPr>
        <p:spPr>
          <a:xfrm>
            <a:off x="822960" y="3145536"/>
            <a:ext cx="9144000" cy="512064"/>
          </a:xfrm>
          <a:prstGeom prst="rect">
            <a:avLst/>
          </a:prstGeom>
          <a:noFill/>
          <a:ln/>
        </p:spPr>
        <p:txBody>
          <a:bodyPr wrap="square" lIns="0" tIns="0" rIns="0" bIns="0" rtlCol="0" anchor="ctr"/>
          <a:lstStyle/>
          <a:p>
            <a:pPr indent="0" marL="0">
              <a:buNone/>
            </a:pPr>
            <a:r>
              <a:rPr lang="en-US" sz="1200" dirty="0">
                <a:solidFill>
                  <a:srgbClr val="D3E2E6"/>
                </a:solidFill>
                <a:latin typeface="Calibri" pitchFamily="34" charset="0"/>
                <a:ea typeface="Calibri" pitchFamily="34" charset="-122"/>
                <a:cs typeface="Calibri" pitchFamily="34" charset="-120"/>
              </a:rPr>
              <a:t>Can you state your device's class in all four markets right now — and show the reasoning?</a:t>
            </a:r>
            <a:endParaRPr lang="en-US" sz="1200" dirty="0"/>
          </a:p>
        </p:txBody>
      </p:sp>
      <p:sp>
        <p:nvSpPr>
          <p:cNvPr id="7" name="Shape 5"/>
          <p:cNvSpPr/>
          <p:nvPr/>
        </p:nvSpPr>
        <p:spPr>
          <a:xfrm>
            <a:off x="548640" y="3749040"/>
            <a:ext cx="9692640" cy="512064"/>
          </a:xfrm>
          <a:prstGeom prst="roundRect">
            <a:avLst>
              <a:gd name="adj" fmla="val 8929"/>
            </a:avLst>
          </a:prstGeom>
          <a:solidFill>
            <a:srgbClr val="1D3644"/>
          </a:solidFill>
          <a:ln w="12700">
            <a:solidFill>
              <a:srgbClr val="2E5162"/>
            </a:solidFill>
            <a:prstDash val="solid"/>
          </a:ln>
        </p:spPr>
      </p:sp>
      <p:sp>
        <p:nvSpPr>
          <p:cNvPr id="8" name="Text 6"/>
          <p:cNvSpPr txBox="1"/>
          <p:nvPr/>
        </p:nvSpPr>
        <p:spPr>
          <a:xfrm>
            <a:off x="822960" y="3749040"/>
            <a:ext cx="9144000" cy="512064"/>
          </a:xfrm>
          <a:prstGeom prst="rect">
            <a:avLst/>
          </a:prstGeom>
          <a:noFill/>
          <a:ln/>
        </p:spPr>
        <p:txBody>
          <a:bodyPr wrap="square" lIns="0" tIns="0" rIns="0" bIns="0" rtlCol="0" anchor="ctr"/>
          <a:lstStyle/>
          <a:p>
            <a:pPr indent="0" marL="0">
              <a:buNone/>
            </a:pPr>
            <a:r>
              <a:rPr lang="en-US" sz="1200" dirty="0">
                <a:solidFill>
                  <a:srgbClr val="D3E2E6"/>
                </a:solidFill>
                <a:latin typeface="Calibri" pitchFamily="34" charset="0"/>
                <a:ea typeface="Calibri" pitchFamily="34" charset="-122"/>
                <a:cs typeface="Calibri" pitchFamily="34" charset="-120"/>
              </a:rPr>
              <a:t>If you are on a legacy MDD certificate: when does it expire, and what does that do to Great Britain?</a:t>
            </a:r>
            <a:endParaRPr lang="en-US" sz="1200" dirty="0"/>
          </a:p>
        </p:txBody>
      </p:sp>
      <p:sp>
        <p:nvSpPr>
          <p:cNvPr id="9" name="Shape 7"/>
          <p:cNvSpPr/>
          <p:nvPr/>
        </p:nvSpPr>
        <p:spPr>
          <a:xfrm>
            <a:off x="548640" y="4352544"/>
            <a:ext cx="9692640" cy="512064"/>
          </a:xfrm>
          <a:prstGeom prst="roundRect">
            <a:avLst>
              <a:gd name="adj" fmla="val 8929"/>
            </a:avLst>
          </a:prstGeom>
          <a:solidFill>
            <a:srgbClr val="1D3644"/>
          </a:solidFill>
          <a:ln w="12700">
            <a:solidFill>
              <a:srgbClr val="2E5162"/>
            </a:solidFill>
            <a:prstDash val="solid"/>
          </a:ln>
        </p:spPr>
      </p:sp>
      <p:sp>
        <p:nvSpPr>
          <p:cNvPr id="10" name="Text 8"/>
          <p:cNvSpPr txBox="1"/>
          <p:nvPr/>
        </p:nvSpPr>
        <p:spPr>
          <a:xfrm>
            <a:off x="822960" y="4352544"/>
            <a:ext cx="9144000" cy="512064"/>
          </a:xfrm>
          <a:prstGeom prst="rect">
            <a:avLst/>
          </a:prstGeom>
          <a:noFill/>
          <a:ln/>
        </p:spPr>
        <p:txBody>
          <a:bodyPr wrap="square" lIns="0" tIns="0" rIns="0" bIns="0" rtlCol="0" anchor="ctr"/>
          <a:lstStyle/>
          <a:p>
            <a:pPr indent="0" marL="0">
              <a:buNone/>
            </a:pPr>
            <a:r>
              <a:rPr lang="en-US" sz="1200" dirty="0">
                <a:solidFill>
                  <a:srgbClr val="D3E2E6"/>
                </a:solidFill>
                <a:latin typeface="Calibri" pitchFamily="34" charset="0"/>
                <a:ea typeface="Calibri" pitchFamily="34" charset="-122"/>
                <a:cs typeface="Calibri" pitchFamily="34" charset="-120"/>
              </a:rPr>
              <a:t>What is your clinical evidence strategy for MDR, and when did it start?</a:t>
            </a:r>
            <a:endParaRPr lang="en-US" sz="1200" dirty="0"/>
          </a:p>
        </p:txBody>
      </p:sp>
      <p:sp>
        <p:nvSpPr>
          <p:cNvPr id="11" name="Shape 9"/>
          <p:cNvSpPr/>
          <p:nvPr/>
        </p:nvSpPr>
        <p:spPr>
          <a:xfrm>
            <a:off x="548640" y="4956048"/>
            <a:ext cx="9692640" cy="512064"/>
          </a:xfrm>
          <a:prstGeom prst="roundRect">
            <a:avLst>
              <a:gd name="adj" fmla="val 8929"/>
            </a:avLst>
          </a:prstGeom>
          <a:solidFill>
            <a:srgbClr val="1D3644"/>
          </a:solidFill>
          <a:ln w="12700">
            <a:solidFill>
              <a:srgbClr val="2E5162"/>
            </a:solidFill>
            <a:prstDash val="solid"/>
          </a:ln>
        </p:spPr>
      </p:sp>
      <p:sp>
        <p:nvSpPr>
          <p:cNvPr id="12" name="Text 10"/>
          <p:cNvSpPr txBox="1"/>
          <p:nvPr/>
        </p:nvSpPr>
        <p:spPr>
          <a:xfrm>
            <a:off x="822960" y="4956048"/>
            <a:ext cx="9144000" cy="512064"/>
          </a:xfrm>
          <a:prstGeom prst="rect">
            <a:avLst/>
          </a:prstGeom>
          <a:noFill/>
          <a:ln/>
        </p:spPr>
        <p:txBody>
          <a:bodyPr wrap="square" lIns="0" tIns="0" rIns="0" bIns="0" rtlCol="0" anchor="ctr"/>
          <a:lstStyle/>
          <a:p>
            <a:pPr indent="0" marL="0">
              <a:buNone/>
            </a:pPr>
            <a:r>
              <a:rPr lang="en-US" sz="1200" dirty="0">
                <a:solidFill>
                  <a:srgbClr val="D3E2E6"/>
                </a:solidFill>
                <a:latin typeface="Calibri" pitchFamily="34" charset="0"/>
                <a:ea typeface="Calibri" pitchFamily="34" charset="-122"/>
                <a:cs typeface="Calibri" pitchFamily="34" charset="-120"/>
              </a:rPr>
              <a:t>Who holds your marketing authorisation in Japan, and what does your agreement say about transferring it?</a:t>
            </a:r>
            <a:endParaRPr lang="en-US" sz="1200" dirty="0"/>
          </a:p>
        </p:txBody>
      </p:sp>
      <p:sp>
        <p:nvSpPr>
          <p:cNvPr id="13" name="Shape 11"/>
          <p:cNvSpPr/>
          <p:nvPr/>
        </p:nvSpPr>
        <p:spPr>
          <a:xfrm>
            <a:off x="548640" y="5559552"/>
            <a:ext cx="9692640" cy="512064"/>
          </a:xfrm>
          <a:prstGeom prst="roundRect">
            <a:avLst>
              <a:gd name="adj" fmla="val 8929"/>
            </a:avLst>
          </a:prstGeom>
          <a:solidFill>
            <a:srgbClr val="1D3644"/>
          </a:solidFill>
          <a:ln w="12700">
            <a:solidFill>
              <a:srgbClr val="2E5162"/>
            </a:solidFill>
            <a:prstDash val="solid"/>
          </a:ln>
        </p:spPr>
      </p:sp>
      <p:sp>
        <p:nvSpPr>
          <p:cNvPr id="14" name="Text 12"/>
          <p:cNvSpPr txBox="1"/>
          <p:nvPr/>
        </p:nvSpPr>
        <p:spPr>
          <a:xfrm>
            <a:off x="822960" y="5559552"/>
            <a:ext cx="9144000" cy="512064"/>
          </a:xfrm>
          <a:prstGeom prst="rect">
            <a:avLst/>
          </a:prstGeom>
          <a:noFill/>
          <a:ln/>
        </p:spPr>
        <p:txBody>
          <a:bodyPr wrap="square" lIns="0" tIns="0" rIns="0" bIns="0" rtlCol="0" anchor="ctr"/>
          <a:lstStyle/>
          <a:p>
            <a:pPr indent="0" marL="0">
              <a:buNone/>
            </a:pPr>
            <a:r>
              <a:rPr lang="en-US" sz="1200" dirty="0">
                <a:solidFill>
                  <a:srgbClr val="D3E2E6"/>
                </a:solidFill>
                <a:latin typeface="Calibri" pitchFamily="34" charset="0"/>
                <a:ea typeface="Calibri" pitchFamily="34" charset="-122"/>
                <a:cs typeface="Calibri" pitchFamily="34" charset="-120"/>
              </a:rPr>
              <a:t>Which of the four traps on the matrix is your organisation closest to walking into?</a:t>
            </a:r>
            <a:endParaRPr lang="en-US" sz="1200" dirty="0"/>
          </a:p>
        </p:txBody>
      </p:sp>
      <p:sp>
        <p:nvSpPr>
          <p:cNvPr id="15" name="Text 13"/>
          <p:cNvSpPr txBox="1"/>
          <p:nvPr/>
        </p:nvSpPr>
        <p:spPr>
          <a:xfrm>
            <a:off x="548640" y="6144768"/>
            <a:ext cx="11094415" cy="310896"/>
          </a:xfrm>
          <a:prstGeom prst="rect">
            <a:avLst/>
          </a:prstGeom>
          <a:noFill/>
          <a:ln/>
        </p:spPr>
        <p:txBody>
          <a:bodyPr wrap="square" lIns="0" tIns="0" rIns="0" bIns="0" rtlCol="0" anchor="ctr"/>
          <a:lstStyle/>
          <a:p>
            <a:pPr indent="0" marL="0">
              <a:buNone/>
            </a:pPr>
            <a:r>
              <a:rPr lang="en-US" sz="1100" dirty="0">
                <a:solidFill>
                  <a:srgbClr val="6E8892"/>
                </a:solidFill>
                <a:latin typeface="Calibri" pitchFamily="34" charset="0"/>
                <a:ea typeface="Calibri" pitchFamily="34" charset="-122"/>
                <a:cs typeface="Calibri" pitchFamily="34" charset="-120"/>
              </a:rPr>
              <a:t>Workbook  ·  Exercise worksheets  ·  Quick-reference card  ·  Facilitator contact details</a:t>
            </a:r>
            <a:endParaRPr lang="en-US" sz="1100" dirty="0"/>
          </a:p>
        </p:txBody>
      </p:sp>
      <p:sp>
        <p:nvSpPr>
          <p:cNvPr id="16" name="Text 14"/>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809AA4"/>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Market Entry</dc:title>
  <dc:subject>Medical Device Seminar</dc:subject>
  <dc:creator>Seminar Facilitator</dc:creator>
  <cp:lastModifiedBy>Seminar Facilitator</cp:lastModifiedBy>
  <cp:revision>1</cp:revision>
  <dcterms:created xsi:type="dcterms:W3CDTF">2026-09-16T12:41:22Z</dcterms:created>
  <dcterms:modified xsi:type="dcterms:W3CDTF">2026-09-16T12:41:22Z</dcterms:modified>
</cp:coreProperties>
</file>