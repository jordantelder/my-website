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ONE PRECISION, in case someone raises it: the 510(k) Third Party Review Program under section 523 of the FD&amp;C Act lets recognised third-party organisations conduct the primary review for eligible device types — a substantial share of 510(k)s qualify. But the clearance DECISION remains FDA's, which is the structural point. That is different from the EU, where a notified body issues the certificate itself.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MDR did not ban equivalence. It did something more effective: Article 61(5) says that where the equivalent device was made by someone else, you need a contract giving you full ongoing access to their technical documentation. Ask the room what the chance is that a competitor signs that. The answer is the point — the route is theoretically open and practically shut.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come into mandatory use in phases and the position has changed more than once, so check the Commission's EUDAMED pages for the day you are presenting and say that is what you did.
THE POSITION AT PREPARATION: Commission Decision (EU) 2025/2371, published in the Official Journal on 27 November 2025, declared the first four modules functional. Under Article 123(3)(d) of the MDR the obligations bit six months later, on 28 May 2026. Vigilance and clinical investigations are not yet mandatory.
THE DEADLINE THAT IS ABOUT TO BITE — raise this even if nobody asks. For a device whose first units went on the market BEFORE 28 May 2026 and which you are still supplying, the MDCG roll-out Q&amp;A gives you twelve months from that 27 November 2025 notice to get it into the UDI/Device module — so late November 2026. That catches legacy MDD devices too. For a UDI-DI whose first unit goes on the market after the mandatory date, registration has to come first. Ask the room who has actually done it; it is usually fewer hands than it should be. Check the current wording of the Q&amp;A before you present that date.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THE 'WHAT YOU ARE NOT TOLD' PANEL is deliberate. Those three questions are the ones a competent regulatory lead asks before classifying anything, and the brief withholds all three. If nobody asks, raise it yourself in the debrief: the intended purpose wording drives every rule; whether the algorithm is placed on the market separately decides whether it is one device or two; and sterility changes both the Annex VIII rules that bite and the conformity assessment route. Answer them in character if a table asks — invent a consistent answer and hold to it.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MHRA ran a targeted consultation on indefinite recognition of CE marking between 16 February and 10 April 2026. As at preparation the outcome had not been published, so nothing has changed in law. So the honest advice for a manufacturer with an MDR route is: do not spend on UKCA now; register, appoint an RP, and watch.
IF SOMEONE ASKS WHAT WAS CONSULTED ON: three things — aligning the MDD deadline with the EU transition timeline, recognising EU MDR and IVDR devices indefinitely, and an international reliance route for devices that classify higher under the UK rules than under MDR. Check gov.uk for the response before you present; this is the slide most likely to have moved.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THE NUANCE MOST LIKELY TO BE ASKED, and worth having ready: these dates are set by the UK MDR 2002, not by the EU. When the EU extended its own legacy transition under Regulation 2023/607, Great Britain did not follow it — the GB backstop stayed at 30 June 2028 for MDD devices. So an MDD certificate that is deemed valid in the EU until the end of 2028 does not buy you GB access past 30 June 2028. Two regimes, two clocks, and you have to satisfy both. If you are relying on an extended certificate, the MHRA also expects supporting evidence in the registration record rather than an expired certificate sitting there — check the current DORS guidance.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THE NUMBER, at the time of preparation: 9 UK Approved Bodies for medical devices, against 52 notified bodies designated under the MDR. One of the nine is Australia's Therapeutic Goods Administration, which is a good illustration of how the UK is building capacity. The slide deliberately does not print the number, because it moves — say it, do not read it.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THREE CONCRETE THINGS, if the room wants substance rather than the principle. First, a genuinely new device is listed only four times a year, so approval routinely precedes revenue by several months whatever you do. Second, the Japanese price is capped by reference to a basket of overseas prices, which means your European and US price lists are an input to your Japanese price — discounting hard in Europe can cap what you can earn in Japan, and that decision is usually made by people who have never heard of the Japanese pricing rules. Third, some device categories are bundled into the procedure fee by default unless you actively opt out before approval; miss that and the device cannot be billed separately at all. Verify the current mechanics with a Japanese consultant before quoting any of it as advice.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JAPAN ROW deserves the precision, because 'participates' is where people over-read. MDSAP in Japan generally converts the inspection of a covered manufacturing site from an on-site visit to a document review. It does not remove the inspection, the application, the fee or the five-year cycle, and the PMDA says in terms that it is not a mutual recognition agreement. Two carve-outs bite in practice: your Japanese marketing authorisation holder is inspected regardless, in Japanese, against the Japan-specific chapter of the QMS Ordinance; and only initial-certification or recertification audit reports count — a surveillance audit report does not. So the honest version of the Japan cell is 'it reduces the burden at your factories, and changes nothing about your Japanese entity'.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Classification system</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a US “Class II” device typically becomes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United States</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European Union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Great Britain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Japan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clearance decision is FDA's. For eligible device types a recognised third party may conduct the primary review, but the decision stays with the agency. The question you answer is comparative: is this substantially equivalent to a device already lawfully marketed?</a:t>
            </a:r>
            <a:endParaRPr lang="en-US" sz="10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0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0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0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895344"/>
          </a:xfrm>
          <a:prstGeom prst="roundRect">
            <a:avLst>
              <a:gd name="adj" fmla="val 1643"/>
            </a:avLst>
          </a:prstGeom>
          <a:solidFill>
            <a:srgbClr val="EAF3F2"/>
          </a:solidFill>
          <a:ln w="12700">
            <a:solidFill>
              <a:srgbClr val="BFD9D6"/>
            </a:solidFill>
            <a:prstDash val="solid"/>
          </a:ln>
        </p:spPr>
      </p:sp>
      <p:sp>
        <p:nvSpPr>
          <p:cNvPr id="9" name="Text 7"/>
          <p:cNvSpPr txBox="1"/>
          <p:nvPr/>
        </p:nvSpPr>
        <p:spPr>
          <a:xfrm>
            <a:off x="786384"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895344"/>
          </a:xfrm>
          <a:prstGeom prst="roundRect">
            <a:avLst>
              <a:gd name="adj" fmla="val 1643"/>
            </a:avLst>
          </a:prstGeom>
          <a:solidFill>
            <a:srgbClr val="FBEDED"/>
          </a:solidFill>
          <a:ln w="12700">
            <a:solidFill>
              <a:srgbClr val="DFA9A9"/>
            </a:solidFill>
            <a:prstDash val="solid"/>
          </a:ln>
        </p:spPr>
      </p:sp>
      <p:sp>
        <p:nvSpPr>
          <p:cNvPr id="12" name="Text 10"/>
          <p:cNvSpPr txBox="1"/>
          <p:nvPr/>
        </p:nvSpPr>
        <p:spPr>
          <a:xfrm>
            <a:off x="6483096"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classification determination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submission dossier itself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Clinical evidence sufficiency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Labelling and language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local representative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3634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Required when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they actually carry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trap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 Agent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 Authorised Representative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EU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 Responsible Person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UK</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Japanese MAH or DMAH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Always, for a foreign manufacturer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60045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 software does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qualifier that changes the answer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baseline for clinical decision support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IIb</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Where most triage, detection and alerting software lands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Intended to monitor physiological processes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All other software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 much smaller category than manufacturers hope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3224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IIa</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IIb</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Notified body needed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Technical documentation assessment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Implantable devices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Not applicable at this class in most cases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evaluation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 as it is for every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PSUR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Updated at least every two years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Updated at least annually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Practical consequence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 portfolio can share assessment effort across a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closed that route in practice.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Equivalence must now be demonstrated across technical, biological and clinical characteristics — and where the equivalent device belongs to another manufacturer, Article 61(5) requires a contract giving you full and ongoing access to their technical documentation.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Your competitor will not sign that contract.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That is the whole mechanism. MDCG 2020-5 sets out how equivalence is assessed; MDCG 2020-6 addresses what legacy data can support.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consequence: many devices that needed no clinical study under the MDD need PMCF data, a registry, or an actual investigation under MDR.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3761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Type of change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Typically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change affecting safety or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of supplier, material or manufacturing site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update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Legacy device under the transition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0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0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0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Four modules — actors, UDI/devices, notified bodies and certificates, and market surveillance — became mandatory on 28 May 2026. Vigilance and clinical investigations follow later. Confirm the position before you plan around it.</a:t>
            </a:r>
            <a:endParaRPr lang="en-US" sz="10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2450592"/>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Text 5"/>
          <p:cNvSpPr txBox="1"/>
          <p:nvPr/>
        </p:nvSpPr>
        <p:spPr>
          <a:xfrm>
            <a:off x="804672" y="4535424"/>
            <a:ext cx="4882896" cy="274320"/>
          </a:xfrm>
          <a:prstGeom prst="rect">
            <a:avLst/>
          </a:prstGeom>
          <a:noFill/>
          <a:ln/>
        </p:spPr>
        <p:txBody>
          <a:bodyPr wrap="square" lIns="0" tIns="0" rIns="0" bIns="0" rtlCol="0" anchor="ctr"/>
          <a:lstStyle/>
          <a:p>
            <a:pPr indent="0" marL="0">
              <a:buNone/>
            </a:pPr>
            <a:r>
              <a:rPr lang="en-US" sz="1100" b="1" spc="140" kern="0" dirty="0">
                <a:solidFill>
                  <a:srgbClr val="F2C879"/>
                </a:solidFill>
                <a:latin typeface="Calibri" pitchFamily="34" charset="0"/>
                <a:ea typeface="Calibri" pitchFamily="34" charset="-122"/>
                <a:cs typeface="Calibri" pitchFamily="34" charset="-120"/>
              </a:rPr>
              <a:t>WHAT YOU ARE NOT TOLD  —  ASK ME</a:t>
            </a:r>
            <a:endParaRPr lang="en-US" sz="1100" dirty="0"/>
          </a:p>
        </p:txBody>
      </p:sp>
      <p:sp>
        <p:nvSpPr>
          <p:cNvPr id="8" name="Text 6"/>
          <p:cNvSpPr txBox="1"/>
          <p:nvPr/>
        </p:nvSpPr>
        <p:spPr>
          <a:xfrm>
            <a:off x="804672" y="4828032"/>
            <a:ext cx="4882896" cy="676656"/>
          </a:xfrm>
          <a:prstGeom prst="rect">
            <a:avLst/>
          </a:prstGeom>
          <a:noFill/>
          <a:ln/>
        </p:spPr>
        <p:txBody>
          <a:bodyPr wrap="square" lIns="0" tIns="0" rIns="0" bIns="0" rtlCol="0" anchor="t"/>
          <a:lstStyle/>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The exact wording of the intended purpose.</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algorithm is sold separately from the patch.</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patch is supplied sterile.</a:t>
            </a:r>
            <a:endParaRPr lang="en-US" sz="1100" dirty="0"/>
          </a:p>
        </p:txBody>
      </p:sp>
      <p:sp>
        <p:nvSpPr>
          <p:cNvPr id="9" name="Shape 7"/>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10" name="Text 8"/>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11" name="Shape 9"/>
          <p:cNvSpPr/>
          <p:nvPr/>
        </p:nvSpPr>
        <p:spPr>
          <a:xfrm>
            <a:off x="6501384" y="2176272"/>
            <a:ext cx="347472" cy="347472"/>
          </a:xfrm>
          <a:prstGeom prst="ellipse">
            <a:avLst/>
          </a:prstGeom>
          <a:solidFill>
            <a:srgbClr val="2A9D8F"/>
          </a:solidFill>
          <a:ln w="12700">
            <a:solidFill>
              <a:srgbClr val="333333"/>
            </a:solidFill>
            <a:prstDash val="solid"/>
          </a:ln>
        </p:spPr>
      </p:sp>
      <p:sp>
        <p:nvSpPr>
          <p:cNvPr id="12" name="Text 10"/>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4" name="Shape 12"/>
          <p:cNvSpPr/>
          <p:nvPr/>
        </p:nvSpPr>
        <p:spPr>
          <a:xfrm>
            <a:off x="6501384" y="2889504"/>
            <a:ext cx="347472" cy="347472"/>
          </a:xfrm>
          <a:prstGeom prst="ellipse">
            <a:avLst/>
          </a:prstGeom>
          <a:solidFill>
            <a:srgbClr val="2A9D8F"/>
          </a:solidFill>
          <a:ln w="12700">
            <a:solidFill>
              <a:srgbClr val="333333"/>
            </a:solidFill>
            <a:prstDash val="solid"/>
          </a:ln>
        </p:spPr>
      </p:sp>
      <p:sp>
        <p:nvSpPr>
          <p:cNvPr id="15" name="Text 13"/>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7" name="Shape 15"/>
          <p:cNvSpPr/>
          <p:nvPr/>
        </p:nvSpPr>
        <p:spPr>
          <a:xfrm>
            <a:off x="6501384" y="3602736"/>
            <a:ext cx="347472" cy="347472"/>
          </a:xfrm>
          <a:prstGeom prst="ellipse">
            <a:avLst/>
          </a:prstGeom>
          <a:solidFill>
            <a:srgbClr val="2A9D8F"/>
          </a:solidFill>
          <a:ln w="12700">
            <a:solidFill>
              <a:srgbClr val="333333"/>
            </a:solidFill>
            <a:prstDash val="solid"/>
          </a:ln>
        </p:spPr>
      </p:sp>
      <p:sp>
        <p:nvSpPr>
          <p:cNvPr id="18" name="Text 16"/>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20" name="Shape 18"/>
          <p:cNvSpPr/>
          <p:nvPr/>
        </p:nvSpPr>
        <p:spPr>
          <a:xfrm>
            <a:off x="6501384" y="4315968"/>
            <a:ext cx="347472" cy="347472"/>
          </a:xfrm>
          <a:prstGeom prst="ellipse">
            <a:avLst/>
          </a:prstGeom>
          <a:solidFill>
            <a:srgbClr val="2A9D8F"/>
          </a:solidFill>
          <a:ln w="12700">
            <a:solidFill>
              <a:srgbClr val="333333"/>
            </a:solidFill>
            <a:prstDash val="solid"/>
          </a:ln>
        </p:spPr>
      </p:sp>
      <p:sp>
        <p:nvSpPr>
          <p:cNvPr id="21" name="Text 19"/>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3" name="Shape 21"/>
          <p:cNvSpPr/>
          <p:nvPr/>
        </p:nvSpPr>
        <p:spPr>
          <a:xfrm>
            <a:off x="6501384" y="5029200"/>
            <a:ext cx="347472" cy="347472"/>
          </a:xfrm>
          <a:prstGeom prst="ellipse">
            <a:avLst/>
          </a:prstGeom>
          <a:solidFill>
            <a:srgbClr val="2A9D8F"/>
          </a:solidFill>
          <a:ln w="12700">
            <a:solidFill>
              <a:srgbClr val="333333"/>
            </a:solidFill>
            <a:prstDash val="solid"/>
          </a:ln>
        </p:spPr>
      </p:sp>
      <p:sp>
        <p:nvSpPr>
          <p:cNvPr id="24" name="Text 22"/>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6" name="Text 24"/>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7"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400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your device carries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Accepted in Great Britain until</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that means for you</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300" b="1" dirty="0">
                          <a:solidFill>
                            <a:srgbClr val="2A9D8F"/>
                          </a:solidFill>
                          <a:latin typeface="Calibri" pitchFamily="34" charset="0"/>
                          <a:ea typeface="Calibri" pitchFamily="34" charset="-122"/>
                          <a:cs typeface="Calibri" pitchFamily="34" charset="-120"/>
                        </a:rPr>
                        <a:t>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old MDD or AIMDD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1300" b="1" dirty="0">
                          <a:solidFill>
                            <a:srgbClr val="C77C1E"/>
                          </a:solidFill>
                          <a:latin typeface="Calibri" pitchFamily="34" charset="0"/>
                          <a:ea typeface="Calibri" pitchFamily="34" charset="-122"/>
                          <a:cs typeface="Calibri" pitchFamily="34" charset="-120"/>
                        </a:rPr>
                        <a:t>the sooner of certificate expiry or 30 June 2028</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IVDD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1300" b="1" dirty="0">
                          <a:solidFill>
                            <a:srgbClr val="0E7C7B"/>
                          </a:solidFill>
                          <a:latin typeface="Calibri" pitchFamily="34" charset="0"/>
                          <a:ea typeface="Calibri" pitchFamily="34" charset="-122"/>
                          <a:cs typeface="Calibri" pitchFamily="34" charset="-120"/>
                        </a:rPr>
                        <a:t>the sooner of certificate expiry or 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UKCA marking</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1300" b="1" dirty="0">
                          <a:solidFill>
                            <a:srgbClr val="1B3A4B"/>
                          </a:solidFill>
                          <a:latin typeface="Calibri" pitchFamily="34" charset="0"/>
                          <a:ea typeface="Calibri" pitchFamily="34" charset="-122"/>
                          <a:cs typeface="Calibri" pitchFamily="34" charset="-120"/>
                        </a:rPr>
                        <a:t>no end date — and not mandatory</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603504"/>
          </a:xfrm>
          <a:prstGeom prst="roundRect">
            <a:avLst>
              <a:gd name="adj" fmla="val 10606"/>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MHRA has already consulted on recognising CE marked devices indefinitely — the consultation closed in April 2026 and no government response has been published. Until one is, these dates are the law, and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3224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Classification rules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MDR Annex VIII — 22 rules, revised and generally stricter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MDD Annex IX via Schedule 2A — the pre-2021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Software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evidence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directive-era expectations, which are materially lighter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Post-market surveillance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Annex III: PMS plan, PMCF, PSUR, trend reporting</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Named compliance 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15 PRRC, with defined qualifications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EUDAMED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For Great Britain, device registration applies regardless of whether the device carries UKCA or CE marking, and is made by the UK Responsible Person where the manufacturer is outside the UK. Northern Ireland now runs on EUDAMED registration instead for non-custom-made devices. Confirm the current position.</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consulted on indefinite recognition and the outcome is pending. If it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65683">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Regulatory category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Premarket route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Who decides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General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Todokede — notification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Submitted to the PMDA</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Registered Certification Body, or 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 above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8031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is required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How it is checked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Does MDSAP help?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 inspection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QMS under MDR Article 10(9), in practice built on ISO 13485</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Notified body audit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Per the UK MDR 2002 route you take; ISO 13485 in practice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UK Approved Body, where UKCA is pursued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 as a substitute. Check current MHRA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QMS Ordinance — ISO 13485 with Japan-specific additions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 conformity assessment, on a cycle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61737">
                <a:tc>
                  <a:txBody>
                    <a:bodyPr/>
                    <a:lstStyle/>
                    <a:p>
                      <a:pPr algn="l" indent="0" marL="0">
                        <a:buNone/>
                      </a:pP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United States</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European Union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Great Britain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Japan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Class basis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Assigned by regulation per device type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MDR Annex VIII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MDD Annex IX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Follows the JMDN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Who assesses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FDA directly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UK Approved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Registered Certification Body, or PMDA/MHLW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510(k), De Novo or PMA — or exempt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Conformity assessment under Annex IX, X or XI</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UKCA — or rely on CE marking for now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Todokede, Ninsho or Shonin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Core question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Substantially equivalent to a predicate?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GSPRs?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directive requirements?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standard for its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Clinical evidence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Often none for a 510(k)</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Clinical evaluation for every device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Directive-era expectations — lighter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Foreign data accepted; bridging may be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Local role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US Agent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Authorised Representative — jointly liable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UK Responsible Person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MAH or DMAH — holds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Registration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Establishment registration and listing, annual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EUDAMED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MHRA registration — whatever the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QMS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QMSR — 21 CFR 820 on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Article 10(9); ISO 13485 in practice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Per the UK MDR route;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 Ordinance — ISO 13485 plus additions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MDSAP accepted</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b="1" dirty="0">
                          <a:solidFill>
                            <a:srgbClr val="0E7C7B"/>
                          </a:solidFill>
                          <a:latin typeface="Calibri" pitchFamily="34" charset="0"/>
                          <a:ea typeface="Calibri" pitchFamily="34" charset="-122"/>
                          <a:cs typeface="Calibri" pitchFamily="34" charset="-120"/>
                        </a:rPr>
                        <a:t>Yes, for routine inspections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No</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Not as a substitute — check policy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Participates — confirm scope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Post-market</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reporting; corrections and removals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Annex III: PMS, PMCF, PSUR, trends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PMS regulations in force since Jun 2025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 on a QMS cycle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FFFFFF"/>
                          </a:solidFill>
                          <a:latin typeface="Calibri" pitchFamily="34" charset="0"/>
                          <a:ea typeface="Calibri" pitchFamily="34" charset="-122"/>
                          <a:cs typeface="Calibri" pitchFamily="34" charset="-120"/>
                        </a:rPr>
                        <a:t>The trap</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Assuming clearance means the file travels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Building UKCA you may never need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Letting your distributor hold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2026-09-16T13:09:38Z</dcterms:created>
  <dcterms:modified xsi:type="dcterms:W3CDTF">2026-09-16T13:09:38Z</dcterms:modified>
</cp:coreProperties>
</file>