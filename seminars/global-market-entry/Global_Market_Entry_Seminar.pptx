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ONE PRECISION, in case someone raises it: the 510(k) Third Party Review Program under section 523 of the FD&amp;C Act lets recognised third-party organisations conduct the primary review for eligible device types — a substantial share of 510(k)s qualify. But the clearance DECISION remains FDA's, which is the structural point. That is different from the EU, where a notified body issues the certificate itself.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MDR did not ban equivalence. It did something more effective: Article 61(5) says that where the equivalent device was made by someone else, you need a contract giving you full ongoing access to their technical documentation. Ask the room what the chance is that a competitor signs that. The answer is the point — the route is theoretically open and practically shut.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been brought into mandatory use in phases, and the position has changed more than once. Rather than assert a status from the platform, tell them to check the Commission's EUDAMED pages for which modules are mandatory as of the day they are planning — and say that is what you did in preparing this.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THE 'WHAT YOU ARE NOT TOLD' PANEL is deliberate. Those three questions are the ones a competent regulatory lead asks before classifying anything, and the brief withholds all three. If nobody asks, raise it yourself in the debrief: the intended purpose wording drives every rule; whether the algorithm is placed on the market separately decides whether it is one device or two; and sterility changes both the Annex VIII rules that bite and the conformity assessment route. Answer them in character if a table asks — invent a consistent answer and hold to it.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government has said it will consult on indefinite recognition of CE marking. So the honest advice for a manufacturer with an MDR route is: do not spend on UKCA now; register, appoint an RP, and watch.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Classification system</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a US “Class II” device typically becomes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United States</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European Union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Great Britain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Japan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clearance decision is FDA's. For eligible device types a recognised third party may conduct the primary review, but the decision stays with the agency. The question you answer is comparative: is this substantially equivalent to a device already lawfully marketed?</a:t>
            </a:r>
            <a:endParaRPr lang="en-US" sz="10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0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0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0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895344"/>
          </a:xfrm>
          <a:prstGeom prst="roundRect">
            <a:avLst>
              <a:gd name="adj" fmla="val 1643"/>
            </a:avLst>
          </a:prstGeom>
          <a:solidFill>
            <a:srgbClr val="EAF3F2"/>
          </a:solidFill>
          <a:ln w="12700">
            <a:solidFill>
              <a:srgbClr val="BFD9D6"/>
            </a:solidFill>
            <a:prstDash val="solid"/>
          </a:ln>
        </p:spPr>
      </p:sp>
      <p:sp>
        <p:nvSpPr>
          <p:cNvPr id="9" name="Text 7"/>
          <p:cNvSpPr txBox="1"/>
          <p:nvPr/>
        </p:nvSpPr>
        <p:spPr>
          <a:xfrm>
            <a:off x="786384"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895344"/>
          </a:xfrm>
          <a:prstGeom prst="roundRect">
            <a:avLst>
              <a:gd name="adj" fmla="val 1643"/>
            </a:avLst>
          </a:prstGeom>
          <a:solidFill>
            <a:srgbClr val="FBEDED"/>
          </a:solidFill>
          <a:ln w="12700">
            <a:solidFill>
              <a:srgbClr val="DFA9A9"/>
            </a:solidFill>
            <a:prstDash val="solid"/>
          </a:ln>
        </p:spPr>
      </p:sp>
      <p:sp>
        <p:nvSpPr>
          <p:cNvPr id="12" name="Text 10"/>
          <p:cNvSpPr txBox="1"/>
          <p:nvPr/>
        </p:nvSpPr>
        <p:spPr>
          <a:xfrm>
            <a:off x="6483096"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classification determination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submission dossier itself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Clinical evidence sufficiency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Labelling and language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local representative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3634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Required when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they actually carry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trap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 Agent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 Authorised Representative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EU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 Responsible Person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UK</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Japanese MAH or DMAH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Always, for a foreign manufacturer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60045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 software does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qualifier that changes the answer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baseline for clinical decision support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IIb</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Where most triage, detection and alerting software lands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Intended to monitor physiological processes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All other software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 much smaller category than manufacturers hope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3224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IIa</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IIb</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Notified body needed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Technical documentation assessment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Implantable devices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Not applicable at this class in most cases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evaluation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 as it is for every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PSUR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Updated at least every two years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Updated at least annually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Practical consequence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 portfolio can share assessment effort across a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closed that route in practice.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Equivalence must now be demonstrated across technical, biological and clinical characteristics — and where the equivalent device belongs to another manufacturer, Article 61(5) requires a contract giving you full and ongoing access to their technical documentation.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Your competitor will not sign that contract.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That is the whole mechanism. MDCG 2020-5 sets out how equivalence is assessed; MDCG 2020-6 addresses what legacy data can support.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consequence: many devices that needed no clinical study under the MDD need PMCF data, a registry, or an actual investigation under MDR.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3761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Type of change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Typically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change affecting safety or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of supplier, material or manufacturing site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update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Legacy device under the transition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1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1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1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Its modules have been brought into mandatory use on a phased basis — confirm which are mandatory today before you plan around them.</a:t>
            </a:r>
            <a:endParaRPr lang="en-US" sz="11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2450592"/>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Text 5"/>
          <p:cNvSpPr txBox="1"/>
          <p:nvPr/>
        </p:nvSpPr>
        <p:spPr>
          <a:xfrm>
            <a:off x="804672" y="4535424"/>
            <a:ext cx="4882896" cy="274320"/>
          </a:xfrm>
          <a:prstGeom prst="rect">
            <a:avLst/>
          </a:prstGeom>
          <a:noFill/>
          <a:ln/>
        </p:spPr>
        <p:txBody>
          <a:bodyPr wrap="square" lIns="0" tIns="0" rIns="0" bIns="0" rtlCol="0" anchor="ctr"/>
          <a:lstStyle/>
          <a:p>
            <a:pPr indent="0" marL="0">
              <a:buNone/>
            </a:pPr>
            <a:r>
              <a:rPr lang="en-US" sz="1100" b="1" spc="140" kern="0" dirty="0">
                <a:solidFill>
                  <a:srgbClr val="F2C879"/>
                </a:solidFill>
                <a:latin typeface="Calibri" pitchFamily="34" charset="0"/>
                <a:ea typeface="Calibri" pitchFamily="34" charset="-122"/>
                <a:cs typeface="Calibri" pitchFamily="34" charset="-120"/>
              </a:rPr>
              <a:t>WHAT YOU ARE NOT TOLD  —  ASK ME</a:t>
            </a:r>
            <a:endParaRPr lang="en-US" sz="1100" dirty="0"/>
          </a:p>
        </p:txBody>
      </p:sp>
      <p:sp>
        <p:nvSpPr>
          <p:cNvPr id="8" name="Text 6"/>
          <p:cNvSpPr txBox="1"/>
          <p:nvPr/>
        </p:nvSpPr>
        <p:spPr>
          <a:xfrm>
            <a:off x="804672" y="4828032"/>
            <a:ext cx="4882896" cy="676656"/>
          </a:xfrm>
          <a:prstGeom prst="rect">
            <a:avLst/>
          </a:prstGeom>
          <a:noFill/>
          <a:ln/>
        </p:spPr>
        <p:txBody>
          <a:bodyPr wrap="square" lIns="0" tIns="0" rIns="0" bIns="0" rtlCol="0" anchor="t"/>
          <a:lstStyle/>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The exact wording of the intended purpose.</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algorithm is sold separately from the patch.</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patch is supplied sterile.</a:t>
            </a:r>
            <a:endParaRPr lang="en-US" sz="1100" dirty="0"/>
          </a:p>
        </p:txBody>
      </p:sp>
      <p:sp>
        <p:nvSpPr>
          <p:cNvPr id="9" name="Shape 7"/>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10" name="Text 8"/>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11" name="Shape 9"/>
          <p:cNvSpPr/>
          <p:nvPr/>
        </p:nvSpPr>
        <p:spPr>
          <a:xfrm>
            <a:off x="6501384" y="2176272"/>
            <a:ext cx="347472" cy="347472"/>
          </a:xfrm>
          <a:prstGeom prst="ellipse">
            <a:avLst/>
          </a:prstGeom>
          <a:solidFill>
            <a:srgbClr val="2A9D8F"/>
          </a:solidFill>
          <a:ln w="12700">
            <a:solidFill>
              <a:srgbClr val="333333"/>
            </a:solidFill>
            <a:prstDash val="solid"/>
          </a:ln>
        </p:spPr>
      </p:sp>
      <p:sp>
        <p:nvSpPr>
          <p:cNvPr id="12" name="Text 10"/>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4" name="Shape 12"/>
          <p:cNvSpPr/>
          <p:nvPr/>
        </p:nvSpPr>
        <p:spPr>
          <a:xfrm>
            <a:off x="6501384" y="2889504"/>
            <a:ext cx="347472" cy="347472"/>
          </a:xfrm>
          <a:prstGeom prst="ellipse">
            <a:avLst/>
          </a:prstGeom>
          <a:solidFill>
            <a:srgbClr val="2A9D8F"/>
          </a:solidFill>
          <a:ln w="12700">
            <a:solidFill>
              <a:srgbClr val="333333"/>
            </a:solidFill>
            <a:prstDash val="solid"/>
          </a:ln>
        </p:spPr>
      </p:sp>
      <p:sp>
        <p:nvSpPr>
          <p:cNvPr id="15" name="Text 13"/>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7" name="Shape 15"/>
          <p:cNvSpPr/>
          <p:nvPr/>
        </p:nvSpPr>
        <p:spPr>
          <a:xfrm>
            <a:off x="6501384" y="3602736"/>
            <a:ext cx="347472" cy="347472"/>
          </a:xfrm>
          <a:prstGeom prst="ellipse">
            <a:avLst/>
          </a:prstGeom>
          <a:solidFill>
            <a:srgbClr val="2A9D8F"/>
          </a:solidFill>
          <a:ln w="12700">
            <a:solidFill>
              <a:srgbClr val="333333"/>
            </a:solidFill>
            <a:prstDash val="solid"/>
          </a:ln>
        </p:spPr>
      </p:sp>
      <p:sp>
        <p:nvSpPr>
          <p:cNvPr id="18" name="Text 16"/>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20" name="Shape 18"/>
          <p:cNvSpPr/>
          <p:nvPr/>
        </p:nvSpPr>
        <p:spPr>
          <a:xfrm>
            <a:off x="6501384" y="4315968"/>
            <a:ext cx="347472" cy="347472"/>
          </a:xfrm>
          <a:prstGeom prst="ellipse">
            <a:avLst/>
          </a:prstGeom>
          <a:solidFill>
            <a:srgbClr val="2A9D8F"/>
          </a:solidFill>
          <a:ln w="12700">
            <a:solidFill>
              <a:srgbClr val="333333"/>
            </a:solidFill>
            <a:prstDash val="solid"/>
          </a:ln>
        </p:spPr>
      </p:sp>
      <p:sp>
        <p:nvSpPr>
          <p:cNvPr id="21" name="Text 19"/>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3" name="Shape 21"/>
          <p:cNvSpPr/>
          <p:nvPr/>
        </p:nvSpPr>
        <p:spPr>
          <a:xfrm>
            <a:off x="6501384" y="5029200"/>
            <a:ext cx="347472" cy="347472"/>
          </a:xfrm>
          <a:prstGeom prst="ellipse">
            <a:avLst/>
          </a:prstGeom>
          <a:solidFill>
            <a:srgbClr val="2A9D8F"/>
          </a:solidFill>
          <a:ln w="12700">
            <a:solidFill>
              <a:srgbClr val="333333"/>
            </a:solidFill>
            <a:prstDash val="solid"/>
          </a:ln>
        </p:spPr>
      </p:sp>
      <p:sp>
        <p:nvSpPr>
          <p:cNvPr id="24" name="Text 22"/>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6" name="Text 24"/>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7"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400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your device carries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Accepted in Great Britain until</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that means for you</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300" b="1" dirty="0">
                          <a:solidFill>
                            <a:srgbClr val="2A9D8F"/>
                          </a:solidFill>
                          <a:latin typeface="Calibri" pitchFamily="34" charset="0"/>
                          <a:ea typeface="Calibri" pitchFamily="34" charset="-122"/>
                          <a:cs typeface="Calibri" pitchFamily="34" charset="-120"/>
                        </a:rPr>
                        <a:t>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old MDD or AIMDD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1300" b="1" dirty="0">
                          <a:solidFill>
                            <a:srgbClr val="C77C1E"/>
                          </a:solidFill>
                          <a:latin typeface="Calibri" pitchFamily="34" charset="0"/>
                          <a:ea typeface="Calibri" pitchFamily="34" charset="-122"/>
                          <a:cs typeface="Calibri" pitchFamily="34" charset="-120"/>
                        </a:rPr>
                        <a:t>the sooner of certificate expiry or 30 June 2028</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IVDD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1300" b="1" dirty="0">
                          <a:solidFill>
                            <a:srgbClr val="0E7C7B"/>
                          </a:solidFill>
                          <a:latin typeface="Calibri" pitchFamily="34" charset="0"/>
                          <a:ea typeface="Calibri" pitchFamily="34" charset="-122"/>
                          <a:cs typeface="Calibri" pitchFamily="34" charset="-120"/>
                        </a:rPr>
                        <a:t>the sooner of certificate expiry or 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UKCA marking</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1300" b="1" dirty="0">
                          <a:solidFill>
                            <a:srgbClr val="1B3A4B"/>
                          </a:solidFill>
                          <a:latin typeface="Calibri" pitchFamily="34" charset="0"/>
                          <a:ea typeface="Calibri" pitchFamily="34" charset="-122"/>
                          <a:cs typeface="Calibri" pitchFamily="34" charset="-120"/>
                        </a:rPr>
                        <a:t>no end date — and not mandatory</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603504"/>
          </a:xfrm>
          <a:prstGeom prst="roundRect">
            <a:avLst>
              <a:gd name="adj" fmla="val 10606"/>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government has said it will consult on recognising CE marked devices indefinitely. If that happens, UKCA becomes optional in a much more permanent sense. Until it does,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3224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Classification rules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MDR Annex VIII — 22 rules, revised and generally stricter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MDD Annex IX via Schedule 2A — the pre-2021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Software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evidence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directive-era expectations, which are materially lighter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Post-market surveillance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Annex III: PMS plan, PMCF, PSUR, trend reporting</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Named compliance 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15 PRRC, with defined qualifications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EUDAMED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registration applies across the United Kingdom regardless of whether the device carries UKCA or CE marking. The registration is made by the UK Responsible Person where the manufacturer is outside the UK.</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government has said it will consult on indefinite recognition. If that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65683">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Regulatory category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Premarket route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Who decides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General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Todokede — notification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Submitted to the PMDA</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Registered Certification Body, or 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 above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8031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is required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How it is checked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Does MDSAP help?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 inspection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QMS under MDR Article 10(9), in practice built on ISO 13485</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Notified body audit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Per the UK MDR 2002 route you take; ISO 13485 in practice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UK Approved Body, where UKCA is pursued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 as a substitute. Check current MHRA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QMS Ordinance — ISO 13485 with Japan-specific additions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 conformity assessment, on a cycle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61737">
                <a:tc>
                  <a:txBody>
                    <a:bodyPr/>
                    <a:lstStyle/>
                    <a:p>
                      <a:pPr algn="l" indent="0" marL="0">
                        <a:buNone/>
                      </a:pP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United States</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European Union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Great Britain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Japan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Class basis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Assigned by regulation per device type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MDR Annex VIII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MDD Annex IX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Follows the JMDN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Who assesses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FDA directly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UK Approved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Registered Certification Body, or PMDA/MHLW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510(k), De Novo or PMA — or exempt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Conformity assessment under Annex IX, X or XI</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UKCA — or rely on CE marking for now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Todokede, Ninsho or Shonin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Core question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Substantially equivalent to a predicate?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GSPRs?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directive requirements?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standard for its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Clinical evidence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Often none for a 510(k)</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Clinical evaluation for every device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Directive-era expectations — lighter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Foreign data accepted; bridging may be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Local role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US Agent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Authorised Representative — jointly liable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UK Responsible Person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MAH or DMAH — holds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Registration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Establishment registration and listing, annual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EUDAMED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MHRA registration — whatever the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QMS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QMSR — 21 CFR 820 on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Article 10(9); ISO 13485 in practice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Per the UK MDR route;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 Ordinance — ISO 13485 plus additions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MDSAP accepted</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b="1" dirty="0">
                          <a:solidFill>
                            <a:srgbClr val="0E7C7B"/>
                          </a:solidFill>
                          <a:latin typeface="Calibri" pitchFamily="34" charset="0"/>
                          <a:ea typeface="Calibri" pitchFamily="34" charset="-122"/>
                          <a:cs typeface="Calibri" pitchFamily="34" charset="-120"/>
                        </a:rPr>
                        <a:t>Yes, for routine inspections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No</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Not as a substitute — check policy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Participates — confirm scope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Post-market</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reporting; corrections and removals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Annex III: PMS, PMCF, PSUR, trends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PMS regulations in force since Jun 2025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 on a QMS cycle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FFFFFF"/>
                          </a:solidFill>
                          <a:latin typeface="Calibri" pitchFamily="34" charset="0"/>
                          <a:ea typeface="Calibri" pitchFamily="34" charset="-122"/>
                          <a:cs typeface="Calibri" pitchFamily="34" charset="-120"/>
                        </a:rPr>
                        <a:t>The trap</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Assuming clearance means the file travels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Building UKCA you may never need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Letting your distributor hold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2026-09-16T13:01:14Z</dcterms:created>
  <dcterms:modified xsi:type="dcterms:W3CDTF">2026-09-16T13:01:14Z</dcterms:modified>
</cp:coreProperties>
</file>