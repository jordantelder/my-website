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2 min]
</a:t>
            </a:r>
          </a:p>
          <a:p>
            <a:r>
              <a:rPr lang="en-US" dirty="0"/>
              <a:t>Welcome the room and introduce yourself: your background in device quality and regulatory work, and the audits and inspections you have personally been through. One sentence on why this topic matters to you.
</a:t>
            </a:r>
          </a:p>
          <a:p>
            <a:r>
              <a:rPr lang="en-US" dirty="0"/>
              <a:t>The promise for the next 90 minutes: you leave with (1) a first-hour protocol you can install at your site next week, (2) a ten-question readiness self-test, (3) a working model for running one QMS across several jurisdictions, and (4) four case studies to argue about at your table.
</a:t>
            </a:r>
          </a:p>
          <a:p>
            <a:r>
              <a:rPr lang="en-US" dirty="0"/>
              <a:t>Point to the two documents on the tables: the Participant Handout (protocol, roles, checklists, reporting timelines, references) and the Case Study Workshop Pack (the four cases with discussion questions and space for notes).
</a:t>
            </a:r>
          </a:p>
          <a:p>
            <a:r>
              <a:rPr lang="en-US" dirty="0"/>
              <a:t>Housekeeping: 90 minutes straight through, no formal break, so stretch during the case work. Questions are welcome at any time; if one belongs to a later section, park it on the flipchart and promise to come back.
</a:t>
            </a:r>
          </a:p>
          <a:p>
            <a:r>
              <a:rPr lang="en-US" dirty="0"/>
              <a:t>Fill in the placeholders on this slide (speaker, date, venue)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2 min]
</a:t>
            </a:r>
          </a:p>
          <a:p>
            <a:r>
              <a:rPr lang="en-US" dirty="0"/>
              <a:t>Walk the agenda quickly. Stress that the case studies are the core of the session: nearly 30 minutes of table work, so people should sit in groups of four to six now if they have not already.
</a:t>
            </a:r>
          </a:p>
          <a:p>
            <a:r>
              <a:rPr lang="en-US" dirty="0"/>
              <a:t>Time markers appear at the top of every speaker note in this deck. If you are running behind, the buffer is in Section 5 (compress the architecture and matrix slides to headlines) and in how many case-study questions you debrief in plenary.
</a:t>
            </a:r>
          </a:p>
          <a:p>
            <a:r>
              <a:rPr lang="en-US" dirty="0"/>
              <a:t>Ask people to keep the Case Study Workshop Pack closed until Section 4 so the cases land fresh.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4 min]
</a:t>
            </a:r>
          </a:p>
          <a:p>
            <a:r>
              <a:rPr lang="en-US" dirty="0"/>
              <a:t>Three shows of hands. After each, pick one person for a one-sentence story; keep it moving.
</a:t>
            </a:r>
          </a:p>
          <a:p>
            <a:r>
              <a:rPr lang="en-US" dirty="0"/>
              <a:t>Question 3 is the hook. In most rooms very few hands go up. Say: "That is the test an unannounced auditor runs in the first hour, whether or not they call it that."
</a:t>
            </a:r>
          </a:p>
          <a:p>
            <a:r>
              <a:rPr lang="en-US" dirty="0"/>
              <a:t>Write the rough counts on the flipchart. You will come back to them at the readiness self-test near the end (slide 35) and ask whether anyone would change their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a:t>
            </a:r>
          </a:p>
          <a:p>
            <a:r>
              <a:rPr lang="en-US" dirty="0"/>
              <a:t>Transition: "For twenty years most of us prepared for audits. The calendar told us when. That model is gone."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4 min]
</a:t>
            </a:r>
          </a:p>
          <a:p>
            <a:r>
              <a:rPr lang="en-US" dirty="0"/>
              <a:t>History in one breath: the PIP breast-implant scandal exposed how little a scheduled surveillance audit could see. The Commission's Recommendation 2013/473/EU asked notified bodies to audit unannounced at least every three years; the MDR then wrote unannounced audits into law (Annex IX, section 3.4) with a five-year minimum and an explicit right to visit critical suppliers and subcontractors. The notified body must keep a plan for these audits and must not disclose it to you.
</a:t>
            </a:r>
          </a:p>
          <a:p>
            <a:r>
              <a:rPr lang="en-US" dirty="0"/>
              <a:t>FDA: domestic inspections have always been unannounced for routine and for-cause work. What changed in 2025 is the announced expansion of unannounced inspections at foreign sites; the old assumption that "overseas means pre-announced" no longer holds.
</a:t>
            </a:r>
          </a:p>
          <a:p>
            <a:r>
              <a:rPr lang="en-US" dirty="0"/>
              <a:t>MDSAP: normally announced, but the program allows special and unannounced audits when a regulator asks for one or when serious signals appear.
</a:t>
            </a:r>
          </a:p>
          <a:p>
            <a:r>
              <a:rPr lang="en-US" dirty="0"/>
              <a:t>Land the point: the "prepare for the audit" model is dead. The only workable posture is to be ready every 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5 min]
</a:t>
            </a:r>
          </a:p>
          <a:p>
            <a:r>
              <a:rPr lang="en-US" dirty="0"/>
              <a:t>Six things to hold in your head this year. Spend most of the time on the first two.
</a:t>
            </a:r>
          </a:p>
          <a:p>
            <a:r>
              <a:rPr lang="en-US" dirty="0"/>
              <a:t>FDA QMSR: the Quality System Regulation was replaced on 2 February 2026 by the Quality Management System Regulation, which incorporates ISO 13485:2016 by reference and adds a small number of FDA-specific requirements: 820.10 (general), 820.35 (records, including complaint and servicing records with UDI), 820.45 (labeling and packaging controls). QSIT is retired. The old 820.180(c) exemption that kept management review, internal audit and supplier audit records out of routine FDA review did not carry over; plan for investigators to ask for them.
</a:t>
            </a:r>
          </a:p>
          <a:p>
            <a:r>
              <a:rPr lang="en-US" dirty="0"/>
              <a:t>EU: the extended MDR and IVDR transition dates keep many legacy devices in scope for years; unannounced audits continue regardless of transition status.
</a:t>
            </a:r>
          </a:p>
          <a:p>
            <a:r>
              <a:rPr lang="en-US" dirty="0"/>
              <a:t>MDSAP: one audit, five regulators, and a grading system that escalates automatically.
</a:t>
            </a:r>
          </a:p>
          <a:p>
            <a:r>
              <a:rPr lang="en-US" dirty="0"/>
              <a:t>UK: CE marks accepted to 2028 or 2030 depending on the certificate; new post-market surveillance requirements since June 2025.
</a:t>
            </a:r>
          </a:p>
          <a:p>
            <a:r>
              <a:rPr lang="en-US" dirty="0"/>
              <a:t>ISO 13485: still the 2016 edition (plus the 2024 climate-change amendment), harmonised for the MDR/IVDR as EN ISO 13485:2016+A11:2021; a revision is in progress in ISO/TC 210, so build a transition plan when the draft stabilizes.
</a:t>
            </a:r>
          </a:p>
          <a:p>
            <a:r>
              <a:rPr lang="en-US" dirty="0"/>
              <a:t>Housekeeping for you as speaker: verify every date on this slide the week before you present; this snapshot is as of September 2026.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 | 3 min]
</a:t>
            </a:r>
          </a:p>
          <a:p>
            <a:r>
              <a:rPr lang="en-US" dirty="0"/>
              <a:t>Left side: every auditor, whatever the badge, asks the same three questions in sequence. Show me the procedure. Show me the records that prove you follow it. Now show me it happening, on the floor, with the people who do the work. Most QMS failures live between question two and question three.
</a:t>
            </a:r>
          </a:p>
          <a:p>
            <a:r>
              <a:rPr lang="en-US" dirty="0"/>
              <a:t>Right side: the areas where findings cluster year after year, whether you read FDA 483 data, notified body nonconformity summaries or MDSAP reports. The order shifts; the list does not. CAPA and complaint handling have led for more than a decade.
</a:t>
            </a:r>
          </a:p>
          <a:p>
            <a:r>
              <a:rPr lang="en-US" dirty="0"/>
              <a:t>Do not quote numbers unless you have pulled the latest FDA 483 observation data; the pattern is the point.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a:t>
            </a:r>
          </a:p>
          <a:p>
            <a:r>
              <a:rPr lang="en-US" dirty="0"/>
              <a:t>Transition: "Every regime we just looked at either adopts ISO 13485 outright or sits on top of it. So the standard is the spine of readiness."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3 min]
</a:t>
            </a:r>
          </a:p>
          <a:p>
            <a:r>
              <a:rPr lang="en-US" dirty="0"/>
              <a:t>A fast orientation for mixed audiences; experts will know this, newcomers need it for the case studies.
</a:t>
            </a:r>
          </a:p>
          <a:p>
            <a:r>
              <a:rPr lang="en-US" dirty="0"/>
              <a:t>Five clauses of requirements. The thread running through all of them is the risk-based approach to processes (4.1.2) and the phrase "applicable regulatory requirements", which appears dozens of times and is exactly what lets regulators adopt the standard: the QMSR incorporates it, MDSAP audits against it, and the MDR grants a presumption of conformity through the harmonised EN version.
</a:t>
            </a:r>
          </a:p>
          <a:p>
            <a:r>
              <a:rPr lang="en-US" dirty="0"/>
              <a:t>Highlight the sub-clauses in bold on the following two slides: they are the ones auditors spend their time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 3 min]
</a:t>
            </a:r>
          </a:p>
          <a:p>
            <a:r>
              <a:rPr lang="en-US" dirty="0"/>
              <a:t>Read the middle column as the auditor's request list. Every item is something you should be able to produce within minutes for the product the auditor has just picked up.
</a:t>
            </a:r>
          </a:p>
          <a:p>
            <a:r>
              <a:rPr lang="en-US" dirty="0"/>
              <a:t>The right column is the pattern of failure we see repeatedly. Ask the room which row they recognise. Suppliers and change control usually get the most nods, and both come back in the case studies.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 | 3 min]
</a:t>
            </a:r>
          </a:p>
          <a:p>
            <a:r>
              <a:rPr lang="en-US" dirty="0"/>
              <a:t>Traceability (7.5.9) is the row that decides unannounced audits, because the auditor has product in hand. If you cannot reconstruct the lot on the day, everything else is theory.
</a:t>
            </a:r>
          </a:p>
          <a:p>
            <a:r>
              <a:rPr lang="en-US" dirty="0"/>
              <a:t>Complaints and CAPA: point out that the failure mode is usually not the absence of a system but an undocumented decision: no rationale for "not reportable", no data behind "effective".
</a:t>
            </a:r>
          </a:p>
          <a:p>
            <a:r>
              <a:rPr lang="en-US" dirty="0"/>
              <a:t>Bridge to the next slide: "Here is how those rows connect when an auditor follows a unit backwards through your QMS."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 2 min]
</a:t>
            </a:r>
          </a:p>
          <a:p>
            <a:r>
              <a:rPr lang="en-US" dirty="0"/>
              <a:t>This is the mental model for the whole session. An unannounced auditor walks onto the floor and picks up a unit. From that unit they pull the thread backwards: the build record, the specification it was built to, the design evidence behind that specification, the suppliers of its critical parts, the complaint and CAPA history of its product family, and forwards to release, labeling and where it was shipped.
</a:t>
            </a:r>
          </a:p>
          <a:p>
            <a:r>
              <a:rPr lang="en-US" dirty="0"/>
              <a:t>Every box is a place where readiness is either real or not. The test at the bottom is literal: pick a random lot, start the clock, and see whether the records and the people arrive within an hour.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 | 2 min]
</a:t>
            </a:r>
          </a:p>
          <a:p>
            <a:r>
              <a:rPr lang="en-US" dirty="0"/>
              <a:t>Keep this to headlines; the Participant Handout carries the detail. The message: ISO 13485 is necessary but never sufficient. Each regime adds documents, roles and reporting duties, and each audit "bites" in a characteristic place.
</a:t>
            </a:r>
          </a:p>
          <a:p>
            <a:r>
              <a:rPr lang="en-US" dirty="0"/>
              <a:t>For FDA, stress that the newly reviewable records (management review, internal audits, supplier audits) change how those records should be written. For the EU, stress that the unannounced audit compares the product on the line with the technical documentation. For MDSAP, the country chapters and reporting timelines are where multi-site companies stumble; that is Case 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a:t>
            </a:r>
          </a:p>
          <a:p>
            <a:r>
              <a:rPr lang="en-US" dirty="0"/>
              <a:t>Transition: "Let us make this concrete. It is 08:10 on a Tuesday. Two people you have never met are standing at reception."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 | 3 min]
</a:t>
            </a:r>
          </a:p>
          <a:p>
            <a:r>
              <a:rPr lang="en-US" dirty="0"/>
              <a:t>Mechanics first. Typically two auditors, at least one day, arriving at the manufacturing site or at a critical supplier or subcontractor named in your technical documentation. No agenda in advance. They expect to be admitted immediately; delay is recorded, refusal is grounds for certificate suspension.
</a:t>
            </a:r>
          </a:p>
          <a:p>
            <a:r>
              <a:rPr lang="en-US" dirty="0"/>
              <a:t>You are expected to have told the notified body when your lines will not be running (holiday shutdowns, campaign manufacturing) so they can plan around it. If they arrive and nothing is being made, that is a wasted audit day for them and a problem for you.
</a:t>
            </a:r>
          </a:p>
          <a:p>
            <a:r>
              <a:rPr lang="en-US" dirty="0"/>
              <a:t>Focus second: they want to see the device that is on the certificate being made the way the technical documentation says. Product from the line or from stock, checked against the file; witnessed tests or samples taken away; traceability of critical components; recent changes and whether you told the notified body; validation of what is actually running; conversations with the people at the bench.
</a:t>
            </a:r>
          </a:p>
          <a:p>
            <a:r>
              <a:rPr lang="en-US" dirty="0"/>
              <a:t>Close with the callout at the bottom.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4 min]
</a:t>
            </a:r>
          </a:p>
          <a:p>
            <a:r>
              <a:rPr lang="en-US" dirty="0"/>
              <a:t>Walk the four phases left to right; this is the protocol reproduced in the Participant Handout.
</a:t>
            </a:r>
          </a:p>
          <a:p>
            <a:r>
              <a:rPr lang="en-US" dirty="0"/>
              <a:t>Reception: identity check (ID, credentials, Form FDA 482 for FDA), one call to the Audit Response Lead or the named deputy from the 24/7 roster, auditors never left alone, never refused, never stalled. Reception owns the first five minutes; a laminated script is the cheapest readiness investment you will ever make.
</a:t>
            </a:r>
          </a:p>
          <a:p>
            <a:r>
              <a:rPr lang="en-US" dirty="0"/>
              <a:t>Mobilize: the audit room, notifications (site head, QA/RA leadership, corporate quality, legal), the request log opened, scribe and runner assigned, back room stood up.
</a:t>
            </a:r>
          </a:p>
          <a:p>
            <a:r>
              <a:rPr lang="en-US" dirty="0"/>
              <a:t>Opening meeting: confirm scope, standard and regulation, the auditors' plan; give the site overview and the EHS or gowning briefing; agree logistics including your photo and sample policy; agree how requests and findings will be communicated during the day.
</a:t>
            </a:r>
          </a:p>
          <a:p>
            <a:r>
              <a:rPr lang="en-US" dirty="0"/>
              <a:t>On the floor: log every sample and every document request with a timestamp; subject matter experts answer only what is asked; the scribe records every statement; runners fetch records; factual errors are corrected on the spot, politely.
</a:t>
            </a:r>
          </a:p>
          <a:p>
            <a:r>
              <a:rPr lang="en-US" dirty="0"/>
              <a:t>Foreshadow Case 1: a 50-minute delay in the lobby.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2 min]
</a:t>
            </a:r>
          </a:p>
          <a:p>
            <a:r>
              <a:rPr lang="en-US" dirty="0"/>
              <a:t>Eight roles; in a small company one person may hold two, but every role has a name and a named deputy, and the roster covers nights, weekends and holiday shutdowns.
</a:t>
            </a:r>
          </a:p>
          <a:p>
            <a:r>
              <a:rPr lang="en-US" dirty="0"/>
              <a:t>Emphasize the front-room / back-room split: nothing goes into the front room unreviewed, and the back room is where issues are spotted and SMEs are prepared before they walk in.
</a:t>
            </a:r>
          </a:p>
          <a:p>
            <a:r>
              <a:rPr lang="en-US" dirty="0"/>
              <a:t>The scribe is the most under-rated role. A verbatim log of questions, answers and documents shown is what lets you challenge a finding accurately at the closing meeting and write a precise response afterwards.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 | 2 min]
</a:t>
            </a:r>
          </a:p>
          <a:p>
            <a:r>
              <a:rPr lang="en-US" dirty="0"/>
              <a:t>Read a few from each side; the full list is in the handout.
</a:t>
            </a:r>
          </a:p>
          <a:p>
            <a:r>
              <a:rPr lang="en-US" dirty="0"/>
              <a:t>Two to stress. First: never correct, backdate or create a record while auditors are on site. A finding is a finding; falsification is a career and a company event. Second: "I don't know, I will find out" is a complete and respected answer, and it must be followed by actually finding out.
</a:t>
            </a:r>
          </a:p>
          <a:p>
            <a:r>
              <a:rPr lang="en-US" dirty="0"/>
              <a:t>On signatures: FDA investigators may ask for affidavits or signed statements. Company policy should be clear in advance, agreed with regulatory and legal counsel, and known to the Audit Response Lead.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2 min]
</a:t>
            </a:r>
          </a:p>
          <a:p>
            <a:r>
              <a:rPr lang="en-US" dirty="0"/>
              <a:t>Day zero: debrief within two hours while memories are fresh; reconcile the request log with the auditors' list of findings, verbatim; secure copies of everything provided; brief senior management; make any notifications your procedures or contracts require (corporate, PRRC, other sites).
</a:t>
            </a:r>
          </a:p>
          <a:p>
            <a:r>
              <a:rPr lang="en-US" dirty="0"/>
              <a:t>Day one: classify each finding, name owners, contain anything that touches product or patient safety. For FDA, the clock on the Form 483 response is 15 business days if you want FDA to consider it before deciding on a Warning Letter.
</a:t>
            </a:r>
          </a:p>
          <a:p>
            <a:r>
              <a:rPr lang="en-US" dirty="0"/>
              <a:t>Days two and three: root cause, not symptom fixes; distinguish correction from corrective action; define effectiveness criteria before you act; draft the response plan to the notified body within its stated window (check your contract; for MDSAP, expect around 15 calendar days for the plan).
</a:t>
            </a:r>
          </a:p>
          <a:p>
            <a:r>
              <a:rPr lang="en-US" dirty="0"/>
              <a:t>Then execute, evidence closure, verify effectiveness, and put the whole thing through management review.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 | 1 min]
</a:t>
            </a:r>
          </a:p>
          <a:p>
            <a:r>
              <a:rPr lang="en-US" dirty="0"/>
              <a:t>One minute: the vocabulary you need for the case studies. FDA works in observations, then Warning Letters, then enforcement. Notified bodies work in minor and major nonconformities and hold the certificate over your head. MDSAP grades every nonconformity from 1 to 5 using the GHTF/SG3/N19 method: direct-impact clauses start at grade 3, indirect at 1, plus one for a missing documented process, plus one for a repeat, capped at 5. Grades 4 and 5 are reported to all five regulators within five business days. Case 4 lands on a grade 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 | 1 min]
</a:t>
            </a:r>
          </a:p>
          <a:p>
            <a:r>
              <a:rPr lang="en-US" dirty="0"/>
              <a:t>Open the Case Study Workshop Pack now. Explain the rhythm: read, discuss, debrief. Each case is 7 minutes; be strict, and use the timer on your phone visibly.
</a:t>
            </a:r>
          </a:p>
          <a:p>
            <a:r>
              <a:rPr lang="en-US" dirty="0"/>
              <a:t>The cases are composites built from real audits and inspections; every identifying detail has been changed. If someone recognises "their" story, that is the point.
</a:t>
            </a:r>
          </a:p>
          <a:p>
            <a:r>
              <a:rPr lang="en-US" dirty="0"/>
              <a:t>If you are behind schedule, run Cases 1, 3 and 4 and assign Case 2 as homework.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 | 5 min: 2 read, 3 discuss]
</a:t>
            </a:r>
          </a:p>
          <a:p>
            <a:r>
              <a:rPr lang="en-US" dirty="0"/>
              <a:t>Set the scene in one breath, then let the tables read. Do not narrate the bullets; they have them in the pack.
</a:t>
            </a:r>
          </a:p>
          <a:p>
            <a:r>
              <a:rPr lang="en-US" dirty="0"/>
              <a:t>While they discuss, listen for the question-2 debate: most tables pick the calibration finding as most serious because product has shipped. Some pick the supplier agreement because it goes to the heart of MDR supplier oversight. Both are defensible; the notified body chose calibration.
</a:t>
            </a:r>
          </a:p>
          <a:p>
            <a:r>
              <a:rPr lang="en-US" dirty="0"/>
              <a:t>Time check at 3 minutes of discussion; move to the outcome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 | 2 min debrief]
</a:t>
            </a:r>
          </a:p>
          <a:p>
            <a:r>
              <a:rPr lang="en-US" dirty="0"/>
              <a:t>Take two answers from the room, then show the outcome. The major was calibration because product had shipped and nobody had asked what that meant for patients. The two minors both trace back to change: a process change nobody assessed against the design, and a supplier relationship nobody re-evaluated.
</a:t>
            </a:r>
          </a:p>
          <a:p>
            <a:r>
              <a:rPr lang="en-US" dirty="0"/>
              <a:t>The observation about access is the one to dwell on for ten seconds: the notified body put in writing that refusal would have meant suspension. The 50 minutes were not refusal, but they set the tone.
</a:t>
            </a:r>
          </a:p>
          <a:p>
            <a:r>
              <a:rPr lang="en-US" dirty="0"/>
              <a:t>Transferable lesson on the band. Move 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5 min: 2 read, 3 discuss]
</a:t>
            </a:r>
          </a:p>
          <a:p>
            <a:r>
              <a:rPr lang="en-US" dirty="0"/>
              <a:t>Set-up line: "Annex IX 3.4 says the notified body may audit your suppliers and subcontractors unannounced. This company had read that sentence. Its subcontractor had not."
</a:t>
            </a:r>
          </a:p>
          <a:p>
            <a:r>
              <a:rPr lang="en-US" dirty="0"/>
              <a:t>Listen for tables that blame the subcontractor. Steer gently: the certificate holder is the legal manufacturer, and 4.1.5 makes the manufacturer responsible for controlling outsourced processes in proportion to risk. The scorecard is the tell: green because nobody verified the underlying data.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 min debrief]
</a:t>
            </a:r>
          </a:p>
          <a:p>
            <a:r>
              <a:rPr lang="en-US" dirty="0"/>
              <a:t>The major went to the manufacturer, not the subcontractor: that surprises some people and is the whole lesson. The minor about the sealing excursion matters because sterile barrier integrity is a patient-safety issue and "use as is" was decided by the wrong party.
</a:t>
            </a:r>
          </a:p>
          <a:p>
            <a:r>
              <a:rPr lang="en-US" dirty="0"/>
              <a:t>Ask: "Who in this room has a quality agreement that gives your notified body the right to walk into your supplier unannounced, and gives the supplier a name to call at 3 a.m.?" Usually few hands.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 5 min: 2 read, 3 discuss]
</a:t>
            </a:r>
          </a:p>
          <a:p>
            <a:r>
              <a:rPr lang="en-US" dirty="0"/>
              <a:t>Set-up line: "This is the inspection every US site will have between now and 2028. The company had a certificate, a clean 2021 inspection, and a gap assessment that said 'nothing changes'."
</a:t>
            </a:r>
          </a:p>
          <a:p>
            <a:r>
              <a:rPr lang="en-US" dirty="0"/>
              <a:t>Question 2 is the teaching point: only the UDI field and the labeling record are genuinely QMSR-specific. Reportability decisions, CAPA effectiveness and management review are ISO 13485 requirements the firm was already certified against. The certificate did not make them true.
</a:t>
            </a:r>
          </a:p>
          <a:p>
            <a:r>
              <a:rPr lang="en-US" dirty="0"/>
              <a:t>Question 3: ask one table to read their paragraph aloud during the debrief.</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2 min debrief]
</a:t>
            </a:r>
          </a:p>
          <a:p>
            <a:r>
              <a:rPr lang="en-US" dirty="0"/>
              <a:t>Hear one table's 483 response paragraph. Good answers acknowledge the observation, describe the correction (reopen both CAPAs), the corrective action (effectiveness criteria and independent verification built into the CAPA procedure) and the systemic check (review all CAPAs closed in the last 24 months), with dates.
</a:t>
            </a:r>
          </a:p>
          <a:p>
            <a:r>
              <a:rPr lang="en-US" dirty="0"/>
              <a:t>On the records point: "written to be read" does not mean sanitized. It means management review and internal audit records that show real problems, real decisions and real follow-up. An investigator who sees a candid record with closed actions is reassured; one who sees a glossy record with nothing in it is not.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 | 5 min: 2 read, 3 discuss]
</a:t>
            </a:r>
          </a:p>
          <a:p>
            <a:r>
              <a:rPr lang="en-US" dirty="0"/>
              <a:t>Set-up line: "Three good sites, three honest procedures, one certificate. The gap was between them."
</a:t>
            </a:r>
          </a:p>
          <a:p>
            <a:r>
              <a:rPr lang="en-US" dirty="0"/>
              <a:t>Listen for question 1: training failed because the root cause was structural (three procedures, no single decision tree, no shared timelines), not a knowledge gap. The corrective action addressed the symptom at the individual level.
</a:t>
            </a:r>
          </a:p>
          <a:p>
            <a:r>
              <a:rPr lang="en-US" dirty="0"/>
              <a:t>Question 3 tends to expose real organizational arguments in the room; let them run for a moment, then note that in the case the answer was Global RA with a change-control link.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 | 2 min debrief]
</a:t>
            </a:r>
          </a:p>
          <a:p>
            <a:r>
              <a:rPr lang="en-US" dirty="0"/>
              <a:t>The grade-4 mechanics: reporting to regulators is a direct-impact clause, so the nonconformity starts at grade 3; because the previous audit had flagged complaint intake and the fix had not worked, it is a repeat, plus one. Grade 4 means every MDSAP regulator hears about it within five business days.
</a:t>
            </a:r>
          </a:p>
          <a:p>
            <a:r>
              <a:rPr lang="en-US" dirty="0"/>
              <a:t>Land the three-part lesson on the band; it is the frame for Section 5.
</a:t>
            </a:r>
          </a:p>
          <a:p>
            <a:r>
              <a:rPr lang="en-US" dirty="0"/>
              <a:t>If time is short, this debrief can be 60 seconds: grade, escalation, lesson.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a:t>
            </a:r>
          </a:p>
          <a:p>
            <a:r>
              <a:rPr lang="en-US" dirty="0"/>
              <a:t>Transition: "Case 4 gives us the frame. Ten minutes on how to build and run 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 2 min]
</a:t>
            </a:r>
          </a:p>
          <a:p>
            <a:r>
              <a:rPr lang="en-US" dirty="0"/>
              <a:t>Four tiers. Tier 1 is the global quality manual and policies: one scope statement, one process map, one site register, ISO 13485 as the spine. Tier 2 is one global procedure per process, each with a named global process owner: complaints, CAPA, change control, supplier controls, design controls, document control, training, management review, internal audit. Tier 3 is where locality lives: site work instructions for how the work is physically done, and a Country Regulatory Annex per market that lists the deltas: timelines, forms, authorities, language, roles. Tier 4 is records and forms: one form per process globally, with controlled translations rather than local variants.
</a:t>
            </a:r>
          </a:p>
          <a:p>
            <a:r>
              <a:rPr lang="en-US" dirty="0"/>
              <a:t>Governance on the right is what stops the architecture decaying: process owners, site quality heads, a regulatory-intelligence feed wired into change control with a 30-day impact assessment, a quarterly global quality council, and an annual review of scope and the requirements matrix.</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2 min]
</a:t>
            </a:r>
          </a:p>
          <a:p>
            <a:r>
              <a:rPr lang="en-US" dirty="0"/>
              <a:t>This is the table Case 4 needed. Read across one row: the same event triggers different clocks in every market, and some clocks are calendar days while others are working days. A single global decision tree has to carry all of them, and the shortest clock wins for triage: that is why 48-hour triage is the design rule.
</a:t>
            </a:r>
          </a:p>
          <a:p>
            <a:r>
              <a:rPr lang="en-US" dirty="0"/>
              <a:t>Important: this is a teaching aid current as of the seminar date. Tell the room, and remind yourself, to verify against the current regulatory text before relying on any cell. The Participant Handout repeats the caveat.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1.5 min]
</a:t>
            </a:r>
          </a:p>
          <a:p>
            <a:r>
              <a:rPr lang="en-US" dirty="0"/>
              <a:t>The matrix is the operating tool behind the annexes: one row per requirement area, the deltas by market, a named owner, where the requirement lives in the QMS, and the trigger that forces a review. It is owned by Global RA, reviewed annually, and every regulatory change runs through it via change control.
</a:t>
            </a:r>
          </a:p>
          <a:p>
            <a:r>
              <a:rPr lang="en-US" dirty="0"/>
              <a:t>Six rows shown; a real matrix has forty to eighty. Point people to the handout for a starter structure.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 | 1.5 min]
</a:t>
            </a:r>
          </a:p>
          <a:p>
            <a:r>
              <a:rPr lang="en-US" dirty="0"/>
              <a:t>Left: the rhythm. Readiness is produced by routines, not by heroics. Daily floor walks and record checks by supervisors; weekly CAPA and complaint reviews; a monthly site quality council; quarterly global management review and supplier performance; annually a full internal audit cycle, a mock unannounced audit at each site and at the top critical suppliers, and a review of the requirements matrix.
</a:t>
            </a:r>
          </a:p>
          <a:p>
            <a:r>
              <a:rPr lang="en-US" dirty="0"/>
              <a:t>Right: KPIs that measure readiness rather than compliance theatre. The first row is the one from the opening poll. Put these in management review and watch them move.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 | 2 min]
</a:t>
            </a:r>
          </a:p>
          <a:p>
            <a:r>
              <a:rPr lang="en-US" dirty="0"/>
              <a:t>Ask everyone to score themselves silently on the ten statements; the same list is in the handout with tick boxes. Then: "Hands up if you scored nine or ten." Compare with the flipchart counts from the opening poll.
</a:t>
            </a:r>
          </a:p>
          <a:p>
            <a:r>
              <a:rPr lang="en-US" dirty="0"/>
              <a:t>Nine to ten: ready, keep drilling. Six to eight: exposed, and you know exactly where. Five or fewer: start Monday with the reception script and the roster, because those two cost nothing and buy the first hour.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1 min]
</a:t>
            </a:r>
          </a:p>
          <a:p>
            <a:r>
              <a:rPr lang="en-US" dirty="0"/>
              <a:t>Five steps. The date is known only to the sponsor (site head) and the person running it. Use an outsider: corporate quality from another site or a consultant, in notified-body format with two auditors and one day. Follow product exactly as a notified body would: reception, opening meeting, sample from the line, trace the DHR and DMR, pull a supplier file, pull the complaint and CAPA history. Grade honestly using notified body or MDSAP definitions and time every retrieval. Debrief within a day, put the readiness KPIs into management review, and repeat annually at every site and at the top critical suppliers.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 | 1 min]
</a:t>
            </a:r>
          </a:p>
          <a:p>
            <a:r>
              <a:rPr lang="en-US" dirty="0"/>
              <a:t>Read the five slowly. These are the sentences you want repeated in the car park.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 | 1 min]
</a:t>
            </a:r>
          </a:p>
          <a:p>
            <a:r>
              <a:rPr lang="en-US" dirty="0"/>
              <a:t>Concrete and cheap first: script, roster, go-kit, agreements, shutdown calendar. Then the drills and gap checks. Then the mock audit and the KPIs. Everything on this slide is in the handout with space to assign owners.
</a:t>
            </a:r>
          </a:p>
          <a:p>
            <a:r>
              <a:rPr lang="en-US" dirty="0"/>
              <a:t>The audit go-kit: certificates, organization chart, site map, procedure index cross-referenced to ISO clauses and each regulation, contact list, blank request log, visitor and confidentiality forms, and the photo and sample policy.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 | 30 sec]
</a:t>
            </a:r>
          </a:p>
          <a:p>
            <a:r>
              <a:rPr lang="en-US" dirty="0"/>
              <a:t>Do not read this slide. Point to it, note that the handout carries the same list with links, and move to questions.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 – 1:30 and overflow]
</a:t>
            </a:r>
          </a:p>
          <a:p>
            <a:r>
              <a:rPr lang="en-US" dirty="0"/>
              <a:t>Open with the question on the slide if the room is quiet: "What would break first at your site?" One or two answers will start the discussion.
</a:t>
            </a:r>
          </a:p>
          <a:p>
            <a:r>
              <a:rPr lang="en-US" dirty="0"/>
              <a:t>Seed questions if needed: How do you handle FDA requests for photographs? What do you do when an auditor asks to see a record you know is deficient? How do you keep a global complaint process fast enough for the 48-hour triage?
</a:t>
            </a:r>
          </a:p>
          <a:p>
            <a:r>
              <a:rPr lang="en-US" dirty="0"/>
              <a:t>Close: thank the room, point to the handout and the 30-60-90 plan, and give your contact details.
</a:t>
            </a:r>
          </a:p>
          <a:p>
            <a:r>
              <a:rPr lang="en-US" dirty="0"/>
              <a:t>Fill in the placeholders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a:t>
            </a:r>
            <a:endParaRPr lang="en-US" sz="900" dirty="0"/>
          </a:p>
        </p:txBody>
      </p:sp>
      <p:pic>
        <p:nvPicPr>
          <p:cNvPr id="4" name="Image 0" descr="logo_small.png">    </p:cNvPr>
          <p:cNvPicPr>
            <a:picLocks noChangeAspect="1"/>
          </p:cNvPicPr>
          <p:nvPr/>
        </p:nvPicPr>
        <p:blipFill>
          <a:blip r:embed="rId1"/>
          <a:stretch>
            <a:fillRect/>
          </a:stretch>
        </p:blipFill>
        <p:spPr>
          <a:xfrm>
            <a:off x="457200" y="411480"/>
            <a:ext cx="3794760" cy="731520"/>
          </a:xfrm>
          <a:prstGeom prst="rect">
            <a:avLst/>
          </a:prstGeom>
        </p:spPr>
      </p:pic>
      <p:sp>
        <p:nvSpPr>
          <p:cNvPr id="5" name="Text 2"/>
          <p:cNvSpPr txBox="1"/>
          <p:nvPr/>
        </p:nvSpPr>
        <p:spPr>
          <a:xfrm>
            <a:off x="457200" y="1600200"/>
            <a:ext cx="8229600" cy="274320"/>
          </a:xfrm>
          <a:prstGeom prst="rect">
            <a:avLst/>
          </a:prstGeom>
          <a:noFill/>
          <a:ln/>
        </p:spPr>
        <p:txBody>
          <a:bodyPr wrap="square" lIns="0" tIns="0" rIns="0" bIns="0" rtlCol="0" anchor="t"/>
          <a:lstStyle/>
          <a:p>
            <a:pPr indent="0" marL="0">
              <a:buNone/>
            </a:pPr>
            <a:r>
              <a:rPr lang="en-US" sz="1200" b="1" spc="300" kern="0" dirty="0">
                <a:solidFill>
                  <a:srgbClr val="A8730F"/>
                </a:solidFill>
                <a:latin typeface="Calibri" pitchFamily="34" charset="0"/>
                <a:ea typeface="Calibri" pitchFamily="34" charset="-122"/>
                <a:cs typeface="Calibri" pitchFamily="34" charset="-120"/>
              </a:rPr>
              <a:t>MEDICAL DEVICE SEMINAR</a:t>
            </a:r>
            <a:endParaRPr lang="en-US" sz="1200" dirty="0"/>
          </a:p>
        </p:txBody>
      </p:sp>
      <p:sp>
        <p:nvSpPr>
          <p:cNvPr id="6" name="Text 3"/>
          <p:cNvSpPr txBox="1"/>
          <p:nvPr/>
        </p:nvSpPr>
        <p:spPr>
          <a:xfrm>
            <a:off x="457200" y="1828800"/>
            <a:ext cx="8229600" cy="731520"/>
          </a:xfrm>
          <a:prstGeom prst="rect">
            <a:avLst/>
          </a:prstGeom>
          <a:noFill/>
          <a:ln/>
        </p:spPr>
        <p:txBody>
          <a:bodyPr wrap="square" lIns="0" tIns="0" rIns="0" bIns="0" rtlCol="0" anchor="t"/>
          <a:lstStyle/>
          <a:p>
            <a:pPr indent="0" marL="0">
              <a:buNone/>
            </a:pPr>
            <a:r>
              <a:rPr lang="en-US" sz="3600" b="1" dirty="0">
                <a:solidFill>
                  <a:srgbClr val="0F2A4A"/>
                </a:solidFill>
                <a:latin typeface="Cambria" pitchFamily="34" charset="0"/>
                <a:ea typeface="Cambria" pitchFamily="34" charset="-122"/>
                <a:cs typeface="Cambria" pitchFamily="34" charset="-120"/>
              </a:rPr>
              <a:t>ISO 13485 &amp; Audit Readiness</a:t>
            </a:r>
            <a:endParaRPr lang="en-US" sz="3600" dirty="0"/>
          </a:p>
        </p:txBody>
      </p:sp>
      <p:sp>
        <p:nvSpPr>
          <p:cNvPr id="7" name="Text 4"/>
          <p:cNvSpPr txBox="1"/>
          <p:nvPr/>
        </p:nvSpPr>
        <p:spPr>
          <a:xfrm>
            <a:off x="457200" y="2651760"/>
            <a:ext cx="7863840" cy="731520"/>
          </a:xfrm>
          <a:prstGeom prst="rect">
            <a:avLst/>
          </a:prstGeom>
          <a:noFill/>
          <a:ln/>
        </p:spPr>
        <p:txBody>
          <a:bodyPr wrap="square" lIns="0" tIns="0" rIns="0" bIns="0" rtlCol="0" anchor="t"/>
          <a:lstStyle/>
          <a:p>
            <a:pPr indent="0" marL="0">
              <a:buNone/>
            </a:pPr>
            <a:r>
              <a:rPr lang="en-US" sz="1800" dirty="0">
                <a:solidFill>
                  <a:srgbClr val="5A6B7B"/>
                </a:solidFill>
                <a:latin typeface="Calibri" pitchFamily="34" charset="0"/>
                <a:ea typeface="Calibri" pitchFamily="34" charset="-122"/>
                <a:cs typeface="Calibri" pitchFamily="34" charset="-120"/>
              </a:rPr>
              <a:t>Case studies on surviving unannounced audits and maintaining a global QMS</a:t>
            </a:r>
            <a:endParaRPr lang="en-US" sz="1800" dirty="0"/>
          </a:p>
        </p:txBody>
      </p:sp>
      <p:sp>
        <p:nvSpPr>
          <p:cNvPr id="8" name="Text 5"/>
          <p:cNvSpPr txBox="1"/>
          <p:nvPr/>
        </p:nvSpPr>
        <p:spPr>
          <a:xfrm>
            <a:off x="457200" y="3703320"/>
            <a:ext cx="8229600" cy="2743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90-minute seminar   |   Speaker: [Name, Title]   |   [Date]   |   [Venue / Event]</a:t>
            </a:r>
            <a:endParaRPr lang="en-US" sz="1300" dirty="0"/>
          </a:p>
        </p:txBody>
      </p:sp>
      <p:sp>
        <p:nvSpPr>
          <p:cNvPr id="9" name="Text 6"/>
          <p:cNvSpPr txBox="1"/>
          <p:nvPr/>
        </p:nvSpPr>
        <p:spPr>
          <a:xfrm>
            <a:off x="457200" y="4023360"/>
            <a:ext cx="8229600" cy="274320"/>
          </a:xfrm>
          <a:prstGeom prst="rect">
            <a:avLst/>
          </a:prstGeom>
          <a:noFill/>
          <a:ln/>
        </p:spPr>
        <p:txBody>
          <a:bodyPr wrap="square" lIns="0" tIns="0" rIns="0" bIns="0" rtlCol="0" anchor="t"/>
          <a:lstStyle/>
          <a:p>
            <a:pPr indent="0" marL="0">
              <a:buNone/>
            </a:pPr>
            <a:r>
              <a:rPr lang="en-US" sz="1100" i="1" dirty="0">
                <a:solidFill>
                  <a:srgbClr val="5A6B7B"/>
                </a:solidFill>
                <a:latin typeface="Calibri" pitchFamily="34" charset="0"/>
                <a:ea typeface="Calibri" pitchFamily="34" charset="-122"/>
                <a:cs typeface="Calibri" pitchFamily="34" charset="-120"/>
              </a:rPr>
              <a:t>Speaker deck with notes. Companion materials: Participant Handout, Case Study Workshop Pack.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WELCOME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How the next 90 minutes run</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6035040" cy="914400"/>
        </p:xfrm>
        <a:graphic>
          <a:graphicData uri="http://schemas.openxmlformats.org/drawingml/2006/table">
            <a:tbl>
              <a:tblPr/>
              <a:tblGrid>
                <a:gridCol w="1005840"/>
                <a:gridCol w="3566160"/>
                <a:gridCol w="14630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Segment</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Format</a:t>
                      </a:r>
                      <a:endParaRPr lang="en-US" sz="10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0:00 – 0:08</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Welcome, objectives, quick poll</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Talk + show of hands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0:08 – 0:20</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Why readiness is now a permanent state: the 2026 landscape</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Talk</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0:20 – 0:32</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ISO 13485 as the backbone: the clauses that decide audits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Talk + questions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0:32 – 0:47</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Anatomy of an unannounced audit: the first 60 minutes and the next 72 hours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Protocol walk-through</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0:47 – 1:16</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Four case studies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Table discussion + debrief</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1:16 – 1:26</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Maintaining a global QMS: architecture, rhythm, readiness KPIs</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Talk</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1F2933"/>
                          </a:solidFill>
                          <a:latin typeface="Calibri" pitchFamily="34" charset="0"/>
                          <a:ea typeface="Calibri" pitchFamily="34" charset="-122"/>
                          <a:cs typeface="Calibri" pitchFamily="34" charset="-120"/>
                        </a:rPr>
                        <a:t>1:26 – 1:30</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Takeaways, 30-60-90 day plan, Q&amp;A</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50" dirty="0">
                          <a:solidFill>
                            <a:srgbClr val="1F2933"/>
                          </a:solidFill>
                          <a:latin typeface="Calibri" pitchFamily="34" charset="0"/>
                          <a:ea typeface="Calibri" pitchFamily="34" charset="-122"/>
                          <a:cs typeface="Calibri" pitchFamily="34" charset="-120"/>
                        </a:rPr>
                        <a:t>Discussion</a:t>
                      </a:r>
                      <a:endParaRPr lang="en-US" sz="10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
        <p:nvSpPr>
          <p:cNvPr id="8" name="Shape 4"/>
          <p:cNvSpPr/>
          <p:nvPr/>
        </p:nvSpPr>
        <p:spPr>
          <a:xfrm>
            <a:off x="6720840" y="1188720"/>
            <a:ext cx="1965960" cy="2697480"/>
          </a:xfrm>
          <a:prstGeom prst="roundRect">
            <a:avLst>
              <a:gd name="adj" fmla="val 2791"/>
            </a:avLst>
          </a:prstGeom>
          <a:solidFill>
            <a:srgbClr val="FBF2DE"/>
          </a:solidFill>
          <a:ln w="12700">
            <a:solidFill>
              <a:srgbClr val="FBF2DE"/>
            </a:solidFill>
            <a:prstDash val="solid"/>
          </a:ln>
        </p:spPr>
      </p:sp>
      <p:sp>
        <p:nvSpPr>
          <p:cNvPr id="9" name="Text 5"/>
          <p:cNvSpPr txBox="1"/>
          <p:nvPr/>
        </p:nvSpPr>
        <p:spPr>
          <a:xfrm>
            <a:off x="6848856" y="1280160"/>
            <a:ext cx="17099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On your table</a:t>
            </a:r>
            <a:endParaRPr lang="en-US" sz="1250" dirty="0"/>
          </a:p>
        </p:txBody>
      </p:sp>
      <p:sp>
        <p:nvSpPr>
          <p:cNvPr id="10" name="Text 6"/>
          <p:cNvSpPr txBox="1"/>
          <p:nvPr/>
        </p:nvSpPr>
        <p:spPr>
          <a:xfrm>
            <a:off x="6848856" y="1645920"/>
            <a:ext cx="1709928" cy="2148840"/>
          </a:xfrm>
          <a:prstGeom prst="rect">
            <a:avLst/>
          </a:prstGeom>
          <a:noFill/>
          <a:ln/>
        </p:spPr>
        <p:txBody>
          <a:bodyPr wrap="square" lIns="0" tIns="0" rIns="0" bIns="0" rtlCol="0" anchor="t"/>
          <a:lstStyle/>
          <a:p>
            <a:pPr marL="342900" indent="-342900">
              <a:spcAft>
                <a:spcPts val="300"/>
              </a:spcAft>
              <a:buSzPct val="100000"/>
              <a:buChar char="•"/>
            </a:pPr>
            <a:r>
              <a:rPr lang="en-US" sz="950" b="1" dirty="0">
                <a:solidFill>
                  <a:srgbClr val="1F2933"/>
                </a:solidFill>
                <a:latin typeface="Calibri" pitchFamily="34" charset="0"/>
                <a:ea typeface="Calibri" pitchFamily="34" charset="-122"/>
                <a:cs typeface="Calibri" pitchFamily="34" charset="-120"/>
              </a:rPr>
              <a:t>Participant Handout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First-hour protocol, roles, do/don't list, reporting timelines, self-test, references</a:t>
            </a:r>
            <a:endParaRPr lang="en-US" sz="950" dirty="0"/>
          </a:p>
          <a:p>
            <a:pPr marL="342900" indent="-342900">
              <a:spcAft>
                <a:spcPts val="300"/>
              </a:spcAft>
              <a:buSzPct val="100000"/>
              <a:buChar char="•"/>
            </a:pPr>
            <a:r>
              <a:rPr lang="en-US" sz="950" b="1" dirty="0">
                <a:solidFill>
                  <a:srgbClr val="1F2933"/>
                </a:solidFill>
                <a:latin typeface="Calibri" pitchFamily="34" charset="0"/>
                <a:ea typeface="Calibri" pitchFamily="34" charset="-122"/>
                <a:cs typeface="Calibri" pitchFamily="34" charset="-120"/>
              </a:rPr>
              <a:t>Case Study Workshop Pack</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Four composite cases, discussion questions, room for notes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WELCOME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Three quick questions before we start</a:t>
            </a:r>
            <a:endParaRPr lang="en-US" sz="2400" dirty="0"/>
          </a:p>
        </p:txBody>
      </p:sp>
      <p:sp>
        <p:nvSpPr>
          <p:cNvPr id="7" name="Shape 4"/>
          <p:cNvSpPr/>
          <p:nvPr/>
        </p:nvSpPr>
        <p:spPr>
          <a:xfrm>
            <a:off x="457200" y="1188720"/>
            <a:ext cx="8229600" cy="1078992"/>
          </a:xfrm>
          <a:prstGeom prst="roundRect">
            <a:avLst>
              <a:gd name="adj" fmla="val 5085"/>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7571232"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Experience</a:t>
            </a:r>
            <a:endParaRPr lang="en-US" sz="900" dirty="0"/>
          </a:p>
        </p:txBody>
      </p:sp>
      <p:sp>
        <p:nvSpPr>
          <p:cNvPr id="11" name="Text 8"/>
          <p:cNvSpPr txBox="1"/>
          <p:nvPr/>
        </p:nvSpPr>
        <p:spPr>
          <a:xfrm>
            <a:off x="987552" y="1499616"/>
            <a:ext cx="7571232" cy="457200"/>
          </a:xfrm>
          <a:prstGeom prst="rect">
            <a:avLst/>
          </a:prstGeom>
          <a:noFill/>
          <a:ln/>
        </p:spPr>
        <p:txBody>
          <a:bodyPr wrap="square" lIns="0" tIns="0" rIns="0" bIns="0" rtlCol="0" anchor="ctr"/>
          <a:lstStyle/>
          <a:p>
            <a:pPr indent="0" marL="0">
              <a:buNone/>
            </a:pPr>
            <a:r>
              <a:rPr lang="en-US" sz="1350" b="1" dirty="0">
                <a:solidFill>
                  <a:srgbClr val="0F2A4A"/>
                </a:solidFill>
                <a:latin typeface="Calibri" pitchFamily="34" charset="0"/>
                <a:ea typeface="Calibri" pitchFamily="34" charset="-122"/>
                <a:cs typeface="Calibri" pitchFamily="34" charset="-120"/>
              </a:rPr>
              <a:t>Who here has lived through an unannounced audit or an FDA inspection?</a:t>
            </a:r>
            <a:endParaRPr lang="en-US" sz="1350" dirty="0"/>
          </a:p>
        </p:txBody>
      </p:sp>
      <p:sp>
        <p:nvSpPr>
          <p:cNvPr id="12" name="Text 9"/>
          <p:cNvSpPr txBox="1"/>
          <p:nvPr/>
        </p:nvSpPr>
        <p:spPr>
          <a:xfrm>
            <a:off x="585216" y="1993392"/>
            <a:ext cx="7973568" cy="18288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Listen for: how they found out the auditors were on site, and how long it took to get organized.</a:t>
            </a:r>
            <a:endParaRPr lang="en-US" sz="1050" dirty="0"/>
          </a:p>
        </p:txBody>
      </p:sp>
      <p:sp>
        <p:nvSpPr>
          <p:cNvPr id="13" name="Shape 10"/>
          <p:cNvSpPr/>
          <p:nvPr/>
        </p:nvSpPr>
        <p:spPr>
          <a:xfrm>
            <a:off x="457200" y="2331720"/>
            <a:ext cx="8229600" cy="1078992"/>
          </a:xfrm>
          <a:prstGeom prst="roundRect">
            <a:avLst>
              <a:gd name="adj" fmla="val 5085"/>
            </a:avLst>
          </a:prstGeom>
          <a:solidFill>
            <a:srgbClr val="EAF0F6"/>
          </a:solidFill>
          <a:ln w="12700">
            <a:solidFill>
              <a:srgbClr val="EAF0F6"/>
            </a:solidFill>
            <a:prstDash val="solid"/>
          </a:ln>
        </p:spPr>
      </p:sp>
      <p:sp>
        <p:nvSpPr>
          <p:cNvPr id="14" name="Shape 11"/>
          <p:cNvSpPr/>
          <p:nvPr/>
        </p:nvSpPr>
        <p:spPr>
          <a:xfrm>
            <a:off x="585216" y="2441448"/>
            <a:ext cx="310896" cy="310896"/>
          </a:xfrm>
          <a:prstGeom prst="ellipse">
            <a:avLst/>
          </a:prstGeom>
          <a:solidFill>
            <a:srgbClr val="0F2A4A"/>
          </a:solidFill>
          <a:ln w="12700">
            <a:solidFill>
              <a:srgbClr val="0F2A4A"/>
            </a:solidFill>
            <a:prstDash val="solid"/>
          </a:ln>
        </p:spPr>
      </p:sp>
      <p:sp>
        <p:nvSpPr>
          <p:cNvPr id="15" name="Text 12"/>
          <p:cNvSpPr txBox="1"/>
          <p:nvPr/>
        </p:nvSpPr>
        <p:spPr>
          <a:xfrm>
            <a:off x="585216" y="2441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txBox="1"/>
          <p:nvPr/>
        </p:nvSpPr>
        <p:spPr>
          <a:xfrm>
            <a:off x="987552" y="2423160"/>
            <a:ext cx="7571232"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Footprint</a:t>
            </a:r>
            <a:endParaRPr lang="en-US" sz="900" dirty="0"/>
          </a:p>
        </p:txBody>
      </p:sp>
      <p:sp>
        <p:nvSpPr>
          <p:cNvPr id="17" name="Text 14"/>
          <p:cNvSpPr txBox="1"/>
          <p:nvPr/>
        </p:nvSpPr>
        <p:spPr>
          <a:xfrm>
            <a:off x="987552" y="2642616"/>
            <a:ext cx="7571232" cy="457200"/>
          </a:xfrm>
          <a:prstGeom prst="rect">
            <a:avLst/>
          </a:prstGeom>
          <a:noFill/>
          <a:ln/>
        </p:spPr>
        <p:txBody>
          <a:bodyPr wrap="square" lIns="0" tIns="0" rIns="0" bIns="0" rtlCol="0" anchor="ctr"/>
          <a:lstStyle/>
          <a:p>
            <a:pPr indent="0" marL="0">
              <a:buNone/>
            </a:pPr>
            <a:r>
              <a:rPr lang="en-US" sz="1350" b="1" dirty="0">
                <a:solidFill>
                  <a:srgbClr val="0F2A4A"/>
                </a:solidFill>
                <a:latin typeface="Calibri" pitchFamily="34" charset="0"/>
                <a:ea typeface="Calibri" pitchFamily="34" charset="-122"/>
                <a:cs typeface="Calibri" pitchFamily="34" charset="-120"/>
              </a:rPr>
              <a:t>Who ships into three or more regulatory jurisdictions?</a:t>
            </a:r>
            <a:endParaRPr lang="en-US" sz="1350" dirty="0"/>
          </a:p>
        </p:txBody>
      </p:sp>
      <p:sp>
        <p:nvSpPr>
          <p:cNvPr id="18" name="Text 15"/>
          <p:cNvSpPr txBox="1"/>
          <p:nvPr/>
        </p:nvSpPr>
        <p:spPr>
          <a:xfrm>
            <a:off x="585216" y="3136392"/>
            <a:ext cx="7973568" cy="18288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Listen for: how many separate procedures or "local versions" they maintain today.</a:t>
            </a:r>
            <a:endParaRPr lang="en-US" sz="1050" dirty="0"/>
          </a:p>
        </p:txBody>
      </p:sp>
      <p:sp>
        <p:nvSpPr>
          <p:cNvPr id="19" name="Shape 16"/>
          <p:cNvSpPr/>
          <p:nvPr/>
        </p:nvSpPr>
        <p:spPr>
          <a:xfrm>
            <a:off x="457200" y="3474720"/>
            <a:ext cx="8229600" cy="1078992"/>
          </a:xfrm>
          <a:prstGeom prst="roundRect">
            <a:avLst>
              <a:gd name="adj" fmla="val 5085"/>
            </a:avLst>
          </a:prstGeom>
          <a:solidFill>
            <a:srgbClr val="FBF2DE"/>
          </a:solidFill>
          <a:ln w="12700">
            <a:solidFill>
              <a:srgbClr val="FBF2DE"/>
            </a:solidFill>
            <a:prstDash val="solid"/>
          </a:ln>
        </p:spPr>
      </p:sp>
      <p:sp>
        <p:nvSpPr>
          <p:cNvPr id="20" name="Shape 17"/>
          <p:cNvSpPr/>
          <p:nvPr/>
        </p:nvSpPr>
        <p:spPr>
          <a:xfrm>
            <a:off x="585216" y="3584448"/>
            <a:ext cx="310896" cy="310896"/>
          </a:xfrm>
          <a:prstGeom prst="ellipse">
            <a:avLst/>
          </a:prstGeom>
          <a:solidFill>
            <a:srgbClr val="0F2A4A"/>
          </a:solidFill>
          <a:ln w="12700">
            <a:solidFill>
              <a:srgbClr val="0F2A4A"/>
            </a:solidFill>
            <a:prstDash val="solid"/>
          </a:ln>
        </p:spPr>
      </p:sp>
      <p:sp>
        <p:nvSpPr>
          <p:cNvPr id="21" name="Text 18"/>
          <p:cNvSpPr txBox="1"/>
          <p:nvPr/>
        </p:nvSpPr>
        <p:spPr>
          <a:xfrm>
            <a:off x="585216" y="3584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19"/>
          <p:cNvSpPr txBox="1"/>
          <p:nvPr/>
        </p:nvSpPr>
        <p:spPr>
          <a:xfrm>
            <a:off x="987552" y="3566160"/>
            <a:ext cx="7571232"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30-minute test</a:t>
            </a:r>
            <a:endParaRPr lang="en-US" sz="900" dirty="0"/>
          </a:p>
        </p:txBody>
      </p:sp>
      <p:sp>
        <p:nvSpPr>
          <p:cNvPr id="23" name="Text 20"/>
          <p:cNvSpPr txBox="1"/>
          <p:nvPr/>
        </p:nvSpPr>
        <p:spPr>
          <a:xfrm>
            <a:off x="987552" y="3785616"/>
            <a:ext cx="7571232" cy="457200"/>
          </a:xfrm>
          <a:prstGeom prst="rect">
            <a:avLst/>
          </a:prstGeom>
          <a:noFill/>
          <a:ln/>
        </p:spPr>
        <p:txBody>
          <a:bodyPr wrap="square" lIns="0" tIns="0" rIns="0" bIns="0" rtlCol="0" anchor="ctr"/>
          <a:lstStyle/>
          <a:p>
            <a:pPr indent="0" marL="0">
              <a:buNone/>
            </a:pPr>
            <a:r>
              <a:rPr lang="en-US" sz="1350" b="1" dirty="0">
                <a:solidFill>
                  <a:srgbClr val="0F2A4A"/>
                </a:solidFill>
                <a:latin typeface="Calibri" pitchFamily="34" charset="0"/>
                <a:ea typeface="Calibri" pitchFamily="34" charset="-122"/>
                <a:cs typeface="Calibri" pitchFamily="34" charset="-120"/>
              </a:rPr>
              <a:t>Who could hand an auditor the complete DHR and full traceability for any lot shipped last month, within 30 minutes?</a:t>
            </a:r>
            <a:endParaRPr lang="en-US" sz="1350" dirty="0"/>
          </a:p>
        </p:txBody>
      </p:sp>
      <p:sp>
        <p:nvSpPr>
          <p:cNvPr id="24" name="Text 21"/>
          <p:cNvSpPr txBox="1"/>
          <p:nvPr/>
        </p:nvSpPr>
        <p:spPr>
          <a:xfrm>
            <a:off x="585216" y="4279392"/>
            <a:ext cx="7973568" cy="182880"/>
          </a:xfrm>
          <a:prstGeom prst="rect">
            <a:avLst/>
          </a:prstGeom>
          <a:noFill/>
          <a:ln/>
        </p:spPr>
        <p:txBody>
          <a:bodyPr wrap="square" lIns="0" tIns="0" rIns="0" bIns="0" rtlCol="0" anchor="t"/>
          <a:lstStyle/>
          <a:p>
            <a:pPr indent="0" marL="0">
              <a:buNone/>
            </a:pPr>
            <a:r>
              <a:rPr lang="en-US" sz="1050" dirty="0">
                <a:solidFill>
                  <a:srgbClr val="1F2933"/>
                </a:solidFill>
                <a:latin typeface="Calibri" pitchFamily="34" charset="0"/>
                <a:ea typeface="Calibri" pitchFamily="34" charset="-122"/>
                <a:cs typeface="Calibri" pitchFamily="34" charset="-120"/>
              </a:rPr>
              <a:t>This is the question the rest of the session is built around.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1</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Why readiness is now a permanent state</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Unannounced audits, converging regulations, and what auditors actually test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WHY READINESS IS PERMANENT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Who can arrive without warning</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554480"/>
                <a:gridCol w="1463040"/>
                <a:gridCol w="2286000"/>
                <a:gridCol w="2926080"/>
              </a:tblGrid>
              <a:tr h="4572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Who audits</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Advance notice</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Basis and cadence</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45720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EU MDR / IVDR</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Notified body</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None</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Annex IX §3.4: unannounced audit at least once every 5 years per manufacturer; may extend to critical suppliers and subcontractors; the plan is never disclosed</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US FDA</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FDA investigator</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None for domestic routine and for-cause inspections; foreign inspections increasingly unannounced since 2025</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FD&amp;C Act §704 inspection authority; QMSR (21 CFR 820) in force since 2 Feb 2026</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MDSAP (AU, BR, CA, JP, US)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Auditing organization</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Normally announced; special or unannounced audits possible when a regulator requests or serious signals appear</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3-year cycle: initial certification, two surveillance audits, recertification</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Competent authorities and other regulators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e.g., EU member-state authorities, ANVISA, TGA, PMDA</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Varies; for-cause visits are often unannounced</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Market surveillance, vigilance signals, complaints, recalls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Customers and distributors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Customer quality</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Usually announced</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Quality agreements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WHY READINESS IS PERMANENT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2026 regulatory snapshot</a:t>
            </a:r>
            <a:endParaRPr lang="en-US" sz="2400" dirty="0"/>
          </a:p>
        </p:txBody>
      </p:sp>
      <p:sp>
        <p:nvSpPr>
          <p:cNvPr id="7" name="Shape 4"/>
          <p:cNvSpPr/>
          <p:nvPr/>
        </p:nvSpPr>
        <p:spPr>
          <a:xfrm>
            <a:off x="457200" y="1188720"/>
            <a:ext cx="2621280" cy="1627632"/>
          </a:xfrm>
          <a:prstGeom prst="roundRect">
            <a:avLst>
              <a:gd name="adj" fmla="val 3371"/>
            </a:avLst>
          </a:prstGeom>
          <a:solidFill>
            <a:srgbClr val="FBF2DE"/>
          </a:solidFill>
          <a:ln w="12700">
            <a:solidFill>
              <a:srgbClr val="FBF2DE"/>
            </a:solidFill>
            <a:prstDash val="solid"/>
          </a:ln>
        </p:spPr>
      </p:sp>
      <p:sp>
        <p:nvSpPr>
          <p:cNvPr id="8" name="Text 5"/>
          <p:cNvSpPr txBox="1"/>
          <p:nvPr/>
        </p:nvSpPr>
        <p:spPr>
          <a:xfrm>
            <a:off x="585216" y="1280160"/>
            <a:ext cx="236524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FDA QMSR</a:t>
            </a:r>
            <a:endParaRPr lang="en-US" sz="1250" dirty="0"/>
          </a:p>
        </p:txBody>
      </p:sp>
      <p:sp>
        <p:nvSpPr>
          <p:cNvPr id="9" name="Text 6"/>
          <p:cNvSpPr txBox="1"/>
          <p:nvPr/>
        </p:nvSpPr>
        <p:spPr>
          <a:xfrm>
            <a:off x="585216" y="1645920"/>
            <a:ext cx="2365248" cy="107899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In force 2 Feb 2026. ISO 13485:2016 incorporated into 21 CFR 820; QSIT retired. Additions: 820.10, 820.35 (complaint and servicing records incl. UDI), 820.45 (labeling and packaging). Management review and internal/supplier audit records are now reviewable.</a:t>
            </a:r>
            <a:endParaRPr lang="en-US" sz="950" dirty="0"/>
          </a:p>
        </p:txBody>
      </p:sp>
      <p:sp>
        <p:nvSpPr>
          <p:cNvPr id="10" name="Shape 7"/>
          <p:cNvSpPr/>
          <p:nvPr/>
        </p:nvSpPr>
        <p:spPr>
          <a:xfrm>
            <a:off x="3261360" y="1188720"/>
            <a:ext cx="2621280" cy="1627632"/>
          </a:xfrm>
          <a:prstGeom prst="roundRect">
            <a:avLst>
              <a:gd name="adj" fmla="val 3371"/>
            </a:avLst>
          </a:prstGeom>
          <a:solidFill>
            <a:srgbClr val="EAF0F6"/>
          </a:solidFill>
          <a:ln w="12700">
            <a:solidFill>
              <a:srgbClr val="EAF0F6"/>
            </a:solidFill>
            <a:prstDash val="solid"/>
          </a:ln>
        </p:spPr>
      </p:sp>
      <p:sp>
        <p:nvSpPr>
          <p:cNvPr id="11" name="Text 8"/>
          <p:cNvSpPr txBox="1"/>
          <p:nvPr/>
        </p:nvSpPr>
        <p:spPr>
          <a:xfrm>
            <a:off x="3389376" y="1280160"/>
            <a:ext cx="236524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EU MDR / IVDR</a:t>
            </a:r>
            <a:endParaRPr lang="en-US" sz="1250" dirty="0"/>
          </a:p>
        </p:txBody>
      </p:sp>
      <p:sp>
        <p:nvSpPr>
          <p:cNvPr id="12" name="Text 9"/>
          <p:cNvSpPr txBox="1"/>
          <p:nvPr/>
        </p:nvSpPr>
        <p:spPr>
          <a:xfrm>
            <a:off x="3389376" y="1645920"/>
            <a:ext cx="2365248" cy="107899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Transition extended: MDR legacy devices to end-2027/2028 (Reg. 2023/607); IVDR to 2027–2029 (Reg. 2024/1860). Annex IX §3.4 unannounced audits at least every 5 years. PRRC, PMS and PSUR duties, EUDAMED phased roll-out.</a:t>
            </a:r>
            <a:endParaRPr lang="en-US" sz="950" dirty="0"/>
          </a:p>
        </p:txBody>
      </p:sp>
      <p:sp>
        <p:nvSpPr>
          <p:cNvPr id="13" name="Shape 10"/>
          <p:cNvSpPr/>
          <p:nvPr/>
        </p:nvSpPr>
        <p:spPr>
          <a:xfrm>
            <a:off x="6065520" y="1188720"/>
            <a:ext cx="2621280" cy="1627632"/>
          </a:xfrm>
          <a:prstGeom prst="roundRect">
            <a:avLst>
              <a:gd name="adj" fmla="val 3371"/>
            </a:avLst>
          </a:prstGeom>
          <a:solidFill>
            <a:srgbClr val="EAF0F6"/>
          </a:solidFill>
          <a:ln w="12700">
            <a:solidFill>
              <a:srgbClr val="EAF0F6"/>
            </a:solidFill>
            <a:prstDash val="solid"/>
          </a:ln>
        </p:spPr>
      </p:sp>
      <p:sp>
        <p:nvSpPr>
          <p:cNvPr id="14" name="Text 11"/>
          <p:cNvSpPr txBox="1"/>
          <p:nvPr/>
        </p:nvSpPr>
        <p:spPr>
          <a:xfrm>
            <a:off x="6193536" y="1280160"/>
            <a:ext cx="236524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MDSAP</a:t>
            </a:r>
            <a:endParaRPr lang="en-US" sz="1250" dirty="0"/>
          </a:p>
        </p:txBody>
      </p:sp>
      <p:sp>
        <p:nvSpPr>
          <p:cNvPr id="15" name="Text 12"/>
          <p:cNvSpPr txBox="1"/>
          <p:nvPr/>
        </p:nvSpPr>
        <p:spPr>
          <a:xfrm>
            <a:off x="6193536" y="1645920"/>
            <a:ext cx="2365248" cy="107899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One audit for Australia, Brazil, Canada, Japan and the USA; further jurisdictions participate as affiliates. Mandatory for Health Canada Class II–IV licences. Nonconformities graded 1–5; grades 4–5 escalated to regulators within 5 business days.</a:t>
            </a:r>
            <a:endParaRPr lang="en-US" sz="950" dirty="0"/>
          </a:p>
        </p:txBody>
      </p:sp>
      <p:sp>
        <p:nvSpPr>
          <p:cNvPr id="16" name="Shape 13"/>
          <p:cNvSpPr/>
          <p:nvPr/>
        </p:nvSpPr>
        <p:spPr>
          <a:xfrm>
            <a:off x="457200" y="2980944"/>
            <a:ext cx="2621280" cy="1627632"/>
          </a:xfrm>
          <a:prstGeom prst="roundRect">
            <a:avLst>
              <a:gd name="adj" fmla="val 3371"/>
            </a:avLst>
          </a:prstGeom>
          <a:solidFill>
            <a:srgbClr val="EAF0F6"/>
          </a:solidFill>
          <a:ln w="12700">
            <a:solidFill>
              <a:srgbClr val="EAF0F6"/>
            </a:solidFill>
            <a:prstDash val="solid"/>
          </a:ln>
        </p:spPr>
      </p:sp>
      <p:sp>
        <p:nvSpPr>
          <p:cNvPr id="17" name="Text 14"/>
          <p:cNvSpPr txBox="1"/>
          <p:nvPr/>
        </p:nvSpPr>
        <p:spPr>
          <a:xfrm>
            <a:off x="585216" y="3072384"/>
            <a:ext cx="236524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United Kingdom</a:t>
            </a:r>
            <a:endParaRPr lang="en-US" sz="1250" dirty="0"/>
          </a:p>
        </p:txBody>
      </p:sp>
      <p:sp>
        <p:nvSpPr>
          <p:cNvPr id="18" name="Text 15"/>
          <p:cNvSpPr txBox="1"/>
          <p:nvPr/>
        </p:nvSpPr>
        <p:spPr>
          <a:xfrm>
            <a:off x="585216" y="3438144"/>
            <a:ext cx="2365248" cy="107899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UK MDR 2002 (as amended). CE marking accepted to 30 Jun 2028 (MDD/AIMDD/IVDD) or 30 Jun 2030 (MDR/IVDR). New post-market surveillance regulations in force since 16 Jun 2025. UK Responsible Person for non-UK manufacturers.</a:t>
            </a:r>
            <a:endParaRPr lang="en-US" sz="950" dirty="0"/>
          </a:p>
        </p:txBody>
      </p:sp>
      <p:sp>
        <p:nvSpPr>
          <p:cNvPr id="19" name="Shape 16"/>
          <p:cNvSpPr/>
          <p:nvPr/>
        </p:nvSpPr>
        <p:spPr>
          <a:xfrm>
            <a:off x="3261360" y="2980944"/>
            <a:ext cx="2621280" cy="1627632"/>
          </a:xfrm>
          <a:prstGeom prst="roundRect">
            <a:avLst>
              <a:gd name="adj" fmla="val 3371"/>
            </a:avLst>
          </a:prstGeom>
          <a:solidFill>
            <a:srgbClr val="EAF0F6"/>
          </a:solidFill>
          <a:ln w="12700">
            <a:solidFill>
              <a:srgbClr val="EAF0F6"/>
            </a:solidFill>
            <a:prstDash val="solid"/>
          </a:ln>
        </p:spPr>
      </p:sp>
      <p:sp>
        <p:nvSpPr>
          <p:cNvPr id="20" name="Text 17"/>
          <p:cNvSpPr txBox="1"/>
          <p:nvPr/>
        </p:nvSpPr>
        <p:spPr>
          <a:xfrm>
            <a:off x="3389376" y="3072384"/>
            <a:ext cx="236524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ISO 13485</a:t>
            </a:r>
            <a:endParaRPr lang="en-US" sz="1250" dirty="0"/>
          </a:p>
        </p:txBody>
      </p:sp>
      <p:sp>
        <p:nvSpPr>
          <p:cNvPr id="21" name="Text 18"/>
          <p:cNvSpPr txBox="1"/>
          <p:nvPr/>
        </p:nvSpPr>
        <p:spPr>
          <a:xfrm>
            <a:off x="3389376" y="3438144"/>
            <a:ext cx="2365248" cy="107899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2016 edition remains current, plus Amd 1:2024 (climate-change considerations). EN ISO 13485:2016+A11:2021 harmonised under MDR/IVDR. Revision under way in ISO/TC 210: track the draft stages and expect a transition period.</a:t>
            </a:r>
            <a:endParaRPr lang="en-US" sz="950" dirty="0"/>
          </a:p>
        </p:txBody>
      </p:sp>
      <p:sp>
        <p:nvSpPr>
          <p:cNvPr id="22" name="Shape 19"/>
          <p:cNvSpPr/>
          <p:nvPr/>
        </p:nvSpPr>
        <p:spPr>
          <a:xfrm>
            <a:off x="6065520" y="2980944"/>
            <a:ext cx="2621280" cy="1627632"/>
          </a:xfrm>
          <a:prstGeom prst="roundRect">
            <a:avLst>
              <a:gd name="adj" fmla="val 3371"/>
            </a:avLst>
          </a:prstGeom>
          <a:solidFill>
            <a:srgbClr val="EAF0F6"/>
          </a:solidFill>
          <a:ln w="12700">
            <a:solidFill>
              <a:srgbClr val="EAF0F6"/>
            </a:solidFill>
            <a:prstDash val="solid"/>
          </a:ln>
        </p:spPr>
      </p:sp>
      <p:sp>
        <p:nvSpPr>
          <p:cNvPr id="23" name="Text 20"/>
          <p:cNvSpPr txBox="1"/>
          <p:nvPr/>
        </p:nvSpPr>
        <p:spPr>
          <a:xfrm>
            <a:off x="6193536" y="3072384"/>
            <a:ext cx="236524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Other major markets</a:t>
            </a:r>
            <a:endParaRPr lang="en-US" sz="1250" dirty="0"/>
          </a:p>
        </p:txBody>
      </p:sp>
      <p:sp>
        <p:nvSpPr>
          <p:cNvPr id="24" name="Text 21"/>
          <p:cNvSpPr txBox="1"/>
          <p:nvPr/>
        </p:nvSpPr>
        <p:spPr>
          <a:xfrm>
            <a:off x="6193536" y="3438144"/>
            <a:ext cx="2365248" cy="1078992"/>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Brazil RDC 665/2022 (BGMP), Japan MHLW Ordinance 169, China NMPA GMP, Korea KGMP, Saudi SFDA, India MDR 2017. Largely aligned with ISO 13485, each with local deltas on registration, records, language and reporting.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1  |  WHY READINESS IS PERMANENT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auditors actually test</a:t>
            </a:r>
            <a:endParaRPr lang="en-US" sz="2400" dirty="0"/>
          </a:p>
        </p:txBody>
      </p:sp>
      <p:sp>
        <p:nvSpPr>
          <p:cNvPr id="7" name="Shape 4"/>
          <p:cNvSpPr/>
          <p:nvPr/>
        </p:nvSpPr>
        <p:spPr>
          <a:xfrm>
            <a:off x="457200" y="1188720"/>
            <a:ext cx="3566160" cy="941832"/>
          </a:xfrm>
          <a:prstGeom prst="roundRect">
            <a:avLst>
              <a:gd name="adj" fmla="val 5825"/>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2907792" cy="329184"/>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Show me the procedure</a:t>
            </a:r>
            <a:endParaRPr lang="en-US" sz="1300" dirty="0"/>
          </a:p>
        </p:txBody>
      </p:sp>
      <p:sp>
        <p:nvSpPr>
          <p:cNvPr id="11" name="Text 8"/>
          <p:cNvSpPr txBox="1"/>
          <p:nvPr/>
        </p:nvSpPr>
        <p:spPr>
          <a:xfrm>
            <a:off x="585216" y="1645920"/>
            <a:ext cx="3310128" cy="393192"/>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Is there a documented process, and does it meet the standard and the regulations that apply?</a:t>
            </a:r>
            <a:endParaRPr lang="en-US" sz="1000" dirty="0"/>
          </a:p>
        </p:txBody>
      </p:sp>
      <p:sp>
        <p:nvSpPr>
          <p:cNvPr id="12" name="Shape 9"/>
          <p:cNvSpPr/>
          <p:nvPr/>
        </p:nvSpPr>
        <p:spPr>
          <a:xfrm>
            <a:off x="457200" y="2240280"/>
            <a:ext cx="3566160" cy="941832"/>
          </a:xfrm>
          <a:prstGeom prst="roundRect">
            <a:avLst>
              <a:gd name="adj" fmla="val 5825"/>
            </a:avLst>
          </a:prstGeom>
          <a:solidFill>
            <a:srgbClr val="EAF0F6"/>
          </a:solidFill>
          <a:ln w="12700">
            <a:solidFill>
              <a:srgbClr val="EAF0F6"/>
            </a:solidFill>
            <a:prstDash val="solid"/>
          </a:ln>
        </p:spPr>
      </p:sp>
      <p:sp>
        <p:nvSpPr>
          <p:cNvPr id="13" name="Shape 10"/>
          <p:cNvSpPr/>
          <p:nvPr/>
        </p:nvSpPr>
        <p:spPr>
          <a:xfrm>
            <a:off x="585216" y="235000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585216" y="2350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987552" y="2331720"/>
            <a:ext cx="2907792" cy="329184"/>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Show me the records</a:t>
            </a:r>
            <a:endParaRPr lang="en-US" sz="1300" dirty="0"/>
          </a:p>
        </p:txBody>
      </p:sp>
      <p:sp>
        <p:nvSpPr>
          <p:cNvPr id="16" name="Text 13"/>
          <p:cNvSpPr txBox="1"/>
          <p:nvPr/>
        </p:nvSpPr>
        <p:spPr>
          <a:xfrm>
            <a:off x="585216" y="2697480"/>
            <a:ext cx="3310128" cy="393192"/>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Do the records prove the procedure is followed every time, not just when someone is watching?</a:t>
            </a:r>
            <a:endParaRPr lang="en-US" sz="1000" dirty="0"/>
          </a:p>
        </p:txBody>
      </p:sp>
      <p:sp>
        <p:nvSpPr>
          <p:cNvPr id="17" name="Shape 14"/>
          <p:cNvSpPr/>
          <p:nvPr/>
        </p:nvSpPr>
        <p:spPr>
          <a:xfrm>
            <a:off x="457200" y="3291840"/>
            <a:ext cx="3566160" cy="941832"/>
          </a:xfrm>
          <a:prstGeom prst="roundRect">
            <a:avLst>
              <a:gd name="adj" fmla="val 5825"/>
            </a:avLst>
          </a:prstGeom>
          <a:solidFill>
            <a:srgbClr val="EAF0F6"/>
          </a:solidFill>
          <a:ln w="12700">
            <a:solidFill>
              <a:srgbClr val="EAF0F6"/>
            </a:solidFill>
            <a:prstDash val="solid"/>
          </a:ln>
        </p:spPr>
      </p:sp>
      <p:sp>
        <p:nvSpPr>
          <p:cNvPr id="18" name="Shape 15"/>
          <p:cNvSpPr/>
          <p:nvPr/>
        </p:nvSpPr>
        <p:spPr>
          <a:xfrm>
            <a:off x="585216" y="340156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585216" y="34015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987552" y="3383280"/>
            <a:ext cx="2907792" cy="329184"/>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Show me it happening</a:t>
            </a:r>
            <a:endParaRPr lang="en-US" sz="1300" dirty="0"/>
          </a:p>
        </p:txBody>
      </p:sp>
      <p:sp>
        <p:nvSpPr>
          <p:cNvPr id="21" name="Text 18"/>
          <p:cNvSpPr txBox="1"/>
          <p:nvPr/>
        </p:nvSpPr>
        <p:spPr>
          <a:xfrm>
            <a:off x="585216" y="3749040"/>
            <a:ext cx="3310128" cy="393192"/>
          </a:xfrm>
          <a:prstGeom prst="rect">
            <a:avLst/>
          </a:prstGeom>
          <a:noFill/>
          <a:ln/>
        </p:spPr>
        <p:txBody>
          <a:bodyPr wrap="square" lIns="0" tIns="0" rIns="0" bIns="0" rtlCol="0" anchor="t"/>
          <a:lstStyle/>
          <a:p>
            <a:pPr indent="0" marL="0">
              <a:buNone/>
            </a:pPr>
            <a:r>
              <a:rPr lang="en-US" sz="1000" dirty="0">
                <a:solidFill>
                  <a:srgbClr val="1F2933"/>
                </a:solidFill>
                <a:latin typeface="Calibri" pitchFamily="34" charset="0"/>
                <a:ea typeface="Calibri" pitchFamily="34" charset="-122"/>
                <a:cs typeface="Calibri" pitchFamily="34" charset="-120"/>
              </a:rPr>
              <a:t>Walk the floor. Interview operators. Pick a unit and follow it. Does practice match paper?</a:t>
            </a:r>
            <a:endParaRPr lang="en-US" sz="1000" dirty="0"/>
          </a:p>
        </p:txBody>
      </p:sp>
      <p:sp>
        <p:nvSpPr>
          <p:cNvPr id="22" name="Shape 19"/>
          <p:cNvSpPr/>
          <p:nvPr/>
        </p:nvSpPr>
        <p:spPr>
          <a:xfrm>
            <a:off x="4297680" y="1188720"/>
            <a:ext cx="4389120" cy="3044952"/>
          </a:xfrm>
          <a:prstGeom prst="roundRect">
            <a:avLst>
              <a:gd name="adj" fmla="val 1802"/>
            </a:avLst>
          </a:prstGeom>
          <a:solidFill>
            <a:srgbClr val="FBF2DE"/>
          </a:solidFill>
          <a:ln w="12700">
            <a:solidFill>
              <a:srgbClr val="FBF2DE"/>
            </a:solidFill>
            <a:prstDash val="solid"/>
          </a:ln>
        </p:spPr>
      </p:sp>
      <p:sp>
        <p:nvSpPr>
          <p:cNvPr id="23" name="Text 20"/>
          <p:cNvSpPr txBox="1"/>
          <p:nvPr/>
        </p:nvSpPr>
        <p:spPr>
          <a:xfrm>
            <a:off x="4425696" y="1280160"/>
            <a:ext cx="413308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Where findings cluster, year after year</a:t>
            </a:r>
            <a:endParaRPr lang="en-US" sz="1250" dirty="0"/>
          </a:p>
        </p:txBody>
      </p:sp>
      <p:sp>
        <p:nvSpPr>
          <p:cNvPr id="24" name="Text 21"/>
          <p:cNvSpPr txBox="1"/>
          <p:nvPr/>
        </p:nvSpPr>
        <p:spPr>
          <a:xfrm>
            <a:off x="4425696" y="1645920"/>
            <a:ext cx="4133088" cy="2496312"/>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CAPA: root cause, effectiveness (8.5.2)</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Complaint handling and reporting to regulators (8.2.2, 8.2.3)</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Purchasing and supplier controls (7.4)</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Process validation and revalidation (7.5.6)</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Design controls and design changes (7.3)</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Nonconforming product and rework (8.3)</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Document and record control (4.2.4, 4.2.5)</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Management review effectiveness (5.6)</a:t>
            </a:r>
            <a:endParaRPr lang="en-US" sz="1100" dirty="0"/>
          </a:p>
          <a:p>
            <a:pPr marL="342900" indent="-342900">
              <a:spcAft>
                <a:spcPts val="400"/>
              </a:spcAft>
              <a:buSzPct val="100000"/>
              <a:buChar char="•"/>
            </a:pPr>
            <a:r>
              <a:rPr lang="en-US" sz="1100" dirty="0">
                <a:solidFill>
                  <a:srgbClr val="1F2933"/>
                </a:solidFill>
                <a:latin typeface="Calibri" pitchFamily="34" charset="0"/>
                <a:ea typeface="Calibri" pitchFamily="34" charset="-122"/>
                <a:cs typeface="Calibri" pitchFamily="34" charset="-120"/>
              </a:rPr>
              <a:t>Competence, training and its effectiveness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8</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2</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ISO 13485 as the backbone</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The clauses that decide audits, and the evidence chain behind them</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ISO 13485 AS THE BACKBONE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ISO 13485:2016 on one slide</a:t>
            </a:r>
            <a:endParaRPr lang="en-US" sz="2400" dirty="0"/>
          </a:p>
        </p:txBody>
      </p:sp>
      <p:sp>
        <p:nvSpPr>
          <p:cNvPr id="7" name="Shape 4"/>
          <p:cNvSpPr/>
          <p:nvPr/>
        </p:nvSpPr>
        <p:spPr>
          <a:xfrm>
            <a:off x="457200" y="1188720"/>
            <a:ext cx="1543507" cy="2926080"/>
          </a:xfrm>
          <a:prstGeom prst="roundRect">
            <a:avLst>
              <a:gd name="adj" fmla="val 3555"/>
            </a:avLst>
          </a:prstGeom>
          <a:solidFill>
            <a:srgbClr val="EAF0F6"/>
          </a:solidFill>
          <a:ln w="12700">
            <a:solidFill>
              <a:srgbClr val="EAF0F6"/>
            </a:solidFill>
            <a:prstDash val="solid"/>
          </a:ln>
        </p:spPr>
      </p:sp>
      <p:sp>
        <p:nvSpPr>
          <p:cNvPr id="8" name="Text 5"/>
          <p:cNvSpPr txBox="1"/>
          <p:nvPr/>
        </p:nvSpPr>
        <p:spPr>
          <a:xfrm>
            <a:off x="566928" y="1243584"/>
            <a:ext cx="457200" cy="411480"/>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4</a:t>
            </a:r>
            <a:endParaRPr lang="en-US" sz="2400" dirty="0"/>
          </a:p>
        </p:txBody>
      </p:sp>
      <p:sp>
        <p:nvSpPr>
          <p:cNvPr id="9" name="Text 6"/>
          <p:cNvSpPr txBox="1"/>
          <p:nvPr/>
        </p:nvSpPr>
        <p:spPr>
          <a:xfrm>
            <a:off x="566928" y="1664208"/>
            <a:ext cx="1324051" cy="411480"/>
          </a:xfrm>
          <a:prstGeom prst="rect">
            <a:avLst/>
          </a:prstGeom>
          <a:noFill/>
          <a:ln/>
        </p:spPr>
        <p:txBody>
          <a:bodyPr wrap="square" lIns="0" tIns="0" rIns="0" bIns="0" rtlCol="0" anchor="t"/>
          <a:lstStyle/>
          <a:p>
            <a:pPr indent="0" marL="0">
              <a:buNone/>
            </a:pPr>
            <a:r>
              <a:rPr lang="en-US" sz="1100" b="1" dirty="0">
                <a:solidFill>
                  <a:srgbClr val="0F2A4A"/>
                </a:solidFill>
                <a:latin typeface="Calibri" pitchFamily="34" charset="0"/>
                <a:ea typeface="Calibri" pitchFamily="34" charset="-122"/>
                <a:cs typeface="Calibri" pitchFamily="34" charset="-120"/>
              </a:rPr>
              <a:t>Quality management system</a:t>
            </a:r>
            <a:endParaRPr lang="en-US" sz="1100" dirty="0"/>
          </a:p>
        </p:txBody>
      </p:sp>
      <p:sp>
        <p:nvSpPr>
          <p:cNvPr id="10" name="Text 7"/>
          <p:cNvSpPr txBox="1"/>
          <p:nvPr/>
        </p:nvSpPr>
        <p:spPr>
          <a:xfrm>
            <a:off x="566928" y="2103120"/>
            <a:ext cx="1324051" cy="192024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4.1 Risk-based processes; outsourced processes (4.1.5); QMS software validation (4.1.6)</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4.2 Quality manual; medical device file (4.2.3); documents (4.2.4); records (4.2.5)</a:t>
            </a:r>
            <a:endParaRPr lang="en-US" sz="850" dirty="0"/>
          </a:p>
        </p:txBody>
      </p:sp>
      <p:sp>
        <p:nvSpPr>
          <p:cNvPr id="11" name="Shape 8"/>
          <p:cNvSpPr/>
          <p:nvPr/>
        </p:nvSpPr>
        <p:spPr>
          <a:xfrm>
            <a:off x="2128723" y="1188720"/>
            <a:ext cx="1543507" cy="2926080"/>
          </a:xfrm>
          <a:prstGeom prst="roundRect">
            <a:avLst>
              <a:gd name="adj" fmla="val 3555"/>
            </a:avLst>
          </a:prstGeom>
          <a:solidFill>
            <a:srgbClr val="EAF0F6"/>
          </a:solidFill>
          <a:ln w="12700">
            <a:solidFill>
              <a:srgbClr val="EAF0F6"/>
            </a:solidFill>
            <a:prstDash val="solid"/>
          </a:ln>
        </p:spPr>
      </p:sp>
      <p:sp>
        <p:nvSpPr>
          <p:cNvPr id="12" name="Text 9"/>
          <p:cNvSpPr txBox="1"/>
          <p:nvPr/>
        </p:nvSpPr>
        <p:spPr>
          <a:xfrm>
            <a:off x="2238451" y="1243584"/>
            <a:ext cx="457200" cy="411480"/>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5</a:t>
            </a:r>
            <a:endParaRPr lang="en-US" sz="2400" dirty="0"/>
          </a:p>
        </p:txBody>
      </p:sp>
      <p:sp>
        <p:nvSpPr>
          <p:cNvPr id="13" name="Text 10"/>
          <p:cNvSpPr txBox="1"/>
          <p:nvPr/>
        </p:nvSpPr>
        <p:spPr>
          <a:xfrm>
            <a:off x="2238451" y="1664208"/>
            <a:ext cx="1324051" cy="411480"/>
          </a:xfrm>
          <a:prstGeom prst="rect">
            <a:avLst/>
          </a:prstGeom>
          <a:noFill/>
          <a:ln/>
        </p:spPr>
        <p:txBody>
          <a:bodyPr wrap="square" lIns="0" tIns="0" rIns="0" bIns="0" rtlCol="0" anchor="t"/>
          <a:lstStyle/>
          <a:p>
            <a:pPr indent="0" marL="0">
              <a:buNone/>
            </a:pPr>
            <a:r>
              <a:rPr lang="en-US" sz="1100" b="1" dirty="0">
                <a:solidFill>
                  <a:srgbClr val="0F2A4A"/>
                </a:solidFill>
                <a:latin typeface="Calibri" pitchFamily="34" charset="0"/>
                <a:ea typeface="Calibri" pitchFamily="34" charset="-122"/>
                <a:cs typeface="Calibri" pitchFamily="34" charset="-120"/>
              </a:rPr>
              <a:t>Management responsibility</a:t>
            </a:r>
            <a:endParaRPr lang="en-US" sz="1100" dirty="0"/>
          </a:p>
        </p:txBody>
      </p:sp>
      <p:sp>
        <p:nvSpPr>
          <p:cNvPr id="14" name="Text 11"/>
          <p:cNvSpPr txBox="1"/>
          <p:nvPr/>
        </p:nvSpPr>
        <p:spPr>
          <a:xfrm>
            <a:off x="2238451" y="2103120"/>
            <a:ext cx="1324051" cy="192024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5.1–5.3 Commitment, customer focus, quality policy</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5.4 Planning, quality objectives</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5.5 Responsibility, authority, management representative</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5.6 Management review: inputs and outputs</a:t>
            </a:r>
            <a:endParaRPr lang="en-US" sz="850" dirty="0"/>
          </a:p>
        </p:txBody>
      </p:sp>
      <p:sp>
        <p:nvSpPr>
          <p:cNvPr id="15" name="Shape 12"/>
          <p:cNvSpPr/>
          <p:nvPr/>
        </p:nvSpPr>
        <p:spPr>
          <a:xfrm>
            <a:off x="3800246" y="1188720"/>
            <a:ext cx="1543507" cy="2926080"/>
          </a:xfrm>
          <a:prstGeom prst="roundRect">
            <a:avLst>
              <a:gd name="adj" fmla="val 3555"/>
            </a:avLst>
          </a:prstGeom>
          <a:solidFill>
            <a:srgbClr val="EAF0F6"/>
          </a:solidFill>
          <a:ln w="12700">
            <a:solidFill>
              <a:srgbClr val="EAF0F6"/>
            </a:solidFill>
            <a:prstDash val="solid"/>
          </a:ln>
        </p:spPr>
      </p:sp>
      <p:sp>
        <p:nvSpPr>
          <p:cNvPr id="16" name="Text 13"/>
          <p:cNvSpPr txBox="1"/>
          <p:nvPr/>
        </p:nvSpPr>
        <p:spPr>
          <a:xfrm>
            <a:off x="3909974" y="1243584"/>
            <a:ext cx="457200" cy="411480"/>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6</a:t>
            </a:r>
            <a:endParaRPr lang="en-US" sz="2400" dirty="0"/>
          </a:p>
        </p:txBody>
      </p:sp>
      <p:sp>
        <p:nvSpPr>
          <p:cNvPr id="17" name="Text 14"/>
          <p:cNvSpPr txBox="1"/>
          <p:nvPr/>
        </p:nvSpPr>
        <p:spPr>
          <a:xfrm>
            <a:off x="3909974" y="1664208"/>
            <a:ext cx="1324051" cy="411480"/>
          </a:xfrm>
          <a:prstGeom prst="rect">
            <a:avLst/>
          </a:prstGeom>
          <a:noFill/>
          <a:ln/>
        </p:spPr>
        <p:txBody>
          <a:bodyPr wrap="square" lIns="0" tIns="0" rIns="0" bIns="0" rtlCol="0" anchor="t"/>
          <a:lstStyle/>
          <a:p>
            <a:pPr indent="0" marL="0">
              <a:buNone/>
            </a:pPr>
            <a:r>
              <a:rPr lang="en-US" sz="1100" b="1" dirty="0">
                <a:solidFill>
                  <a:srgbClr val="0F2A4A"/>
                </a:solidFill>
                <a:latin typeface="Calibri" pitchFamily="34" charset="0"/>
                <a:ea typeface="Calibri" pitchFamily="34" charset="-122"/>
                <a:cs typeface="Calibri" pitchFamily="34" charset="-120"/>
              </a:rPr>
              <a:t>Resource management</a:t>
            </a:r>
            <a:endParaRPr lang="en-US" sz="1100" dirty="0"/>
          </a:p>
        </p:txBody>
      </p:sp>
      <p:sp>
        <p:nvSpPr>
          <p:cNvPr id="18" name="Text 15"/>
          <p:cNvSpPr txBox="1"/>
          <p:nvPr/>
        </p:nvSpPr>
        <p:spPr>
          <a:xfrm>
            <a:off x="3909974" y="2103120"/>
            <a:ext cx="1324051" cy="192024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6.2 Human resources: competence, training, effectiveness</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6.3 Infrastructure and maintenance</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6.4 Work environment and contamination control</a:t>
            </a:r>
            <a:endParaRPr lang="en-US" sz="850" dirty="0"/>
          </a:p>
        </p:txBody>
      </p:sp>
      <p:sp>
        <p:nvSpPr>
          <p:cNvPr id="19" name="Shape 16"/>
          <p:cNvSpPr/>
          <p:nvPr/>
        </p:nvSpPr>
        <p:spPr>
          <a:xfrm>
            <a:off x="5471770" y="1188720"/>
            <a:ext cx="1543507" cy="2926080"/>
          </a:xfrm>
          <a:prstGeom prst="roundRect">
            <a:avLst>
              <a:gd name="adj" fmla="val 3555"/>
            </a:avLst>
          </a:prstGeom>
          <a:solidFill>
            <a:srgbClr val="EAF0F6"/>
          </a:solidFill>
          <a:ln w="12700">
            <a:solidFill>
              <a:srgbClr val="EAF0F6"/>
            </a:solidFill>
            <a:prstDash val="solid"/>
          </a:ln>
        </p:spPr>
      </p:sp>
      <p:sp>
        <p:nvSpPr>
          <p:cNvPr id="20" name="Text 17"/>
          <p:cNvSpPr txBox="1"/>
          <p:nvPr/>
        </p:nvSpPr>
        <p:spPr>
          <a:xfrm>
            <a:off x="5581498" y="1243584"/>
            <a:ext cx="457200" cy="411480"/>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7</a:t>
            </a:r>
            <a:endParaRPr lang="en-US" sz="2400" dirty="0"/>
          </a:p>
        </p:txBody>
      </p:sp>
      <p:sp>
        <p:nvSpPr>
          <p:cNvPr id="21" name="Text 18"/>
          <p:cNvSpPr txBox="1"/>
          <p:nvPr/>
        </p:nvSpPr>
        <p:spPr>
          <a:xfrm>
            <a:off x="5581498" y="1664208"/>
            <a:ext cx="1324051" cy="411480"/>
          </a:xfrm>
          <a:prstGeom prst="rect">
            <a:avLst/>
          </a:prstGeom>
          <a:noFill/>
          <a:ln/>
        </p:spPr>
        <p:txBody>
          <a:bodyPr wrap="square" lIns="0" tIns="0" rIns="0" bIns="0" rtlCol="0" anchor="t"/>
          <a:lstStyle/>
          <a:p>
            <a:pPr indent="0" marL="0">
              <a:buNone/>
            </a:pPr>
            <a:r>
              <a:rPr lang="en-US" sz="1100" b="1" dirty="0">
                <a:solidFill>
                  <a:srgbClr val="0F2A4A"/>
                </a:solidFill>
                <a:latin typeface="Calibri" pitchFamily="34" charset="0"/>
                <a:ea typeface="Calibri" pitchFamily="34" charset="-122"/>
                <a:cs typeface="Calibri" pitchFamily="34" charset="-120"/>
              </a:rPr>
              <a:t>Product realization</a:t>
            </a:r>
            <a:endParaRPr lang="en-US" sz="1100" dirty="0"/>
          </a:p>
        </p:txBody>
      </p:sp>
      <p:sp>
        <p:nvSpPr>
          <p:cNvPr id="22" name="Text 19"/>
          <p:cNvSpPr txBox="1"/>
          <p:nvPr/>
        </p:nvSpPr>
        <p:spPr>
          <a:xfrm>
            <a:off x="5581498" y="2103120"/>
            <a:ext cx="1324051" cy="192024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7.1 Planning and risk management</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7.3 Design and development</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7.4 Purchasing</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7.5 Production and service: validation (7.5.6), sterile (7.5.7), traceability (7.5.9)</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7.6 Measuring equipment</a:t>
            </a:r>
            <a:endParaRPr lang="en-US" sz="850" dirty="0"/>
          </a:p>
        </p:txBody>
      </p:sp>
      <p:sp>
        <p:nvSpPr>
          <p:cNvPr id="23" name="Shape 20"/>
          <p:cNvSpPr/>
          <p:nvPr/>
        </p:nvSpPr>
        <p:spPr>
          <a:xfrm>
            <a:off x="7143293" y="1188720"/>
            <a:ext cx="1543507" cy="2926080"/>
          </a:xfrm>
          <a:prstGeom prst="roundRect">
            <a:avLst>
              <a:gd name="adj" fmla="val 3555"/>
            </a:avLst>
          </a:prstGeom>
          <a:solidFill>
            <a:srgbClr val="EAF0F6"/>
          </a:solidFill>
          <a:ln w="12700">
            <a:solidFill>
              <a:srgbClr val="EAF0F6"/>
            </a:solidFill>
            <a:prstDash val="solid"/>
          </a:ln>
        </p:spPr>
      </p:sp>
      <p:sp>
        <p:nvSpPr>
          <p:cNvPr id="24" name="Text 21"/>
          <p:cNvSpPr txBox="1"/>
          <p:nvPr/>
        </p:nvSpPr>
        <p:spPr>
          <a:xfrm>
            <a:off x="7253021" y="1243584"/>
            <a:ext cx="457200" cy="411480"/>
          </a:xfrm>
          <a:prstGeom prst="rect">
            <a:avLst/>
          </a:prstGeom>
          <a:noFill/>
          <a:ln/>
        </p:spPr>
        <p:txBody>
          <a:bodyPr wrap="square" lIns="0" tIns="0" rIns="0" bIns="0" rtlCol="0" anchor="ctr"/>
          <a:lstStyle/>
          <a:p>
            <a:pPr indent="0" marL="0">
              <a:buNone/>
            </a:pPr>
            <a:r>
              <a:rPr lang="en-US" sz="2400" b="1" dirty="0">
                <a:solidFill>
                  <a:srgbClr val="A8730F"/>
                </a:solidFill>
                <a:latin typeface="Cambria" pitchFamily="34" charset="0"/>
                <a:ea typeface="Cambria" pitchFamily="34" charset="-122"/>
                <a:cs typeface="Cambria" pitchFamily="34" charset="-120"/>
              </a:rPr>
              <a:t>8</a:t>
            </a:r>
            <a:endParaRPr lang="en-US" sz="2400" dirty="0"/>
          </a:p>
        </p:txBody>
      </p:sp>
      <p:sp>
        <p:nvSpPr>
          <p:cNvPr id="25" name="Text 22"/>
          <p:cNvSpPr txBox="1"/>
          <p:nvPr/>
        </p:nvSpPr>
        <p:spPr>
          <a:xfrm>
            <a:off x="7253021" y="1664208"/>
            <a:ext cx="1324051" cy="411480"/>
          </a:xfrm>
          <a:prstGeom prst="rect">
            <a:avLst/>
          </a:prstGeom>
          <a:noFill/>
          <a:ln/>
        </p:spPr>
        <p:txBody>
          <a:bodyPr wrap="square" lIns="0" tIns="0" rIns="0" bIns="0" rtlCol="0" anchor="t"/>
          <a:lstStyle/>
          <a:p>
            <a:pPr indent="0" marL="0">
              <a:buNone/>
            </a:pPr>
            <a:r>
              <a:rPr lang="en-US" sz="1100" b="1" dirty="0">
                <a:solidFill>
                  <a:srgbClr val="0F2A4A"/>
                </a:solidFill>
                <a:latin typeface="Calibri" pitchFamily="34" charset="0"/>
                <a:ea typeface="Calibri" pitchFamily="34" charset="-122"/>
                <a:cs typeface="Calibri" pitchFamily="34" charset="-120"/>
              </a:rPr>
              <a:t>Measurement and improvement</a:t>
            </a:r>
            <a:endParaRPr lang="en-US" sz="1100" dirty="0"/>
          </a:p>
        </p:txBody>
      </p:sp>
      <p:sp>
        <p:nvSpPr>
          <p:cNvPr id="26" name="Text 23"/>
          <p:cNvSpPr txBox="1"/>
          <p:nvPr/>
        </p:nvSpPr>
        <p:spPr>
          <a:xfrm>
            <a:off x="7253021" y="2103120"/>
            <a:ext cx="1324051" cy="1920240"/>
          </a:xfrm>
          <a:prstGeom prst="rect">
            <a:avLst/>
          </a:prstGeom>
          <a:noFill/>
          <a:ln/>
        </p:spPr>
        <p:txBody>
          <a:bodyPr wrap="square" lIns="0" tIns="0" rIns="0" bIns="0" rtlCol="0" anchor="t"/>
          <a:lstStyle/>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8.2.1–8.2.3 Feedback, complaints, reporting to regulators</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8.2.4 Internal audit</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8.2.5–8.2.6 Process and product monitoring</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8.3 Nonconforming product</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8.4 Analysis of data</a:t>
            </a:r>
            <a:endParaRPr lang="en-US" sz="850" dirty="0"/>
          </a:p>
          <a:p>
            <a:pPr marL="342900" indent="-342900">
              <a:spcAft>
                <a:spcPts val="300"/>
              </a:spcAft>
              <a:buSzPct val="100000"/>
              <a:buChar char="•"/>
            </a:pPr>
            <a:r>
              <a:rPr lang="en-US" sz="850" dirty="0">
                <a:solidFill>
                  <a:srgbClr val="1F2933"/>
                </a:solidFill>
                <a:latin typeface="Calibri" pitchFamily="34" charset="0"/>
                <a:ea typeface="Calibri" pitchFamily="34" charset="-122"/>
                <a:cs typeface="Calibri" pitchFamily="34" charset="-120"/>
              </a:rPr>
              <a:t>8.5 Improvement: CAPA</a:t>
            </a:r>
            <a:endParaRPr lang="en-US" sz="850" dirty="0"/>
          </a:p>
        </p:txBody>
      </p:sp>
      <p:sp>
        <p:nvSpPr>
          <p:cNvPr id="27" name="Shape 24"/>
          <p:cNvSpPr/>
          <p:nvPr/>
        </p:nvSpPr>
        <p:spPr>
          <a:xfrm>
            <a:off x="457200" y="4206240"/>
            <a:ext cx="8229600" cy="411480"/>
          </a:xfrm>
          <a:prstGeom prst="roundRect">
            <a:avLst>
              <a:gd name="adj" fmla="val 13333"/>
            </a:avLst>
          </a:prstGeom>
          <a:solidFill>
            <a:srgbClr val="0F2A4A"/>
          </a:solidFill>
          <a:ln w="12700">
            <a:solidFill>
              <a:srgbClr val="0F2A4A"/>
            </a:solidFill>
            <a:prstDash val="solid"/>
          </a:ln>
        </p:spPr>
      </p:sp>
      <p:sp>
        <p:nvSpPr>
          <p:cNvPr id="28" name="Text 25"/>
          <p:cNvSpPr txBox="1"/>
          <p:nvPr/>
        </p:nvSpPr>
        <p:spPr>
          <a:xfrm>
            <a:off x="640080" y="4206240"/>
            <a:ext cx="7863840" cy="41148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Risk-based approach to every process (4.1.2)  •  "Applicable regulatory requirements" woven through every clause  •  Written so regulators can adopt it: QMSR, MDSAP, MDR presumption of conformity via EN ISO 13485:2016+A11:2021</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ISO 13485 AS THE BACKBONE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audit-critical clauses (1 of 2)</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3291840"/>
                <a:gridCol w="2834640"/>
              </a:tblGrid>
              <a:tr h="4572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Clause</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the auditor asks for</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How it typically fails</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4.1.5 / 7.4  Outsourced processes and suppliers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Approved supplier list, evaluations, quality agreements, incoming inspection records for the components in the sampled unit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Evaluations years old; agreements silent on change notification and regulator access; scorecards nobody verifies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4.2.3  Medical device file (DMR)</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The current file for the sampled device: specifications, drawings, labeling, IFU, process specifications, acceptance criteria</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Uncontrolled drawings on the floor; file does not match what is being built today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4.2.4 / 4.2.5  Documents and records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Revision history, obsolete-document control, DHR completeness, record retention and legibility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Handwritten "corrections" without initials and date; missing signatures; unapproved forms in use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5.6  Management review</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Inputs required by 5.6.2 (audits, complaints, regulatory reporting, suppliers), decisions, resource actions and follow-up</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Slide decks with no decisions; overdue actions; regulatory reporting never discussed</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6.2  Competence and training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Training matrix and effectiveness evaluation for the operators the auditor just interviewed</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Operators trained on a superseded revision; "read and understood" with no effectiveness check</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7.3  Design and development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Design changes (7.3.9), verification and validation, risk management file, design transfer evidence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Production or supplier changes made with no design or risk impact assessment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ISO 13485 AS THE BACKBONE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audit-critical clauses (2 of 2)</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3291840"/>
                <a:gridCol w="2834640"/>
              </a:tblGrid>
              <a:tr h="4572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Clause</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the auditor asks for</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How it typically fails</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7.5.6  Process validation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IQ/OQ/PQ for the process being observed; revalidation triggers; software validation for automated equipment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New equipment or software running on the old validation; no defined revalidation criteria</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7.5.9  Traceability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Full trace of the sampled lot: components and lots in, build records, test results, release, distribution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Lot cannot be reconstructed within the audit day; distribution records incomplete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7.6  Monitoring and measuring equipment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Calibration status and records for every gauge and tool the auditor sees in use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Overdue calibration with no product impact assessment; uncalibrated "reference only" tools used for acceptance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8.2.2 / 8.2.3  Complaints and reporting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Complaint log, investigation records, reportability decisions with rationale, submission timelines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Late or undocumented reportability decisions; complaints closed without investigation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8.3  Nonconforming product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NCR log, dispositions, rework instructions (8.3.4) and re-verification, concession records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"Use as is" without risk rationale; rework without re-verification; repeat NCRs never trended into CAPA</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45720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8.5.2  Corrective action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Open and closed CAPAs, root cause analysis, action plans, effectiveness verification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Symptom fixes; "training" as the universal corrective action; CAPAs open more than a year without justification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ISO 13485 AS THE BACKBONE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Auditors follow product, not your manual</a:t>
            </a:r>
            <a:endParaRPr lang="en-US" sz="2400" dirty="0"/>
          </a:p>
        </p:txBody>
      </p:sp>
      <p:sp>
        <p:nvSpPr>
          <p:cNvPr id="7" name="Shape 4"/>
          <p:cNvSpPr/>
          <p:nvPr/>
        </p:nvSpPr>
        <p:spPr>
          <a:xfrm>
            <a:off x="457200" y="1188720"/>
            <a:ext cx="1954530" cy="1188720"/>
          </a:xfrm>
          <a:prstGeom prst="roundRect">
            <a:avLst>
              <a:gd name="adj" fmla="val 4615"/>
            </a:avLst>
          </a:prstGeom>
          <a:solidFill>
            <a:srgbClr val="FBF2DE"/>
          </a:solidFill>
          <a:ln w="12700">
            <a:solidFill>
              <a:srgbClr val="FBF2DE"/>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A unit on the line</a:t>
            </a:r>
            <a:endParaRPr lang="en-US" sz="1150" dirty="0"/>
          </a:p>
        </p:txBody>
      </p:sp>
      <p:sp>
        <p:nvSpPr>
          <p:cNvPr id="11" name="Text 8"/>
          <p:cNvSpPr txBox="1"/>
          <p:nvPr/>
        </p:nvSpPr>
        <p:spPr>
          <a:xfrm>
            <a:off x="585216" y="17739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Auditor selects finished or in-process product, or a lot in stock</a:t>
            </a:r>
            <a:endParaRPr lang="en-US" sz="950" dirty="0"/>
          </a:p>
        </p:txBody>
      </p:sp>
      <p:sp>
        <p:nvSpPr>
          <p:cNvPr id="12" name="Shape 9"/>
          <p:cNvSpPr/>
          <p:nvPr/>
        </p:nvSpPr>
        <p:spPr>
          <a:xfrm>
            <a:off x="2548890" y="1188720"/>
            <a:ext cx="1954530" cy="1188720"/>
          </a:xfrm>
          <a:prstGeom prst="roundRect">
            <a:avLst>
              <a:gd name="adj" fmla="val 4615"/>
            </a:avLst>
          </a:prstGeom>
          <a:solidFill>
            <a:srgbClr val="EAF0F6"/>
          </a:solidFill>
          <a:ln w="12700">
            <a:solidFill>
              <a:srgbClr val="EAF0F6"/>
            </a:solidFill>
            <a:prstDash val="solid"/>
          </a:ln>
        </p:spPr>
      </p:sp>
      <p:sp>
        <p:nvSpPr>
          <p:cNvPr id="13" name="Shape 10"/>
          <p:cNvSpPr/>
          <p:nvPr/>
        </p:nvSpPr>
        <p:spPr>
          <a:xfrm>
            <a:off x="2676906" y="129844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267690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307924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DHR / batch record</a:t>
            </a:r>
            <a:endParaRPr lang="en-US" sz="1150" dirty="0"/>
          </a:p>
        </p:txBody>
      </p:sp>
      <p:sp>
        <p:nvSpPr>
          <p:cNvPr id="16" name="Text 13"/>
          <p:cNvSpPr txBox="1"/>
          <p:nvPr/>
        </p:nvSpPr>
        <p:spPr>
          <a:xfrm>
            <a:off x="2676906" y="17739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Build, inspection and test records; who did what, with which tools, when</a:t>
            </a:r>
            <a:endParaRPr lang="en-US" sz="950" dirty="0"/>
          </a:p>
        </p:txBody>
      </p:sp>
      <p:sp>
        <p:nvSpPr>
          <p:cNvPr id="17" name="Shape 14"/>
          <p:cNvSpPr/>
          <p:nvPr/>
        </p:nvSpPr>
        <p:spPr>
          <a:xfrm>
            <a:off x="4640580" y="1188720"/>
            <a:ext cx="1954530" cy="1188720"/>
          </a:xfrm>
          <a:prstGeom prst="roundRect">
            <a:avLst>
              <a:gd name="adj" fmla="val 4615"/>
            </a:avLst>
          </a:prstGeom>
          <a:solidFill>
            <a:srgbClr val="EAF0F6"/>
          </a:solidFill>
          <a:ln w="12700">
            <a:solidFill>
              <a:srgbClr val="EAF0F6"/>
            </a:solidFill>
            <a:prstDash val="solid"/>
          </a:ln>
        </p:spPr>
      </p:sp>
      <p:sp>
        <p:nvSpPr>
          <p:cNvPr id="18" name="Shape 15"/>
          <p:cNvSpPr/>
          <p:nvPr/>
        </p:nvSpPr>
        <p:spPr>
          <a:xfrm>
            <a:off x="4768596" y="129844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476859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517093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Medical device file (DMR)</a:t>
            </a:r>
            <a:endParaRPr lang="en-US" sz="1150" dirty="0"/>
          </a:p>
        </p:txBody>
      </p:sp>
      <p:sp>
        <p:nvSpPr>
          <p:cNvPr id="21" name="Text 18"/>
          <p:cNvSpPr txBox="1"/>
          <p:nvPr/>
        </p:nvSpPr>
        <p:spPr>
          <a:xfrm>
            <a:off x="4768596" y="17739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Specifications, drawings, labeling and process specs the unit should meet</a:t>
            </a:r>
            <a:endParaRPr lang="en-US" sz="950" dirty="0"/>
          </a:p>
        </p:txBody>
      </p:sp>
      <p:sp>
        <p:nvSpPr>
          <p:cNvPr id="22" name="Shape 19"/>
          <p:cNvSpPr/>
          <p:nvPr/>
        </p:nvSpPr>
        <p:spPr>
          <a:xfrm>
            <a:off x="6732270" y="1188720"/>
            <a:ext cx="1954530" cy="1188720"/>
          </a:xfrm>
          <a:prstGeom prst="roundRect">
            <a:avLst>
              <a:gd name="adj" fmla="val 4615"/>
            </a:avLst>
          </a:prstGeom>
          <a:solidFill>
            <a:srgbClr val="EAF0F6"/>
          </a:solidFill>
          <a:ln w="12700">
            <a:solidFill>
              <a:srgbClr val="EAF0F6"/>
            </a:solidFill>
            <a:prstDash val="solid"/>
          </a:ln>
        </p:spPr>
      </p:sp>
      <p:sp>
        <p:nvSpPr>
          <p:cNvPr id="23" name="Shape 20"/>
          <p:cNvSpPr/>
          <p:nvPr/>
        </p:nvSpPr>
        <p:spPr>
          <a:xfrm>
            <a:off x="6860286" y="1298448"/>
            <a:ext cx="310896" cy="310896"/>
          </a:xfrm>
          <a:prstGeom prst="ellipse">
            <a:avLst/>
          </a:prstGeom>
          <a:solidFill>
            <a:srgbClr val="0F2A4A"/>
          </a:solidFill>
          <a:ln w="12700">
            <a:solidFill>
              <a:srgbClr val="0F2A4A"/>
            </a:solidFill>
            <a:prstDash val="solid"/>
          </a:ln>
        </p:spPr>
      </p:sp>
      <p:sp>
        <p:nvSpPr>
          <p:cNvPr id="24" name="Text 21"/>
          <p:cNvSpPr txBox="1"/>
          <p:nvPr/>
        </p:nvSpPr>
        <p:spPr>
          <a:xfrm>
            <a:off x="686028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7262622" y="12801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Design evidence</a:t>
            </a:r>
            <a:endParaRPr lang="en-US" sz="1150" dirty="0"/>
          </a:p>
        </p:txBody>
      </p:sp>
      <p:sp>
        <p:nvSpPr>
          <p:cNvPr id="26" name="Text 23"/>
          <p:cNvSpPr txBox="1"/>
          <p:nvPr/>
        </p:nvSpPr>
        <p:spPr>
          <a:xfrm>
            <a:off x="6860286" y="17739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Verification and validation, risk management file, change history</a:t>
            </a:r>
            <a:endParaRPr lang="en-US" sz="950" dirty="0"/>
          </a:p>
        </p:txBody>
      </p:sp>
      <p:sp>
        <p:nvSpPr>
          <p:cNvPr id="27" name="Shape 24"/>
          <p:cNvSpPr/>
          <p:nvPr/>
        </p:nvSpPr>
        <p:spPr>
          <a:xfrm>
            <a:off x="1503045" y="2560320"/>
            <a:ext cx="1954530" cy="1188720"/>
          </a:xfrm>
          <a:prstGeom prst="roundRect">
            <a:avLst>
              <a:gd name="adj" fmla="val 4615"/>
            </a:avLst>
          </a:prstGeom>
          <a:solidFill>
            <a:srgbClr val="EAF0F6"/>
          </a:solidFill>
          <a:ln w="12700">
            <a:solidFill>
              <a:srgbClr val="EAF0F6"/>
            </a:solidFill>
            <a:prstDash val="solid"/>
          </a:ln>
        </p:spPr>
      </p:sp>
      <p:sp>
        <p:nvSpPr>
          <p:cNvPr id="28" name="Shape 25"/>
          <p:cNvSpPr/>
          <p:nvPr/>
        </p:nvSpPr>
        <p:spPr>
          <a:xfrm>
            <a:off x="1631061" y="267004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1631061" y="26700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2033397" y="26517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Critical suppliers</a:t>
            </a:r>
            <a:endParaRPr lang="en-US" sz="1150" dirty="0"/>
          </a:p>
        </p:txBody>
      </p:sp>
      <p:sp>
        <p:nvSpPr>
          <p:cNvPr id="31" name="Text 28"/>
          <p:cNvSpPr txBox="1"/>
          <p:nvPr/>
        </p:nvSpPr>
        <p:spPr>
          <a:xfrm>
            <a:off x="1631061" y="31455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Approvals, agreements, incoming inspection for the components inside</a:t>
            </a:r>
            <a:endParaRPr lang="en-US" sz="950" dirty="0"/>
          </a:p>
        </p:txBody>
      </p:sp>
      <p:sp>
        <p:nvSpPr>
          <p:cNvPr id="32" name="Shape 29"/>
          <p:cNvSpPr/>
          <p:nvPr/>
        </p:nvSpPr>
        <p:spPr>
          <a:xfrm>
            <a:off x="3594735" y="2560320"/>
            <a:ext cx="1954530" cy="1188720"/>
          </a:xfrm>
          <a:prstGeom prst="roundRect">
            <a:avLst>
              <a:gd name="adj" fmla="val 4615"/>
            </a:avLst>
          </a:prstGeom>
          <a:solidFill>
            <a:srgbClr val="EAF0F6"/>
          </a:solidFill>
          <a:ln w="12700">
            <a:solidFill>
              <a:srgbClr val="EAF0F6"/>
            </a:solidFill>
            <a:prstDash val="solid"/>
          </a:ln>
        </p:spPr>
      </p:sp>
      <p:sp>
        <p:nvSpPr>
          <p:cNvPr id="33" name="Shape 30"/>
          <p:cNvSpPr/>
          <p:nvPr/>
        </p:nvSpPr>
        <p:spPr>
          <a:xfrm>
            <a:off x="3722751" y="2670048"/>
            <a:ext cx="310896" cy="310896"/>
          </a:xfrm>
          <a:prstGeom prst="ellipse">
            <a:avLst/>
          </a:prstGeom>
          <a:solidFill>
            <a:srgbClr val="0F2A4A"/>
          </a:solidFill>
          <a:ln w="12700">
            <a:solidFill>
              <a:srgbClr val="0F2A4A"/>
            </a:solidFill>
            <a:prstDash val="solid"/>
          </a:ln>
        </p:spPr>
      </p:sp>
      <p:sp>
        <p:nvSpPr>
          <p:cNvPr id="34" name="Text 31"/>
          <p:cNvSpPr txBox="1"/>
          <p:nvPr/>
        </p:nvSpPr>
        <p:spPr>
          <a:xfrm>
            <a:off x="3722751" y="26700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4125087" y="26517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Complaints, NCRs, CAPAs</a:t>
            </a:r>
            <a:endParaRPr lang="en-US" sz="1150" dirty="0"/>
          </a:p>
        </p:txBody>
      </p:sp>
      <p:sp>
        <p:nvSpPr>
          <p:cNvPr id="36" name="Text 33"/>
          <p:cNvSpPr txBox="1"/>
          <p:nvPr/>
        </p:nvSpPr>
        <p:spPr>
          <a:xfrm>
            <a:off x="3722751" y="31455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History of the product family and whether it fed back into risk and design</a:t>
            </a:r>
            <a:endParaRPr lang="en-US" sz="950" dirty="0"/>
          </a:p>
        </p:txBody>
      </p:sp>
      <p:sp>
        <p:nvSpPr>
          <p:cNvPr id="37" name="Shape 34"/>
          <p:cNvSpPr/>
          <p:nvPr/>
        </p:nvSpPr>
        <p:spPr>
          <a:xfrm>
            <a:off x="5686425" y="2560320"/>
            <a:ext cx="1954530" cy="1188720"/>
          </a:xfrm>
          <a:prstGeom prst="roundRect">
            <a:avLst>
              <a:gd name="adj" fmla="val 4615"/>
            </a:avLst>
          </a:prstGeom>
          <a:solidFill>
            <a:srgbClr val="EAF0F6"/>
          </a:solidFill>
          <a:ln w="12700">
            <a:solidFill>
              <a:srgbClr val="EAF0F6"/>
            </a:solidFill>
            <a:prstDash val="solid"/>
          </a:ln>
        </p:spPr>
      </p:sp>
      <p:sp>
        <p:nvSpPr>
          <p:cNvPr id="38" name="Shape 35"/>
          <p:cNvSpPr/>
          <p:nvPr/>
        </p:nvSpPr>
        <p:spPr>
          <a:xfrm>
            <a:off x="5814441" y="2670048"/>
            <a:ext cx="310896" cy="310896"/>
          </a:xfrm>
          <a:prstGeom prst="ellipse">
            <a:avLst/>
          </a:prstGeom>
          <a:solidFill>
            <a:srgbClr val="0F2A4A"/>
          </a:solidFill>
          <a:ln w="12700">
            <a:solidFill>
              <a:srgbClr val="0F2A4A"/>
            </a:solidFill>
            <a:prstDash val="solid"/>
          </a:ln>
        </p:spPr>
      </p:sp>
      <p:sp>
        <p:nvSpPr>
          <p:cNvPr id="39" name="Text 36"/>
          <p:cNvSpPr txBox="1"/>
          <p:nvPr/>
        </p:nvSpPr>
        <p:spPr>
          <a:xfrm>
            <a:off x="5814441" y="26700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0" name="Text 37"/>
          <p:cNvSpPr txBox="1"/>
          <p:nvPr/>
        </p:nvSpPr>
        <p:spPr>
          <a:xfrm>
            <a:off x="6216777" y="2651760"/>
            <a:ext cx="1296162"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Release and distribution</a:t>
            </a:r>
            <a:endParaRPr lang="en-US" sz="1150" dirty="0"/>
          </a:p>
        </p:txBody>
      </p:sp>
      <p:sp>
        <p:nvSpPr>
          <p:cNvPr id="41" name="Text 38"/>
          <p:cNvSpPr txBox="1"/>
          <p:nvPr/>
        </p:nvSpPr>
        <p:spPr>
          <a:xfrm>
            <a:off x="5814441" y="3145536"/>
            <a:ext cx="1698498" cy="51206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Release decision, labeling and UDI, where every unit went</a:t>
            </a:r>
            <a:endParaRPr lang="en-US" sz="950" dirty="0"/>
          </a:p>
        </p:txBody>
      </p:sp>
      <p:sp>
        <p:nvSpPr>
          <p:cNvPr id="42" name="Shape 39"/>
          <p:cNvSpPr/>
          <p:nvPr/>
        </p:nvSpPr>
        <p:spPr>
          <a:xfrm>
            <a:off x="457200" y="4023360"/>
            <a:ext cx="8229600" cy="502920"/>
          </a:xfrm>
          <a:prstGeom prst="roundRect">
            <a:avLst>
              <a:gd name="adj" fmla="val 10909"/>
            </a:avLst>
          </a:prstGeom>
          <a:solidFill>
            <a:srgbClr val="0F2A4A"/>
          </a:solidFill>
          <a:ln w="12700">
            <a:solidFill>
              <a:srgbClr val="0F2A4A"/>
            </a:solidFill>
            <a:prstDash val="solid"/>
          </a:ln>
        </p:spPr>
      </p:sp>
      <p:sp>
        <p:nvSpPr>
          <p:cNvPr id="43" name="Text 40"/>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Readiness test: reconstruct any lot end-to-end in 60 minutes, with the people who did the work available to explain it.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2  |  ISO 13485 AS THE BACKBONE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sits on top of ISO 13485 in each regime</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4114800"/>
                <a:gridCol w="2651760"/>
              </a:tblGrid>
              <a:tr h="64008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Regime</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Added on top of ISO 13485</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Where the audit bites</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64008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FDA QMSR (21 CFR 820)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820.10 general requirements; 820.35 records (complaint and servicing records with UDI, link to Part 803 decisions); 820.45 labeling and packaging controls; plus Parts 803 (MDR), 806 (corrections and removals), 807 (registration and listing), 830 (UDI)</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Complaint files and reportability decisions; labeling inspection records; CAPA; management review and internal audit records now open to review</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64008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EU MDR 2017/745</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Technical documentation (Annexes II–III); PMS plan and PSUR (Art. 83–86); vigilance (Art. 87–92); PRRC (Art. 15); UDI and EUDAMED; economic operator duties (Art. 10–14); Annex IX QMS assessment including unannounced audits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Product sampled on the line versus technical documentation; control of critical suppliers; PMS data actually feeding risk management and design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64008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MDSAP</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Country-specific chapters: Health Canada licensing; ANVISA RDC 665/2022; Japan MHLW Ordinance 169; TGA conformity assessment; FDA registration, listing and reporting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Adverse-event reporting timelines per jurisdiction; marketing authorization records; automatic grading escalations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640080">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United Kingdom</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UK MDR 2002 (as amended); PMS regulations 2025; UK Responsible Person; CE recognition to 2028/2030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Vigilance to MHRA; UKRP obligations; UK-specific labeling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3</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Anatomy of an unannounced audit</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Who shows up, what they do on the day, and how to run the first 60 minutes and the next 72 hours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ANATOMY OF AN UNANNOUNCED AUDIT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What a notified body does on the day</a:t>
            </a:r>
            <a:endParaRPr lang="en-US" sz="2400" dirty="0"/>
          </a:p>
        </p:txBody>
      </p:sp>
      <p:sp>
        <p:nvSpPr>
          <p:cNvPr id="7" name="Shape 4"/>
          <p:cNvSpPr/>
          <p:nvPr/>
        </p:nvSpPr>
        <p:spPr>
          <a:xfrm>
            <a:off x="457200" y="1188720"/>
            <a:ext cx="4023360" cy="2743200"/>
          </a:xfrm>
          <a:prstGeom prst="roundRect">
            <a:avLst>
              <a:gd name="adj" fmla="val 2000"/>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The mechanics</a:t>
            </a:r>
            <a:endParaRPr lang="en-US" sz="1250" dirty="0"/>
          </a:p>
        </p:txBody>
      </p:sp>
      <p:sp>
        <p:nvSpPr>
          <p:cNvPr id="9" name="Text 6"/>
          <p:cNvSpPr txBox="1"/>
          <p:nvPr/>
        </p:nvSpPr>
        <p:spPr>
          <a:xfrm>
            <a:off x="585216" y="1645920"/>
            <a:ext cx="3767328" cy="2194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Typically two auditors; at least one audit day</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At the manufacturing site, or at a critical supplier or subcontractor</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No agenda in advance; immediate access expected</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You must have told the notified body about planned production stoppages</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Delay is written into the report; refusal is grounds for certificate suspension</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Product may be tested on site or taken away for testing</a:t>
            </a:r>
            <a:endParaRPr lang="en-US" sz="1050" dirty="0"/>
          </a:p>
        </p:txBody>
      </p:sp>
      <p:sp>
        <p:nvSpPr>
          <p:cNvPr id="10" name="Shape 7"/>
          <p:cNvSpPr/>
          <p:nvPr/>
        </p:nvSpPr>
        <p:spPr>
          <a:xfrm>
            <a:off x="4663440" y="1188720"/>
            <a:ext cx="4023360" cy="2743200"/>
          </a:xfrm>
          <a:prstGeom prst="roundRect">
            <a:avLst>
              <a:gd name="adj" fmla="val 2000"/>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The focus</a:t>
            </a:r>
            <a:endParaRPr lang="en-US" sz="1250" dirty="0"/>
          </a:p>
        </p:txBody>
      </p:sp>
      <p:sp>
        <p:nvSpPr>
          <p:cNvPr id="12" name="Text 9"/>
          <p:cNvSpPr txBox="1"/>
          <p:nvPr/>
        </p:nvSpPr>
        <p:spPr>
          <a:xfrm>
            <a:off x="4791456" y="1645920"/>
            <a:ext cx="3767328" cy="2194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Is the certified device being made here, as certified?</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Sampled units checked against the technical documentation</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Traceability of critical components and materials</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Recent design, process or supplier changes, and whether the notified body was notified</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Validation status of the processes running that day</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Interviews with production and inspection staff</a:t>
            </a:r>
            <a:endParaRPr lang="en-US" sz="1050" dirty="0"/>
          </a:p>
        </p:txBody>
      </p:sp>
      <p:sp>
        <p:nvSpPr>
          <p:cNvPr id="13" name="Shape 10"/>
          <p:cNvSpPr/>
          <p:nvPr/>
        </p:nvSpPr>
        <p:spPr>
          <a:xfrm>
            <a:off x="457200" y="4069080"/>
            <a:ext cx="8229600" cy="502920"/>
          </a:xfrm>
          <a:prstGeom prst="roundRect">
            <a:avLst>
              <a:gd name="adj" fmla="val 10909"/>
            </a:avLst>
          </a:prstGeom>
          <a:solidFill>
            <a:srgbClr val="0F2A4A"/>
          </a:solidFill>
          <a:ln w="12700">
            <a:solidFill>
              <a:srgbClr val="0F2A4A"/>
            </a:solidFill>
            <a:prstDash val="solid"/>
          </a:ln>
        </p:spPr>
      </p:sp>
      <p:sp>
        <p:nvSpPr>
          <p:cNvPr id="14" name="Text 11"/>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They are not there to read your quality manual. They are there to see whether the product being built today matches the product you certified.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ANATOMY OF AN UNANNOUNCED AUDIT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first 60 minutes: a protocol</a:t>
            </a:r>
            <a:endParaRPr lang="en-US" sz="2400" dirty="0"/>
          </a:p>
        </p:txBody>
      </p:sp>
      <p:sp>
        <p:nvSpPr>
          <p:cNvPr id="7" name="Shape 4"/>
          <p:cNvSpPr/>
          <p:nvPr/>
        </p:nvSpPr>
        <p:spPr>
          <a:xfrm>
            <a:off x="1434465" y="1417320"/>
            <a:ext cx="6275070" cy="0"/>
          </a:xfrm>
          <a:prstGeom prst="line">
            <a:avLst/>
          </a:prstGeom>
          <a:noFill/>
          <a:ln w="19050">
            <a:solidFill>
              <a:srgbClr val="CBD2D9"/>
            </a:solidFill>
            <a:prstDash val="solid"/>
          </a:ln>
        </p:spPr>
      </p:sp>
      <p:sp>
        <p:nvSpPr>
          <p:cNvPr id="8" name="Shape 5"/>
          <p:cNvSpPr/>
          <p:nvPr/>
        </p:nvSpPr>
        <p:spPr>
          <a:xfrm>
            <a:off x="1288161" y="1271016"/>
            <a:ext cx="292608" cy="292608"/>
          </a:xfrm>
          <a:prstGeom prst="ellipse">
            <a:avLst/>
          </a:prstGeom>
          <a:solidFill>
            <a:srgbClr val="E0A126"/>
          </a:solidFill>
          <a:ln w="19050">
            <a:solidFill>
              <a:srgbClr val="FFFFFF"/>
            </a:solidFill>
            <a:prstDash val="solid"/>
          </a:ln>
        </p:spPr>
      </p:sp>
      <p:sp>
        <p:nvSpPr>
          <p:cNvPr id="9" name="Text 6"/>
          <p:cNvSpPr txBox="1"/>
          <p:nvPr/>
        </p:nvSpPr>
        <p:spPr>
          <a:xfrm>
            <a:off x="457200" y="1645920"/>
            <a:ext cx="1954530" cy="219456"/>
          </a:xfrm>
          <a:prstGeom prst="rect">
            <a:avLst/>
          </a:prstGeom>
          <a:noFill/>
          <a:ln/>
        </p:spPr>
        <p:txBody>
          <a:bodyPr wrap="square" lIns="0" tIns="0" rIns="0" bIns="0" rtlCol="0" anchor="t"/>
          <a:lstStyle/>
          <a:p>
            <a:pPr algn="ctr" indent="0" marL="0">
              <a:buNone/>
            </a:pPr>
            <a:r>
              <a:rPr lang="en-US" sz="1000" b="1" spc="150" kern="0" dirty="0">
                <a:solidFill>
                  <a:srgbClr val="A8730F"/>
                </a:solidFill>
                <a:latin typeface="Calibri" pitchFamily="34" charset="0"/>
                <a:ea typeface="Calibri" pitchFamily="34" charset="-122"/>
                <a:cs typeface="Calibri" pitchFamily="34" charset="-120"/>
              </a:rPr>
              <a:t>0–5 MIN</a:t>
            </a:r>
            <a:endParaRPr lang="en-US" sz="1000" dirty="0"/>
          </a:p>
        </p:txBody>
      </p:sp>
      <p:sp>
        <p:nvSpPr>
          <p:cNvPr id="10" name="Text 7"/>
          <p:cNvSpPr txBox="1"/>
          <p:nvPr/>
        </p:nvSpPr>
        <p:spPr>
          <a:xfrm>
            <a:off x="457200" y="1865376"/>
            <a:ext cx="1954530" cy="292608"/>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Reception</a:t>
            </a:r>
            <a:endParaRPr lang="en-US" sz="1400" dirty="0"/>
          </a:p>
        </p:txBody>
      </p:sp>
      <p:sp>
        <p:nvSpPr>
          <p:cNvPr id="11" name="Shape 8"/>
          <p:cNvSpPr/>
          <p:nvPr/>
        </p:nvSpPr>
        <p:spPr>
          <a:xfrm>
            <a:off x="457200" y="2212848"/>
            <a:ext cx="1954530" cy="2331720"/>
          </a:xfrm>
          <a:prstGeom prst="roundRect">
            <a:avLst>
              <a:gd name="adj" fmla="val 2807"/>
            </a:avLst>
          </a:prstGeom>
          <a:solidFill>
            <a:srgbClr val="EAF0F6"/>
          </a:solidFill>
          <a:ln w="12700">
            <a:solidFill>
              <a:srgbClr val="EAF0F6"/>
            </a:solidFill>
            <a:prstDash val="solid"/>
          </a:ln>
        </p:spPr>
      </p:sp>
      <p:sp>
        <p:nvSpPr>
          <p:cNvPr id="12" name="Text 9"/>
          <p:cNvSpPr txBox="1"/>
          <p:nvPr/>
        </p:nvSpPr>
        <p:spPr>
          <a:xfrm>
            <a:off x="566928" y="2304288"/>
            <a:ext cx="1735074" cy="21488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Verify identity: ID, agency or notified body credentials, Form FDA 482 for FDA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Call the Audit Response Lead or named deputy from the 24/7 roster</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Never leave auditors unattended; never refuse or stall</a:t>
            </a:r>
            <a:endParaRPr lang="en-US" sz="950" dirty="0"/>
          </a:p>
        </p:txBody>
      </p:sp>
      <p:sp>
        <p:nvSpPr>
          <p:cNvPr id="13" name="Shape 10"/>
          <p:cNvSpPr/>
          <p:nvPr/>
        </p:nvSpPr>
        <p:spPr>
          <a:xfrm>
            <a:off x="3379851" y="1271016"/>
            <a:ext cx="292608" cy="292608"/>
          </a:xfrm>
          <a:prstGeom prst="ellipse">
            <a:avLst/>
          </a:prstGeom>
          <a:solidFill>
            <a:srgbClr val="0F2A4A"/>
          </a:solidFill>
          <a:ln w="19050">
            <a:solidFill>
              <a:srgbClr val="FFFFFF"/>
            </a:solidFill>
            <a:prstDash val="solid"/>
          </a:ln>
        </p:spPr>
      </p:sp>
      <p:sp>
        <p:nvSpPr>
          <p:cNvPr id="14" name="Text 11"/>
          <p:cNvSpPr txBox="1"/>
          <p:nvPr/>
        </p:nvSpPr>
        <p:spPr>
          <a:xfrm>
            <a:off x="2548890" y="1645920"/>
            <a:ext cx="1954530" cy="219456"/>
          </a:xfrm>
          <a:prstGeom prst="rect">
            <a:avLst/>
          </a:prstGeom>
          <a:noFill/>
          <a:ln/>
        </p:spPr>
        <p:txBody>
          <a:bodyPr wrap="square" lIns="0" tIns="0" rIns="0" bIns="0" rtlCol="0" anchor="t"/>
          <a:lstStyle/>
          <a:p>
            <a:pPr algn="ctr" indent="0" marL="0">
              <a:buNone/>
            </a:pPr>
            <a:r>
              <a:rPr lang="en-US" sz="1000" b="1" spc="150" kern="0" dirty="0">
                <a:solidFill>
                  <a:srgbClr val="A8730F"/>
                </a:solidFill>
                <a:latin typeface="Calibri" pitchFamily="34" charset="0"/>
                <a:ea typeface="Calibri" pitchFamily="34" charset="-122"/>
                <a:cs typeface="Calibri" pitchFamily="34" charset="-120"/>
              </a:rPr>
              <a:t>5–15 MIN</a:t>
            </a:r>
            <a:endParaRPr lang="en-US" sz="1000" dirty="0"/>
          </a:p>
        </p:txBody>
      </p:sp>
      <p:sp>
        <p:nvSpPr>
          <p:cNvPr id="15" name="Text 12"/>
          <p:cNvSpPr txBox="1"/>
          <p:nvPr/>
        </p:nvSpPr>
        <p:spPr>
          <a:xfrm>
            <a:off x="2548890" y="1865376"/>
            <a:ext cx="1954530" cy="292608"/>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Mobilize</a:t>
            </a:r>
            <a:endParaRPr lang="en-US" sz="1400" dirty="0"/>
          </a:p>
        </p:txBody>
      </p:sp>
      <p:sp>
        <p:nvSpPr>
          <p:cNvPr id="16" name="Shape 13"/>
          <p:cNvSpPr/>
          <p:nvPr/>
        </p:nvSpPr>
        <p:spPr>
          <a:xfrm>
            <a:off x="2548890" y="2212848"/>
            <a:ext cx="1954530" cy="2331720"/>
          </a:xfrm>
          <a:prstGeom prst="roundRect">
            <a:avLst>
              <a:gd name="adj" fmla="val 2807"/>
            </a:avLst>
          </a:prstGeom>
          <a:solidFill>
            <a:srgbClr val="EAF0F6"/>
          </a:solidFill>
          <a:ln w="12700">
            <a:solidFill>
              <a:srgbClr val="EAF0F6"/>
            </a:solidFill>
            <a:prstDash val="solid"/>
          </a:ln>
        </p:spPr>
      </p:sp>
      <p:sp>
        <p:nvSpPr>
          <p:cNvPr id="17" name="Text 14"/>
          <p:cNvSpPr txBox="1"/>
          <p:nvPr/>
        </p:nvSpPr>
        <p:spPr>
          <a:xfrm>
            <a:off x="2658618" y="2304288"/>
            <a:ext cx="1735074" cy="21488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Escort to the audit room; offer water, wifi as per policy</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Notify site head, QA/RA leadership, corporate quality, legal</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Open the request log; assign scribe, runner, SMEs; stand up the back room</a:t>
            </a:r>
            <a:endParaRPr lang="en-US" sz="950" dirty="0"/>
          </a:p>
        </p:txBody>
      </p:sp>
      <p:sp>
        <p:nvSpPr>
          <p:cNvPr id="18" name="Shape 15"/>
          <p:cNvSpPr/>
          <p:nvPr/>
        </p:nvSpPr>
        <p:spPr>
          <a:xfrm>
            <a:off x="5471541" y="1271016"/>
            <a:ext cx="292608" cy="292608"/>
          </a:xfrm>
          <a:prstGeom prst="ellipse">
            <a:avLst/>
          </a:prstGeom>
          <a:solidFill>
            <a:srgbClr val="0F2A4A"/>
          </a:solidFill>
          <a:ln w="19050">
            <a:solidFill>
              <a:srgbClr val="FFFFFF"/>
            </a:solidFill>
            <a:prstDash val="solid"/>
          </a:ln>
        </p:spPr>
      </p:sp>
      <p:sp>
        <p:nvSpPr>
          <p:cNvPr id="19" name="Text 16"/>
          <p:cNvSpPr txBox="1"/>
          <p:nvPr/>
        </p:nvSpPr>
        <p:spPr>
          <a:xfrm>
            <a:off x="4640580" y="1645920"/>
            <a:ext cx="1954530" cy="219456"/>
          </a:xfrm>
          <a:prstGeom prst="rect">
            <a:avLst/>
          </a:prstGeom>
          <a:noFill/>
          <a:ln/>
        </p:spPr>
        <p:txBody>
          <a:bodyPr wrap="square" lIns="0" tIns="0" rIns="0" bIns="0" rtlCol="0" anchor="t"/>
          <a:lstStyle/>
          <a:p>
            <a:pPr algn="ctr" indent="0" marL="0">
              <a:buNone/>
            </a:pPr>
            <a:r>
              <a:rPr lang="en-US" sz="1000" b="1" spc="150" kern="0" dirty="0">
                <a:solidFill>
                  <a:srgbClr val="A8730F"/>
                </a:solidFill>
                <a:latin typeface="Calibri" pitchFamily="34" charset="0"/>
                <a:ea typeface="Calibri" pitchFamily="34" charset="-122"/>
                <a:cs typeface="Calibri" pitchFamily="34" charset="-120"/>
              </a:rPr>
              <a:t>15–30 MIN</a:t>
            </a:r>
            <a:endParaRPr lang="en-US" sz="1000" dirty="0"/>
          </a:p>
        </p:txBody>
      </p:sp>
      <p:sp>
        <p:nvSpPr>
          <p:cNvPr id="20" name="Text 17"/>
          <p:cNvSpPr txBox="1"/>
          <p:nvPr/>
        </p:nvSpPr>
        <p:spPr>
          <a:xfrm>
            <a:off x="4640580" y="1865376"/>
            <a:ext cx="1954530" cy="292608"/>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Opening meeting</a:t>
            </a:r>
            <a:endParaRPr lang="en-US" sz="1400" dirty="0"/>
          </a:p>
        </p:txBody>
      </p:sp>
      <p:sp>
        <p:nvSpPr>
          <p:cNvPr id="21" name="Shape 18"/>
          <p:cNvSpPr/>
          <p:nvPr/>
        </p:nvSpPr>
        <p:spPr>
          <a:xfrm>
            <a:off x="4640580" y="2212848"/>
            <a:ext cx="1954530" cy="2331720"/>
          </a:xfrm>
          <a:prstGeom prst="roundRect">
            <a:avLst>
              <a:gd name="adj" fmla="val 2807"/>
            </a:avLst>
          </a:prstGeom>
          <a:solidFill>
            <a:srgbClr val="EAF0F6"/>
          </a:solidFill>
          <a:ln w="12700">
            <a:solidFill>
              <a:srgbClr val="EAF0F6"/>
            </a:solidFill>
            <a:prstDash val="solid"/>
          </a:ln>
        </p:spPr>
      </p:sp>
      <p:sp>
        <p:nvSpPr>
          <p:cNvPr id="22" name="Text 19"/>
          <p:cNvSpPr txBox="1"/>
          <p:nvPr/>
        </p:nvSpPr>
        <p:spPr>
          <a:xfrm>
            <a:off x="4750308" y="2304288"/>
            <a:ext cx="1735074" cy="21488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Confirm scope, standard and regulation, sites, the auditors' plan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Site overview; EHS and gowning briefing</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Agree logistics: rooms, printing, system access, photo and sample policy, how findings are communicated</a:t>
            </a:r>
            <a:endParaRPr lang="en-US" sz="950" dirty="0"/>
          </a:p>
        </p:txBody>
      </p:sp>
      <p:sp>
        <p:nvSpPr>
          <p:cNvPr id="23" name="Shape 20"/>
          <p:cNvSpPr/>
          <p:nvPr/>
        </p:nvSpPr>
        <p:spPr>
          <a:xfrm>
            <a:off x="7563231" y="1271016"/>
            <a:ext cx="292608" cy="292608"/>
          </a:xfrm>
          <a:prstGeom prst="ellipse">
            <a:avLst/>
          </a:prstGeom>
          <a:solidFill>
            <a:srgbClr val="0F2A4A"/>
          </a:solidFill>
          <a:ln w="19050">
            <a:solidFill>
              <a:srgbClr val="FFFFFF"/>
            </a:solidFill>
            <a:prstDash val="solid"/>
          </a:ln>
        </p:spPr>
      </p:sp>
      <p:sp>
        <p:nvSpPr>
          <p:cNvPr id="24" name="Text 21"/>
          <p:cNvSpPr txBox="1"/>
          <p:nvPr/>
        </p:nvSpPr>
        <p:spPr>
          <a:xfrm>
            <a:off x="6732270" y="1645920"/>
            <a:ext cx="1954530" cy="219456"/>
          </a:xfrm>
          <a:prstGeom prst="rect">
            <a:avLst/>
          </a:prstGeom>
          <a:noFill/>
          <a:ln/>
        </p:spPr>
        <p:txBody>
          <a:bodyPr wrap="square" lIns="0" tIns="0" rIns="0" bIns="0" rtlCol="0" anchor="t"/>
          <a:lstStyle/>
          <a:p>
            <a:pPr algn="ctr" indent="0" marL="0">
              <a:buNone/>
            </a:pPr>
            <a:r>
              <a:rPr lang="en-US" sz="1000" b="1" spc="150" kern="0" dirty="0">
                <a:solidFill>
                  <a:srgbClr val="A8730F"/>
                </a:solidFill>
                <a:latin typeface="Calibri" pitchFamily="34" charset="0"/>
                <a:ea typeface="Calibri" pitchFamily="34" charset="-122"/>
                <a:cs typeface="Calibri" pitchFamily="34" charset="-120"/>
              </a:rPr>
              <a:t>30–60 MIN</a:t>
            </a:r>
            <a:endParaRPr lang="en-US" sz="1000" dirty="0"/>
          </a:p>
        </p:txBody>
      </p:sp>
      <p:sp>
        <p:nvSpPr>
          <p:cNvPr id="25" name="Text 22"/>
          <p:cNvSpPr txBox="1"/>
          <p:nvPr/>
        </p:nvSpPr>
        <p:spPr>
          <a:xfrm>
            <a:off x="6732270" y="1865376"/>
            <a:ext cx="1954530" cy="292608"/>
          </a:xfrm>
          <a:prstGeom prst="rect">
            <a:avLst/>
          </a:prstGeom>
          <a:noFill/>
          <a:ln/>
        </p:spPr>
        <p:txBody>
          <a:bodyPr wrap="square" lIns="0" tIns="0" rIns="0" bIns="0" rtlCol="0" anchor="t"/>
          <a:lstStyle/>
          <a:p>
            <a:pPr algn="ctr" indent="0" marL="0">
              <a:buNone/>
            </a:pPr>
            <a:r>
              <a:rPr lang="en-US" sz="1400" b="1" dirty="0">
                <a:solidFill>
                  <a:srgbClr val="0F2A4A"/>
                </a:solidFill>
                <a:latin typeface="Calibri" pitchFamily="34" charset="0"/>
                <a:ea typeface="Calibri" pitchFamily="34" charset="-122"/>
                <a:cs typeface="Calibri" pitchFamily="34" charset="-120"/>
              </a:rPr>
              <a:t>On the floor</a:t>
            </a:r>
            <a:endParaRPr lang="en-US" sz="1400" dirty="0"/>
          </a:p>
        </p:txBody>
      </p:sp>
      <p:sp>
        <p:nvSpPr>
          <p:cNvPr id="26" name="Shape 23"/>
          <p:cNvSpPr/>
          <p:nvPr/>
        </p:nvSpPr>
        <p:spPr>
          <a:xfrm>
            <a:off x="6732270" y="2212848"/>
            <a:ext cx="1954530" cy="2331720"/>
          </a:xfrm>
          <a:prstGeom prst="roundRect">
            <a:avLst>
              <a:gd name="adj" fmla="val 2807"/>
            </a:avLst>
          </a:prstGeom>
          <a:solidFill>
            <a:srgbClr val="EAF0F6"/>
          </a:solidFill>
          <a:ln w="12700">
            <a:solidFill>
              <a:srgbClr val="EAF0F6"/>
            </a:solidFill>
            <a:prstDash val="solid"/>
          </a:ln>
        </p:spPr>
      </p:sp>
      <p:sp>
        <p:nvSpPr>
          <p:cNvPr id="27" name="Text 24"/>
          <p:cNvSpPr txBox="1"/>
          <p:nvPr/>
        </p:nvSpPr>
        <p:spPr>
          <a:xfrm>
            <a:off x="6841998" y="2304288"/>
            <a:ext cx="1735074" cy="214884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Auditors select product; every sample and request logged with a timestamp</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SMEs answer what is asked, then stop; the scribe records everything</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Runners retrieve DHR, DMR and validation records; factual errors corrected immediately</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ANATOMY OF AN UNANNOUNCED AUDIT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Audit response roles: everyone has a deputy</a:t>
            </a:r>
            <a:endParaRPr lang="en-US" sz="2400" dirty="0"/>
          </a:p>
        </p:txBody>
      </p:sp>
      <p:sp>
        <p:nvSpPr>
          <p:cNvPr id="7" name="Shape 4"/>
          <p:cNvSpPr/>
          <p:nvPr/>
        </p:nvSpPr>
        <p:spPr>
          <a:xfrm>
            <a:off x="457200" y="1188720"/>
            <a:ext cx="1954530" cy="1371600"/>
          </a:xfrm>
          <a:prstGeom prst="roundRect">
            <a:avLst>
              <a:gd name="adj" fmla="val 4000"/>
            </a:avLst>
          </a:prstGeom>
          <a:solidFill>
            <a:srgbClr val="FBF2DE"/>
          </a:solidFill>
          <a:ln w="12700">
            <a:solidFill>
              <a:srgbClr val="FBF2DE"/>
            </a:solidFill>
            <a:prstDash val="solid"/>
          </a:ln>
        </p:spPr>
      </p:sp>
      <p:sp>
        <p:nvSpPr>
          <p:cNvPr id="8" name="Text 5"/>
          <p:cNvSpPr txBox="1"/>
          <p:nvPr/>
        </p:nvSpPr>
        <p:spPr>
          <a:xfrm>
            <a:off x="585216" y="128016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Audit Response Lead</a:t>
            </a:r>
            <a:endParaRPr lang="en-US" sz="1150" dirty="0"/>
          </a:p>
        </p:txBody>
      </p:sp>
      <p:sp>
        <p:nvSpPr>
          <p:cNvPr id="9" name="Text 6"/>
          <p:cNvSpPr txBox="1"/>
          <p:nvPr/>
        </p:nvSpPr>
        <p:spPr>
          <a:xfrm>
            <a:off x="585216" y="177393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Owns the audit; the single voice to the auditors; decides what is provided and when</a:t>
            </a:r>
            <a:endParaRPr lang="en-US" sz="950" dirty="0"/>
          </a:p>
        </p:txBody>
      </p:sp>
      <p:sp>
        <p:nvSpPr>
          <p:cNvPr id="10" name="Shape 7"/>
          <p:cNvSpPr/>
          <p:nvPr/>
        </p:nvSpPr>
        <p:spPr>
          <a:xfrm>
            <a:off x="2548890" y="1188720"/>
            <a:ext cx="1954530" cy="1371600"/>
          </a:xfrm>
          <a:prstGeom prst="roundRect">
            <a:avLst>
              <a:gd name="adj" fmla="val 4000"/>
            </a:avLst>
          </a:prstGeom>
          <a:solidFill>
            <a:srgbClr val="EAF0F6"/>
          </a:solidFill>
          <a:ln w="12700">
            <a:solidFill>
              <a:srgbClr val="EAF0F6"/>
            </a:solidFill>
            <a:prstDash val="solid"/>
          </a:ln>
        </p:spPr>
      </p:sp>
      <p:sp>
        <p:nvSpPr>
          <p:cNvPr id="11" name="Text 8"/>
          <p:cNvSpPr txBox="1"/>
          <p:nvPr/>
        </p:nvSpPr>
        <p:spPr>
          <a:xfrm>
            <a:off x="2676906" y="128016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Site Head</a:t>
            </a:r>
            <a:endParaRPr lang="en-US" sz="1150" dirty="0"/>
          </a:p>
        </p:txBody>
      </p:sp>
      <p:sp>
        <p:nvSpPr>
          <p:cNvPr id="12" name="Text 9"/>
          <p:cNvSpPr txBox="1"/>
          <p:nvPr/>
        </p:nvSpPr>
        <p:spPr>
          <a:xfrm>
            <a:off x="2676906" y="177393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Resources and decisions; visible at the opening and closing meetings</a:t>
            </a:r>
            <a:endParaRPr lang="en-US" sz="950" dirty="0"/>
          </a:p>
        </p:txBody>
      </p:sp>
      <p:sp>
        <p:nvSpPr>
          <p:cNvPr id="13" name="Shape 10"/>
          <p:cNvSpPr/>
          <p:nvPr/>
        </p:nvSpPr>
        <p:spPr>
          <a:xfrm>
            <a:off x="4640580" y="1188720"/>
            <a:ext cx="1954530" cy="1371600"/>
          </a:xfrm>
          <a:prstGeom prst="roundRect">
            <a:avLst>
              <a:gd name="adj" fmla="val 4000"/>
            </a:avLst>
          </a:prstGeom>
          <a:solidFill>
            <a:srgbClr val="EAF0F6"/>
          </a:solidFill>
          <a:ln w="12700">
            <a:solidFill>
              <a:srgbClr val="EAF0F6"/>
            </a:solidFill>
            <a:prstDash val="solid"/>
          </a:ln>
        </p:spPr>
      </p:sp>
      <p:sp>
        <p:nvSpPr>
          <p:cNvPr id="14" name="Text 11"/>
          <p:cNvSpPr txBox="1"/>
          <p:nvPr/>
        </p:nvSpPr>
        <p:spPr>
          <a:xfrm>
            <a:off x="4768596" y="128016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Front-room SMEs</a:t>
            </a:r>
            <a:endParaRPr lang="en-US" sz="1150" dirty="0"/>
          </a:p>
        </p:txBody>
      </p:sp>
      <p:sp>
        <p:nvSpPr>
          <p:cNvPr id="15" name="Text 12"/>
          <p:cNvSpPr txBox="1"/>
          <p:nvPr/>
        </p:nvSpPr>
        <p:spPr>
          <a:xfrm>
            <a:off x="4768596" y="177393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Production, QC, engineering, supplier quality, RA; answer what is asked, nothing more</a:t>
            </a:r>
            <a:endParaRPr lang="en-US" sz="950" dirty="0"/>
          </a:p>
        </p:txBody>
      </p:sp>
      <p:sp>
        <p:nvSpPr>
          <p:cNvPr id="16" name="Shape 13"/>
          <p:cNvSpPr/>
          <p:nvPr/>
        </p:nvSpPr>
        <p:spPr>
          <a:xfrm>
            <a:off x="6732270" y="1188720"/>
            <a:ext cx="1954530" cy="1371600"/>
          </a:xfrm>
          <a:prstGeom prst="roundRect">
            <a:avLst>
              <a:gd name="adj" fmla="val 4000"/>
            </a:avLst>
          </a:prstGeom>
          <a:solidFill>
            <a:srgbClr val="EAF0F6"/>
          </a:solidFill>
          <a:ln w="12700">
            <a:solidFill>
              <a:srgbClr val="EAF0F6"/>
            </a:solidFill>
            <a:prstDash val="solid"/>
          </a:ln>
        </p:spPr>
      </p:sp>
      <p:sp>
        <p:nvSpPr>
          <p:cNvPr id="17" name="Text 14"/>
          <p:cNvSpPr txBox="1"/>
          <p:nvPr/>
        </p:nvSpPr>
        <p:spPr>
          <a:xfrm>
            <a:off x="6860286" y="128016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Scribe</a:t>
            </a:r>
            <a:endParaRPr lang="en-US" sz="1150" dirty="0"/>
          </a:p>
        </p:txBody>
      </p:sp>
      <p:sp>
        <p:nvSpPr>
          <p:cNvPr id="18" name="Text 15"/>
          <p:cNvSpPr txBox="1"/>
          <p:nvPr/>
        </p:nvSpPr>
        <p:spPr>
          <a:xfrm>
            <a:off x="6860286" y="177393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Verbatim log of questions, answers, documents shown and samples taken</a:t>
            </a:r>
            <a:endParaRPr lang="en-US" sz="950" dirty="0"/>
          </a:p>
        </p:txBody>
      </p:sp>
      <p:sp>
        <p:nvSpPr>
          <p:cNvPr id="19" name="Shape 16"/>
          <p:cNvSpPr/>
          <p:nvPr/>
        </p:nvSpPr>
        <p:spPr>
          <a:xfrm>
            <a:off x="457200" y="2697480"/>
            <a:ext cx="1954530" cy="1371600"/>
          </a:xfrm>
          <a:prstGeom prst="roundRect">
            <a:avLst>
              <a:gd name="adj" fmla="val 4000"/>
            </a:avLst>
          </a:prstGeom>
          <a:solidFill>
            <a:srgbClr val="EAF0F6"/>
          </a:solidFill>
          <a:ln w="12700">
            <a:solidFill>
              <a:srgbClr val="EAF0F6"/>
            </a:solidFill>
            <a:prstDash val="solid"/>
          </a:ln>
        </p:spPr>
      </p:sp>
      <p:sp>
        <p:nvSpPr>
          <p:cNvPr id="20" name="Text 17"/>
          <p:cNvSpPr txBox="1"/>
          <p:nvPr/>
        </p:nvSpPr>
        <p:spPr>
          <a:xfrm>
            <a:off x="585216" y="278892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Runners</a:t>
            </a:r>
            <a:endParaRPr lang="en-US" sz="1150" dirty="0"/>
          </a:p>
        </p:txBody>
      </p:sp>
      <p:sp>
        <p:nvSpPr>
          <p:cNvPr id="21" name="Text 18"/>
          <p:cNvSpPr txBox="1"/>
          <p:nvPr/>
        </p:nvSpPr>
        <p:spPr>
          <a:xfrm>
            <a:off x="585216" y="328269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Retrieve records; nothing reaches the front room unreviewed</a:t>
            </a:r>
            <a:endParaRPr lang="en-US" sz="950" dirty="0"/>
          </a:p>
        </p:txBody>
      </p:sp>
      <p:sp>
        <p:nvSpPr>
          <p:cNvPr id="22" name="Shape 19"/>
          <p:cNvSpPr/>
          <p:nvPr/>
        </p:nvSpPr>
        <p:spPr>
          <a:xfrm>
            <a:off x="2548890" y="2697480"/>
            <a:ext cx="1954530" cy="1371600"/>
          </a:xfrm>
          <a:prstGeom prst="roundRect">
            <a:avLst>
              <a:gd name="adj" fmla="val 4000"/>
            </a:avLst>
          </a:prstGeom>
          <a:solidFill>
            <a:srgbClr val="EAF0F6"/>
          </a:solidFill>
          <a:ln w="12700">
            <a:solidFill>
              <a:srgbClr val="EAF0F6"/>
            </a:solidFill>
            <a:prstDash val="solid"/>
          </a:ln>
        </p:spPr>
      </p:sp>
      <p:sp>
        <p:nvSpPr>
          <p:cNvPr id="23" name="Text 20"/>
          <p:cNvSpPr txBox="1"/>
          <p:nvPr/>
        </p:nvSpPr>
        <p:spPr>
          <a:xfrm>
            <a:off x="2676906" y="278892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Back-room coordinator</a:t>
            </a:r>
            <a:endParaRPr lang="en-US" sz="1150" dirty="0"/>
          </a:p>
        </p:txBody>
      </p:sp>
      <p:sp>
        <p:nvSpPr>
          <p:cNvPr id="24" name="Text 21"/>
          <p:cNvSpPr txBox="1"/>
          <p:nvPr/>
        </p:nvSpPr>
        <p:spPr>
          <a:xfrm>
            <a:off x="2676906" y="328269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Reviews every document before it goes in; spots issues; prepares SMEs</a:t>
            </a:r>
            <a:endParaRPr lang="en-US" sz="950" dirty="0"/>
          </a:p>
        </p:txBody>
      </p:sp>
      <p:sp>
        <p:nvSpPr>
          <p:cNvPr id="25" name="Shape 22"/>
          <p:cNvSpPr/>
          <p:nvPr/>
        </p:nvSpPr>
        <p:spPr>
          <a:xfrm>
            <a:off x="4640580" y="2697480"/>
            <a:ext cx="1954530" cy="1371600"/>
          </a:xfrm>
          <a:prstGeom prst="roundRect">
            <a:avLst>
              <a:gd name="adj" fmla="val 4000"/>
            </a:avLst>
          </a:prstGeom>
          <a:solidFill>
            <a:srgbClr val="EAF0F6"/>
          </a:solidFill>
          <a:ln w="12700">
            <a:solidFill>
              <a:srgbClr val="EAF0F6"/>
            </a:solidFill>
            <a:prstDash val="solid"/>
          </a:ln>
        </p:spPr>
      </p:sp>
      <p:sp>
        <p:nvSpPr>
          <p:cNvPr id="26" name="Text 23"/>
          <p:cNvSpPr txBox="1"/>
          <p:nvPr/>
        </p:nvSpPr>
        <p:spPr>
          <a:xfrm>
            <a:off x="4768596" y="278892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Document control and IT</a:t>
            </a:r>
            <a:endParaRPr lang="en-US" sz="1150" dirty="0"/>
          </a:p>
        </p:txBody>
      </p:sp>
      <p:sp>
        <p:nvSpPr>
          <p:cNvPr id="27" name="Text 24"/>
          <p:cNvSpPr txBox="1"/>
          <p:nvPr/>
        </p:nvSpPr>
        <p:spPr>
          <a:xfrm>
            <a:off x="4768596" y="328269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System access, controlled copies, record retrieval, printing</a:t>
            </a:r>
            <a:endParaRPr lang="en-US" sz="950" dirty="0"/>
          </a:p>
        </p:txBody>
      </p:sp>
      <p:sp>
        <p:nvSpPr>
          <p:cNvPr id="28" name="Shape 25"/>
          <p:cNvSpPr/>
          <p:nvPr/>
        </p:nvSpPr>
        <p:spPr>
          <a:xfrm>
            <a:off x="6732270" y="2697480"/>
            <a:ext cx="1954530" cy="1371600"/>
          </a:xfrm>
          <a:prstGeom prst="roundRect">
            <a:avLst>
              <a:gd name="adj" fmla="val 4000"/>
            </a:avLst>
          </a:prstGeom>
          <a:solidFill>
            <a:srgbClr val="EAF0F6"/>
          </a:solidFill>
          <a:ln w="12700">
            <a:solidFill>
              <a:srgbClr val="EAF0F6"/>
            </a:solidFill>
            <a:prstDash val="solid"/>
          </a:ln>
        </p:spPr>
      </p:sp>
      <p:sp>
        <p:nvSpPr>
          <p:cNvPr id="29" name="Text 26"/>
          <p:cNvSpPr txBox="1"/>
          <p:nvPr/>
        </p:nvSpPr>
        <p:spPr>
          <a:xfrm>
            <a:off x="6860286" y="2788920"/>
            <a:ext cx="1698498"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Reception and security</a:t>
            </a:r>
            <a:endParaRPr lang="en-US" sz="1150" dirty="0"/>
          </a:p>
        </p:txBody>
      </p:sp>
      <p:sp>
        <p:nvSpPr>
          <p:cNvPr id="30" name="Text 27"/>
          <p:cNvSpPr txBox="1"/>
          <p:nvPr/>
        </p:nvSpPr>
        <p:spPr>
          <a:xfrm>
            <a:off x="6860286" y="3282696"/>
            <a:ext cx="1698498" cy="69494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The script, the roster, badges and escort; the first five minutes</a:t>
            </a:r>
            <a:endParaRPr lang="en-US" sz="950" dirty="0"/>
          </a:p>
        </p:txBody>
      </p:sp>
      <p:sp>
        <p:nvSpPr>
          <p:cNvPr id="31" name="Shape 28"/>
          <p:cNvSpPr/>
          <p:nvPr/>
        </p:nvSpPr>
        <p:spPr>
          <a:xfrm>
            <a:off x="457200" y="4160520"/>
            <a:ext cx="8229600" cy="411480"/>
          </a:xfrm>
          <a:prstGeom prst="roundRect">
            <a:avLst>
              <a:gd name="adj" fmla="val 13333"/>
            </a:avLst>
          </a:prstGeom>
          <a:solidFill>
            <a:srgbClr val="0F2A4A"/>
          </a:solidFill>
          <a:ln w="12700">
            <a:solidFill>
              <a:srgbClr val="0F2A4A"/>
            </a:solidFill>
            <a:prstDash val="solid"/>
          </a:ln>
        </p:spPr>
      </p:sp>
      <p:sp>
        <p:nvSpPr>
          <p:cNvPr id="32" name="Text 29"/>
          <p:cNvSpPr txBox="1"/>
          <p:nvPr/>
        </p:nvSpPr>
        <p:spPr>
          <a:xfrm>
            <a:off x="640080" y="4160520"/>
            <a:ext cx="7863840" cy="411480"/>
          </a:xfrm>
          <a:prstGeom prst="rect">
            <a:avLst/>
          </a:prstGeom>
          <a:noFill/>
          <a:ln/>
        </p:spPr>
        <p:txBody>
          <a:bodyPr wrap="square" lIns="0" tIns="0" rIns="0" bIns="0"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Every role has a named deputy. The roster covers nights, weekends and holiday shutdowns, and reception has it on paper.</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ANATOMY OF AN UNANNOUNCED AUDIT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On the day: do and don't</a:t>
            </a:r>
            <a:endParaRPr lang="en-US" sz="2400" dirty="0"/>
          </a:p>
        </p:txBody>
      </p:sp>
      <p:sp>
        <p:nvSpPr>
          <p:cNvPr id="7" name="Shape 4"/>
          <p:cNvSpPr/>
          <p:nvPr/>
        </p:nvSpPr>
        <p:spPr>
          <a:xfrm>
            <a:off x="457200" y="1188720"/>
            <a:ext cx="4023360" cy="3383280"/>
          </a:xfrm>
          <a:prstGeom prst="roundRect">
            <a:avLst>
              <a:gd name="adj" fmla="val 1622"/>
            </a:avLst>
          </a:prstGeom>
          <a:solidFill>
            <a:srgbClr val="E8F3EE"/>
          </a:solidFill>
          <a:ln w="12700">
            <a:solidFill>
              <a:srgbClr val="E8F3EE"/>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256B4F"/>
                </a:solidFill>
                <a:latin typeface="Calibri" pitchFamily="34" charset="0"/>
                <a:ea typeface="Calibri" pitchFamily="34" charset="-122"/>
                <a:cs typeface="Calibri" pitchFamily="34" charset="-120"/>
              </a:rPr>
              <a:t>Do</a:t>
            </a:r>
            <a:endParaRPr lang="en-US" sz="1250" dirty="0"/>
          </a:p>
        </p:txBody>
      </p:sp>
      <p:sp>
        <p:nvSpPr>
          <p:cNvPr id="9" name="Text 6"/>
          <p:cNvSpPr txBox="1"/>
          <p:nvPr/>
        </p:nvSpPr>
        <p:spPr>
          <a:xfrm>
            <a:off x="58521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Give exactly what is asked, when it is asked</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Keep a copy of everything you hand over</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Answer the question, then stop</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Say "I don't know, I will find out", then find out</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Challenge factual errors at the time, with evidence</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Take your own notes on every potential finding</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Prepare operators to answer normally; they can and will be interviewed</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Treat every finding as a free consultancy report</a:t>
            </a:r>
            <a:endParaRPr lang="en-US" sz="1050" dirty="0"/>
          </a:p>
        </p:txBody>
      </p:sp>
      <p:sp>
        <p:nvSpPr>
          <p:cNvPr id="10" name="Shape 7"/>
          <p:cNvSpPr/>
          <p:nvPr/>
        </p:nvSpPr>
        <p:spPr>
          <a:xfrm>
            <a:off x="4663440" y="1188720"/>
            <a:ext cx="4023360" cy="3383280"/>
          </a:xfrm>
          <a:prstGeom prst="roundRect">
            <a:avLst>
              <a:gd name="adj" fmla="val 1622"/>
            </a:avLst>
          </a:prstGeom>
          <a:solidFill>
            <a:srgbClr val="F9ECEA"/>
          </a:solidFill>
          <a:ln w="12700">
            <a:solidFill>
              <a:srgbClr val="F9ECEA"/>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9E2F24"/>
                </a:solidFill>
                <a:latin typeface="Calibri" pitchFamily="34" charset="0"/>
                <a:ea typeface="Calibri" pitchFamily="34" charset="-122"/>
                <a:cs typeface="Calibri" pitchFamily="34" charset="-120"/>
              </a:rPr>
              <a:t>Don't</a:t>
            </a:r>
            <a:endParaRPr lang="en-US" sz="1250" dirty="0"/>
          </a:p>
        </p:txBody>
      </p:sp>
      <p:sp>
        <p:nvSpPr>
          <p:cNvPr id="12" name="Text 9"/>
          <p:cNvSpPr txBox="1"/>
          <p:nvPr/>
        </p:nvSpPr>
        <p:spPr>
          <a:xfrm>
            <a:off x="479145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Refuse, stall, or "lose" documents</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Volunteer unrelated information or unrequested tours</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Guess, speculate, or say "we usually..."</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Correct, backdate or create records during the audit</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Argue grading in the room; respond in writing instead</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Sign statements without RA and legal review</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Leave auditors unescorted or with open system access</a:t>
            </a:r>
            <a:endParaRPr lang="en-US" sz="1050" dirty="0"/>
          </a:p>
          <a:p>
            <a:pPr marL="342900" indent="-342900">
              <a:spcAft>
                <a:spcPts val="400"/>
              </a:spcAft>
              <a:buSzPct val="100000"/>
              <a:buChar char="•"/>
            </a:pPr>
            <a:r>
              <a:rPr lang="en-US" sz="1050" dirty="0">
                <a:solidFill>
                  <a:srgbClr val="1F2933"/>
                </a:solidFill>
                <a:latin typeface="Calibri" pitchFamily="34" charset="0"/>
                <a:ea typeface="Calibri" pitchFamily="34" charset="-122"/>
                <a:cs typeface="Calibri" pitchFamily="34" charset="-120"/>
              </a:rPr>
              <a:t>Offer gifts or hospitality beyond basic courtesy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ANATOMY OF AN UNANNOUNCED AUDIT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After they leave: the 72-hour plan</a:t>
            </a:r>
            <a:endParaRPr lang="en-US" sz="2400" dirty="0"/>
          </a:p>
        </p:txBody>
      </p:sp>
      <p:sp>
        <p:nvSpPr>
          <p:cNvPr id="7" name="Shape 4"/>
          <p:cNvSpPr/>
          <p:nvPr/>
        </p:nvSpPr>
        <p:spPr>
          <a:xfrm>
            <a:off x="457200" y="1188720"/>
            <a:ext cx="1954530" cy="3383280"/>
          </a:xfrm>
          <a:prstGeom prst="roundRect">
            <a:avLst>
              <a:gd name="adj" fmla="val 2807"/>
            </a:avLst>
          </a:prstGeom>
          <a:solidFill>
            <a:srgbClr val="EAF0F6"/>
          </a:solidFill>
          <a:ln w="12700">
            <a:solidFill>
              <a:srgbClr val="EAF0F6"/>
            </a:solidFill>
            <a:prstDash val="solid"/>
          </a:ln>
        </p:spPr>
      </p:sp>
      <p:sp>
        <p:nvSpPr>
          <p:cNvPr id="8" name="Text 5"/>
          <p:cNvSpPr txBox="1"/>
          <p:nvPr/>
        </p:nvSpPr>
        <p:spPr>
          <a:xfrm>
            <a:off x="585216" y="1280160"/>
            <a:ext cx="169849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DAY 0</a:t>
            </a:r>
            <a:endParaRPr lang="en-US" sz="900" dirty="0"/>
          </a:p>
        </p:txBody>
      </p:sp>
      <p:sp>
        <p:nvSpPr>
          <p:cNvPr id="9" name="Text 6"/>
          <p:cNvSpPr txBox="1"/>
          <p:nvPr/>
        </p:nvSpPr>
        <p:spPr>
          <a:xfrm>
            <a:off x="585216" y="1499616"/>
            <a:ext cx="1698498" cy="45720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Same day</a:t>
            </a:r>
            <a:endParaRPr lang="en-US" sz="1250" dirty="0"/>
          </a:p>
        </p:txBody>
      </p:sp>
      <p:sp>
        <p:nvSpPr>
          <p:cNvPr id="10" name="Text 7"/>
          <p:cNvSpPr txBox="1"/>
          <p:nvPr/>
        </p:nvSpPr>
        <p:spPr>
          <a:xfrm>
            <a:off x="585216" y="1993392"/>
            <a:ext cx="1698498" cy="24871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Debrief within 2 hours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Reconcile the request log with the findings list, verbatim</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Secure copies of everything provided</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Brief senior management; make required notifications (corporate, PRRC, other sites)</a:t>
            </a:r>
            <a:endParaRPr lang="en-US" sz="950" dirty="0"/>
          </a:p>
        </p:txBody>
      </p:sp>
      <p:sp>
        <p:nvSpPr>
          <p:cNvPr id="11" name="Shape 8"/>
          <p:cNvSpPr/>
          <p:nvPr/>
        </p:nvSpPr>
        <p:spPr>
          <a:xfrm>
            <a:off x="2548890" y="1188720"/>
            <a:ext cx="1954530" cy="3383280"/>
          </a:xfrm>
          <a:prstGeom prst="roundRect">
            <a:avLst>
              <a:gd name="adj" fmla="val 2807"/>
            </a:avLst>
          </a:prstGeom>
          <a:solidFill>
            <a:srgbClr val="EAF0F6"/>
          </a:solidFill>
          <a:ln w="12700">
            <a:solidFill>
              <a:srgbClr val="EAF0F6"/>
            </a:solidFill>
            <a:prstDash val="solid"/>
          </a:ln>
        </p:spPr>
      </p:sp>
      <p:sp>
        <p:nvSpPr>
          <p:cNvPr id="12" name="Text 9"/>
          <p:cNvSpPr txBox="1"/>
          <p:nvPr/>
        </p:nvSpPr>
        <p:spPr>
          <a:xfrm>
            <a:off x="2676906" y="1280160"/>
            <a:ext cx="169849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DAY 1</a:t>
            </a:r>
            <a:endParaRPr lang="en-US" sz="900" dirty="0"/>
          </a:p>
        </p:txBody>
      </p:sp>
      <p:sp>
        <p:nvSpPr>
          <p:cNvPr id="13" name="Text 10"/>
          <p:cNvSpPr txBox="1"/>
          <p:nvPr/>
        </p:nvSpPr>
        <p:spPr>
          <a:xfrm>
            <a:off x="2676906" y="1499616"/>
            <a:ext cx="1698498" cy="45720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Classify and contain</a:t>
            </a:r>
            <a:endParaRPr lang="en-US" sz="1250" dirty="0"/>
          </a:p>
        </p:txBody>
      </p:sp>
      <p:sp>
        <p:nvSpPr>
          <p:cNvPr id="14" name="Text 11"/>
          <p:cNvSpPr txBox="1"/>
          <p:nvPr/>
        </p:nvSpPr>
        <p:spPr>
          <a:xfrm>
            <a:off x="2676906" y="1993392"/>
            <a:ext cx="1698498" cy="24871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Classify each finding; assign owners and dates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Containment for any product or safety issue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FDA: start the Form 483 response; 15 business days for FDA to consider it before a Warning Letter decision</a:t>
            </a:r>
            <a:endParaRPr lang="en-US" sz="950" dirty="0"/>
          </a:p>
        </p:txBody>
      </p:sp>
      <p:sp>
        <p:nvSpPr>
          <p:cNvPr id="15" name="Shape 12"/>
          <p:cNvSpPr/>
          <p:nvPr/>
        </p:nvSpPr>
        <p:spPr>
          <a:xfrm>
            <a:off x="4640580" y="1188720"/>
            <a:ext cx="1954530" cy="3383280"/>
          </a:xfrm>
          <a:prstGeom prst="roundRect">
            <a:avLst>
              <a:gd name="adj" fmla="val 2807"/>
            </a:avLst>
          </a:prstGeom>
          <a:solidFill>
            <a:srgbClr val="EAF0F6"/>
          </a:solidFill>
          <a:ln w="12700">
            <a:solidFill>
              <a:srgbClr val="EAF0F6"/>
            </a:solidFill>
            <a:prstDash val="solid"/>
          </a:ln>
        </p:spPr>
      </p:sp>
      <p:sp>
        <p:nvSpPr>
          <p:cNvPr id="16" name="Text 13"/>
          <p:cNvSpPr txBox="1"/>
          <p:nvPr/>
        </p:nvSpPr>
        <p:spPr>
          <a:xfrm>
            <a:off x="4768596" y="1280160"/>
            <a:ext cx="169849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DAYS 2–3</a:t>
            </a:r>
            <a:endParaRPr lang="en-US" sz="900" dirty="0"/>
          </a:p>
        </p:txBody>
      </p:sp>
      <p:sp>
        <p:nvSpPr>
          <p:cNvPr id="17" name="Text 14"/>
          <p:cNvSpPr txBox="1"/>
          <p:nvPr/>
        </p:nvSpPr>
        <p:spPr>
          <a:xfrm>
            <a:off x="4768596" y="1499616"/>
            <a:ext cx="1698498" cy="45720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Root cause and plan</a:t>
            </a:r>
            <a:endParaRPr lang="en-US" sz="1250" dirty="0"/>
          </a:p>
        </p:txBody>
      </p:sp>
      <p:sp>
        <p:nvSpPr>
          <p:cNvPr id="18" name="Text 15"/>
          <p:cNvSpPr txBox="1"/>
          <p:nvPr/>
        </p:nvSpPr>
        <p:spPr>
          <a:xfrm>
            <a:off x="4768596" y="1993392"/>
            <a:ext cx="1698498" cy="24871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Root cause analysis, not symptom fixes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Correction versus corrective action; effectiveness criteria defined up front</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Response plan to the notified body within its window (MDSAP: typically 15 calendar days)</a:t>
            </a:r>
            <a:endParaRPr lang="en-US" sz="950" dirty="0"/>
          </a:p>
        </p:txBody>
      </p:sp>
      <p:sp>
        <p:nvSpPr>
          <p:cNvPr id="19" name="Shape 16"/>
          <p:cNvSpPr/>
          <p:nvPr/>
        </p:nvSpPr>
        <p:spPr>
          <a:xfrm>
            <a:off x="6732270" y="1188720"/>
            <a:ext cx="1954530" cy="3383280"/>
          </a:xfrm>
          <a:prstGeom prst="roundRect">
            <a:avLst>
              <a:gd name="adj" fmla="val 2807"/>
            </a:avLst>
          </a:prstGeom>
          <a:solidFill>
            <a:srgbClr val="FBF2DE"/>
          </a:solidFill>
          <a:ln w="12700">
            <a:solidFill>
              <a:srgbClr val="FBF2DE"/>
            </a:solidFill>
            <a:prstDash val="solid"/>
          </a:ln>
        </p:spPr>
      </p:sp>
      <p:sp>
        <p:nvSpPr>
          <p:cNvPr id="20" name="Text 17"/>
          <p:cNvSpPr txBox="1"/>
          <p:nvPr/>
        </p:nvSpPr>
        <p:spPr>
          <a:xfrm>
            <a:off x="6860286" y="1280160"/>
            <a:ext cx="169849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THEN</a:t>
            </a:r>
            <a:endParaRPr lang="en-US" sz="900" dirty="0"/>
          </a:p>
        </p:txBody>
      </p:sp>
      <p:sp>
        <p:nvSpPr>
          <p:cNvPr id="21" name="Text 18"/>
          <p:cNvSpPr txBox="1"/>
          <p:nvPr/>
        </p:nvSpPr>
        <p:spPr>
          <a:xfrm>
            <a:off x="6860286" y="1499616"/>
            <a:ext cx="1698498" cy="457200"/>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Execute and verify</a:t>
            </a:r>
            <a:endParaRPr lang="en-US" sz="1250" dirty="0"/>
          </a:p>
        </p:txBody>
      </p:sp>
      <p:sp>
        <p:nvSpPr>
          <p:cNvPr id="22" name="Text 19"/>
          <p:cNvSpPr txBox="1"/>
          <p:nvPr/>
        </p:nvSpPr>
        <p:spPr>
          <a:xfrm>
            <a:off x="6860286" y="1993392"/>
            <a:ext cx="1698498" cy="2487168"/>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Implement; collect objective evidence of closure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Verify effectiveness with data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Feed findings, trends and lessons into management review and the next internal audit plan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3  |  ANATOMY OF AN UNANNOUNCED AUDIT</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Findings and consequences by regime</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4023360"/>
                <a:gridCol w="2743200"/>
              </a:tblGrid>
              <a:tr h="7315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Regime</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findings are expressed</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escalates</a:t>
                      </a:r>
                      <a:endParaRPr lang="en-US" sz="10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7315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FDA</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Form FDA 483 inspectional observations; inspection classified NAI / VAI / OAI; Warning Letter; then seizure, injunction, consent decree; import alert for foreign sites</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Repeat observations, an inadequate 483 response, data integrity problems, failures to report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7315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Notified body (MDR)</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Minor and major nonconformities (definitions per notified body and MDCG guidance); corrective action plans; certificate suspension or withdrawal</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Systemic majors, refusal of access, unreported significant changes, nonconformity found on sampled product</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731520">
                <a:tc>
                  <a:txBody>
                    <a:bodyPr/>
                    <a:lstStyle/>
                    <a:p>
                      <a:pPr indent="0" marL="0">
                        <a:buNone/>
                      </a:pPr>
                      <a:r>
                        <a:rPr lang="en-US" sz="1000" b="1" dirty="0">
                          <a:solidFill>
                            <a:srgbClr val="1F2933"/>
                          </a:solidFill>
                          <a:latin typeface="Calibri" pitchFamily="34" charset="0"/>
                          <a:ea typeface="Calibri" pitchFamily="34" charset="-122"/>
                          <a:cs typeface="Calibri" pitchFamily="34" charset="-120"/>
                        </a:rPr>
                        <a:t>MDSAP</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Grades 1–5 per GHTF/SG3/N19: direct-impact clauses start at 3, indirect at 1; +1 for no documented process; +1 for a repeat; capped at 5</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1000" dirty="0">
                          <a:solidFill>
                            <a:srgbClr val="1F2933"/>
                          </a:solidFill>
                          <a:latin typeface="Calibri" pitchFamily="34" charset="0"/>
                          <a:ea typeface="Calibri" pitchFamily="34" charset="-122"/>
                          <a:cs typeface="Calibri" pitchFamily="34" charset="-120"/>
                        </a:rPr>
                        <a:t>Grade 4 or 5: the auditing organization notifies the participating regulators within 5 business days; regulators may act independently</a:t>
                      </a:r>
                      <a:endParaRPr lang="en-US" sz="10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21</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4</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Case studies</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Four composite cases drawn from real audits; names, places and details changed. At your table: 2 minutes to read, 3 to discuss, then a 2-minute plenary debrief.</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1</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1: The Tuesday morning knock</a:t>
            </a:r>
            <a:endParaRPr lang="en-US" sz="2400" dirty="0"/>
          </a:p>
        </p:txBody>
      </p:sp>
      <p:sp>
        <p:nvSpPr>
          <p:cNvPr id="7" name="Shape 4"/>
          <p:cNvSpPr/>
          <p:nvPr/>
        </p:nvSpPr>
        <p:spPr>
          <a:xfrm>
            <a:off x="457200" y="1188720"/>
            <a:ext cx="2514600" cy="2606040"/>
          </a:xfrm>
          <a:prstGeom prst="roundRect">
            <a:avLst>
              <a:gd name="adj" fmla="val 2182"/>
            </a:avLst>
          </a:prstGeom>
          <a:solidFill>
            <a:srgbClr val="EAF0F6"/>
          </a:solidFill>
          <a:ln w="12700">
            <a:solidFill>
              <a:srgbClr val="EAF0F6"/>
            </a:solidFill>
            <a:prstDash val="solid"/>
          </a:ln>
        </p:spPr>
      </p:sp>
      <p:sp>
        <p:nvSpPr>
          <p:cNvPr id="8" name="Text 5"/>
          <p:cNvSpPr txBox="1"/>
          <p:nvPr/>
        </p:nvSpPr>
        <p:spPr>
          <a:xfrm>
            <a:off x="585216" y="1280160"/>
            <a:ext cx="22585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SETUP</a:t>
            </a:r>
            <a:endParaRPr lang="en-US" sz="900" dirty="0"/>
          </a:p>
        </p:txBody>
      </p:sp>
      <p:sp>
        <p:nvSpPr>
          <p:cNvPr id="9" name="Text 6"/>
          <p:cNvSpPr txBox="1"/>
          <p:nvPr/>
        </p:nvSpPr>
        <p:spPr>
          <a:xfrm>
            <a:off x="585216" y="1517904"/>
            <a:ext cx="2258568" cy="218541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Legal manufacturer, Germany</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Class IIb powered surgical instruments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About 220 staff, one manufacturing site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MDR certificate via a notified body</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QA Director on leave; no deputy named in the reception instructions</a:t>
            </a:r>
            <a:endParaRPr lang="en-US" sz="950" dirty="0"/>
          </a:p>
        </p:txBody>
      </p:sp>
      <p:sp>
        <p:nvSpPr>
          <p:cNvPr id="10" name="Shape 7"/>
          <p:cNvSpPr/>
          <p:nvPr/>
        </p:nvSpPr>
        <p:spPr>
          <a:xfrm>
            <a:off x="3108960" y="1188720"/>
            <a:ext cx="5577840" cy="2606040"/>
          </a:xfrm>
          <a:prstGeom prst="roundRect">
            <a:avLst>
              <a:gd name="adj" fmla="val 2105"/>
            </a:avLst>
          </a:prstGeom>
          <a:solidFill>
            <a:srgbClr val="FFFFFF"/>
          </a:solidFill>
          <a:ln w="12700">
            <a:solidFill>
              <a:srgbClr val="CBD2D9"/>
            </a:solidFill>
            <a:prstDash val="solid"/>
          </a:ln>
        </p:spPr>
      </p:sp>
      <p:sp>
        <p:nvSpPr>
          <p:cNvPr id="11" name="Text 8"/>
          <p:cNvSpPr txBox="1"/>
          <p:nvPr/>
        </p:nvSpPr>
        <p:spPr>
          <a:xfrm>
            <a:off x="3246120" y="1280160"/>
            <a:ext cx="530352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HAPPENED</a:t>
            </a:r>
            <a:endParaRPr lang="en-US" sz="900" dirty="0"/>
          </a:p>
        </p:txBody>
      </p:sp>
      <p:sp>
        <p:nvSpPr>
          <p:cNvPr id="12" name="Text 9"/>
          <p:cNvSpPr txBox="1"/>
          <p:nvPr/>
        </p:nvSpPr>
        <p:spPr>
          <a:xfrm>
            <a:off x="3246120" y="1499616"/>
            <a:ext cx="5303520" cy="22402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08:10  Two notified body auditors present credentials at reception. Reception calls HR, then the QA Director's mobile: voicemail.</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09:00  The Production Manager finally takes the auditors in. The 50-minute delay is written into the report.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09:15  Opening meeting. The auditors announce they will sample from final assembly.</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09:40  Three finished units selected. Requests: the DHRs, the current DMR, and the calibration status of the torque tools on the line.</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One torque driver is three weeks past its calibration due date and still in use. No impact assessment.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Validation of a dispensing station installed four months ago: IQ/OQ/PQ exists, but the change record has no design or risk impact assessment.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PCB supplier file: approved; last audit four years ago; the quality agreement is silent on notified body access and change notification.</a:t>
            </a:r>
            <a:endParaRPr lang="en-US" sz="950" dirty="0"/>
          </a:p>
        </p:txBody>
      </p:sp>
      <p:sp>
        <p:nvSpPr>
          <p:cNvPr id="13" name="Shape 10"/>
          <p:cNvSpPr/>
          <p:nvPr/>
        </p:nvSpPr>
        <p:spPr>
          <a:xfrm>
            <a:off x="457200" y="3913632"/>
            <a:ext cx="8229600" cy="685800"/>
          </a:xfrm>
          <a:prstGeom prst="roundRect">
            <a:avLst>
              <a:gd name="adj" fmla="val 8000"/>
            </a:avLst>
          </a:prstGeom>
          <a:solidFill>
            <a:srgbClr val="FBF2DE"/>
          </a:solidFill>
          <a:ln w="12700">
            <a:solidFill>
              <a:srgbClr val="FBF2DE"/>
            </a:solidFill>
            <a:prstDash val="solid"/>
          </a:ln>
        </p:spPr>
      </p:sp>
      <p:sp>
        <p:nvSpPr>
          <p:cNvPr id="14" name="Text 11"/>
          <p:cNvSpPr txBox="1"/>
          <p:nvPr/>
        </p:nvSpPr>
        <p:spPr>
          <a:xfrm>
            <a:off x="594360" y="3959352"/>
            <a:ext cx="274320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DISCUSS AT YOUR TABLE</a:t>
            </a:r>
            <a:endParaRPr lang="en-US" sz="900" dirty="0"/>
          </a:p>
        </p:txBody>
      </p:sp>
      <p:sp>
        <p:nvSpPr>
          <p:cNvPr id="15" name="Text 12"/>
          <p:cNvSpPr txBox="1"/>
          <p:nvPr/>
        </p:nvSpPr>
        <p:spPr>
          <a:xfrm>
            <a:off x="594360" y="4142232"/>
            <a:ext cx="7955280" cy="438912"/>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What should the first 30 minutes have looked like?</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Rank the three findings: which is most serious, and why?</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What did the 50-minute delay tell the auditors before they saw a single record?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1  |  OUTCOME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1: Findings and what changed</a:t>
            </a:r>
            <a:endParaRPr lang="en-US" sz="2400" dirty="0"/>
          </a:p>
        </p:txBody>
      </p:sp>
      <p:sp>
        <p:nvSpPr>
          <p:cNvPr id="7" name="Shape 4"/>
          <p:cNvSpPr/>
          <p:nvPr/>
        </p:nvSpPr>
        <p:spPr>
          <a:xfrm>
            <a:off x="457200" y="1188720"/>
            <a:ext cx="4023360" cy="2788920"/>
          </a:xfrm>
          <a:prstGeom prst="roundRect">
            <a:avLst>
              <a:gd name="adj" fmla="val 1967"/>
            </a:avLst>
          </a:prstGeom>
          <a:solidFill>
            <a:srgbClr val="F9ECEA"/>
          </a:solidFill>
          <a:ln w="12700">
            <a:solidFill>
              <a:srgbClr val="F9ECEA"/>
            </a:solidFill>
            <a:prstDash val="solid"/>
          </a:ln>
        </p:spPr>
      </p:sp>
      <p:sp>
        <p:nvSpPr>
          <p:cNvPr id="8" name="Text 5"/>
          <p:cNvSpPr txBox="1"/>
          <p:nvPr/>
        </p:nvSpPr>
        <p:spPr>
          <a:xfrm>
            <a:off x="58521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FINDINGS</a:t>
            </a:r>
            <a:endParaRPr lang="en-US" sz="900" dirty="0"/>
          </a:p>
        </p:txBody>
      </p:sp>
      <p:sp>
        <p:nvSpPr>
          <p:cNvPr id="9" name="Text 6"/>
          <p:cNvSpPr txBox="1"/>
          <p:nvPr/>
        </p:nvSpPr>
        <p:spPr>
          <a:xfrm>
            <a:off x="58521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MAJOR  |  7.6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Out-of-calibration equipment in use; no assessment of product built since the due date</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MINOR  |  7.3.9 / 7.5.6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Process change not assessed for design and risk impact</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MINOR  |  7.4.1</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Supplier evaluation not maintained; agreement lacks access and change-notification clauses</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OBSERVATION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Delayed access recorded; the notified body reminded the firm that refusal is grounds for suspension</a:t>
            </a:r>
            <a:endParaRPr lang="en-US" sz="950" dirty="0"/>
          </a:p>
        </p:txBody>
      </p:sp>
      <p:sp>
        <p:nvSpPr>
          <p:cNvPr id="10" name="Shape 7"/>
          <p:cNvSpPr/>
          <p:nvPr/>
        </p:nvSpPr>
        <p:spPr>
          <a:xfrm>
            <a:off x="4663440" y="1188720"/>
            <a:ext cx="4023360" cy="2788920"/>
          </a:xfrm>
          <a:prstGeom prst="roundRect">
            <a:avLst>
              <a:gd name="adj" fmla="val 1967"/>
            </a:avLst>
          </a:prstGeom>
          <a:solidFill>
            <a:srgbClr val="E8F3EE"/>
          </a:solidFill>
          <a:ln w="12700">
            <a:solidFill>
              <a:srgbClr val="E8F3EE"/>
            </a:solidFill>
            <a:prstDash val="solid"/>
          </a:ln>
        </p:spPr>
      </p:sp>
      <p:sp>
        <p:nvSpPr>
          <p:cNvPr id="11" name="Text 8"/>
          <p:cNvSpPr txBox="1"/>
          <p:nvPr/>
        </p:nvSpPr>
        <p:spPr>
          <a:xfrm>
            <a:off x="479145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THEY CHANGED</a:t>
            </a:r>
            <a:endParaRPr lang="en-US" sz="900" dirty="0"/>
          </a:p>
        </p:txBody>
      </p:sp>
      <p:sp>
        <p:nvSpPr>
          <p:cNvPr id="12" name="Text 9"/>
          <p:cNvSpPr txBox="1"/>
          <p:nvPr/>
        </p:nvSpPr>
        <p:spPr>
          <a:xfrm>
            <a:off x="479145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Reception script on a laminated card; 24/7 roster with named deputies, covering shutdowns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Calibration recall: equipment tagged and quarantined on the due date, no exceptions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Change-control form with a mandatory design and risk impact section signed by the design authority</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Supplier agreement template: unannounced access, change notification, deviation reporting</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Annual mock unannounced audit, sponsored by the site head</a:t>
            </a:r>
            <a:endParaRPr lang="en-US" sz="950" dirty="0"/>
          </a:p>
        </p:txBody>
      </p:sp>
      <p:sp>
        <p:nvSpPr>
          <p:cNvPr id="13" name="Shape 10"/>
          <p:cNvSpPr/>
          <p:nvPr/>
        </p:nvSpPr>
        <p:spPr>
          <a:xfrm>
            <a:off x="457200" y="4114800"/>
            <a:ext cx="8229600" cy="475488"/>
          </a:xfrm>
          <a:prstGeom prst="roundRect">
            <a:avLst>
              <a:gd name="adj" fmla="val 11538"/>
            </a:avLst>
          </a:prstGeom>
          <a:solidFill>
            <a:srgbClr val="0F2A4A"/>
          </a:solidFill>
          <a:ln w="12700">
            <a:solidFill>
              <a:srgbClr val="0F2A4A"/>
            </a:solidFill>
            <a:prstDash val="solid"/>
          </a:ln>
        </p:spPr>
      </p:sp>
      <p:sp>
        <p:nvSpPr>
          <p:cNvPr id="14" name="Text 11"/>
          <p:cNvSpPr txBox="1"/>
          <p:nvPr/>
        </p:nvSpPr>
        <p:spPr>
          <a:xfrm>
            <a:off x="640080" y="4114800"/>
            <a:ext cx="7863840" cy="47548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The auditors formed their view of the QMS in the lobby. Everything after that confirmed it.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2</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2: The supplier they visited first</a:t>
            </a:r>
            <a:endParaRPr lang="en-US" sz="2400" dirty="0"/>
          </a:p>
        </p:txBody>
      </p:sp>
      <p:sp>
        <p:nvSpPr>
          <p:cNvPr id="7" name="Shape 4"/>
          <p:cNvSpPr/>
          <p:nvPr/>
        </p:nvSpPr>
        <p:spPr>
          <a:xfrm>
            <a:off x="457200" y="1188720"/>
            <a:ext cx="2514600" cy="2606040"/>
          </a:xfrm>
          <a:prstGeom prst="roundRect">
            <a:avLst>
              <a:gd name="adj" fmla="val 2182"/>
            </a:avLst>
          </a:prstGeom>
          <a:solidFill>
            <a:srgbClr val="EAF0F6"/>
          </a:solidFill>
          <a:ln w="12700">
            <a:solidFill>
              <a:srgbClr val="EAF0F6"/>
            </a:solidFill>
            <a:prstDash val="solid"/>
          </a:ln>
        </p:spPr>
      </p:sp>
      <p:sp>
        <p:nvSpPr>
          <p:cNvPr id="8" name="Text 5"/>
          <p:cNvSpPr txBox="1"/>
          <p:nvPr/>
        </p:nvSpPr>
        <p:spPr>
          <a:xfrm>
            <a:off x="585216" y="1280160"/>
            <a:ext cx="22585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SETUP</a:t>
            </a:r>
            <a:endParaRPr lang="en-US" sz="900" dirty="0"/>
          </a:p>
        </p:txBody>
      </p:sp>
      <p:sp>
        <p:nvSpPr>
          <p:cNvPr id="9" name="Text 6"/>
          <p:cNvSpPr txBox="1"/>
          <p:nvPr/>
        </p:nvSpPr>
        <p:spPr>
          <a:xfrm>
            <a:off x="585216" y="1517904"/>
            <a:ext cx="2258568" cy="218541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Legal manufacturer, Netherlands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Class IIa sterile single-use devices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Final assembly, packaging and sterilization release outsourced to a contract manufacturer in Malaysia: a critical subcontractor named in the technical documentation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MDR Annex IX certificate</a:t>
            </a:r>
            <a:endParaRPr lang="en-US" sz="950" dirty="0"/>
          </a:p>
        </p:txBody>
      </p:sp>
      <p:sp>
        <p:nvSpPr>
          <p:cNvPr id="10" name="Shape 7"/>
          <p:cNvSpPr/>
          <p:nvPr/>
        </p:nvSpPr>
        <p:spPr>
          <a:xfrm>
            <a:off x="3108960" y="1188720"/>
            <a:ext cx="5577840" cy="2606040"/>
          </a:xfrm>
          <a:prstGeom prst="roundRect">
            <a:avLst>
              <a:gd name="adj" fmla="val 2105"/>
            </a:avLst>
          </a:prstGeom>
          <a:solidFill>
            <a:srgbClr val="FFFFFF"/>
          </a:solidFill>
          <a:ln w="12700">
            <a:solidFill>
              <a:srgbClr val="CBD2D9"/>
            </a:solidFill>
            <a:prstDash val="solid"/>
          </a:ln>
        </p:spPr>
      </p:sp>
      <p:sp>
        <p:nvSpPr>
          <p:cNvPr id="11" name="Text 8"/>
          <p:cNvSpPr txBox="1"/>
          <p:nvPr/>
        </p:nvSpPr>
        <p:spPr>
          <a:xfrm>
            <a:off x="3246120" y="1280160"/>
            <a:ext cx="530352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HAPPENED</a:t>
            </a:r>
            <a:endParaRPr lang="en-US" sz="900" dirty="0"/>
          </a:p>
        </p:txBody>
      </p:sp>
      <p:sp>
        <p:nvSpPr>
          <p:cNvPr id="12" name="Text 9"/>
          <p:cNvSpPr txBox="1"/>
          <p:nvPr/>
        </p:nvSpPr>
        <p:spPr>
          <a:xfrm>
            <a:off x="3246120" y="1499616"/>
            <a:ext cx="5303520" cy="22402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09:00 local  Notified body auditors arrive unannounced at the subcontractor's gate in Penang. Security refuses entry: no appointment, no visitor request in the system.</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The subcontractor's QA calls the manufacturer's RA lead in the Netherlands. It is 03:00 there. No answer until 08:00 CET. Three hours of delay recorded.</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The manufacturer's device is not in production that week (campaign manufacturing). The auditors sample from finished-goods stock instead.</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DHR review: four deviations closed locally in six months, none reported to the manufacturer. The quality agreement requires notification within 5 days.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One deviation is a seal-temperature excursion on a pouch sealer, dispositioned "use as is" without the manufacturer's involvement.</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The manufacturer's supplier scorecard rates the subcontractor "green" for the entire period.</a:t>
            </a:r>
            <a:endParaRPr lang="en-US" sz="950" dirty="0"/>
          </a:p>
        </p:txBody>
      </p:sp>
      <p:sp>
        <p:nvSpPr>
          <p:cNvPr id="13" name="Shape 10"/>
          <p:cNvSpPr/>
          <p:nvPr/>
        </p:nvSpPr>
        <p:spPr>
          <a:xfrm>
            <a:off x="457200" y="3913632"/>
            <a:ext cx="8229600" cy="685800"/>
          </a:xfrm>
          <a:prstGeom prst="roundRect">
            <a:avLst>
              <a:gd name="adj" fmla="val 8000"/>
            </a:avLst>
          </a:prstGeom>
          <a:solidFill>
            <a:srgbClr val="FBF2DE"/>
          </a:solidFill>
          <a:ln w="12700">
            <a:solidFill>
              <a:srgbClr val="FBF2DE"/>
            </a:solidFill>
            <a:prstDash val="solid"/>
          </a:ln>
        </p:spPr>
      </p:sp>
      <p:sp>
        <p:nvSpPr>
          <p:cNvPr id="14" name="Text 11"/>
          <p:cNvSpPr txBox="1"/>
          <p:nvPr/>
        </p:nvSpPr>
        <p:spPr>
          <a:xfrm>
            <a:off x="594360" y="3959352"/>
            <a:ext cx="274320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DISCUSS AT YOUR TABLE</a:t>
            </a:r>
            <a:endParaRPr lang="en-US" sz="900" dirty="0"/>
          </a:p>
        </p:txBody>
      </p:sp>
      <p:sp>
        <p:nvSpPr>
          <p:cNvPr id="15" name="Text 12"/>
          <p:cNvSpPr txBox="1"/>
          <p:nvPr/>
        </p:nvSpPr>
        <p:spPr>
          <a:xfrm>
            <a:off x="594360" y="4142232"/>
            <a:ext cx="7955280" cy="438912"/>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Whose audit was this, really?</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What does ISO 13485 §4.1.5 (control of outsourced processes) require of the manufacturer here?</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How should production calendars and site access be arranged with the notified body?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2  |  OUTCOME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2: Findings and what changed</a:t>
            </a:r>
            <a:endParaRPr lang="en-US" sz="2400" dirty="0"/>
          </a:p>
        </p:txBody>
      </p:sp>
      <p:sp>
        <p:nvSpPr>
          <p:cNvPr id="7" name="Shape 4"/>
          <p:cNvSpPr/>
          <p:nvPr/>
        </p:nvSpPr>
        <p:spPr>
          <a:xfrm>
            <a:off x="457200" y="1188720"/>
            <a:ext cx="4023360" cy="2788920"/>
          </a:xfrm>
          <a:prstGeom prst="roundRect">
            <a:avLst>
              <a:gd name="adj" fmla="val 1967"/>
            </a:avLst>
          </a:prstGeom>
          <a:solidFill>
            <a:srgbClr val="F9ECEA"/>
          </a:solidFill>
          <a:ln w="12700">
            <a:solidFill>
              <a:srgbClr val="F9ECEA"/>
            </a:solidFill>
            <a:prstDash val="solid"/>
          </a:ln>
        </p:spPr>
      </p:sp>
      <p:sp>
        <p:nvSpPr>
          <p:cNvPr id="8" name="Text 5"/>
          <p:cNvSpPr txBox="1"/>
          <p:nvPr/>
        </p:nvSpPr>
        <p:spPr>
          <a:xfrm>
            <a:off x="58521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FINDINGS</a:t>
            </a:r>
            <a:endParaRPr lang="en-US" sz="900" dirty="0"/>
          </a:p>
        </p:txBody>
      </p:sp>
      <p:sp>
        <p:nvSpPr>
          <p:cNvPr id="9" name="Text 6"/>
          <p:cNvSpPr txBox="1"/>
          <p:nvPr/>
        </p:nvSpPr>
        <p:spPr>
          <a:xfrm>
            <a:off x="58521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MAJOR  |  4.1.5 / 7.4  (to the legal manufacturer)</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Inadequate control of an outsourced process: deviations not communicated; oversight relied on a scorecard nobody verified</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MINOR  |  7.5.6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Sealing excursion not evaluated for revalidation; affected lots not assessed</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CONDITION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Retrospective review of all lots from the affected period required before the certificate was maintained</a:t>
            </a:r>
            <a:endParaRPr lang="en-US" sz="950" dirty="0"/>
          </a:p>
        </p:txBody>
      </p:sp>
      <p:sp>
        <p:nvSpPr>
          <p:cNvPr id="10" name="Shape 7"/>
          <p:cNvSpPr/>
          <p:nvPr/>
        </p:nvSpPr>
        <p:spPr>
          <a:xfrm>
            <a:off x="4663440" y="1188720"/>
            <a:ext cx="4023360" cy="2788920"/>
          </a:xfrm>
          <a:prstGeom prst="roundRect">
            <a:avLst>
              <a:gd name="adj" fmla="val 1967"/>
            </a:avLst>
          </a:prstGeom>
          <a:solidFill>
            <a:srgbClr val="E8F3EE"/>
          </a:solidFill>
          <a:ln w="12700">
            <a:solidFill>
              <a:srgbClr val="E8F3EE"/>
            </a:solidFill>
            <a:prstDash val="solid"/>
          </a:ln>
        </p:spPr>
      </p:sp>
      <p:sp>
        <p:nvSpPr>
          <p:cNvPr id="11" name="Text 8"/>
          <p:cNvSpPr txBox="1"/>
          <p:nvPr/>
        </p:nvSpPr>
        <p:spPr>
          <a:xfrm>
            <a:off x="479145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THEY CHANGED</a:t>
            </a:r>
            <a:endParaRPr lang="en-US" sz="900" dirty="0"/>
          </a:p>
        </p:txBody>
      </p:sp>
      <p:sp>
        <p:nvSpPr>
          <p:cNvPr id="12" name="Text 9"/>
          <p:cNvSpPr txBox="1"/>
          <p:nvPr/>
        </p:nvSpPr>
        <p:spPr>
          <a:xfrm>
            <a:off x="479145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Quality agreement rewritten: unannounced access for the notified body and regulators, cooperation duties, 24-hour deviation notification, escalation contacts in both time zones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Notified body informed of the subcontractor's production calendar for this device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Supplier oversight became data verification: a quarterly sample of DHRs and deviation logs, not scorecards alone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Joint mock unannounced audit at the subcontractor; its front-desk protocol now names the notified body</a:t>
            </a:r>
            <a:endParaRPr lang="en-US" sz="950" dirty="0"/>
          </a:p>
        </p:txBody>
      </p:sp>
      <p:sp>
        <p:nvSpPr>
          <p:cNvPr id="13" name="Shape 10"/>
          <p:cNvSpPr/>
          <p:nvPr/>
        </p:nvSpPr>
        <p:spPr>
          <a:xfrm>
            <a:off x="457200" y="4114800"/>
            <a:ext cx="8229600" cy="475488"/>
          </a:xfrm>
          <a:prstGeom prst="roundRect">
            <a:avLst>
              <a:gd name="adj" fmla="val 11538"/>
            </a:avLst>
          </a:prstGeom>
          <a:solidFill>
            <a:srgbClr val="0F2A4A"/>
          </a:solidFill>
          <a:ln w="12700">
            <a:solidFill>
              <a:srgbClr val="0F2A4A"/>
            </a:solidFill>
            <a:prstDash val="solid"/>
          </a:ln>
        </p:spPr>
      </p:sp>
      <p:sp>
        <p:nvSpPr>
          <p:cNvPr id="14" name="Text 11"/>
          <p:cNvSpPr txBox="1"/>
          <p:nvPr/>
        </p:nvSpPr>
        <p:spPr>
          <a:xfrm>
            <a:off x="640080" y="4114800"/>
            <a:ext cx="7863840" cy="47548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Your certificate travels to your critical suppliers. So does your audit.</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3</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3: The first inspection under the QMSR</a:t>
            </a:r>
            <a:endParaRPr lang="en-US" sz="2400" dirty="0"/>
          </a:p>
        </p:txBody>
      </p:sp>
      <p:sp>
        <p:nvSpPr>
          <p:cNvPr id="7" name="Shape 4"/>
          <p:cNvSpPr/>
          <p:nvPr/>
        </p:nvSpPr>
        <p:spPr>
          <a:xfrm>
            <a:off x="457200" y="1188720"/>
            <a:ext cx="2514600" cy="2606040"/>
          </a:xfrm>
          <a:prstGeom prst="roundRect">
            <a:avLst>
              <a:gd name="adj" fmla="val 2182"/>
            </a:avLst>
          </a:prstGeom>
          <a:solidFill>
            <a:srgbClr val="EAF0F6"/>
          </a:solidFill>
          <a:ln w="12700">
            <a:solidFill>
              <a:srgbClr val="EAF0F6"/>
            </a:solidFill>
            <a:prstDash val="solid"/>
          </a:ln>
        </p:spPr>
      </p:sp>
      <p:sp>
        <p:nvSpPr>
          <p:cNvPr id="8" name="Text 5"/>
          <p:cNvSpPr txBox="1"/>
          <p:nvPr/>
        </p:nvSpPr>
        <p:spPr>
          <a:xfrm>
            <a:off x="585216" y="1280160"/>
            <a:ext cx="22585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SETUP</a:t>
            </a:r>
            <a:endParaRPr lang="en-US" sz="900" dirty="0"/>
          </a:p>
        </p:txBody>
      </p:sp>
      <p:sp>
        <p:nvSpPr>
          <p:cNvPr id="9" name="Text 6"/>
          <p:cNvSpPr txBox="1"/>
          <p:nvPr/>
        </p:nvSpPr>
        <p:spPr>
          <a:xfrm>
            <a:off x="585216" y="1517904"/>
            <a:ext cx="2258568" cy="218541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US manufacturer, Indiana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Class II reusable orthopedic instruments and sterilization trays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About 400 staff; ISO 13485 certified for 10 years; MDSAP for Canada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Last FDA inspection 2021: NAI</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March 2026, 09:00: an FDA investigator presents credentials and Form FDA 482</a:t>
            </a:r>
            <a:endParaRPr lang="en-US" sz="950" dirty="0"/>
          </a:p>
        </p:txBody>
      </p:sp>
      <p:sp>
        <p:nvSpPr>
          <p:cNvPr id="10" name="Shape 7"/>
          <p:cNvSpPr/>
          <p:nvPr/>
        </p:nvSpPr>
        <p:spPr>
          <a:xfrm>
            <a:off x="3108960" y="1188720"/>
            <a:ext cx="5577840" cy="2606040"/>
          </a:xfrm>
          <a:prstGeom prst="roundRect">
            <a:avLst>
              <a:gd name="adj" fmla="val 2105"/>
            </a:avLst>
          </a:prstGeom>
          <a:solidFill>
            <a:srgbClr val="FFFFFF"/>
          </a:solidFill>
          <a:ln w="12700">
            <a:solidFill>
              <a:srgbClr val="CBD2D9"/>
            </a:solidFill>
            <a:prstDash val="solid"/>
          </a:ln>
        </p:spPr>
      </p:sp>
      <p:sp>
        <p:nvSpPr>
          <p:cNvPr id="11" name="Text 8"/>
          <p:cNvSpPr txBox="1"/>
          <p:nvPr/>
        </p:nvSpPr>
        <p:spPr>
          <a:xfrm>
            <a:off x="3246120" y="1280160"/>
            <a:ext cx="530352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HAPPENED</a:t>
            </a:r>
            <a:endParaRPr lang="en-US" sz="900" dirty="0"/>
          </a:p>
        </p:txBody>
      </p:sp>
      <p:sp>
        <p:nvSpPr>
          <p:cNvPr id="12" name="Text 9"/>
          <p:cNvSpPr txBox="1"/>
          <p:nvPr/>
        </p:nvSpPr>
        <p:spPr>
          <a:xfrm>
            <a:off x="3246120" y="1499616"/>
            <a:ext cx="5303520" cy="22402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The investigator asks for the procedure index cross-referenced to ISO 13485 clauses and to the QMSR. The firm has an ISO index only.</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Requests the last two management reviews and the internal audit results. The firm's policy still cites the retired 820.180(c) exemption; 40 minutes with corporate RA before the records appear.</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Management review minutes: no regulatory-reporting metrics; two actions from 2024 still open.</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Complaints: 6 of 20 sampled files have no documented MDR reportability decision; complaint records do not capture UDI (820.35(a)).</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Labeling: label and IFU inspection records for one tray family show no verification of content (820.45).</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CAPA: two CAPAs for the same cleaning-validation issue, both "closed – effective", with no effectiveness data.</a:t>
            </a:r>
            <a:endParaRPr lang="en-US" sz="950" dirty="0"/>
          </a:p>
        </p:txBody>
      </p:sp>
      <p:sp>
        <p:nvSpPr>
          <p:cNvPr id="13" name="Shape 10"/>
          <p:cNvSpPr/>
          <p:nvPr/>
        </p:nvSpPr>
        <p:spPr>
          <a:xfrm>
            <a:off x="457200" y="3913632"/>
            <a:ext cx="8229600" cy="685800"/>
          </a:xfrm>
          <a:prstGeom prst="roundRect">
            <a:avLst>
              <a:gd name="adj" fmla="val 8000"/>
            </a:avLst>
          </a:prstGeom>
          <a:solidFill>
            <a:srgbClr val="FBF2DE"/>
          </a:solidFill>
          <a:ln w="12700">
            <a:solidFill>
              <a:srgbClr val="FBF2DE"/>
            </a:solidFill>
            <a:prstDash val="solid"/>
          </a:ln>
        </p:spPr>
      </p:sp>
      <p:sp>
        <p:nvSpPr>
          <p:cNvPr id="14" name="Text 11"/>
          <p:cNvSpPr txBox="1"/>
          <p:nvPr/>
        </p:nvSpPr>
        <p:spPr>
          <a:xfrm>
            <a:off x="594360" y="3959352"/>
            <a:ext cx="274320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DISCUSS AT YOUR TABLE</a:t>
            </a:r>
            <a:endParaRPr lang="en-US" sz="900" dirty="0"/>
          </a:p>
        </p:txBody>
      </p:sp>
      <p:sp>
        <p:nvSpPr>
          <p:cNvPr id="15" name="Text 12"/>
          <p:cNvSpPr txBox="1"/>
          <p:nvPr/>
        </p:nvSpPr>
        <p:spPr>
          <a:xfrm>
            <a:off x="594360" y="4142232"/>
            <a:ext cx="7955280" cy="438912"/>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What mindset caused the 40-minute standoff?</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Which observations are QMSR-specific, and which are plain ISO 13485 failures?</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Draft the first paragraph of the 483 response to the CAPA observation.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3  |  OUTCOME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3: Findings and what changed</a:t>
            </a:r>
            <a:endParaRPr lang="en-US" sz="2400" dirty="0"/>
          </a:p>
        </p:txBody>
      </p:sp>
      <p:sp>
        <p:nvSpPr>
          <p:cNvPr id="7" name="Shape 4"/>
          <p:cNvSpPr/>
          <p:nvPr/>
        </p:nvSpPr>
        <p:spPr>
          <a:xfrm>
            <a:off x="457200" y="1188720"/>
            <a:ext cx="4023360" cy="2788920"/>
          </a:xfrm>
          <a:prstGeom prst="roundRect">
            <a:avLst>
              <a:gd name="adj" fmla="val 1967"/>
            </a:avLst>
          </a:prstGeom>
          <a:solidFill>
            <a:srgbClr val="F9ECEA"/>
          </a:solidFill>
          <a:ln w="12700">
            <a:solidFill>
              <a:srgbClr val="F9ECEA"/>
            </a:solidFill>
            <a:prstDash val="solid"/>
          </a:ln>
        </p:spPr>
      </p:sp>
      <p:sp>
        <p:nvSpPr>
          <p:cNvPr id="8" name="Text 5"/>
          <p:cNvSpPr txBox="1"/>
          <p:nvPr/>
        </p:nvSpPr>
        <p:spPr>
          <a:xfrm>
            <a:off x="58521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FINDINGS</a:t>
            </a:r>
            <a:endParaRPr lang="en-US" sz="900" dirty="0"/>
          </a:p>
        </p:txBody>
      </p:sp>
      <p:sp>
        <p:nvSpPr>
          <p:cNvPr id="9" name="Text 6"/>
          <p:cNvSpPr txBox="1"/>
          <p:nvPr/>
        </p:nvSpPr>
        <p:spPr>
          <a:xfrm>
            <a:off x="58521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FORM FDA 483  |  four observations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Complaint handling: reportability decisions not documented; records incomplete (ISO 13485 §8.2.2; 820.35(a))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CAPA: effectiveness not verified (§8.5.2)</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Management review: inputs incomplete; actions overdue (§5.6)</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Labeling controls: content verification not documented (820.45)</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OUTCOME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Response filed in 12 business days; inspection classified VAI</a:t>
            </a:r>
            <a:endParaRPr lang="en-US" sz="950" dirty="0"/>
          </a:p>
        </p:txBody>
      </p:sp>
      <p:sp>
        <p:nvSpPr>
          <p:cNvPr id="10" name="Shape 7"/>
          <p:cNvSpPr/>
          <p:nvPr/>
        </p:nvSpPr>
        <p:spPr>
          <a:xfrm>
            <a:off x="4663440" y="1188720"/>
            <a:ext cx="4023360" cy="2788920"/>
          </a:xfrm>
          <a:prstGeom prst="roundRect">
            <a:avLst>
              <a:gd name="adj" fmla="val 1967"/>
            </a:avLst>
          </a:prstGeom>
          <a:solidFill>
            <a:srgbClr val="E8F3EE"/>
          </a:solidFill>
          <a:ln w="12700">
            <a:solidFill>
              <a:srgbClr val="E8F3EE"/>
            </a:solidFill>
            <a:prstDash val="solid"/>
          </a:ln>
        </p:spPr>
      </p:sp>
      <p:sp>
        <p:nvSpPr>
          <p:cNvPr id="11" name="Text 8"/>
          <p:cNvSpPr txBox="1"/>
          <p:nvPr/>
        </p:nvSpPr>
        <p:spPr>
          <a:xfrm>
            <a:off x="479145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THEY CHANGED</a:t>
            </a:r>
            <a:endParaRPr lang="en-US" sz="900" dirty="0"/>
          </a:p>
        </p:txBody>
      </p:sp>
      <p:sp>
        <p:nvSpPr>
          <p:cNvPr id="12" name="Text 9"/>
          <p:cNvSpPr txBox="1"/>
          <p:nvPr/>
        </p:nvSpPr>
        <p:spPr>
          <a:xfrm>
            <a:off x="479145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QMSR gap assessment done properly: crosswalk of ISO clauses plus 820.10 / 820.35 / 820.45 and Parts 803, 806, 830</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Inspection-readiness procedure rewritten: management review, internal audit and supplier audit records producible on request, and written to be read</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Complaint form: UDI field, reportability decision tree, mandatory rationale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CAPA effectiveness requires data and independent sign-off</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Mock FDA inspection structured around the QMSR, not QSIT</a:t>
            </a:r>
            <a:endParaRPr lang="en-US" sz="950" dirty="0"/>
          </a:p>
        </p:txBody>
      </p:sp>
      <p:sp>
        <p:nvSpPr>
          <p:cNvPr id="13" name="Shape 10"/>
          <p:cNvSpPr/>
          <p:nvPr/>
        </p:nvSpPr>
        <p:spPr>
          <a:xfrm>
            <a:off x="457200" y="4114800"/>
            <a:ext cx="8229600" cy="475488"/>
          </a:xfrm>
          <a:prstGeom prst="roundRect">
            <a:avLst>
              <a:gd name="adj" fmla="val 11538"/>
            </a:avLst>
          </a:prstGeom>
          <a:solidFill>
            <a:srgbClr val="0F2A4A"/>
          </a:solidFill>
          <a:ln w="12700">
            <a:solidFill>
              <a:srgbClr val="0F2A4A"/>
            </a:solidFill>
            <a:prstDash val="solid"/>
          </a:ln>
        </p:spPr>
      </p:sp>
      <p:sp>
        <p:nvSpPr>
          <p:cNvPr id="14" name="Text 11"/>
          <p:cNvSpPr txBox="1"/>
          <p:nvPr/>
        </p:nvSpPr>
        <p:spPr>
          <a:xfrm>
            <a:off x="640080" y="4114800"/>
            <a:ext cx="7863840" cy="47548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"We are ISO certified, nothing changes" was the most expensive sentence of the year.</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4</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4: Three sites, one certificate</a:t>
            </a:r>
            <a:endParaRPr lang="en-US" sz="2400" dirty="0"/>
          </a:p>
        </p:txBody>
      </p:sp>
      <p:sp>
        <p:nvSpPr>
          <p:cNvPr id="7" name="Shape 4"/>
          <p:cNvSpPr/>
          <p:nvPr/>
        </p:nvSpPr>
        <p:spPr>
          <a:xfrm>
            <a:off x="457200" y="1188720"/>
            <a:ext cx="2514600" cy="2606040"/>
          </a:xfrm>
          <a:prstGeom prst="roundRect">
            <a:avLst>
              <a:gd name="adj" fmla="val 2182"/>
            </a:avLst>
          </a:prstGeom>
          <a:solidFill>
            <a:srgbClr val="EAF0F6"/>
          </a:solidFill>
          <a:ln w="12700">
            <a:solidFill>
              <a:srgbClr val="EAF0F6"/>
            </a:solidFill>
            <a:prstDash val="solid"/>
          </a:ln>
        </p:spPr>
      </p:sp>
      <p:sp>
        <p:nvSpPr>
          <p:cNvPr id="8" name="Text 5"/>
          <p:cNvSpPr txBox="1"/>
          <p:nvPr/>
        </p:nvSpPr>
        <p:spPr>
          <a:xfrm>
            <a:off x="585216" y="1280160"/>
            <a:ext cx="225856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THE SETUP</a:t>
            </a:r>
            <a:endParaRPr lang="en-US" sz="900" dirty="0"/>
          </a:p>
        </p:txBody>
      </p:sp>
      <p:sp>
        <p:nvSpPr>
          <p:cNvPr id="9" name="Text 6"/>
          <p:cNvSpPr txBox="1"/>
          <p:nvPr/>
        </p:nvSpPr>
        <p:spPr>
          <a:xfrm>
            <a:off x="585216" y="1517904"/>
            <a:ext cx="2258568" cy="218541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Multinational; US headquarters with design and manufacturing</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German site acquired 2023 (legacy MDD manufacturer)</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High-volume plant in Costa Rica</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One MDSAP certificate covering all three sites; MDR certificate; Health Canada licences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About 1,800 staff</a:t>
            </a:r>
            <a:endParaRPr lang="en-US" sz="950" dirty="0"/>
          </a:p>
        </p:txBody>
      </p:sp>
      <p:sp>
        <p:nvSpPr>
          <p:cNvPr id="10" name="Shape 7"/>
          <p:cNvSpPr/>
          <p:nvPr/>
        </p:nvSpPr>
        <p:spPr>
          <a:xfrm>
            <a:off x="3108960" y="1188720"/>
            <a:ext cx="5577840" cy="2606040"/>
          </a:xfrm>
          <a:prstGeom prst="roundRect">
            <a:avLst>
              <a:gd name="adj" fmla="val 2105"/>
            </a:avLst>
          </a:prstGeom>
          <a:solidFill>
            <a:srgbClr val="FFFFFF"/>
          </a:solidFill>
          <a:ln w="12700">
            <a:solidFill>
              <a:srgbClr val="CBD2D9"/>
            </a:solidFill>
            <a:prstDash val="solid"/>
          </a:ln>
        </p:spPr>
      </p:sp>
      <p:sp>
        <p:nvSpPr>
          <p:cNvPr id="11" name="Text 8"/>
          <p:cNvSpPr txBox="1"/>
          <p:nvPr/>
        </p:nvSpPr>
        <p:spPr>
          <a:xfrm>
            <a:off x="3246120" y="1280160"/>
            <a:ext cx="530352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HAPPENED</a:t>
            </a:r>
            <a:endParaRPr lang="en-US" sz="900" dirty="0"/>
          </a:p>
        </p:txBody>
      </p:sp>
      <p:sp>
        <p:nvSpPr>
          <p:cNvPr id="12" name="Text 9"/>
          <p:cNvSpPr txBox="1"/>
          <p:nvPr/>
        </p:nvSpPr>
        <p:spPr>
          <a:xfrm>
            <a:off x="3246120" y="1499616"/>
            <a:ext cx="5303520" cy="22402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MDSAP surveillance audit at the German site. A complaint from a Canadian hospital (serious deterioration in health) arrived via the distributor.</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Assessed under the German legacy complaint procedure: the reportability decision took 14 days; the report reached Health Canada on day 22. The Canadian limit is 10 days.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The headquarters procedure would have flagged it within 48 hours. Neither site knew the other's process.</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Three versions of the complaint form in use across the company; German trend data never reached global management review.</a:t>
            </a:r>
            <a:endParaRPr lang="en-US" sz="950" dirty="0"/>
          </a:p>
          <a:p>
            <a:pPr marL="342900" indent="-342900">
              <a:spcAft>
                <a:spcPts val="300"/>
              </a:spcAft>
              <a:buSzPct val="100000"/>
              <a:buChar char="•"/>
            </a:pPr>
            <a:r>
              <a:rPr lang="en-US" sz="950" dirty="0">
                <a:solidFill>
                  <a:srgbClr val="1F2933"/>
                </a:solidFill>
                <a:latin typeface="Calibri" pitchFamily="34" charset="0"/>
                <a:ea typeface="Calibri" pitchFamily="34" charset="-122"/>
                <a:cs typeface="Calibri" pitchFamily="34" charset="-120"/>
              </a:rPr>
              <a:t>The previous audit had raised inconsistent complaint intake as a grade 2 nonconformity. It was closed with "training".</a:t>
            </a:r>
            <a:endParaRPr lang="en-US" sz="950" dirty="0"/>
          </a:p>
        </p:txBody>
      </p:sp>
      <p:sp>
        <p:nvSpPr>
          <p:cNvPr id="13" name="Shape 10"/>
          <p:cNvSpPr/>
          <p:nvPr/>
        </p:nvSpPr>
        <p:spPr>
          <a:xfrm>
            <a:off x="457200" y="3913632"/>
            <a:ext cx="8229600" cy="685800"/>
          </a:xfrm>
          <a:prstGeom prst="roundRect">
            <a:avLst>
              <a:gd name="adj" fmla="val 8000"/>
            </a:avLst>
          </a:prstGeom>
          <a:solidFill>
            <a:srgbClr val="FBF2DE"/>
          </a:solidFill>
          <a:ln w="12700">
            <a:solidFill>
              <a:srgbClr val="FBF2DE"/>
            </a:solidFill>
            <a:prstDash val="solid"/>
          </a:ln>
        </p:spPr>
      </p:sp>
      <p:sp>
        <p:nvSpPr>
          <p:cNvPr id="14" name="Text 11"/>
          <p:cNvSpPr txBox="1"/>
          <p:nvPr/>
        </p:nvSpPr>
        <p:spPr>
          <a:xfrm>
            <a:off x="594360" y="3959352"/>
            <a:ext cx="2743200"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DISCUSS AT YOUR TABLE</a:t>
            </a:r>
            <a:endParaRPr lang="en-US" sz="900" dirty="0"/>
          </a:p>
        </p:txBody>
      </p:sp>
      <p:sp>
        <p:nvSpPr>
          <p:cNvPr id="15" name="Text 12"/>
          <p:cNvSpPr txBox="1"/>
          <p:nvPr/>
        </p:nvSpPr>
        <p:spPr>
          <a:xfrm>
            <a:off x="594360" y="4142232"/>
            <a:ext cx="7955280" cy="438912"/>
          </a:xfrm>
          <a:prstGeom prst="rect">
            <a:avLst/>
          </a:prstGeom>
          <a:noFill/>
          <a:ln/>
        </p:spPr>
        <p:txBody>
          <a:bodyPr wrap="square" lIns="0" tIns="0" rIns="0" bIns="0" rtlCol="0" anchor="t"/>
          <a:lstStyle/>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Why did "training" fail as a corrective action?</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What must a single global complaint process contain to work in Germany, Costa Rica and the US?</a:t>
            </a:r>
            <a:endParaRPr lang="en-US" sz="1000" dirty="0"/>
          </a:p>
          <a:p>
            <a:pPr marL="342900" indent="-342900">
              <a:spcAft>
                <a:spcPts val="100"/>
              </a:spcAft>
              <a:buSzPct val="100000"/>
              <a:buFont typeface="+mj-lt"/>
              <a:buAutoNum type="arabicPeriod" startAt="1"/>
            </a:pPr>
            <a:r>
              <a:rPr lang="en-US" sz="1000" dirty="0">
                <a:solidFill>
                  <a:srgbClr val="1F2933"/>
                </a:solidFill>
                <a:latin typeface="Calibri" pitchFamily="34" charset="0"/>
                <a:ea typeface="Calibri" pitchFamily="34" charset="-122"/>
                <a:cs typeface="Calibri" pitchFamily="34" charset="-120"/>
              </a:rPr>
              <a:t>Who owns the regulatory requirements matrix, and who owns keeping it current?</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4  |  CASE STUDY 4  |  OUTCOME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Case 4: Findings and what changed</a:t>
            </a:r>
            <a:endParaRPr lang="en-US" sz="2400" dirty="0"/>
          </a:p>
        </p:txBody>
      </p:sp>
      <p:sp>
        <p:nvSpPr>
          <p:cNvPr id="7" name="Shape 4"/>
          <p:cNvSpPr/>
          <p:nvPr/>
        </p:nvSpPr>
        <p:spPr>
          <a:xfrm>
            <a:off x="457200" y="1188720"/>
            <a:ext cx="4023360" cy="2788920"/>
          </a:xfrm>
          <a:prstGeom prst="roundRect">
            <a:avLst>
              <a:gd name="adj" fmla="val 1967"/>
            </a:avLst>
          </a:prstGeom>
          <a:solidFill>
            <a:srgbClr val="F9ECEA"/>
          </a:solidFill>
          <a:ln w="12700">
            <a:solidFill>
              <a:srgbClr val="F9ECEA"/>
            </a:solidFill>
            <a:prstDash val="solid"/>
          </a:ln>
        </p:spPr>
      </p:sp>
      <p:sp>
        <p:nvSpPr>
          <p:cNvPr id="8" name="Text 5"/>
          <p:cNvSpPr txBox="1"/>
          <p:nvPr/>
        </p:nvSpPr>
        <p:spPr>
          <a:xfrm>
            <a:off x="58521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FINDINGS</a:t>
            </a:r>
            <a:endParaRPr lang="en-US" sz="900" dirty="0"/>
          </a:p>
        </p:txBody>
      </p:sp>
      <p:sp>
        <p:nvSpPr>
          <p:cNvPr id="9" name="Text 6"/>
          <p:cNvSpPr txBox="1"/>
          <p:nvPr/>
        </p:nvSpPr>
        <p:spPr>
          <a:xfrm>
            <a:off x="58521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GRADE 4  |  8.2.3 reporting to regulatory authorities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Direct-impact clause (grade 3) plus one for a repeat of the previous finding</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ESCALATION</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The auditing organization notified the MDSAP regulators within 5 business days</a:t>
            </a:r>
            <a:endParaRPr lang="en-US" sz="950" dirty="0"/>
          </a:p>
          <a:p>
            <a:pPr marL="342900" indent="-342900">
              <a:spcAft>
                <a:spcPts val="400"/>
              </a:spcAft>
              <a:buSzPct val="100000"/>
              <a:buChar char="•"/>
            </a:pPr>
            <a:r>
              <a:rPr lang="en-US" sz="950" b="1" dirty="0">
                <a:solidFill>
                  <a:srgbClr val="1F2933"/>
                </a:solidFill>
                <a:latin typeface="Calibri" pitchFamily="34" charset="0"/>
                <a:ea typeface="Calibri" pitchFamily="34" charset="-122"/>
                <a:cs typeface="Calibri" pitchFamily="34" charset="-120"/>
              </a:rPr>
              <a:t>FOLLOW-UP</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Health Canada requested a corrective action plan; the notified body asked for a 24-month retrospective review of German-site complaints</a:t>
            </a:r>
            <a:endParaRPr lang="en-US" sz="950" dirty="0"/>
          </a:p>
        </p:txBody>
      </p:sp>
      <p:sp>
        <p:nvSpPr>
          <p:cNvPr id="10" name="Shape 7"/>
          <p:cNvSpPr/>
          <p:nvPr/>
        </p:nvSpPr>
        <p:spPr>
          <a:xfrm>
            <a:off x="4663440" y="1188720"/>
            <a:ext cx="4023360" cy="2788920"/>
          </a:xfrm>
          <a:prstGeom prst="roundRect">
            <a:avLst>
              <a:gd name="adj" fmla="val 1967"/>
            </a:avLst>
          </a:prstGeom>
          <a:solidFill>
            <a:srgbClr val="E8F3EE"/>
          </a:solidFill>
          <a:ln w="12700">
            <a:solidFill>
              <a:srgbClr val="E8F3EE"/>
            </a:solidFill>
            <a:prstDash val="solid"/>
          </a:ln>
        </p:spPr>
      </p:sp>
      <p:sp>
        <p:nvSpPr>
          <p:cNvPr id="11" name="Text 8"/>
          <p:cNvSpPr txBox="1"/>
          <p:nvPr/>
        </p:nvSpPr>
        <p:spPr>
          <a:xfrm>
            <a:off x="4791456" y="1280160"/>
            <a:ext cx="376732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WHAT THEY CHANGED</a:t>
            </a:r>
            <a:endParaRPr lang="en-US" sz="900" dirty="0"/>
          </a:p>
        </p:txBody>
      </p:sp>
      <p:sp>
        <p:nvSpPr>
          <p:cNvPr id="12" name="Text 9"/>
          <p:cNvSpPr txBox="1"/>
          <p:nvPr/>
        </p:nvSpPr>
        <p:spPr>
          <a:xfrm>
            <a:off x="4791456" y="1517904"/>
            <a:ext cx="3767328" cy="2368296"/>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Global QMS architecture: Tier 1 global manual and policies; Tier 2 global procedures with named process owners; Tier 3 site work instructions plus a Country Regulatory Annex per market</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One complaint system: single intake, a global reportability decision tree carrying every market's timelines, 48-hour triage</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Regulatory requirements matrix owned by Global RA and linked to change control</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Global management review with site KPIs: on-time reporting, CAPA age, audit findings</a:t>
            </a:r>
            <a:endParaRPr lang="en-US" sz="950" dirty="0"/>
          </a:p>
          <a:p>
            <a:pPr marL="342900" indent="-342900">
              <a:spcAft>
                <a:spcPts val="400"/>
              </a:spcAft>
              <a:buSzPct val="100000"/>
              <a:buChar char="•"/>
            </a:pPr>
            <a:r>
              <a:rPr lang="en-US" sz="950" dirty="0">
                <a:solidFill>
                  <a:srgbClr val="1F2933"/>
                </a:solidFill>
                <a:latin typeface="Calibri" pitchFamily="34" charset="0"/>
                <a:ea typeface="Calibri" pitchFamily="34" charset="-122"/>
                <a:cs typeface="Calibri" pitchFamily="34" charset="-120"/>
              </a:rPr>
              <a:t>Internal audits that test the interfaces between sites; legacy procedures retired on a 12-month plan</a:t>
            </a:r>
            <a:endParaRPr lang="en-US" sz="950" dirty="0"/>
          </a:p>
        </p:txBody>
      </p:sp>
      <p:sp>
        <p:nvSpPr>
          <p:cNvPr id="13" name="Shape 10"/>
          <p:cNvSpPr/>
          <p:nvPr/>
        </p:nvSpPr>
        <p:spPr>
          <a:xfrm>
            <a:off x="457200" y="4114800"/>
            <a:ext cx="8229600" cy="475488"/>
          </a:xfrm>
          <a:prstGeom prst="roundRect">
            <a:avLst>
              <a:gd name="adj" fmla="val 11538"/>
            </a:avLst>
          </a:prstGeom>
          <a:solidFill>
            <a:srgbClr val="0F2A4A"/>
          </a:solidFill>
          <a:ln w="12700">
            <a:solidFill>
              <a:srgbClr val="0F2A4A"/>
            </a:solidFill>
            <a:prstDash val="solid"/>
          </a:ln>
        </p:spPr>
      </p:sp>
      <p:sp>
        <p:nvSpPr>
          <p:cNvPr id="14" name="Text 11"/>
          <p:cNvSpPr txBox="1"/>
          <p:nvPr/>
        </p:nvSpPr>
        <p:spPr>
          <a:xfrm>
            <a:off x="640080" y="4114800"/>
            <a:ext cx="7863840" cy="47548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Harmonize the process, localize the annex, govern the interfaces.</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457200" y="1417320"/>
            <a:ext cx="8229600" cy="320040"/>
          </a:xfrm>
          <a:prstGeom prst="rect">
            <a:avLst/>
          </a:prstGeom>
          <a:noFill/>
          <a:ln/>
        </p:spPr>
        <p:txBody>
          <a:bodyPr wrap="square" lIns="0" tIns="0" rIns="0" bIns="0" rtlCol="0" anchor="ctr"/>
          <a:lstStyle/>
          <a:p>
            <a:pPr indent="0" marL="0">
              <a:buNone/>
            </a:pPr>
            <a:r>
              <a:rPr lang="en-US" sz="1300" b="1" spc="300" kern="0" dirty="0">
                <a:solidFill>
                  <a:srgbClr val="E0A126"/>
                </a:solidFill>
                <a:latin typeface="Calibri" pitchFamily="34" charset="0"/>
                <a:ea typeface="Calibri" pitchFamily="34" charset="-122"/>
                <a:cs typeface="Calibri" pitchFamily="34" charset="-120"/>
              </a:rPr>
              <a:t>SECTION 5</a:t>
            </a:r>
            <a:endParaRPr lang="en-US" sz="1300" dirty="0"/>
          </a:p>
        </p:txBody>
      </p:sp>
      <p:sp>
        <p:nvSpPr>
          <p:cNvPr id="5" name="Text 3"/>
          <p:cNvSpPr txBox="1"/>
          <p:nvPr/>
        </p:nvSpPr>
        <p:spPr>
          <a:xfrm>
            <a:off x="457200" y="1783080"/>
            <a:ext cx="8229600" cy="12344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Maintaining a global QMS</a:t>
            </a:r>
            <a:endParaRPr lang="en-US" sz="3600" dirty="0"/>
          </a:p>
        </p:txBody>
      </p:sp>
      <p:sp>
        <p:nvSpPr>
          <p:cNvPr id="6" name="Text 4"/>
          <p:cNvSpPr txBox="1"/>
          <p:nvPr/>
        </p:nvSpPr>
        <p:spPr>
          <a:xfrm>
            <a:off x="457200" y="3108960"/>
            <a:ext cx="7863840" cy="914400"/>
          </a:xfrm>
          <a:prstGeom prst="rect">
            <a:avLst/>
          </a:prstGeom>
          <a:noFill/>
          <a:ln/>
        </p:spPr>
        <p:txBody>
          <a:bodyPr wrap="square" lIns="0" tIns="0" rIns="0" bIns="0" rtlCol="0" anchor="t"/>
          <a:lstStyle/>
          <a:p>
            <a:pPr indent="0" marL="0">
              <a:buNone/>
            </a:pPr>
            <a:r>
              <a:rPr lang="en-US" sz="1600" dirty="0">
                <a:solidFill>
                  <a:srgbClr val="C9D3DE"/>
                </a:solidFill>
                <a:latin typeface="Calibri" pitchFamily="34" charset="0"/>
                <a:ea typeface="Calibri" pitchFamily="34" charset="-122"/>
                <a:cs typeface="Calibri" pitchFamily="34" charset="-120"/>
              </a:rPr>
              <a:t>One process, local annexes, governed interfaces, and audit-ready every day</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31</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MAINTAINING A GLOBAL QMS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Global QMS architecture: core plus annex</a:t>
            </a:r>
            <a:endParaRPr lang="en-US" sz="2400" dirty="0"/>
          </a:p>
        </p:txBody>
      </p:sp>
      <p:sp>
        <p:nvSpPr>
          <p:cNvPr id="7" name="Shape 4"/>
          <p:cNvSpPr/>
          <p:nvPr/>
        </p:nvSpPr>
        <p:spPr>
          <a:xfrm>
            <a:off x="457200" y="1188720"/>
            <a:ext cx="5577840" cy="658368"/>
          </a:xfrm>
          <a:prstGeom prst="roundRect">
            <a:avLst>
              <a:gd name="adj" fmla="val 8333"/>
            </a:avLst>
          </a:prstGeom>
          <a:solidFill>
            <a:srgbClr val="EAF0F6"/>
          </a:solidFill>
          <a:ln w="12700">
            <a:solidFill>
              <a:srgbClr val="EAF0F6"/>
            </a:solidFill>
            <a:prstDash val="solid"/>
          </a:ln>
        </p:spPr>
      </p:sp>
      <p:sp>
        <p:nvSpPr>
          <p:cNvPr id="8" name="Text 5"/>
          <p:cNvSpPr txBox="1"/>
          <p:nvPr/>
        </p:nvSpPr>
        <p:spPr>
          <a:xfrm>
            <a:off x="594360" y="1261872"/>
            <a:ext cx="777240" cy="512064"/>
          </a:xfrm>
          <a:prstGeom prst="rect">
            <a:avLst/>
          </a:prstGeom>
          <a:noFill/>
          <a:ln/>
        </p:spPr>
        <p:txBody>
          <a:bodyPr wrap="square" lIns="0" tIns="0" rIns="0" bIns="0" rtlCol="0" anchor="ctr"/>
          <a:lstStyle/>
          <a:p>
            <a:pPr indent="0" marL="0">
              <a:buNone/>
            </a:pPr>
            <a:r>
              <a:rPr lang="en-US" sz="1000" b="1" spc="100" kern="0" dirty="0">
                <a:solidFill>
                  <a:srgbClr val="A8730F"/>
                </a:solidFill>
                <a:latin typeface="Calibri" pitchFamily="34" charset="0"/>
                <a:ea typeface="Calibri" pitchFamily="34" charset="-122"/>
                <a:cs typeface="Calibri" pitchFamily="34" charset="-120"/>
              </a:rPr>
              <a:t>TIER 1</a:t>
            </a:r>
            <a:endParaRPr lang="en-US" sz="1000" dirty="0"/>
          </a:p>
        </p:txBody>
      </p:sp>
      <p:sp>
        <p:nvSpPr>
          <p:cNvPr id="9" name="Text 6"/>
          <p:cNvSpPr txBox="1"/>
          <p:nvPr/>
        </p:nvSpPr>
        <p:spPr>
          <a:xfrm>
            <a:off x="1371600" y="1243584"/>
            <a:ext cx="4526280"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Global Quality Manual and policies</a:t>
            </a:r>
            <a:endParaRPr lang="en-US" sz="1150" dirty="0"/>
          </a:p>
        </p:txBody>
      </p:sp>
      <p:sp>
        <p:nvSpPr>
          <p:cNvPr id="10" name="Text 7"/>
          <p:cNvSpPr txBox="1"/>
          <p:nvPr/>
        </p:nvSpPr>
        <p:spPr>
          <a:xfrm>
            <a:off x="1371600" y="1490472"/>
            <a:ext cx="4526280" cy="3291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One scope, one process map, one site register. ISO 13485 as the spine; regulatory requirements referenced, not copied.</a:t>
            </a:r>
            <a:endParaRPr lang="en-US" sz="950" dirty="0"/>
          </a:p>
        </p:txBody>
      </p:sp>
      <p:sp>
        <p:nvSpPr>
          <p:cNvPr id="11" name="Shape 8"/>
          <p:cNvSpPr/>
          <p:nvPr/>
        </p:nvSpPr>
        <p:spPr>
          <a:xfrm>
            <a:off x="457200" y="1938528"/>
            <a:ext cx="5577840" cy="658368"/>
          </a:xfrm>
          <a:prstGeom prst="roundRect">
            <a:avLst>
              <a:gd name="adj" fmla="val 8333"/>
            </a:avLst>
          </a:prstGeom>
          <a:solidFill>
            <a:srgbClr val="EAF0F6"/>
          </a:solidFill>
          <a:ln w="12700">
            <a:solidFill>
              <a:srgbClr val="EAF0F6"/>
            </a:solidFill>
            <a:prstDash val="solid"/>
          </a:ln>
        </p:spPr>
      </p:sp>
      <p:sp>
        <p:nvSpPr>
          <p:cNvPr id="12" name="Text 9"/>
          <p:cNvSpPr txBox="1"/>
          <p:nvPr/>
        </p:nvSpPr>
        <p:spPr>
          <a:xfrm>
            <a:off x="594360" y="2011680"/>
            <a:ext cx="777240" cy="512064"/>
          </a:xfrm>
          <a:prstGeom prst="rect">
            <a:avLst/>
          </a:prstGeom>
          <a:noFill/>
          <a:ln/>
        </p:spPr>
        <p:txBody>
          <a:bodyPr wrap="square" lIns="0" tIns="0" rIns="0" bIns="0" rtlCol="0" anchor="ctr"/>
          <a:lstStyle/>
          <a:p>
            <a:pPr indent="0" marL="0">
              <a:buNone/>
            </a:pPr>
            <a:r>
              <a:rPr lang="en-US" sz="1000" b="1" spc="100" kern="0" dirty="0">
                <a:solidFill>
                  <a:srgbClr val="A8730F"/>
                </a:solidFill>
                <a:latin typeface="Calibri" pitchFamily="34" charset="0"/>
                <a:ea typeface="Calibri" pitchFamily="34" charset="-122"/>
                <a:cs typeface="Calibri" pitchFamily="34" charset="-120"/>
              </a:rPr>
              <a:t>TIER 2</a:t>
            </a:r>
            <a:endParaRPr lang="en-US" sz="1000" dirty="0"/>
          </a:p>
        </p:txBody>
      </p:sp>
      <p:sp>
        <p:nvSpPr>
          <p:cNvPr id="13" name="Text 10"/>
          <p:cNvSpPr txBox="1"/>
          <p:nvPr/>
        </p:nvSpPr>
        <p:spPr>
          <a:xfrm>
            <a:off x="1371600" y="1993392"/>
            <a:ext cx="4526280"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Global procedures, one owner per process</a:t>
            </a:r>
            <a:endParaRPr lang="en-US" sz="1150" dirty="0"/>
          </a:p>
        </p:txBody>
      </p:sp>
      <p:sp>
        <p:nvSpPr>
          <p:cNvPr id="14" name="Text 11"/>
          <p:cNvSpPr txBox="1"/>
          <p:nvPr/>
        </p:nvSpPr>
        <p:spPr>
          <a:xfrm>
            <a:off x="1371600" y="2240280"/>
            <a:ext cx="4526280" cy="3291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Complaints, CAPA, change control, supplier controls, design controls, document control, training, management review, internal audit.</a:t>
            </a:r>
            <a:endParaRPr lang="en-US" sz="950" dirty="0"/>
          </a:p>
        </p:txBody>
      </p:sp>
      <p:sp>
        <p:nvSpPr>
          <p:cNvPr id="15" name="Shape 12"/>
          <p:cNvSpPr/>
          <p:nvPr/>
        </p:nvSpPr>
        <p:spPr>
          <a:xfrm>
            <a:off x="457200" y="2688336"/>
            <a:ext cx="5577840" cy="658368"/>
          </a:xfrm>
          <a:prstGeom prst="roundRect">
            <a:avLst>
              <a:gd name="adj" fmla="val 8333"/>
            </a:avLst>
          </a:prstGeom>
          <a:solidFill>
            <a:srgbClr val="FBF2DE"/>
          </a:solidFill>
          <a:ln w="12700">
            <a:solidFill>
              <a:srgbClr val="FBF2DE"/>
            </a:solidFill>
            <a:prstDash val="solid"/>
          </a:ln>
        </p:spPr>
      </p:sp>
      <p:sp>
        <p:nvSpPr>
          <p:cNvPr id="16" name="Text 13"/>
          <p:cNvSpPr txBox="1"/>
          <p:nvPr/>
        </p:nvSpPr>
        <p:spPr>
          <a:xfrm>
            <a:off x="594360" y="2761488"/>
            <a:ext cx="777240" cy="512064"/>
          </a:xfrm>
          <a:prstGeom prst="rect">
            <a:avLst/>
          </a:prstGeom>
          <a:noFill/>
          <a:ln/>
        </p:spPr>
        <p:txBody>
          <a:bodyPr wrap="square" lIns="0" tIns="0" rIns="0" bIns="0" rtlCol="0" anchor="ctr"/>
          <a:lstStyle/>
          <a:p>
            <a:pPr indent="0" marL="0">
              <a:buNone/>
            </a:pPr>
            <a:r>
              <a:rPr lang="en-US" sz="1000" b="1" spc="100" kern="0" dirty="0">
                <a:solidFill>
                  <a:srgbClr val="A8730F"/>
                </a:solidFill>
                <a:latin typeface="Calibri" pitchFamily="34" charset="0"/>
                <a:ea typeface="Calibri" pitchFamily="34" charset="-122"/>
                <a:cs typeface="Calibri" pitchFamily="34" charset="-120"/>
              </a:rPr>
              <a:t>TIER 3</a:t>
            </a:r>
            <a:endParaRPr lang="en-US" sz="1000" dirty="0"/>
          </a:p>
        </p:txBody>
      </p:sp>
      <p:sp>
        <p:nvSpPr>
          <p:cNvPr id="17" name="Text 14"/>
          <p:cNvSpPr txBox="1"/>
          <p:nvPr/>
        </p:nvSpPr>
        <p:spPr>
          <a:xfrm>
            <a:off x="1371600" y="2743200"/>
            <a:ext cx="4526280"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Site work instructions + Country Regulatory Annexes</a:t>
            </a:r>
            <a:endParaRPr lang="en-US" sz="1150" dirty="0"/>
          </a:p>
        </p:txBody>
      </p:sp>
      <p:sp>
        <p:nvSpPr>
          <p:cNvPr id="18" name="Text 15"/>
          <p:cNvSpPr txBox="1"/>
          <p:nvPr/>
        </p:nvSpPr>
        <p:spPr>
          <a:xfrm>
            <a:off x="1371600" y="2990088"/>
            <a:ext cx="4526280" cy="3291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How the work is physically done at each site; one annex per market listing the deltas: timelines, forms, authorities, language, roles.</a:t>
            </a:r>
            <a:endParaRPr lang="en-US" sz="950" dirty="0"/>
          </a:p>
        </p:txBody>
      </p:sp>
      <p:sp>
        <p:nvSpPr>
          <p:cNvPr id="19" name="Shape 16"/>
          <p:cNvSpPr/>
          <p:nvPr/>
        </p:nvSpPr>
        <p:spPr>
          <a:xfrm>
            <a:off x="457200" y="3438144"/>
            <a:ext cx="5577840" cy="658368"/>
          </a:xfrm>
          <a:prstGeom prst="roundRect">
            <a:avLst>
              <a:gd name="adj" fmla="val 8333"/>
            </a:avLst>
          </a:prstGeom>
          <a:solidFill>
            <a:srgbClr val="EAF0F6"/>
          </a:solidFill>
          <a:ln w="12700">
            <a:solidFill>
              <a:srgbClr val="EAF0F6"/>
            </a:solidFill>
            <a:prstDash val="solid"/>
          </a:ln>
        </p:spPr>
      </p:sp>
      <p:sp>
        <p:nvSpPr>
          <p:cNvPr id="20" name="Text 17"/>
          <p:cNvSpPr txBox="1"/>
          <p:nvPr/>
        </p:nvSpPr>
        <p:spPr>
          <a:xfrm>
            <a:off x="594360" y="3511296"/>
            <a:ext cx="777240" cy="512064"/>
          </a:xfrm>
          <a:prstGeom prst="rect">
            <a:avLst/>
          </a:prstGeom>
          <a:noFill/>
          <a:ln/>
        </p:spPr>
        <p:txBody>
          <a:bodyPr wrap="square" lIns="0" tIns="0" rIns="0" bIns="0" rtlCol="0" anchor="ctr"/>
          <a:lstStyle/>
          <a:p>
            <a:pPr indent="0" marL="0">
              <a:buNone/>
            </a:pPr>
            <a:r>
              <a:rPr lang="en-US" sz="1000" b="1" spc="100" kern="0" dirty="0">
                <a:solidFill>
                  <a:srgbClr val="A8730F"/>
                </a:solidFill>
                <a:latin typeface="Calibri" pitchFamily="34" charset="0"/>
                <a:ea typeface="Calibri" pitchFamily="34" charset="-122"/>
                <a:cs typeface="Calibri" pitchFamily="34" charset="-120"/>
              </a:rPr>
              <a:t>TIER 4</a:t>
            </a:r>
            <a:endParaRPr lang="en-US" sz="1000" dirty="0"/>
          </a:p>
        </p:txBody>
      </p:sp>
      <p:sp>
        <p:nvSpPr>
          <p:cNvPr id="21" name="Text 18"/>
          <p:cNvSpPr txBox="1"/>
          <p:nvPr/>
        </p:nvSpPr>
        <p:spPr>
          <a:xfrm>
            <a:off x="1371600" y="3493008"/>
            <a:ext cx="4526280" cy="237744"/>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Records and forms</a:t>
            </a:r>
            <a:endParaRPr lang="en-US" sz="1150" dirty="0"/>
          </a:p>
        </p:txBody>
      </p:sp>
      <p:sp>
        <p:nvSpPr>
          <p:cNvPr id="22" name="Text 19"/>
          <p:cNvSpPr txBox="1"/>
          <p:nvPr/>
        </p:nvSpPr>
        <p:spPr>
          <a:xfrm>
            <a:off x="1371600" y="3739896"/>
            <a:ext cx="4526280" cy="32918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One form per process globally; local-language versions controlled as translations, never as variants.</a:t>
            </a:r>
            <a:endParaRPr lang="en-US" sz="950" dirty="0"/>
          </a:p>
        </p:txBody>
      </p:sp>
      <p:sp>
        <p:nvSpPr>
          <p:cNvPr id="23" name="Shape 20"/>
          <p:cNvSpPr/>
          <p:nvPr/>
        </p:nvSpPr>
        <p:spPr>
          <a:xfrm>
            <a:off x="6217920" y="1188720"/>
            <a:ext cx="2468880" cy="2926080"/>
          </a:xfrm>
          <a:prstGeom prst="roundRect">
            <a:avLst>
              <a:gd name="adj" fmla="val 2222"/>
            </a:avLst>
          </a:prstGeom>
          <a:solidFill>
            <a:srgbClr val="0F2A4A"/>
          </a:solidFill>
          <a:ln w="12700">
            <a:solidFill>
              <a:srgbClr val="0F2A4A"/>
            </a:solidFill>
            <a:prstDash val="solid"/>
          </a:ln>
        </p:spPr>
      </p:sp>
      <p:sp>
        <p:nvSpPr>
          <p:cNvPr id="24" name="Text 21"/>
          <p:cNvSpPr txBox="1"/>
          <p:nvPr/>
        </p:nvSpPr>
        <p:spPr>
          <a:xfrm>
            <a:off x="6345936" y="1280160"/>
            <a:ext cx="2212848" cy="32918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Governance</a:t>
            </a:r>
            <a:endParaRPr lang="en-US" sz="1250" dirty="0"/>
          </a:p>
        </p:txBody>
      </p:sp>
      <p:sp>
        <p:nvSpPr>
          <p:cNvPr id="25" name="Text 22"/>
          <p:cNvSpPr txBox="1"/>
          <p:nvPr/>
        </p:nvSpPr>
        <p:spPr>
          <a:xfrm>
            <a:off x="6345936" y="1645920"/>
            <a:ext cx="2212848" cy="237744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Global process owners</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Site quality heads accountable for Tier 3</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Regulatory intelligence wired to change control: impact assessed within 30 days</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Quarterly global quality council</a:t>
            </a:r>
            <a:endParaRPr lang="en-US" sz="1000" dirty="0"/>
          </a:p>
          <a:p>
            <a:pPr marL="342900" indent="-342900">
              <a:spcAft>
                <a:spcPts val="500"/>
              </a:spcAft>
              <a:buSzPct val="100000"/>
              <a:buChar char="•"/>
            </a:pPr>
            <a:r>
              <a:rPr lang="en-US" sz="1000" dirty="0">
                <a:solidFill>
                  <a:srgbClr val="FFFFFF"/>
                </a:solidFill>
                <a:latin typeface="Calibri" pitchFamily="34" charset="0"/>
                <a:ea typeface="Calibri" pitchFamily="34" charset="-122"/>
                <a:cs typeface="Calibri" pitchFamily="34" charset="-120"/>
              </a:rPr>
              <a:t>Annual review of scope, site register and the requirements matrix</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MAINTAINING A GLOBAL QMS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Vigilance reporting timelines by market</a:t>
            </a:r>
            <a:endParaRPr lang="en-US" sz="2400" dirty="0"/>
          </a:p>
        </p:txBody>
      </p:sp>
      <p:sp>
        <p:nvSpPr>
          <p:cNvPr id="7" name="Text 4"/>
          <p:cNvSpPr txBox="1"/>
          <p:nvPr/>
        </p:nvSpPr>
        <p:spPr>
          <a:xfrm>
            <a:off x="457200" y="1069848"/>
            <a:ext cx="8229600" cy="201168"/>
          </a:xfrm>
          <a:prstGeom prst="rect">
            <a:avLst/>
          </a:prstGeom>
          <a:noFill/>
          <a:ln/>
        </p:spPr>
        <p:txBody>
          <a:bodyPr wrap="square" lIns="0" tIns="0" rIns="0" bIns="0" rtlCol="0" anchor="ctr"/>
          <a:lstStyle/>
          <a:p>
            <a:pPr indent="0" marL="0">
              <a:buNone/>
            </a:pPr>
            <a:r>
              <a:rPr lang="en-US" sz="850" i="1" dirty="0">
                <a:solidFill>
                  <a:srgbClr val="5A6B7B"/>
                </a:solidFill>
                <a:latin typeface="Calibri" pitchFamily="34" charset="0"/>
                <a:ea typeface="Calibri" pitchFamily="34" charset="-122"/>
                <a:cs typeface="Calibri" pitchFamily="34" charset="-120"/>
              </a:rPr>
              <a:t>Day counts as written in each regulation; calendar and working days differ. Teaching aid as of September 2026: verify against the current regulatory text before relying on any cell.</a:t>
            </a:r>
            <a:endParaRPr lang="en-US" sz="8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286000"/>
                <a:gridCol w="1920240"/>
                <a:gridCol w="2103120"/>
                <a:gridCol w="19202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Jurisdiction (authority, basis)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Death or serious deterioration</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Other reportable events</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Serious public-health threat</a:t>
                      </a:r>
                      <a:endParaRPr lang="en-US" sz="90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USA: FDA (21 CFR 803)</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30 calendar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30 calendar days (malfunctions)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5 work days if remedial action is needed to prevent an unreasonable risk of substantial harm</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EU: competent authorities (MDR Art. 87)</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10 days: death or unanticipated serious deterioration</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15 days: other serious incidents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2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UK: MHRA</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10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15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2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Canada: Health Canada (SOR/98-282 s.59–61)</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10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30 days: could lead to death or serious deterioration if it recurred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Not separately defined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Australia: TGA</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10 days: death or serious injury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30 days: near-adverse events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48 hours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Japan: MHLW / PMDA</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15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30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Not separately defined</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274320">
                <a:tc>
                  <a:txBody>
                    <a:bodyPr/>
                    <a:lstStyle/>
                    <a:p>
                      <a:pPr indent="0" marL="0">
                        <a:buNone/>
                      </a:pPr>
                      <a:r>
                        <a:rPr lang="en-US" sz="900" b="1" dirty="0">
                          <a:solidFill>
                            <a:srgbClr val="1F2933"/>
                          </a:solidFill>
                          <a:latin typeface="Calibri" pitchFamily="34" charset="0"/>
                          <a:ea typeface="Calibri" pitchFamily="34" charset="-122"/>
                          <a:cs typeface="Calibri" pitchFamily="34" charset="-120"/>
                        </a:rPr>
                        <a:t>Brazil: ANVISA (RDC 551/2021)</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72 hours: death; 10 days: serious injury</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30 days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00" dirty="0">
                          <a:solidFill>
                            <a:srgbClr val="1F2933"/>
                          </a:solidFill>
                          <a:latin typeface="Calibri" pitchFamily="34" charset="0"/>
                          <a:ea typeface="Calibri" pitchFamily="34" charset="-122"/>
                          <a:cs typeface="Calibri" pitchFamily="34" charset="-120"/>
                        </a:rPr>
                        <a:t>72 hours</a:t>
                      </a:r>
                      <a:endParaRPr lang="en-US" sz="90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33</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MAINTAINING A GLOBAL QMS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The regulatory requirements matrix</a:t>
            </a:r>
            <a:endParaRPr lang="en-US" sz="2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2743200"/>
                <a:gridCol w="1097280"/>
                <a:gridCol w="1463040"/>
                <a:gridCol w="1097280"/>
              </a:tblGrid>
              <a:tr h="3840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Requirement area</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What differs by market</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Owner</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Lives in</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Review trigger</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84048">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Adverse event and vigilance reporting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Definitions, timelines (2–30 days), forms, portals, foreign-event rules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Global RA</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Vigilance SOP + country annex</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Regulation change; new market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84048">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Field actions and recalls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Notification timing, classification schemes, customer letter content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Global RA / Quality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Field action SOP + annex</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Regulation change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Registration, listing and licensing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Establishment registration, device listing, licences, agents and representatives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Regional RA</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RA register + annex</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New product, site or market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84048">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Labeling and UDI</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Languages, symbols, UDI issuing agencies, databases (GUDID, EUDAMED)</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RA / Labeling</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Labeling SOP + annex</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New market; database go-live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Complaint and servicing records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Required data fields (e.g., UDI under 820.35), retention periods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Global Quality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Complaint SOP</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Regulation change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84048">
                <a:tc>
                  <a:txBody>
                    <a:bodyPr/>
                    <a:lstStyle/>
                    <a:p>
                      <a:pPr indent="0" marL="0">
                        <a:buNone/>
                      </a:pPr>
                      <a:r>
                        <a:rPr lang="en-US" sz="950" b="1" dirty="0">
                          <a:solidFill>
                            <a:srgbClr val="1F2933"/>
                          </a:solidFill>
                          <a:latin typeface="Calibri" pitchFamily="34" charset="0"/>
                          <a:ea typeface="Calibri" pitchFamily="34" charset="-122"/>
                          <a:cs typeface="Calibri" pitchFamily="34" charset="-120"/>
                        </a:rPr>
                        <a:t>Responsible persons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Management representative, PRRC (EU), UK Responsible Person, US Agent, MAH (Japan)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RA / HR</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Quality manual + annex</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Organization change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34</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MAINTAINING A GLOBAL QMS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Operating rhythm and readiness KPIs</a:t>
            </a:r>
            <a:endParaRPr lang="en-US" sz="2400" dirty="0"/>
          </a:p>
        </p:txBody>
      </p:sp>
      <p:sp>
        <p:nvSpPr>
          <p:cNvPr id="7" name="Shape 4"/>
          <p:cNvSpPr/>
          <p:nvPr/>
        </p:nvSpPr>
        <p:spPr>
          <a:xfrm>
            <a:off x="457200" y="1188720"/>
            <a:ext cx="3749040" cy="3383280"/>
          </a:xfrm>
          <a:prstGeom prst="roundRect">
            <a:avLst>
              <a:gd name="adj" fmla="val 1622"/>
            </a:avLst>
          </a:prstGeom>
          <a:solidFill>
            <a:srgbClr val="EAF0F6"/>
          </a:solidFill>
          <a:ln w="12700">
            <a:solidFill>
              <a:srgbClr val="EAF0F6"/>
            </a:solidFill>
            <a:prstDash val="solid"/>
          </a:ln>
        </p:spPr>
      </p:sp>
      <p:sp>
        <p:nvSpPr>
          <p:cNvPr id="8" name="Text 5"/>
          <p:cNvSpPr txBox="1"/>
          <p:nvPr/>
        </p:nvSpPr>
        <p:spPr>
          <a:xfrm>
            <a:off x="585216" y="1280160"/>
            <a:ext cx="349300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Operating rhythm</a:t>
            </a:r>
            <a:endParaRPr lang="en-US" sz="1250" dirty="0"/>
          </a:p>
        </p:txBody>
      </p:sp>
      <p:sp>
        <p:nvSpPr>
          <p:cNvPr id="9" name="Text 6"/>
          <p:cNvSpPr txBox="1"/>
          <p:nvPr/>
        </p:nvSpPr>
        <p:spPr>
          <a:xfrm>
            <a:off x="585216" y="1645920"/>
            <a:ext cx="3493008" cy="2834640"/>
          </a:xfrm>
          <a:prstGeom prst="rect">
            <a:avLst/>
          </a:prstGeom>
          <a:noFill/>
          <a:ln/>
        </p:spPr>
        <p:txBody>
          <a:bodyPr wrap="square" lIns="0" tIns="0" rIns="0" bIns="0" rtlCol="0" anchor="t"/>
          <a:lstStyle/>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Daily</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Supervisor floor walks; DHR checks at the point of work</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Weekly</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CAPA and complaint review; overdue actions chased</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Monthly</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Site quality council: KPIs, audits, changes, suppliers</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Quarterly</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Global management review; supplier performance; regulatory-intelligence review</a:t>
            </a:r>
            <a:endParaRPr lang="en-US" sz="1000" dirty="0"/>
          </a:p>
          <a:p>
            <a:pPr marL="342900" indent="-342900">
              <a:spcAft>
                <a:spcPts val="300"/>
              </a:spcAft>
              <a:buSzPct val="100000"/>
              <a:buChar char="•"/>
            </a:pPr>
            <a:r>
              <a:rPr lang="en-US" sz="1000" b="1" dirty="0">
                <a:solidFill>
                  <a:srgbClr val="1F2933"/>
                </a:solidFill>
                <a:latin typeface="Calibri" pitchFamily="34" charset="0"/>
                <a:ea typeface="Calibri" pitchFamily="34" charset="-122"/>
                <a:cs typeface="Calibri" pitchFamily="34" charset="-120"/>
              </a:rPr>
              <a:t>Annually</a:t>
            </a:r>
            <a:endParaRPr lang="en-US" sz="1000" dirty="0"/>
          </a:p>
          <a:p>
            <a:pPr marL="342900" indent="-342900">
              <a:spcAft>
                <a:spcPts val="300"/>
              </a:spcAft>
              <a:buSzPct val="100000"/>
              <a:buChar char="•"/>
            </a:pPr>
            <a:r>
              <a:rPr lang="en-US" sz="1000" dirty="0">
                <a:solidFill>
                  <a:srgbClr val="1F2933"/>
                </a:solidFill>
                <a:latin typeface="Calibri" pitchFamily="34" charset="0"/>
                <a:ea typeface="Calibri" pitchFamily="34" charset="-122"/>
                <a:cs typeface="Calibri" pitchFamily="34" charset="-120"/>
              </a:rPr>
              <a:t>Full internal audit cycle; mock unannounced audit per site and top critical suppliers; requirements matrix review</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434840" y="1188720"/>
          <a:ext cx="4251960" cy="914400"/>
        </p:xfrm>
        <a:graphic>
          <a:graphicData uri="http://schemas.openxmlformats.org/drawingml/2006/table">
            <a:tbl>
              <a:tblPr/>
              <a:tblGrid>
                <a:gridCol w="3063240"/>
                <a:gridCol w="118872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Readiness KPI</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Target</a:t>
                      </a:r>
                      <a:endParaRPr lang="en-US" sz="950" dirty="0">
                        <a:latin typeface="Calibri" charset="0"/>
                        <a:ea typeface="Calibri" charset="0"/>
                        <a:cs typeface="Calibri" charset="0"/>
                      </a:endParaRPr>
                    </a:p>
                  </a:txBody>
                  <a:tcPr marL="54864" marR="54864" marT="54864" marB="54864" anchor="ctr">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0F2A4A"/>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Time to produce the full DHR and traceability for a random lot</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30 minutes or less</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Procedures past their periodic review date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Equipment in use past calibration due date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CAPAs open more than 12 months without approved justification</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Staff trained on the current revision before performing the task</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Vigilance reports submitted on time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Supplier audit plan adherence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95% or more</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5F8FB"/>
                    </a:solidFill>
                  </a:tcPr>
                </a:tc>
              </a:tr>
              <a:tr h="329184">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Reception script and 24/7 roster verified</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c>
                  <a:txBody>
                    <a:bodyPr/>
                    <a:lstStyle/>
                    <a:p>
                      <a:pPr indent="0" marL="0">
                        <a:buNone/>
                      </a:pPr>
                      <a:r>
                        <a:rPr lang="en-US" sz="950" dirty="0">
                          <a:solidFill>
                            <a:srgbClr val="1F2933"/>
                          </a:solidFill>
                          <a:latin typeface="Calibri" pitchFamily="34" charset="0"/>
                          <a:ea typeface="Calibri" pitchFamily="34" charset="-122"/>
                          <a:cs typeface="Calibri" pitchFamily="34" charset="-120"/>
                        </a:rPr>
                        <a:t>Quarterly</a:t>
                      </a:r>
                      <a:endParaRPr lang="en-US" sz="950" dirty="0">
                        <a:latin typeface="Calibri" charset="0"/>
                        <a:ea typeface="Calibri" charset="0"/>
                        <a:cs typeface="Calibri" charset="0"/>
                      </a:endParaRPr>
                    </a:p>
                  </a:txBody>
                  <a:tcPr marL="54864" marR="54864" marT="54864" marB="54864" anchor="t">
                    <a:lnL w="6350" cap="flat" cmpd="sng" algn="ctr">
                      <a:solidFill>
                        <a:srgbClr val="CBD2D9"/>
                      </a:solidFill>
                      <a:prstDash val="solid"/>
                      <a:round/>
                      <a:headEnd type="none" w="med" len="med"/>
                      <a:tailEnd type="none" w="med" len="med"/>
                    </a:lnL>
                    <a:lnR w="6350" cap="flat" cmpd="sng" algn="ctr">
                      <a:solidFill>
                        <a:srgbClr val="CBD2D9"/>
                      </a:solidFill>
                      <a:prstDash val="solid"/>
                      <a:round/>
                      <a:headEnd type="none" w="med" len="med"/>
                      <a:tailEnd type="none" w="med" len="med"/>
                    </a:lnR>
                    <a:lnT w="6350" cap="flat" cmpd="sng" algn="ctr">
                      <a:solidFill>
                        <a:srgbClr val="CBD2D9"/>
                      </a:solidFill>
                      <a:prstDash val="solid"/>
                      <a:round/>
                      <a:headEnd type="none" w="med" len="med"/>
                      <a:tailEnd type="none" w="med" len="med"/>
                    </a:lnT>
                    <a:lnB w="6350" cap="flat" cmpd="sng" algn="ctr">
                      <a:solidFill>
                        <a:srgbClr val="CBD2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35</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MAINTAINING A GLOBAL QMS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Readiness self-test: ten questions</a:t>
            </a:r>
            <a:endParaRPr lang="en-US" sz="2400" dirty="0"/>
          </a:p>
        </p:txBody>
      </p:sp>
      <p:sp>
        <p:nvSpPr>
          <p:cNvPr id="7" name="Shape 4"/>
          <p:cNvSpPr/>
          <p:nvPr/>
        </p:nvSpPr>
        <p:spPr>
          <a:xfrm>
            <a:off x="457200" y="1261872"/>
            <a:ext cx="310896" cy="310896"/>
          </a:xfrm>
          <a:prstGeom prst="ellipse">
            <a:avLst/>
          </a:prstGeom>
          <a:solidFill>
            <a:srgbClr val="0F2A4A"/>
          </a:solidFill>
          <a:ln w="12700">
            <a:solidFill>
              <a:srgbClr val="0F2A4A"/>
            </a:solidFill>
            <a:prstDash val="solid"/>
          </a:ln>
        </p:spPr>
      </p:sp>
      <p:sp>
        <p:nvSpPr>
          <p:cNvPr id="8" name="Text 5"/>
          <p:cNvSpPr txBox="1"/>
          <p:nvPr/>
        </p:nvSpPr>
        <p:spPr>
          <a:xfrm>
            <a:off x="457200" y="1261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868680" y="118872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Reception has a written script and the 24/7 roster, including deputies and shutdown periods</a:t>
            </a:r>
            <a:endParaRPr lang="en-US" sz="1050" dirty="0"/>
          </a:p>
        </p:txBody>
      </p:sp>
      <p:sp>
        <p:nvSpPr>
          <p:cNvPr id="10" name="Shape 7"/>
          <p:cNvSpPr/>
          <p:nvPr/>
        </p:nvSpPr>
        <p:spPr>
          <a:xfrm>
            <a:off x="457200" y="1810512"/>
            <a:ext cx="310896" cy="310896"/>
          </a:xfrm>
          <a:prstGeom prst="ellipse">
            <a:avLst/>
          </a:prstGeom>
          <a:solidFill>
            <a:srgbClr val="0F2A4A"/>
          </a:solidFill>
          <a:ln w="12700">
            <a:solidFill>
              <a:srgbClr val="0F2A4A"/>
            </a:solidFill>
            <a:prstDash val="solid"/>
          </a:ln>
        </p:spPr>
      </p:sp>
      <p:sp>
        <p:nvSpPr>
          <p:cNvPr id="11" name="Text 8"/>
          <p:cNvSpPr txBox="1"/>
          <p:nvPr/>
        </p:nvSpPr>
        <p:spPr>
          <a:xfrm>
            <a:off x="457200"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868680" y="173736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Your notified body knows when your lines will not be running</a:t>
            </a:r>
            <a:endParaRPr lang="en-US" sz="1050" dirty="0"/>
          </a:p>
        </p:txBody>
      </p:sp>
      <p:sp>
        <p:nvSpPr>
          <p:cNvPr id="13" name="Shape 10"/>
          <p:cNvSpPr/>
          <p:nvPr/>
        </p:nvSpPr>
        <p:spPr>
          <a:xfrm>
            <a:off x="457200" y="2359152"/>
            <a:ext cx="310896" cy="310896"/>
          </a:xfrm>
          <a:prstGeom prst="ellipse">
            <a:avLst/>
          </a:prstGeom>
          <a:solidFill>
            <a:srgbClr val="0F2A4A"/>
          </a:solidFill>
          <a:ln w="12700">
            <a:solidFill>
              <a:srgbClr val="0F2A4A"/>
            </a:solidFill>
            <a:prstDash val="solid"/>
          </a:ln>
        </p:spPr>
      </p:sp>
      <p:sp>
        <p:nvSpPr>
          <p:cNvPr id="14" name="Text 11"/>
          <p:cNvSpPr txBox="1"/>
          <p:nvPr/>
        </p:nvSpPr>
        <p:spPr>
          <a:xfrm>
            <a:off x="457200" y="23591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868680" y="228600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You can produce the complete DHR and traceability for any lot within 30 minutes</a:t>
            </a:r>
            <a:endParaRPr lang="en-US" sz="1050" dirty="0"/>
          </a:p>
        </p:txBody>
      </p:sp>
      <p:sp>
        <p:nvSpPr>
          <p:cNvPr id="16" name="Shape 13"/>
          <p:cNvSpPr/>
          <p:nvPr/>
        </p:nvSpPr>
        <p:spPr>
          <a:xfrm>
            <a:off x="457200" y="2907792"/>
            <a:ext cx="310896" cy="310896"/>
          </a:xfrm>
          <a:prstGeom prst="ellipse">
            <a:avLst/>
          </a:prstGeom>
          <a:solidFill>
            <a:srgbClr val="0F2A4A"/>
          </a:solidFill>
          <a:ln w="12700">
            <a:solidFill>
              <a:srgbClr val="0F2A4A"/>
            </a:solidFill>
            <a:prstDash val="solid"/>
          </a:ln>
        </p:spPr>
      </p:sp>
      <p:sp>
        <p:nvSpPr>
          <p:cNvPr id="17" name="Text 14"/>
          <p:cNvSpPr txBox="1"/>
          <p:nvPr/>
        </p:nvSpPr>
        <p:spPr>
          <a:xfrm>
            <a:off x="457200" y="29077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868680" y="283464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Every critical supplier agreement grants unannounced access to your notified body and regulators, and requires deviation notification</a:t>
            </a:r>
            <a:endParaRPr lang="en-US" sz="1050" dirty="0"/>
          </a:p>
        </p:txBody>
      </p:sp>
      <p:sp>
        <p:nvSpPr>
          <p:cNvPr id="19" name="Shape 16"/>
          <p:cNvSpPr/>
          <p:nvPr/>
        </p:nvSpPr>
        <p:spPr>
          <a:xfrm>
            <a:off x="457200" y="3456432"/>
            <a:ext cx="310896" cy="310896"/>
          </a:xfrm>
          <a:prstGeom prst="ellipse">
            <a:avLst/>
          </a:prstGeom>
          <a:solidFill>
            <a:srgbClr val="0F2A4A"/>
          </a:solidFill>
          <a:ln w="12700">
            <a:solidFill>
              <a:srgbClr val="0F2A4A"/>
            </a:solidFill>
            <a:prstDash val="solid"/>
          </a:ln>
        </p:spPr>
      </p:sp>
      <p:sp>
        <p:nvSpPr>
          <p:cNvPr id="20" name="Text 17"/>
          <p:cNvSpPr txBox="1"/>
          <p:nvPr/>
        </p:nvSpPr>
        <p:spPr>
          <a:xfrm>
            <a:off x="457200" y="3456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868680" y="338328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No equipment in use is past its calibration due date</a:t>
            </a:r>
            <a:endParaRPr lang="en-US" sz="1050" dirty="0"/>
          </a:p>
        </p:txBody>
      </p:sp>
      <p:sp>
        <p:nvSpPr>
          <p:cNvPr id="22" name="Shape 19"/>
          <p:cNvSpPr/>
          <p:nvPr/>
        </p:nvSpPr>
        <p:spPr>
          <a:xfrm>
            <a:off x="4663440" y="1261872"/>
            <a:ext cx="310896" cy="310896"/>
          </a:xfrm>
          <a:prstGeom prst="ellipse">
            <a:avLst/>
          </a:prstGeom>
          <a:solidFill>
            <a:srgbClr val="0F2A4A"/>
          </a:solidFill>
          <a:ln w="12700">
            <a:solidFill>
              <a:srgbClr val="0F2A4A"/>
            </a:solidFill>
            <a:prstDash val="solid"/>
          </a:ln>
        </p:spPr>
      </p:sp>
      <p:sp>
        <p:nvSpPr>
          <p:cNvPr id="23" name="Text 20"/>
          <p:cNvSpPr txBox="1"/>
          <p:nvPr/>
        </p:nvSpPr>
        <p:spPr>
          <a:xfrm>
            <a:off x="4663440" y="1261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4" name="Text 21"/>
          <p:cNvSpPr txBox="1"/>
          <p:nvPr/>
        </p:nvSpPr>
        <p:spPr>
          <a:xfrm>
            <a:off x="5074920" y="118872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Every production or supplier change in the last year has a documented design and risk impact assessment</a:t>
            </a:r>
            <a:endParaRPr lang="en-US" sz="1050" dirty="0"/>
          </a:p>
        </p:txBody>
      </p:sp>
      <p:sp>
        <p:nvSpPr>
          <p:cNvPr id="25" name="Shape 22"/>
          <p:cNvSpPr/>
          <p:nvPr/>
        </p:nvSpPr>
        <p:spPr>
          <a:xfrm>
            <a:off x="4663440" y="1810512"/>
            <a:ext cx="310896" cy="310896"/>
          </a:xfrm>
          <a:prstGeom prst="ellipse">
            <a:avLst/>
          </a:prstGeom>
          <a:solidFill>
            <a:srgbClr val="0F2A4A"/>
          </a:solidFill>
          <a:ln w="12700">
            <a:solidFill>
              <a:srgbClr val="0F2A4A"/>
            </a:solidFill>
            <a:prstDash val="solid"/>
          </a:ln>
        </p:spPr>
      </p:sp>
      <p:sp>
        <p:nvSpPr>
          <p:cNvPr id="26" name="Text 23"/>
          <p:cNvSpPr txBox="1"/>
          <p:nvPr/>
        </p:nvSpPr>
        <p:spPr>
          <a:xfrm>
            <a:off x="4663440" y="1810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7" name="Text 24"/>
          <p:cNvSpPr txBox="1"/>
          <p:nvPr/>
        </p:nvSpPr>
        <p:spPr>
          <a:xfrm>
            <a:off x="5074920" y="173736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No CAPA is open beyond 12 months without a documented, approved justification</a:t>
            </a:r>
            <a:endParaRPr lang="en-US" sz="1050" dirty="0"/>
          </a:p>
        </p:txBody>
      </p:sp>
      <p:sp>
        <p:nvSpPr>
          <p:cNvPr id="28" name="Shape 25"/>
          <p:cNvSpPr/>
          <p:nvPr/>
        </p:nvSpPr>
        <p:spPr>
          <a:xfrm>
            <a:off x="4663440" y="2359152"/>
            <a:ext cx="310896" cy="310896"/>
          </a:xfrm>
          <a:prstGeom prst="ellipse">
            <a:avLst/>
          </a:prstGeom>
          <a:solidFill>
            <a:srgbClr val="0F2A4A"/>
          </a:solidFill>
          <a:ln w="12700">
            <a:solidFill>
              <a:srgbClr val="0F2A4A"/>
            </a:solidFill>
            <a:prstDash val="solid"/>
          </a:ln>
        </p:spPr>
      </p:sp>
      <p:sp>
        <p:nvSpPr>
          <p:cNvPr id="29" name="Text 26"/>
          <p:cNvSpPr txBox="1"/>
          <p:nvPr/>
        </p:nvSpPr>
        <p:spPr>
          <a:xfrm>
            <a:off x="4663440" y="23591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0" name="Text 27"/>
          <p:cNvSpPr txBox="1"/>
          <p:nvPr/>
        </p:nvSpPr>
        <p:spPr>
          <a:xfrm>
            <a:off x="5074920" y="228600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Your management review records could be handed to an FDA investigator today</a:t>
            </a:r>
            <a:endParaRPr lang="en-US" sz="1050" dirty="0"/>
          </a:p>
        </p:txBody>
      </p:sp>
      <p:sp>
        <p:nvSpPr>
          <p:cNvPr id="31" name="Shape 28"/>
          <p:cNvSpPr/>
          <p:nvPr/>
        </p:nvSpPr>
        <p:spPr>
          <a:xfrm>
            <a:off x="4663440" y="2907792"/>
            <a:ext cx="310896" cy="310896"/>
          </a:xfrm>
          <a:prstGeom prst="ellipse">
            <a:avLst/>
          </a:prstGeom>
          <a:solidFill>
            <a:srgbClr val="0F2A4A"/>
          </a:solidFill>
          <a:ln w="12700">
            <a:solidFill>
              <a:srgbClr val="0F2A4A"/>
            </a:solidFill>
            <a:prstDash val="solid"/>
          </a:ln>
        </p:spPr>
      </p:sp>
      <p:sp>
        <p:nvSpPr>
          <p:cNvPr id="32" name="Text 29"/>
          <p:cNvSpPr txBox="1"/>
          <p:nvPr/>
        </p:nvSpPr>
        <p:spPr>
          <a:xfrm>
            <a:off x="4663440" y="29077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33" name="Text 30"/>
          <p:cNvSpPr txBox="1"/>
          <p:nvPr/>
        </p:nvSpPr>
        <p:spPr>
          <a:xfrm>
            <a:off x="5074920" y="283464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Every site assesses complaint reportability with the same decision tree and all market timelines</a:t>
            </a:r>
            <a:endParaRPr lang="en-US" sz="1050" dirty="0"/>
          </a:p>
        </p:txBody>
      </p:sp>
      <p:sp>
        <p:nvSpPr>
          <p:cNvPr id="34" name="Shape 31"/>
          <p:cNvSpPr/>
          <p:nvPr/>
        </p:nvSpPr>
        <p:spPr>
          <a:xfrm>
            <a:off x="4663440" y="3456432"/>
            <a:ext cx="310896" cy="310896"/>
          </a:xfrm>
          <a:prstGeom prst="ellipse">
            <a:avLst/>
          </a:prstGeom>
          <a:solidFill>
            <a:srgbClr val="0F2A4A"/>
          </a:solidFill>
          <a:ln w="12700">
            <a:solidFill>
              <a:srgbClr val="0F2A4A"/>
            </a:solidFill>
            <a:prstDash val="solid"/>
          </a:ln>
        </p:spPr>
      </p:sp>
      <p:sp>
        <p:nvSpPr>
          <p:cNvPr id="35" name="Text 32"/>
          <p:cNvSpPr txBox="1"/>
          <p:nvPr/>
        </p:nvSpPr>
        <p:spPr>
          <a:xfrm>
            <a:off x="4663440" y="34564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6" name="Text 33"/>
          <p:cNvSpPr txBox="1"/>
          <p:nvPr/>
        </p:nvSpPr>
        <p:spPr>
          <a:xfrm>
            <a:off x="5074920" y="3383280"/>
            <a:ext cx="3611880" cy="475488"/>
          </a:xfrm>
          <a:prstGeom prst="rect">
            <a:avLst/>
          </a:prstGeom>
          <a:noFill/>
          <a:ln/>
        </p:spPr>
        <p:txBody>
          <a:bodyPr wrap="square" lIns="0" tIns="0" rIns="0" bIns="0" rtlCol="0" anchor="ctr"/>
          <a:lstStyle/>
          <a:p>
            <a:pPr indent="0" marL="0">
              <a:buNone/>
            </a:pPr>
            <a:r>
              <a:rPr lang="en-US" sz="1050" dirty="0">
                <a:solidFill>
                  <a:srgbClr val="1F2933"/>
                </a:solidFill>
                <a:latin typeface="Calibri" pitchFamily="34" charset="0"/>
                <a:ea typeface="Calibri" pitchFamily="34" charset="-122"/>
                <a:cs typeface="Calibri" pitchFamily="34" charset="-120"/>
              </a:rPr>
              <a:t>You have run a mock unannounced audit in the last 12 months</a:t>
            </a:r>
            <a:endParaRPr lang="en-US" sz="1050" dirty="0"/>
          </a:p>
        </p:txBody>
      </p:sp>
      <p:sp>
        <p:nvSpPr>
          <p:cNvPr id="37" name="Shape 34"/>
          <p:cNvSpPr/>
          <p:nvPr/>
        </p:nvSpPr>
        <p:spPr>
          <a:xfrm>
            <a:off x="457200" y="4023360"/>
            <a:ext cx="8229600" cy="457200"/>
          </a:xfrm>
          <a:prstGeom prst="roundRect">
            <a:avLst>
              <a:gd name="adj" fmla="val 12000"/>
            </a:avLst>
          </a:prstGeom>
          <a:solidFill>
            <a:srgbClr val="FBF2DE"/>
          </a:solidFill>
          <a:ln w="12700">
            <a:solidFill>
              <a:srgbClr val="FBF2DE"/>
            </a:solidFill>
            <a:prstDash val="solid"/>
          </a:ln>
        </p:spPr>
      </p:sp>
      <p:sp>
        <p:nvSpPr>
          <p:cNvPr id="38" name="Text 35"/>
          <p:cNvSpPr txBox="1"/>
          <p:nvPr/>
        </p:nvSpPr>
        <p:spPr>
          <a:xfrm>
            <a:off x="640080" y="4023360"/>
            <a:ext cx="7863840"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Score: 9–10 ready, keep drilling   |   6–8 exposed, and you know where   |   5 or fewer: start Monday with the reception script and the roster</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36</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SECTION 5  |  MAINTAINING A GLOBAL QMS</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Mock unannounced audits that count</a:t>
            </a:r>
            <a:endParaRPr lang="en-US" sz="2400" dirty="0"/>
          </a:p>
        </p:txBody>
      </p:sp>
      <p:sp>
        <p:nvSpPr>
          <p:cNvPr id="7" name="Shape 4"/>
          <p:cNvSpPr/>
          <p:nvPr/>
        </p:nvSpPr>
        <p:spPr>
          <a:xfrm>
            <a:off x="457200" y="1188720"/>
            <a:ext cx="1536192" cy="2651760"/>
          </a:xfrm>
          <a:prstGeom prst="roundRect">
            <a:avLst>
              <a:gd name="adj" fmla="val 3571"/>
            </a:avLst>
          </a:prstGeom>
          <a:solidFill>
            <a:srgbClr val="EAF0F6"/>
          </a:solidFill>
          <a:ln w="12700">
            <a:solidFill>
              <a:srgbClr val="EAF0F6"/>
            </a:solidFill>
            <a:prstDash val="solid"/>
          </a:ln>
        </p:spPr>
      </p:sp>
      <p:sp>
        <p:nvSpPr>
          <p:cNvPr id="8" name="Shape 5"/>
          <p:cNvSpPr/>
          <p:nvPr/>
        </p:nvSpPr>
        <p:spPr>
          <a:xfrm>
            <a:off x="585216" y="1298448"/>
            <a:ext cx="310896" cy="310896"/>
          </a:xfrm>
          <a:prstGeom prst="ellipse">
            <a:avLst/>
          </a:prstGeom>
          <a:solidFill>
            <a:srgbClr val="0F2A4A"/>
          </a:solidFill>
          <a:ln w="12700">
            <a:solidFill>
              <a:srgbClr val="0F2A4A"/>
            </a:solidFill>
            <a:prstDash val="solid"/>
          </a:ln>
        </p:spPr>
      </p:sp>
      <p:sp>
        <p:nvSpPr>
          <p:cNvPr id="9" name="Text 6"/>
          <p:cNvSpPr txBox="1"/>
          <p:nvPr/>
        </p:nvSpPr>
        <p:spPr>
          <a:xfrm>
            <a:off x="585216"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7"/>
          <p:cNvSpPr txBox="1"/>
          <p:nvPr/>
        </p:nvSpPr>
        <p:spPr>
          <a:xfrm>
            <a:off x="987552" y="1280160"/>
            <a:ext cx="877824"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Sponsor secretly</a:t>
            </a:r>
            <a:endParaRPr lang="en-US" sz="1150" dirty="0"/>
          </a:p>
        </p:txBody>
      </p:sp>
      <p:sp>
        <p:nvSpPr>
          <p:cNvPr id="11" name="Text 8"/>
          <p:cNvSpPr txBox="1"/>
          <p:nvPr/>
        </p:nvSpPr>
        <p:spPr>
          <a:xfrm>
            <a:off x="585216" y="1773936"/>
            <a:ext cx="1280160" cy="197510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Only the site head and the lead know the date. No "tidy-up" week beforehand.</a:t>
            </a:r>
            <a:endParaRPr lang="en-US" sz="950" dirty="0"/>
          </a:p>
        </p:txBody>
      </p:sp>
      <p:sp>
        <p:nvSpPr>
          <p:cNvPr id="12" name="Shape 9"/>
          <p:cNvSpPr/>
          <p:nvPr/>
        </p:nvSpPr>
        <p:spPr>
          <a:xfrm>
            <a:off x="2130552" y="1188720"/>
            <a:ext cx="1536192" cy="2651760"/>
          </a:xfrm>
          <a:prstGeom prst="roundRect">
            <a:avLst>
              <a:gd name="adj" fmla="val 3571"/>
            </a:avLst>
          </a:prstGeom>
          <a:solidFill>
            <a:srgbClr val="EAF0F6"/>
          </a:solidFill>
          <a:ln w="12700">
            <a:solidFill>
              <a:srgbClr val="EAF0F6"/>
            </a:solidFill>
            <a:prstDash val="solid"/>
          </a:ln>
        </p:spPr>
      </p:sp>
      <p:sp>
        <p:nvSpPr>
          <p:cNvPr id="13" name="Shape 10"/>
          <p:cNvSpPr/>
          <p:nvPr/>
        </p:nvSpPr>
        <p:spPr>
          <a:xfrm>
            <a:off x="2258568" y="1298448"/>
            <a:ext cx="310896" cy="310896"/>
          </a:xfrm>
          <a:prstGeom prst="ellipse">
            <a:avLst/>
          </a:prstGeom>
          <a:solidFill>
            <a:srgbClr val="0F2A4A"/>
          </a:solidFill>
          <a:ln w="12700">
            <a:solidFill>
              <a:srgbClr val="0F2A4A"/>
            </a:solidFill>
            <a:prstDash val="solid"/>
          </a:ln>
        </p:spPr>
      </p:sp>
      <p:sp>
        <p:nvSpPr>
          <p:cNvPr id="14" name="Text 11"/>
          <p:cNvSpPr txBox="1"/>
          <p:nvPr/>
        </p:nvSpPr>
        <p:spPr>
          <a:xfrm>
            <a:off x="2258568"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txBox="1"/>
          <p:nvPr/>
        </p:nvSpPr>
        <p:spPr>
          <a:xfrm>
            <a:off x="2660904" y="1280160"/>
            <a:ext cx="877824"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Use an outsider</a:t>
            </a:r>
            <a:endParaRPr lang="en-US" sz="1150" dirty="0"/>
          </a:p>
        </p:txBody>
      </p:sp>
      <p:sp>
        <p:nvSpPr>
          <p:cNvPr id="16" name="Text 13"/>
          <p:cNvSpPr txBox="1"/>
          <p:nvPr/>
        </p:nvSpPr>
        <p:spPr>
          <a:xfrm>
            <a:off x="2258568" y="1773936"/>
            <a:ext cx="1280160" cy="197510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Corporate quality from another site, or a consultant. Notified-body format: two auditors, one day.</a:t>
            </a:r>
            <a:endParaRPr lang="en-US" sz="950" dirty="0"/>
          </a:p>
        </p:txBody>
      </p:sp>
      <p:sp>
        <p:nvSpPr>
          <p:cNvPr id="17" name="Shape 14"/>
          <p:cNvSpPr/>
          <p:nvPr/>
        </p:nvSpPr>
        <p:spPr>
          <a:xfrm>
            <a:off x="3803904" y="1188720"/>
            <a:ext cx="1536192" cy="2651760"/>
          </a:xfrm>
          <a:prstGeom prst="roundRect">
            <a:avLst>
              <a:gd name="adj" fmla="val 3571"/>
            </a:avLst>
          </a:prstGeom>
          <a:solidFill>
            <a:srgbClr val="FBF2DE"/>
          </a:solidFill>
          <a:ln w="12700">
            <a:solidFill>
              <a:srgbClr val="FBF2DE"/>
            </a:solidFill>
            <a:prstDash val="solid"/>
          </a:ln>
        </p:spPr>
      </p:sp>
      <p:sp>
        <p:nvSpPr>
          <p:cNvPr id="18" name="Shape 15"/>
          <p:cNvSpPr/>
          <p:nvPr/>
        </p:nvSpPr>
        <p:spPr>
          <a:xfrm>
            <a:off x="3931920" y="1298448"/>
            <a:ext cx="310896" cy="310896"/>
          </a:xfrm>
          <a:prstGeom prst="ellipse">
            <a:avLst/>
          </a:prstGeom>
          <a:solidFill>
            <a:srgbClr val="0F2A4A"/>
          </a:solidFill>
          <a:ln w="12700">
            <a:solidFill>
              <a:srgbClr val="0F2A4A"/>
            </a:solidFill>
            <a:prstDash val="solid"/>
          </a:ln>
        </p:spPr>
      </p:sp>
      <p:sp>
        <p:nvSpPr>
          <p:cNvPr id="19" name="Text 16"/>
          <p:cNvSpPr txBox="1"/>
          <p:nvPr/>
        </p:nvSpPr>
        <p:spPr>
          <a:xfrm>
            <a:off x="3931920"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txBox="1"/>
          <p:nvPr/>
        </p:nvSpPr>
        <p:spPr>
          <a:xfrm>
            <a:off x="4334256" y="1280160"/>
            <a:ext cx="877824"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Follow product</a:t>
            </a:r>
            <a:endParaRPr lang="en-US" sz="1150" dirty="0"/>
          </a:p>
        </p:txBody>
      </p:sp>
      <p:sp>
        <p:nvSpPr>
          <p:cNvPr id="21" name="Text 18"/>
          <p:cNvSpPr txBox="1"/>
          <p:nvPr/>
        </p:nvSpPr>
        <p:spPr>
          <a:xfrm>
            <a:off x="3931920" y="1773936"/>
            <a:ext cx="1280160" cy="197510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Reception, opening meeting, sample from the line, DHR and DMR trace, supplier file, complaint and CAPA history.</a:t>
            </a:r>
            <a:endParaRPr lang="en-US" sz="950" dirty="0"/>
          </a:p>
        </p:txBody>
      </p:sp>
      <p:sp>
        <p:nvSpPr>
          <p:cNvPr id="22" name="Shape 19"/>
          <p:cNvSpPr/>
          <p:nvPr/>
        </p:nvSpPr>
        <p:spPr>
          <a:xfrm>
            <a:off x="5477256" y="1188720"/>
            <a:ext cx="1536192" cy="2651760"/>
          </a:xfrm>
          <a:prstGeom prst="roundRect">
            <a:avLst>
              <a:gd name="adj" fmla="val 3571"/>
            </a:avLst>
          </a:prstGeom>
          <a:solidFill>
            <a:srgbClr val="EAF0F6"/>
          </a:solidFill>
          <a:ln w="12700">
            <a:solidFill>
              <a:srgbClr val="EAF0F6"/>
            </a:solidFill>
            <a:prstDash val="solid"/>
          </a:ln>
        </p:spPr>
      </p:sp>
      <p:sp>
        <p:nvSpPr>
          <p:cNvPr id="23" name="Shape 20"/>
          <p:cNvSpPr/>
          <p:nvPr/>
        </p:nvSpPr>
        <p:spPr>
          <a:xfrm>
            <a:off x="5605272" y="1298448"/>
            <a:ext cx="310896" cy="310896"/>
          </a:xfrm>
          <a:prstGeom prst="ellipse">
            <a:avLst/>
          </a:prstGeom>
          <a:solidFill>
            <a:srgbClr val="0F2A4A"/>
          </a:solidFill>
          <a:ln w="12700">
            <a:solidFill>
              <a:srgbClr val="0F2A4A"/>
            </a:solidFill>
            <a:prstDash val="solid"/>
          </a:ln>
        </p:spPr>
      </p:sp>
      <p:sp>
        <p:nvSpPr>
          <p:cNvPr id="24" name="Text 21"/>
          <p:cNvSpPr txBox="1"/>
          <p:nvPr/>
        </p:nvSpPr>
        <p:spPr>
          <a:xfrm>
            <a:off x="5605272"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2"/>
          <p:cNvSpPr txBox="1"/>
          <p:nvPr/>
        </p:nvSpPr>
        <p:spPr>
          <a:xfrm>
            <a:off x="6007608" y="1280160"/>
            <a:ext cx="877824"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Grade honestly</a:t>
            </a:r>
            <a:endParaRPr lang="en-US" sz="1150" dirty="0"/>
          </a:p>
        </p:txBody>
      </p:sp>
      <p:sp>
        <p:nvSpPr>
          <p:cNvPr id="26" name="Text 23"/>
          <p:cNvSpPr txBox="1"/>
          <p:nvPr/>
        </p:nvSpPr>
        <p:spPr>
          <a:xfrm>
            <a:off x="5605272" y="1773936"/>
            <a:ext cx="1280160" cy="197510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Notified body or MDSAP definitions. Time every retrieval. Interview operators.</a:t>
            </a:r>
            <a:endParaRPr lang="en-US" sz="950" dirty="0"/>
          </a:p>
        </p:txBody>
      </p:sp>
      <p:sp>
        <p:nvSpPr>
          <p:cNvPr id="27" name="Shape 24"/>
          <p:cNvSpPr/>
          <p:nvPr/>
        </p:nvSpPr>
        <p:spPr>
          <a:xfrm>
            <a:off x="7150608" y="1188720"/>
            <a:ext cx="1536192" cy="2651760"/>
          </a:xfrm>
          <a:prstGeom prst="roundRect">
            <a:avLst>
              <a:gd name="adj" fmla="val 3571"/>
            </a:avLst>
          </a:prstGeom>
          <a:solidFill>
            <a:srgbClr val="EAF0F6"/>
          </a:solidFill>
          <a:ln w="12700">
            <a:solidFill>
              <a:srgbClr val="EAF0F6"/>
            </a:solidFill>
            <a:prstDash val="solid"/>
          </a:ln>
        </p:spPr>
      </p:sp>
      <p:sp>
        <p:nvSpPr>
          <p:cNvPr id="28" name="Shape 25"/>
          <p:cNvSpPr/>
          <p:nvPr/>
        </p:nvSpPr>
        <p:spPr>
          <a:xfrm>
            <a:off x="7278624" y="1298448"/>
            <a:ext cx="310896" cy="310896"/>
          </a:xfrm>
          <a:prstGeom prst="ellipse">
            <a:avLst/>
          </a:prstGeom>
          <a:solidFill>
            <a:srgbClr val="0F2A4A"/>
          </a:solidFill>
          <a:ln w="12700">
            <a:solidFill>
              <a:srgbClr val="0F2A4A"/>
            </a:solidFill>
            <a:prstDash val="solid"/>
          </a:ln>
        </p:spPr>
      </p:sp>
      <p:sp>
        <p:nvSpPr>
          <p:cNvPr id="29" name="Text 26"/>
          <p:cNvSpPr txBox="1"/>
          <p:nvPr/>
        </p:nvSpPr>
        <p:spPr>
          <a:xfrm>
            <a:off x="7278624" y="12984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7680960" y="1280160"/>
            <a:ext cx="877824" cy="457200"/>
          </a:xfrm>
          <a:prstGeom prst="rect">
            <a:avLst/>
          </a:prstGeom>
          <a:noFill/>
          <a:ln/>
        </p:spPr>
        <p:txBody>
          <a:bodyPr wrap="square" lIns="0" tIns="0" rIns="0" bIns="0" rtlCol="0" anchor="ctr"/>
          <a:lstStyle/>
          <a:p>
            <a:pPr indent="0" marL="0">
              <a:buNone/>
            </a:pPr>
            <a:r>
              <a:rPr lang="en-US" sz="1150" b="1" dirty="0">
                <a:solidFill>
                  <a:srgbClr val="0F2A4A"/>
                </a:solidFill>
                <a:latin typeface="Calibri" pitchFamily="34" charset="0"/>
                <a:ea typeface="Calibri" pitchFamily="34" charset="-122"/>
                <a:cs typeface="Calibri" pitchFamily="34" charset="-120"/>
              </a:rPr>
              <a:t>Debrief and track</a:t>
            </a:r>
            <a:endParaRPr lang="en-US" sz="1150" dirty="0"/>
          </a:p>
        </p:txBody>
      </p:sp>
      <p:sp>
        <p:nvSpPr>
          <p:cNvPr id="31" name="Text 28"/>
          <p:cNvSpPr txBox="1"/>
          <p:nvPr/>
        </p:nvSpPr>
        <p:spPr>
          <a:xfrm>
            <a:off x="7278624" y="1773936"/>
            <a:ext cx="1280160" cy="1975104"/>
          </a:xfrm>
          <a:prstGeom prst="rect">
            <a:avLst/>
          </a:prstGeom>
          <a:noFill/>
          <a:ln/>
        </p:spPr>
        <p:txBody>
          <a:bodyPr wrap="square" lIns="0" tIns="0" rIns="0" bIns="0" rtlCol="0" anchor="t"/>
          <a:lstStyle/>
          <a:p>
            <a:pPr indent="0" marL="0">
              <a:buNone/>
            </a:pPr>
            <a:r>
              <a:rPr lang="en-US" sz="950" dirty="0">
                <a:solidFill>
                  <a:srgbClr val="1F2933"/>
                </a:solidFill>
                <a:latin typeface="Calibri" pitchFamily="34" charset="0"/>
                <a:ea typeface="Calibri" pitchFamily="34" charset="-122"/>
                <a:cs typeface="Calibri" pitchFamily="34" charset="-120"/>
              </a:rPr>
              <a:t>Findings into CAPA; readiness KPIs into management review; repeat yearly per site and at top critical suppliers.</a:t>
            </a:r>
            <a:endParaRPr lang="en-US" sz="950" dirty="0"/>
          </a:p>
        </p:txBody>
      </p:sp>
      <p:sp>
        <p:nvSpPr>
          <p:cNvPr id="32" name="Shape 29"/>
          <p:cNvSpPr/>
          <p:nvPr/>
        </p:nvSpPr>
        <p:spPr>
          <a:xfrm>
            <a:off x="457200" y="4023360"/>
            <a:ext cx="8229600" cy="502920"/>
          </a:xfrm>
          <a:prstGeom prst="roundRect">
            <a:avLst>
              <a:gd name="adj" fmla="val 10909"/>
            </a:avLst>
          </a:prstGeom>
          <a:solidFill>
            <a:srgbClr val="0F2A4A"/>
          </a:solidFill>
          <a:ln w="12700">
            <a:solidFill>
              <a:srgbClr val="0F2A4A"/>
            </a:solidFill>
            <a:prstDash val="solid"/>
          </a:ln>
        </p:spPr>
      </p:sp>
      <p:sp>
        <p:nvSpPr>
          <p:cNvPr id="33" name="Text 30"/>
          <p:cNvSpPr txBox="1"/>
          <p:nvPr/>
        </p:nvSpPr>
        <p:spPr>
          <a:xfrm>
            <a:off x="640080" y="4023360"/>
            <a:ext cx="7863840" cy="50292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first mock audit is always humbling. That is the point: better a humbling Tuesday you chose than one your notified body chose.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37</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Five things to take back to your site</a:t>
            </a:r>
            <a:endParaRPr lang="en-US" sz="2400" dirty="0"/>
          </a:p>
        </p:txBody>
      </p:sp>
      <p:sp>
        <p:nvSpPr>
          <p:cNvPr id="7" name="Text 4"/>
          <p:cNvSpPr txBox="1"/>
          <p:nvPr/>
        </p:nvSpPr>
        <p:spPr>
          <a:xfrm>
            <a:off x="457200" y="1188720"/>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1</a:t>
            </a:r>
            <a:endParaRPr lang="en-US" sz="3000" dirty="0"/>
          </a:p>
        </p:txBody>
      </p:sp>
      <p:sp>
        <p:nvSpPr>
          <p:cNvPr id="8" name="Text 5"/>
          <p:cNvSpPr txBox="1"/>
          <p:nvPr/>
        </p:nvSpPr>
        <p:spPr>
          <a:xfrm>
            <a:off x="1097280" y="1207008"/>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Readiness is a state, not an event</a:t>
            </a:r>
            <a:endParaRPr lang="en-US" sz="1400" dirty="0"/>
          </a:p>
        </p:txBody>
      </p:sp>
      <p:sp>
        <p:nvSpPr>
          <p:cNvPr id="9" name="Text 6"/>
          <p:cNvSpPr txBox="1"/>
          <p:nvPr/>
        </p:nvSpPr>
        <p:spPr>
          <a:xfrm>
            <a:off x="1097280" y="1481328"/>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Assume auditors arrive tomorrow at 08:00. Build routines, not preparation projects.</a:t>
            </a:r>
            <a:endParaRPr lang="en-US" sz="1100" dirty="0"/>
          </a:p>
        </p:txBody>
      </p:sp>
      <p:sp>
        <p:nvSpPr>
          <p:cNvPr id="10" name="Text 7"/>
          <p:cNvSpPr txBox="1"/>
          <p:nvPr/>
        </p:nvSpPr>
        <p:spPr>
          <a:xfrm>
            <a:off x="457200" y="1847088"/>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2</a:t>
            </a:r>
            <a:endParaRPr lang="en-US" sz="3000" dirty="0"/>
          </a:p>
        </p:txBody>
      </p:sp>
      <p:sp>
        <p:nvSpPr>
          <p:cNvPr id="11" name="Text 8"/>
          <p:cNvSpPr txBox="1"/>
          <p:nvPr/>
        </p:nvSpPr>
        <p:spPr>
          <a:xfrm>
            <a:off x="1097280" y="1865376"/>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Auditors follow product</a:t>
            </a:r>
            <a:endParaRPr lang="en-US" sz="1400" dirty="0"/>
          </a:p>
        </p:txBody>
      </p:sp>
      <p:sp>
        <p:nvSpPr>
          <p:cNvPr id="12" name="Text 9"/>
          <p:cNvSpPr txBox="1"/>
          <p:nvPr/>
        </p:nvSpPr>
        <p:spPr>
          <a:xfrm>
            <a:off x="1097280" y="2139696"/>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Master the evidence chain from a unit on the line back to design and suppliers, and forward to the patient.</a:t>
            </a:r>
            <a:endParaRPr lang="en-US" sz="1100" dirty="0"/>
          </a:p>
        </p:txBody>
      </p:sp>
      <p:sp>
        <p:nvSpPr>
          <p:cNvPr id="13" name="Text 10"/>
          <p:cNvSpPr txBox="1"/>
          <p:nvPr/>
        </p:nvSpPr>
        <p:spPr>
          <a:xfrm>
            <a:off x="457200" y="2505456"/>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3</a:t>
            </a:r>
            <a:endParaRPr lang="en-US" sz="3000" dirty="0"/>
          </a:p>
        </p:txBody>
      </p:sp>
      <p:sp>
        <p:nvSpPr>
          <p:cNvPr id="14" name="Text 11"/>
          <p:cNvSpPr txBox="1"/>
          <p:nvPr/>
        </p:nvSpPr>
        <p:spPr>
          <a:xfrm>
            <a:off x="1097280" y="2523744"/>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The first hour sets the verdict</a:t>
            </a:r>
            <a:endParaRPr lang="en-US" sz="1400" dirty="0"/>
          </a:p>
        </p:txBody>
      </p:sp>
      <p:sp>
        <p:nvSpPr>
          <p:cNvPr id="15" name="Text 12"/>
          <p:cNvSpPr txBox="1"/>
          <p:nvPr/>
        </p:nvSpPr>
        <p:spPr>
          <a:xfrm>
            <a:off x="1097280" y="2798064"/>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Script, roster, roles, deputies. Reception is part of your QMS.</a:t>
            </a:r>
            <a:endParaRPr lang="en-US" sz="1100" dirty="0"/>
          </a:p>
        </p:txBody>
      </p:sp>
      <p:sp>
        <p:nvSpPr>
          <p:cNvPr id="16" name="Text 13"/>
          <p:cNvSpPr txBox="1"/>
          <p:nvPr/>
        </p:nvSpPr>
        <p:spPr>
          <a:xfrm>
            <a:off x="457200" y="3163824"/>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4</a:t>
            </a:r>
            <a:endParaRPr lang="en-US" sz="3000" dirty="0"/>
          </a:p>
        </p:txBody>
      </p:sp>
      <p:sp>
        <p:nvSpPr>
          <p:cNvPr id="17" name="Text 14"/>
          <p:cNvSpPr txBox="1"/>
          <p:nvPr/>
        </p:nvSpPr>
        <p:spPr>
          <a:xfrm>
            <a:off x="1097280" y="3182112"/>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Findings are root-cause problems</a:t>
            </a:r>
            <a:endParaRPr lang="en-US" sz="1400" dirty="0"/>
          </a:p>
        </p:txBody>
      </p:sp>
      <p:sp>
        <p:nvSpPr>
          <p:cNvPr id="18" name="Text 15"/>
          <p:cNvSpPr txBox="1"/>
          <p:nvPr/>
        </p:nvSpPr>
        <p:spPr>
          <a:xfrm>
            <a:off x="1097280" y="3456432"/>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Fix the system, verify effectiveness with data, and write records to be read.</a:t>
            </a:r>
            <a:endParaRPr lang="en-US" sz="1100" dirty="0"/>
          </a:p>
        </p:txBody>
      </p:sp>
      <p:sp>
        <p:nvSpPr>
          <p:cNvPr id="19" name="Text 16"/>
          <p:cNvSpPr txBox="1"/>
          <p:nvPr/>
        </p:nvSpPr>
        <p:spPr>
          <a:xfrm>
            <a:off x="457200" y="3822192"/>
            <a:ext cx="548640" cy="548640"/>
          </a:xfrm>
          <a:prstGeom prst="rect">
            <a:avLst/>
          </a:prstGeom>
          <a:noFill/>
          <a:ln/>
        </p:spPr>
        <p:txBody>
          <a:bodyPr wrap="square" lIns="0" tIns="0" rIns="0" bIns="0" rtlCol="0" anchor="ctr"/>
          <a:lstStyle/>
          <a:p>
            <a:pPr indent="0" marL="0">
              <a:buNone/>
            </a:pPr>
            <a:r>
              <a:rPr lang="en-US" sz="3000" b="1" dirty="0">
                <a:solidFill>
                  <a:srgbClr val="E0A126"/>
                </a:solidFill>
                <a:latin typeface="Cambria" pitchFamily="34" charset="0"/>
                <a:ea typeface="Cambria" pitchFamily="34" charset="-122"/>
                <a:cs typeface="Cambria" pitchFamily="34" charset="-120"/>
              </a:rPr>
              <a:t>5</a:t>
            </a:r>
            <a:endParaRPr lang="en-US" sz="3000" dirty="0"/>
          </a:p>
        </p:txBody>
      </p:sp>
      <p:sp>
        <p:nvSpPr>
          <p:cNvPr id="20" name="Text 17"/>
          <p:cNvSpPr txBox="1"/>
          <p:nvPr/>
        </p:nvSpPr>
        <p:spPr>
          <a:xfrm>
            <a:off x="1097280" y="3840480"/>
            <a:ext cx="7589520" cy="274320"/>
          </a:xfrm>
          <a:prstGeom prst="rect">
            <a:avLst/>
          </a:prstGeom>
          <a:noFill/>
          <a:ln/>
        </p:spPr>
        <p:txBody>
          <a:bodyPr wrap="square" lIns="0" tIns="0" rIns="0" bIns="0" rtlCol="0" anchor="ctr"/>
          <a:lstStyle/>
          <a:p>
            <a:pPr indent="0" marL="0">
              <a:buNone/>
            </a:pPr>
            <a:r>
              <a:rPr lang="en-US" sz="1400" b="1" dirty="0">
                <a:solidFill>
                  <a:srgbClr val="0F2A4A"/>
                </a:solidFill>
                <a:latin typeface="Calibri" pitchFamily="34" charset="0"/>
                <a:ea typeface="Calibri" pitchFamily="34" charset="-122"/>
                <a:cs typeface="Calibri" pitchFamily="34" charset="-120"/>
              </a:rPr>
              <a:t>A global QMS is one process with local annexes</a:t>
            </a:r>
            <a:endParaRPr lang="en-US" sz="1400" dirty="0"/>
          </a:p>
        </p:txBody>
      </p:sp>
      <p:sp>
        <p:nvSpPr>
          <p:cNvPr id="21" name="Text 18"/>
          <p:cNvSpPr txBox="1"/>
          <p:nvPr/>
        </p:nvSpPr>
        <p:spPr>
          <a:xfrm>
            <a:off x="1097280" y="4114800"/>
            <a:ext cx="7589520" cy="274320"/>
          </a:xfrm>
          <a:prstGeom prst="rect">
            <a:avLst/>
          </a:prstGeom>
          <a:noFill/>
          <a:ln/>
        </p:spPr>
        <p:txBody>
          <a:bodyPr wrap="square" lIns="0" tIns="0" rIns="0" bIns="0" rtlCol="0" anchor="t"/>
          <a:lstStyle/>
          <a:p>
            <a:pPr indent="0" marL="0">
              <a:buNone/>
            </a:pPr>
            <a:r>
              <a:rPr lang="en-US" sz="1100" dirty="0">
                <a:solidFill>
                  <a:srgbClr val="1F2933"/>
                </a:solidFill>
                <a:latin typeface="Calibri" pitchFamily="34" charset="0"/>
                <a:ea typeface="Calibri" pitchFamily="34" charset="-122"/>
                <a:cs typeface="Calibri" pitchFamily="34" charset="-120"/>
              </a:rPr>
              <a:t>Harmonize the process, localize the annex, govern the interfaces.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Your 30-60-90 day plan</a:t>
            </a:r>
            <a:endParaRPr lang="en-US" sz="2400" dirty="0"/>
          </a:p>
        </p:txBody>
      </p:sp>
      <p:sp>
        <p:nvSpPr>
          <p:cNvPr id="7" name="Shape 4"/>
          <p:cNvSpPr/>
          <p:nvPr/>
        </p:nvSpPr>
        <p:spPr>
          <a:xfrm>
            <a:off x="457200" y="1188720"/>
            <a:ext cx="2621280" cy="3383280"/>
          </a:xfrm>
          <a:prstGeom prst="roundRect">
            <a:avLst>
              <a:gd name="adj" fmla="val 2093"/>
            </a:avLst>
          </a:prstGeom>
          <a:solidFill>
            <a:srgbClr val="FBF2DE"/>
          </a:solidFill>
          <a:ln w="12700">
            <a:solidFill>
              <a:srgbClr val="FBF2DE"/>
            </a:solidFill>
            <a:prstDash val="solid"/>
          </a:ln>
        </p:spPr>
      </p:sp>
      <p:sp>
        <p:nvSpPr>
          <p:cNvPr id="8" name="Text 5"/>
          <p:cNvSpPr txBox="1"/>
          <p:nvPr/>
        </p:nvSpPr>
        <p:spPr>
          <a:xfrm>
            <a:off x="585216" y="128016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FIRST 30 DAYS</a:t>
            </a:r>
            <a:endParaRPr lang="en-US" sz="900" dirty="0"/>
          </a:p>
        </p:txBody>
      </p:sp>
      <p:sp>
        <p:nvSpPr>
          <p:cNvPr id="9" name="Text 6"/>
          <p:cNvSpPr txBox="1"/>
          <p:nvPr/>
        </p:nvSpPr>
        <p:spPr>
          <a:xfrm>
            <a:off x="585216" y="1499616"/>
            <a:ext cx="2365248" cy="329184"/>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Cheap and immediate</a:t>
            </a:r>
            <a:endParaRPr lang="en-US" sz="1300" dirty="0"/>
          </a:p>
        </p:txBody>
      </p:sp>
      <p:sp>
        <p:nvSpPr>
          <p:cNvPr id="10" name="Text 7"/>
          <p:cNvSpPr txBox="1"/>
          <p:nvPr/>
        </p:nvSpPr>
        <p:spPr>
          <a:xfrm>
            <a:off x="585216" y="1865376"/>
            <a:ext cx="2365248" cy="2615184"/>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Write the reception script and the 24/7 roster with deputies</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Build the audit go-kit: certificates, org chart, site map, procedure index, contact list, request log</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Inventory quality agreements for access and notification clauses</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Tell your notified body your shutdown calendar</a:t>
            </a:r>
            <a:endParaRPr lang="en-US" sz="1050" dirty="0"/>
          </a:p>
        </p:txBody>
      </p:sp>
      <p:sp>
        <p:nvSpPr>
          <p:cNvPr id="11" name="Shape 8"/>
          <p:cNvSpPr/>
          <p:nvPr/>
        </p:nvSpPr>
        <p:spPr>
          <a:xfrm>
            <a:off x="3261360" y="1188720"/>
            <a:ext cx="2621280" cy="3383280"/>
          </a:xfrm>
          <a:prstGeom prst="roundRect">
            <a:avLst>
              <a:gd name="adj" fmla="val 2093"/>
            </a:avLst>
          </a:prstGeom>
          <a:solidFill>
            <a:srgbClr val="EAF0F6"/>
          </a:solidFill>
          <a:ln w="12700">
            <a:solidFill>
              <a:srgbClr val="EAF0F6"/>
            </a:solidFill>
            <a:prstDash val="solid"/>
          </a:ln>
        </p:spPr>
      </p:sp>
      <p:sp>
        <p:nvSpPr>
          <p:cNvPr id="12" name="Text 9"/>
          <p:cNvSpPr txBox="1"/>
          <p:nvPr/>
        </p:nvSpPr>
        <p:spPr>
          <a:xfrm>
            <a:off x="3389376" y="128016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DAYS 31–60</a:t>
            </a:r>
            <a:endParaRPr lang="en-US" sz="900" dirty="0"/>
          </a:p>
        </p:txBody>
      </p:sp>
      <p:sp>
        <p:nvSpPr>
          <p:cNvPr id="13" name="Text 10"/>
          <p:cNvSpPr txBox="1"/>
          <p:nvPr/>
        </p:nvSpPr>
        <p:spPr>
          <a:xfrm>
            <a:off x="3389376" y="1499616"/>
            <a:ext cx="2365248" cy="329184"/>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Drill and check</a:t>
            </a:r>
            <a:endParaRPr lang="en-US" sz="1300" dirty="0"/>
          </a:p>
        </p:txBody>
      </p:sp>
      <p:sp>
        <p:nvSpPr>
          <p:cNvPr id="14" name="Text 11"/>
          <p:cNvSpPr txBox="1"/>
          <p:nvPr/>
        </p:nvSpPr>
        <p:spPr>
          <a:xfrm>
            <a:off x="3389376" y="1865376"/>
            <a:ext cx="2365248" cy="2615184"/>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Run the 30-minute DHR and traceability drill; fix what breaks</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Complete a QMSR and MDR overlay gap check against your procedure index</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Fix calibration recall and the change-impact form</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Build version 1 of the regulatory requirements matrix</a:t>
            </a:r>
            <a:endParaRPr lang="en-US" sz="1050" dirty="0"/>
          </a:p>
        </p:txBody>
      </p:sp>
      <p:sp>
        <p:nvSpPr>
          <p:cNvPr id="15" name="Shape 12"/>
          <p:cNvSpPr/>
          <p:nvPr/>
        </p:nvSpPr>
        <p:spPr>
          <a:xfrm>
            <a:off x="6065520" y="1188720"/>
            <a:ext cx="2621280" cy="3383280"/>
          </a:xfrm>
          <a:prstGeom prst="roundRect">
            <a:avLst>
              <a:gd name="adj" fmla="val 2093"/>
            </a:avLst>
          </a:prstGeom>
          <a:solidFill>
            <a:srgbClr val="EAF0F6"/>
          </a:solidFill>
          <a:ln w="12700">
            <a:solidFill>
              <a:srgbClr val="EAF0F6"/>
            </a:solidFill>
            <a:prstDash val="solid"/>
          </a:ln>
        </p:spPr>
      </p:sp>
      <p:sp>
        <p:nvSpPr>
          <p:cNvPr id="16" name="Text 13"/>
          <p:cNvSpPr txBox="1"/>
          <p:nvPr/>
        </p:nvSpPr>
        <p:spPr>
          <a:xfrm>
            <a:off x="6193536" y="1280160"/>
            <a:ext cx="2365248" cy="182880"/>
          </a:xfrm>
          <a:prstGeom prst="rect">
            <a:avLst/>
          </a:prstGeom>
          <a:noFill/>
          <a:ln/>
        </p:spPr>
        <p:txBody>
          <a:bodyPr wrap="square" lIns="0" tIns="0" rIns="0" bIns="0" rtlCol="0" anchor="ctr"/>
          <a:lstStyle/>
          <a:p>
            <a:pPr indent="0" marL="0">
              <a:buNone/>
            </a:pPr>
            <a:r>
              <a:rPr lang="en-US" sz="900" b="1" spc="150" kern="0" dirty="0">
                <a:solidFill>
                  <a:srgbClr val="A8730F"/>
                </a:solidFill>
                <a:latin typeface="Calibri" pitchFamily="34" charset="0"/>
                <a:ea typeface="Calibri" pitchFamily="34" charset="-122"/>
                <a:cs typeface="Calibri" pitchFamily="34" charset="-120"/>
              </a:rPr>
              <a:t>DAYS 61–90</a:t>
            </a:r>
            <a:endParaRPr lang="en-US" sz="900" dirty="0"/>
          </a:p>
        </p:txBody>
      </p:sp>
      <p:sp>
        <p:nvSpPr>
          <p:cNvPr id="17" name="Text 14"/>
          <p:cNvSpPr txBox="1"/>
          <p:nvPr/>
        </p:nvSpPr>
        <p:spPr>
          <a:xfrm>
            <a:off x="6193536" y="1499616"/>
            <a:ext cx="2365248" cy="329184"/>
          </a:xfrm>
          <a:prstGeom prst="rect">
            <a:avLst/>
          </a:prstGeom>
          <a:noFill/>
          <a:ln/>
        </p:spPr>
        <p:txBody>
          <a:bodyPr wrap="square" lIns="0" tIns="0" rIns="0" bIns="0" rtlCol="0" anchor="ctr"/>
          <a:lstStyle/>
          <a:p>
            <a:pPr indent="0" marL="0">
              <a:buNone/>
            </a:pPr>
            <a:r>
              <a:rPr lang="en-US" sz="1300" b="1" dirty="0">
                <a:solidFill>
                  <a:srgbClr val="0F2A4A"/>
                </a:solidFill>
                <a:latin typeface="Calibri" pitchFamily="34" charset="0"/>
                <a:ea typeface="Calibri" pitchFamily="34" charset="-122"/>
                <a:cs typeface="Calibri" pitchFamily="34" charset="-120"/>
              </a:rPr>
              <a:t>Prove it</a:t>
            </a:r>
            <a:endParaRPr lang="en-US" sz="1300" dirty="0"/>
          </a:p>
        </p:txBody>
      </p:sp>
      <p:sp>
        <p:nvSpPr>
          <p:cNvPr id="18" name="Text 15"/>
          <p:cNvSpPr txBox="1"/>
          <p:nvPr/>
        </p:nvSpPr>
        <p:spPr>
          <a:xfrm>
            <a:off x="6193536" y="1865376"/>
            <a:ext cx="2365248" cy="2615184"/>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Run a mock unannounced audit at one site and one critical supplier</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Add readiness KPIs to management review</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Retire duplicate site procedures onto the global tier</a:t>
            </a:r>
            <a:endParaRPr lang="en-US" sz="1050" dirty="0"/>
          </a:p>
          <a:p>
            <a:pPr marL="342900" indent="-342900">
              <a:spcAft>
                <a:spcPts val="500"/>
              </a:spcAft>
              <a:buSzPct val="100000"/>
              <a:buChar char="•"/>
            </a:pPr>
            <a:r>
              <a:rPr lang="en-US" sz="1050" dirty="0">
                <a:solidFill>
                  <a:srgbClr val="1F2933"/>
                </a:solidFill>
                <a:latin typeface="Calibri" pitchFamily="34" charset="0"/>
                <a:ea typeface="Calibri" pitchFamily="34" charset="-122"/>
                <a:cs typeface="Calibri" pitchFamily="34" charset="-120"/>
              </a:rPr>
              <a:t>Schedule the next drill and the annual cycle</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5A6B7B"/>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5A6B7B"/>
                </a:solidFill>
                <a:latin typeface="Calibri" pitchFamily="34" charset="0"/>
                <a:ea typeface="Calibri" pitchFamily="34" charset="-122"/>
                <a:cs typeface="Calibri" pitchFamily="34" charset="-120"/>
              </a:rPr>
              <a:t>39</a:t>
            </a:r>
            <a:endParaRPr lang="en-US" sz="900" dirty="0"/>
          </a:p>
        </p:txBody>
      </p:sp>
      <p:sp>
        <p:nvSpPr>
          <p:cNvPr id="4" name="Text 2"/>
          <p:cNvSpPr txBox="1"/>
          <p:nvPr/>
        </p:nvSpPr>
        <p:spPr>
          <a:xfrm>
            <a:off x="457200" y="274320"/>
            <a:ext cx="8229600" cy="219456"/>
          </a:xfrm>
          <a:prstGeom prst="rect">
            <a:avLst/>
          </a:prstGeom>
          <a:noFill/>
          <a:ln/>
        </p:spPr>
        <p:txBody>
          <a:bodyPr wrap="square" lIns="0" tIns="0" rIns="0" bIns="0" rtlCol="0" anchor="ctr"/>
          <a:lstStyle/>
          <a:p>
            <a:pPr indent="0" marL="0">
              <a:buNone/>
            </a:pPr>
            <a:r>
              <a:rPr lang="en-US" sz="1000" b="1" spc="200" kern="0" dirty="0">
                <a:solidFill>
                  <a:srgbClr val="A8730F"/>
                </a:solidFill>
                <a:latin typeface="Calibri" pitchFamily="34" charset="0"/>
                <a:ea typeface="Calibri" pitchFamily="34" charset="-122"/>
                <a:cs typeface="Calibri" pitchFamily="34" charset="-120"/>
              </a:rPr>
              <a:t>CLOSE</a:t>
            </a:r>
            <a:endParaRPr lang="en-US" sz="1000" dirty="0"/>
          </a:p>
        </p:txBody>
      </p:sp>
      <p:sp>
        <p:nvSpPr>
          <p:cNvPr id="5" name="Text 3"/>
          <p:cNvSpPr txBox="1"/>
          <p:nvPr/>
        </p:nvSpPr>
        <p:spPr>
          <a:xfrm>
            <a:off x="457200" y="502920"/>
            <a:ext cx="8229600" cy="548640"/>
          </a:xfrm>
          <a:prstGeom prst="rect">
            <a:avLst/>
          </a:prstGeom>
          <a:noFill/>
          <a:ln/>
        </p:spPr>
        <p:txBody>
          <a:bodyPr wrap="square" lIns="0" tIns="0" rIns="0" bIns="0" rtlCol="0" anchor="t"/>
          <a:lstStyle/>
          <a:p>
            <a:pPr indent="0" marL="0">
              <a:buNone/>
            </a:pPr>
            <a:r>
              <a:rPr lang="en-US" sz="2400" b="1" dirty="0">
                <a:solidFill>
                  <a:srgbClr val="0F2A4A"/>
                </a:solidFill>
                <a:latin typeface="Cambria" pitchFamily="34" charset="0"/>
                <a:ea typeface="Cambria" pitchFamily="34" charset="-122"/>
                <a:cs typeface="Cambria" pitchFamily="34" charset="-120"/>
              </a:rPr>
              <a:t>References and resources</a:t>
            </a:r>
            <a:endParaRPr lang="en-US" sz="2400" dirty="0"/>
          </a:p>
        </p:txBody>
      </p:sp>
      <p:sp>
        <p:nvSpPr>
          <p:cNvPr id="7" name="Shape 4"/>
          <p:cNvSpPr/>
          <p:nvPr/>
        </p:nvSpPr>
        <p:spPr>
          <a:xfrm>
            <a:off x="457200" y="1188720"/>
            <a:ext cx="4023360" cy="3383280"/>
          </a:xfrm>
          <a:prstGeom prst="roundRect">
            <a:avLst>
              <a:gd name="adj" fmla="val 1622"/>
            </a:avLst>
          </a:prstGeom>
          <a:solidFill>
            <a:srgbClr val="EAF0F6"/>
          </a:solidFill>
          <a:ln w="12700">
            <a:solidFill>
              <a:srgbClr val="EAF0F6"/>
            </a:solidFill>
            <a:prstDash val="solid"/>
          </a:ln>
        </p:spPr>
      </p:sp>
      <p:sp>
        <p:nvSpPr>
          <p:cNvPr id="8" name="Text 5"/>
          <p:cNvSpPr txBox="1"/>
          <p:nvPr/>
        </p:nvSpPr>
        <p:spPr>
          <a:xfrm>
            <a:off x="58521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Standards</a:t>
            </a:r>
            <a:endParaRPr lang="en-US" sz="1250" dirty="0"/>
          </a:p>
        </p:txBody>
      </p:sp>
      <p:sp>
        <p:nvSpPr>
          <p:cNvPr id="9" name="Text 6"/>
          <p:cNvSpPr txBox="1"/>
          <p:nvPr/>
        </p:nvSpPr>
        <p:spPr>
          <a:xfrm>
            <a:off x="58521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ISO 13485:2016 Medical devices — Quality management systems, plus Amd 1:2024</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EN ISO 13485:2016+A11:2021 (harmonised, MDR/IVDR Annexes ZA/ZB)</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ISO 14971:2019 Risk management; ISO/TR 24971:2020 guidance</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ISO 19011:2018 Guidelines for auditing management systems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IEC 62304 (software), ISO 11607 (packaging), ISO 14155 (clinical), ISO 10993 (biocompatibility)</a:t>
            </a:r>
            <a:endParaRPr lang="en-US" sz="1000" dirty="0"/>
          </a:p>
        </p:txBody>
      </p:sp>
      <p:sp>
        <p:nvSpPr>
          <p:cNvPr id="10" name="Shape 7"/>
          <p:cNvSpPr/>
          <p:nvPr/>
        </p:nvSpPr>
        <p:spPr>
          <a:xfrm>
            <a:off x="4663440" y="1188720"/>
            <a:ext cx="4023360" cy="3383280"/>
          </a:xfrm>
          <a:prstGeom prst="roundRect">
            <a:avLst>
              <a:gd name="adj" fmla="val 1622"/>
            </a:avLst>
          </a:prstGeom>
          <a:solidFill>
            <a:srgbClr val="FBF2DE"/>
          </a:solidFill>
          <a:ln w="12700">
            <a:solidFill>
              <a:srgbClr val="FBF2DE"/>
            </a:solidFill>
            <a:prstDash val="solid"/>
          </a:ln>
        </p:spPr>
      </p:sp>
      <p:sp>
        <p:nvSpPr>
          <p:cNvPr id="11" name="Text 8"/>
          <p:cNvSpPr txBox="1"/>
          <p:nvPr/>
        </p:nvSpPr>
        <p:spPr>
          <a:xfrm>
            <a:off x="4791456" y="1280160"/>
            <a:ext cx="3767328" cy="329184"/>
          </a:xfrm>
          <a:prstGeom prst="rect">
            <a:avLst/>
          </a:prstGeom>
          <a:noFill/>
          <a:ln/>
        </p:spPr>
        <p:txBody>
          <a:bodyPr wrap="square" lIns="0" tIns="0" rIns="0" bIns="0" rtlCol="0" anchor="ctr"/>
          <a:lstStyle/>
          <a:p>
            <a:pPr indent="0" marL="0">
              <a:buNone/>
            </a:pPr>
            <a:r>
              <a:rPr lang="en-US" sz="1250" b="1" dirty="0">
                <a:solidFill>
                  <a:srgbClr val="0F2A4A"/>
                </a:solidFill>
                <a:latin typeface="Calibri" pitchFamily="34" charset="0"/>
                <a:ea typeface="Calibri" pitchFamily="34" charset="-122"/>
                <a:cs typeface="Calibri" pitchFamily="34" charset="-120"/>
              </a:rPr>
              <a:t>Regulations and guidance</a:t>
            </a:r>
            <a:endParaRPr lang="en-US" sz="1250" dirty="0"/>
          </a:p>
        </p:txBody>
      </p:sp>
      <p:sp>
        <p:nvSpPr>
          <p:cNvPr id="12" name="Text 9"/>
          <p:cNvSpPr txBox="1"/>
          <p:nvPr/>
        </p:nvSpPr>
        <p:spPr>
          <a:xfrm>
            <a:off x="4791456" y="1645920"/>
            <a:ext cx="3767328" cy="283464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21 CFR Part 820 (QMSR, effective 2 Feb 2026); Parts 803, 806, 807, 830</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FDA Compliance Program 7382.845, Inspection of Medical Device Manufacturers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EU MDR 2017/745 and IVDR 2017/746; Annex IX §3.4; Commission Recommendation 2013/473/EU; MDCG guidance documents</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MDSAP Audit Approach (MDSAP AU P0002) and Companion Document (MDSAP AU G0002); GHTF/SG3/N19:2012 nonconformity grading</a:t>
            </a:r>
            <a:endParaRPr lang="en-US" sz="1000" dirty="0"/>
          </a:p>
          <a:p>
            <a:pPr marL="342900" indent="-342900">
              <a:spcAft>
                <a:spcPts val="400"/>
              </a:spcAft>
              <a:buSzPct val="100000"/>
              <a:buChar char="•"/>
            </a:pPr>
            <a:r>
              <a:rPr lang="en-US" sz="1000" dirty="0">
                <a:solidFill>
                  <a:srgbClr val="1F2933"/>
                </a:solidFill>
                <a:latin typeface="Calibri" pitchFamily="34" charset="0"/>
                <a:ea typeface="Calibri" pitchFamily="34" charset="-122"/>
                <a:cs typeface="Calibri" pitchFamily="34" charset="-120"/>
              </a:rPr>
              <a:t>UK Medical Devices Regulations 2002 (as amended); Health Canada Medical Devices Regulations SOR/98-282</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8"/>
        </a:solidFill>
      </p:bgPr>
    </p:bg>
    <p:spTree>
      <p:nvGrpSpPr>
        <p:cNvPr id="1" name=""/>
        <p:cNvGrpSpPr/>
        <p:nvPr/>
      </p:nvGrpSpPr>
      <p:grpSpPr>
        <a:xfrm>
          <a:off x="0" y="0"/>
          <a:ext cx="0" cy="0"/>
          <a:chOff x="0" y="0"/>
          <a:chExt cx="0" cy="0"/>
        </a:xfrm>
      </p:grpSpPr>
      <p:sp>
        <p:nvSpPr>
          <p:cNvPr id="2" name="Text 0"/>
          <p:cNvSpPr txBox="1"/>
          <p:nvPr/>
        </p:nvSpPr>
        <p:spPr>
          <a:xfrm>
            <a:off x="457200" y="4814316"/>
            <a:ext cx="5943600" cy="201168"/>
          </a:xfrm>
          <a:prstGeom prst="rect">
            <a:avLst/>
          </a:prstGeom>
          <a:noFill/>
          <a:ln/>
        </p:spPr>
        <p:txBody>
          <a:bodyPr wrap="square" lIns="0" tIns="0" rIns="0" bIns="0" rtlCol="0" anchor="ctr"/>
          <a:lstStyle/>
          <a:p>
            <a:pPr indent="0" marL="0">
              <a:buNone/>
            </a:pPr>
            <a:r>
              <a:rPr lang="en-US" sz="900" dirty="0">
                <a:solidFill>
                  <a:srgbClr val="8FA1B5"/>
                </a:solidFill>
                <a:latin typeface="Calibri" pitchFamily="34" charset="0"/>
                <a:ea typeface="Calibri" pitchFamily="34" charset="-122"/>
                <a:cs typeface="Calibri" pitchFamily="34" charset="-120"/>
              </a:rPr>
              <a:t>ISO 13485 &amp; Audit Readiness  |  Elder Consulting, LLC</a:t>
            </a:r>
            <a:endParaRPr lang="en-US" sz="900" dirty="0"/>
          </a:p>
        </p:txBody>
      </p:sp>
      <p:sp>
        <p:nvSpPr>
          <p:cNvPr id="3" name="Text 1"/>
          <p:cNvSpPr txBox="1"/>
          <p:nvPr/>
        </p:nvSpPr>
        <p:spPr>
          <a:xfrm>
            <a:off x="8138160" y="4814316"/>
            <a:ext cx="548640" cy="201168"/>
          </a:xfrm>
          <a:prstGeom prst="rect">
            <a:avLst/>
          </a:prstGeom>
          <a:noFill/>
          <a:ln/>
        </p:spPr>
        <p:txBody>
          <a:bodyPr wrap="square" lIns="0" tIns="0" rIns="0" bIns="0" rtlCol="0" anchor="ctr"/>
          <a:lstStyle/>
          <a:p>
            <a:pPr algn="r" indent="0" marL="0">
              <a:buNone/>
            </a:pPr>
            <a:r>
              <a:rPr lang="en-US" sz="900" dirty="0">
                <a:solidFill>
                  <a:srgbClr val="8FA1B5"/>
                </a:solidFill>
                <a:latin typeface="Calibri" pitchFamily="34" charset="0"/>
                <a:ea typeface="Calibri" pitchFamily="34" charset="-122"/>
                <a:cs typeface="Calibri" pitchFamily="34" charset="-120"/>
              </a:rPr>
              <a:t>40</a:t>
            </a:r>
            <a:endParaRPr lang="en-US" sz="900" dirty="0"/>
          </a:p>
        </p:txBody>
      </p:sp>
      <p:sp>
        <p:nvSpPr>
          <p:cNvPr id="4" name="Text 2"/>
          <p:cNvSpPr txBox="1"/>
          <p:nvPr/>
        </p:nvSpPr>
        <p:spPr>
          <a:xfrm>
            <a:off x="457200" y="1554480"/>
            <a:ext cx="822960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5" name="Text 3"/>
          <p:cNvSpPr txBox="1"/>
          <p:nvPr/>
        </p:nvSpPr>
        <p:spPr>
          <a:xfrm>
            <a:off x="457200" y="2423160"/>
            <a:ext cx="7772400" cy="457200"/>
          </a:xfrm>
          <a:prstGeom prst="rect">
            <a:avLst/>
          </a:prstGeom>
          <a:noFill/>
          <a:ln/>
        </p:spPr>
        <p:txBody>
          <a:bodyPr wrap="square" lIns="0" tIns="0" rIns="0" bIns="0" rtlCol="0" anchor="t"/>
          <a:lstStyle/>
          <a:p>
            <a:pPr indent="0" marL="0">
              <a:buNone/>
            </a:pPr>
            <a:r>
              <a:rPr lang="en-US" sz="1800" i="1" dirty="0">
                <a:solidFill>
                  <a:srgbClr val="E0A126"/>
                </a:solidFill>
                <a:latin typeface="Calibri" pitchFamily="34" charset="0"/>
                <a:ea typeface="Calibri" pitchFamily="34" charset="-122"/>
                <a:cs typeface="Calibri" pitchFamily="34" charset="-120"/>
              </a:rPr>
              <a:t>What would break first if they knocked tomorrow at 08:00?</a:t>
            </a:r>
            <a:endParaRPr lang="en-US" sz="1800" dirty="0"/>
          </a:p>
        </p:txBody>
      </p:sp>
      <p:sp>
        <p:nvSpPr>
          <p:cNvPr id="6" name="Text 4"/>
          <p:cNvSpPr txBox="1"/>
          <p:nvPr/>
        </p:nvSpPr>
        <p:spPr>
          <a:xfrm>
            <a:off x="457200" y="3383280"/>
            <a:ext cx="82296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[Speaker name]   |   [email]   |   Elder Consulting, LLC</a:t>
            </a:r>
            <a:endParaRPr lang="en-US" sz="1300" dirty="0"/>
          </a:p>
        </p:txBody>
      </p:sp>
      <p:sp>
        <p:nvSpPr>
          <p:cNvPr id="7" name="Text 5"/>
          <p:cNvSpPr txBox="1"/>
          <p:nvPr/>
        </p:nvSpPr>
        <p:spPr>
          <a:xfrm>
            <a:off x="457200" y="3703320"/>
            <a:ext cx="8229600" cy="274320"/>
          </a:xfrm>
          <a:prstGeom prst="rect">
            <a:avLst/>
          </a:prstGeom>
          <a:noFill/>
          <a:ln/>
        </p:spPr>
        <p:txBody>
          <a:bodyPr wrap="square" lIns="0" tIns="0" rIns="0" bIns="0" rtlCol="0" anchor="t"/>
          <a:lstStyle/>
          <a:p>
            <a:pPr indent="0" marL="0">
              <a:buNone/>
            </a:pPr>
            <a:r>
              <a:rPr lang="en-US" sz="1100" dirty="0">
                <a:solidFill>
                  <a:srgbClr val="C9D3DE"/>
                </a:solidFill>
                <a:latin typeface="Calibri" pitchFamily="34" charset="0"/>
                <a:ea typeface="Calibri" pitchFamily="34" charset="-122"/>
                <a:cs typeface="Calibri" pitchFamily="34" charset="-120"/>
              </a:rPr>
              <a:t>Participant Handout and Case Study Workshop Pack: [link or QR code]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Elder Consulting,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 13485 &amp; Audit Readiness</dc:title>
  <dc:subject>Medical Device Seminar - case studies on surviving unannounced audits and maintaining a global QMS</dc:subject>
  <dc:creator>Elder Consulting, LLC</dc:creator>
  <cp:lastModifiedBy>Elder Consulting, LLC</cp:lastModifiedBy>
  <cp:revision>1</cp:revision>
  <dcterms:created xsi:type="dcterms:W3CDTF">2026-09-16T09:51:21Z</dcterms:created>
  <dcterms:modified xsi:type="dcterms:W3CDTF">2026-09-16T09:51:21Z</dcterms:modified>
</cp:coreProperties>
</file>