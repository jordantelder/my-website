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(0:00-0:02)
Set the frame before the agenda. Something like: 'Everything in this room used to be mechanical. Now the part of your device most likely to hurt a patient, and most likely to get you a Warning Letter, is the part you cannot see, cannot touch, and can change on a Tuesday afternoon without anyone signing a drawing.'
Two promises to make up front:
1) This is not a lecture on paperwork. Every requirement we cover traces back to a patient-harm mechanism.
2) They will leave with something usable: a workbook, two worksheets, and a quick-reference card.
Housekeeping: interruptions welcome throughout; two working sessions where they do the thinking; workbook has note pages keyed to each section so they can stop transcribing slides.
BEFORE YOU PRESENT: guidance dates in this deck were verified against fda.gov when it was prepared, but FDA reissues these documents — re-check before you stand up. Slide 51 lists every source. The two that have moved recently are the premarket cybersecurity guidance (current edition June 2025) and Computer Software Assurance (finalised September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(0:02-0:04)
Keep this to 90 seconds. The point is to show them the shape of the session, not to read it.
Two things worth flagging out loud:
- Parts 2 and 3 are deliberately separated so the distinctions land, then Part 4 puts them back together. Tell them that now, because the honest answer is that validation and security are ONE lifecycle, and you do not want them leaving with two silos reinforced.
- The working sessions are at the end of Part 2 and the end of Part 3. Tables of 4-6. Ask them to sit with people they do not work with daily.
TIMING DISCIPLINE: Part 3 is the one that overruns. If you are behind entering Part 3, cut slides 24-26 (PCCP / AI / agile) rather than compressing the exercises — the exercises are where the learning actually happens.
Facilitator guide has a full run-of-show with clock times and cut-lines.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(0:04-0:06)
Do not read all six. Read 1, 3 and 6, and say 'the rest are in your workbook.'
The framing line that matters: notice these are all verbs. The failure mode in this field is people who can recite '62304' and 'SBOM' but cannot tell you what their own device's safety class is or who owns the vulnerability inbox. Awareness is not the deliverable.
Objective 6 is the one to emphasise — it licenses them to spend the session thinking about their own product rather than taking general notes. Encourage them to keep a running gap list on the workbook's action page from slide one.
Optional: ask for a show of hands on 'who can name the person at your company who receives vulnerability reports from outside researchers?' It usually lands as a quiet room, and it sets up Part 3 nicely. Do not labour it if the room is senior — they may well have that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ROOM CALIBRATION (0:06-0:09) — INTERACTIVE
This is worth the three minutes. It tells you how to pitch the next 80, and it makes the room participatory before you have said anything didactic.
How to read the hands:
- Mostly A, few B: hardware-led room. Spend more time on SOUP, OTS software, legacy and patch distribution. Compress the SaMD-specific material.
- Many B: digital-health room. Spend more on cloud validation, agile/CI-CD, PCCP, AI/ML, and the 'my device is a web service' problems. They usually under-invest in 62304 rigour.
- Few hands on C: a genuinely useful moment. Say plainly — 'if your device is connected and you have never shipped a security patch, that is not evidence you have no vulnerabilities; it is evidence you are not looking.' Section 524B now makes 'not looking' a compliance problem, not just an engineering one.
- Any hands on D: ask ONE of them what happened, in 30 seconds. A real story from the room beats any case study on my slides. Have a follow-up ready: 'how long from receipt to someone technical reading it?'
Do not let this run past three minutes. If a war story starts unspooling, thank them and say you will come back to it in Part 3 — then actually do, at slide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 you should be at 0:09.
If you are past 0:12, you overran the opening. Recover by taking slide 7 (the timeline) down to three items instead of five, and skip the show of hands on slide 8.
Set up Part 1 in one line: 'Before we talk about what to do, fifteen minutes on why the ground moved — because most of the requirements we will cover only make sense once you see what they are responding to.'
Part 1's job is to earn attention for Parts 2 and 3. Slide 11 is the one that has to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CONVERGENCE (0:09-0:13)
Spend about 60-70 seconds per force. The payoff is the callout at the bottom — do not rush to it.
Force 1 — connected. The line that lands: 'a mechanical failure mode is bounded by physics. A network failure mode is bounded by whoever is on the network.' Also note the asymmetry of time: you designed the connectivity in 2019, you will support the device until 2034, and the threat environment of 2034 is not something you assessed.
Force 2 — software IS the device. For SaMD there is no hardware interlock underneath the algorithm. Contrast with an infusion pump, where a mechanical occlusion sensor can still catch some software faults. This is why documentation level and safety class matter more for pure software, not less.
Force 3 — economics. Be careful here: do NOT overstate targeted attacks on devices. The honest picture is that most device impact is collateral — the hospital gets hit, and devices running an unsupported OS on the flat network go down with it. WannaCry in 2017 is the canonical example; it was never aimed at medical devices, and it took them out anyway. That framing is both more accurate and more useful, because it changes what you defend against.
The callout: this is the thesis of the whole seminar. Say it slowly. Fifteen-year service life against a threat model that turns over every eighteen months is the structural problem, and no single guidance document solves it — which is exactly why the obligations are now lifecycle obligations rather than submission obligations.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CHANGED (0:13-0:18)
This is the densest slide in Part 1. Do not read all five. Land three points:
1) 524B is a STATUTE, not guidance. This is the single most important distinction on the slide. Guidance describes FDA's current thinking and you may argue an alternative approach. A statutory requirement is not negotiable, and FDA has refuse-to-accept authority — your submission does not get reviewed, it gets returned. If someone in your organisation still treats cybersecurity documentation as a nice-to-have, this is the slide that ends that conversation.
2) The vocabulary changed underneath people. Level of Concern is gone. If your templates, SOPs or submission checklists still say 'Moderate Level of Concern', they are citing a retired framework — and that is a visible signal to a reviewer about how current your QMS is. Ask the room: how many have updated their software SOP templates since 2023? The hands tell you a lot.
3) QMSR is in force NOW — since February 2026. The requirements did not fundamentally change, but the citations did. Your design control procedures referencing 820.30(g) need to reference ISO 13485 clause 7.3.7. This is unglamorous documentation work that teams keep deferring.
Worth saying out loud: five significant changes in under three years. If your software and security procedures have not been revised in that window, they are out of date — that is arithmetic, not an accusation.
VERIFY BEFORE PRESENTING: check FDA's guidance database for any newer revisions. These documents do get reissued.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TAXONOMY (0:18-0:21)
The distinction people actually get wrong is not SaMD vs SiMD — it is assuming a product has ONE classification. That is the callout, and it is the most useful thing on the slide.
Worked example to say aloud (it sets up Exercise 1 directly): a remote cardiac monitoring system. The wearable patch firmware is SiMD. The arrhythmia detection algorithm running in the cloud is SaMD. The clinician's scheduling and billing module is probably not a device at all. Three classifications, one product, one submission — and three different evidence expectations.
On the Cures Act exclusions: be careful and be humble. The clinical decision support carve-out in s.520(o)(1)(E) is genuinely narrow and it is where companies most often talk themselves into a position they cannot defend. The critical condition is that the software must enable the clinician to INDEPENDENTLY REVIEW THE BASIS for the recommendation — if the clinician cannot reasonably do that, you are not in the exclusion. 'Our model is proprietary' and 'we are not a device' are very difficult to hold simultaneously. FDA's September 2022 CDS guidance is the document to read; point them at it rather than trying to resolve edge cases in the room.
If someone asks about general wellness: the boundary is claims. The moment you claim a specific disease or condition, you are out of the wellness exemption regardless of what the marketing team wanted.
Do not get drawn into adjudicating a specific attendee product here. Offer to take it at the break — and mean it, those conversations are where the real value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IMDRF MATRIX (0:21-0:24)
Walk the axes once, then get to the point at the bottom.
Across — significance of the information the software provides:
- Inform: the output is one input among many; the clinician has time and other sources.
- Drive: the output is used to guide the next clinical action.
- Treat or diagnose: the output IS the diagnosis, or directly drives therapy delivery.
Down — state of the healthcare situation: how time-critical and how severe. Critical means the patient deteriorates without timely intervention.
THE POINT (the bottom card): resist the urge to treat this as a classification algorithm. It is an IMDRF harmonisation framework and FDA does not use it to assign device class. Its real value in the room is diagnostic: ask a product team where they sit and you will often get three different answers from the clinical lead, the regulatory lead and the engineer. That disagreement is the finding. It means the intended use statement is underspecified, and everything downstream — safety class, documentation level, validation scope, security risk — inherits that ambiguity.
Good challenge question for the room: 'Does your marketing material claim a column further right than your regulatory submission does?' That gap is a real and common compliance exposure, and it lands harder than anything I can put on a slide.
If a European-heavy room asks: MDR classification uses Rule 11, which is a different instrument again; MDCG 2019-11 is the reference. Flag it and move on — slide 10 covers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REGULATORY MAP (0:24-0:27)
Do not read the table. Use it as a reference they will photograph, and make three points.
1) The instruments are converging in substance and diverging in vocabulary. Everyone now wants: a defined software lifecycle, risk management that covers security as well as safety, and evidence that you maintain the thing after you ship it. If you build one strong lifecycle, you can map it to each jurisdiction. If you build to one jurisdiction's checklist, you will rebuild for the next.
2) The 'cyber device' definition under 524B catches more than people expect. The statutory test is essentially: software validated, installed or authorised by the sponsor; the ability to connect to the internet; and technological characteristics that could be vulnerable to cyber threats. Note 'ability to connect' — not 'is connected', not 'is intended to connect'. A Bluetooth service port that a technician uses counts. Teams that concluded 'we are not connected' on the basis of intended use should re-read the statute.
3) The CRA point is a genuinely useful piece of nuance for EU-facing attendees. Regulation (EU) 2024/2847 broadly carves out products already covered by MDR/IVDR to avoid double regulation — but companion apps, portals and analytics tools that are NOT regulated as devices may fall inside it. So the answer to 'does the CRA apply to us?' is usually 'not to the device, possibly to the rest of your portfolio.' Recommend they map their product estate rather than answering at company level.
If asked about UK, Canada, Japan, China: same direction of travel, different timing. Offer to discuss specifics at the break rather than improvising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RISK LANGUAGES (0:27-0:31)
This is the conceptual spine of the seminar. If they remember one slide from Part 1, make it this one. Slow down.
The central insight — probability vs exploitability. ISO 14971 asks you to estimate probability of occurrence of harm. That works for a component that fails at a known rate. It does NOT work for an adversary, for two reasons: you have no base rate, and the adversary is reactive. Add a control and a random failure mode becomes less likely; add a control and an attacker tries a different route. So security risk assessment substitutes exploitability — how feasible is this attack, given required access, skill, equipment and window of opportunity.
This is precisely why AAMI SW96 exists as a separate standard rather than an annex to 14971, and why FDA's guidance asks for a security risk management process that is distinct from, but interfaces with, the safety process.
Where teams go wrong, both directions:
- Merging them: putting CVSS scores into the 14971 hazard analysis and calling it done. This understates risk, because a low-probability entry in a safety matrix implies something that CVSS never claimed.
- Divorcing them: a security team producing threat models that never reach the risk management file, so exploitable paths to patient harm are never assessed as hazardous situations. This is the more common failure, and it is the one an auditor will find.
The bridge, stated concretely: 'an attacker on the same network can alter the infusion rate' is a security finding. 'Unintended delivery of an incorrect dose' is a hazardous situation in your 14971 file. The security analysis supplies the cause; the safety analysis owns the harm and the control adequacy.
TRANSITION to Part 2: 'Hold that distinction. We will spend 25 minutes on validation, which is mostly the third column — then 30 on security, which is mostly the second. Part 4 is about the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 you should be at 0:31.
25 minutes to slide 29, where Working Session 1 starts at 1:21. That is a firm handover — the exercise needs its full 12 minutes and Part 3 needs its full 30.
If you are behind entering Part 2, drop slide 24 (PCCP) and slide 26 (agile/cloud) first. If still behind by slide 20, cut slide 18 to the unresolved-anomalies point alone.
Transition line: 'Hold the three-risk distinction. The next twenty-five minutes are mostly the third column — how you build evidence that your process did not let a defect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(0:31-0:34)
Fast but firm. The distinction seems academic until you see what it costs.
Verification vs validation, made concrete: your specification says the pump delivers within ±5% of the set rate. Verification proves it does. Validation asks whether ±5% is clinically acceptable for a neonate receiving a vasoactive drug — and that is a question your test suite cannot answer, because it is a question about the world, not about the code.
The callout is the punchline. Say it, then pause. This is the single most common structural failure in software programmes: enormous verification effort resting on requirements nobody validated. It is why slide 19 on requirements exists, and it is why FDA design controls put design validation and design verification in separate clauses.
On 'assurance' — flag that CSA is specifically about PRODUCTION AND QUALITY SYSTEM software, not about the device software you ship. People routinely try to import CSA's least-burdensome framing into device software validation. That is a misreading, and it is one that shows up badly in an inspection. Slide 27 covers this properly.
CITATION: FDA's 'Computer Software Assurance for Production and Quality Management System Software' was finalised on 24 September 2025 and supersedes Section 6 of the General Principles of Software Validation. If anyone in the room still calls it 'the CSA draft', that is out of date.
Note the General Principles of Software Validation (2002) is old but still the foundational FDA document on what validation means. Old does not mean withdrawn.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DOMAINS (0:34-0:38)
High-value slide. Most rooms have not drawn this distinction explicitly and it immediately clarifies several arguments they have been having internally.
Row 1 — the cloud trap is worth dwelling on. If your SaMD's diagnostic algorithm runs in a container on a managed cloud service, that service is part of the device's ability to perform its medical function. It belongs in your design history file, your risk management file and your security architecture. The excuse 'that is IT's environment, not our product' does not survive contact with a reviewer. Practical question for the room: 'if your cloud provider deprecates a runtime version with 90 days' notice, whose change control process handles it?' If nobody can answer, that is a gap.
Row 2 — the two failure modes are symmetrical and both expensive. Some companies validate nothing outside the device. Others apply full design-control rigour to a label printer. CSA thinking exists precisely to fix the second problem, and slide 27 goes into it. The test is: what happens if this tool is wrong and nobody notices?
Row 3 — toolchain. The reproducibility point is the one to make concrete: 'Can you rebuild, bit for bit, the firmware image that is running in the field on the unit you shipped three years ago?' A surprising number of teams cannot, and that has direct consequences for investigating a field failure or patching a vulnerability in a legacy build. This connects forward to slide 44 on legacy devices.
If the room is mostly SaMD: rows 1 and 3 matter most. If mostly manufacturing: row 2. Adjust emphasis from the calibration poll.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IEC 62304 (0:38-0:41)
Move briskly — most of the room has seen this. The two things worth saying are the ones that are not on the diagram.
1) The bottom-right box: maintenance is a first-class process in 62304, held to the same standard as initial development. This matters enormously for security, because every patch you ship under Part 3 is a maintenance activity that must go through this lifecycle. Teams that built a good development process and an ad hoc patch process have a real gap — and it is the gap that bites hardest when a vulnerability is disclosed and everyone wants the fix out by Friday.
2) The callout on agile. Say this clearly because people are waiting to hear it: 62304 does not require waterfall. It requires outputs, traceability and control. Agile is entirely compatible. What is NOT compatible is generating the documentation retrospectively — 'sprint now, write the SRS before the audit.' That is not agile, it is undocumented development with a paperwork phase, and it produces requirements written to match the code rather than code written to match requirements. AAMI TIR45 is the reference for doing agile properly in this context; mention it and move on.
If someone asks about the second edition of 62304: it has been in development and expands the scope. Tell them to check current status and recognition rather than planning around a date you cannot confirm.
Transition: 'How much of this you must do depends on one decision — safety class. That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CLASS (0:41-0:44)
Two messages, both in the bottom cards. The table itself is common knowledge.
LEFT CARD — the circularity trap. This is the most valuable thing on the slide. The standard asks what the software can contribute to ABSENT external risk controls. Teams reason: 'there is a hardware watchdog, so software failure cannot kill anyone, so we are Class B.' That inverts the logic. The correct sequence is: classify on the unmitigated contribution, then use risk controls to reduce risk — and if you want to claim a hardware control lets you reduce the software class, that control must be external to the software item, independently verified, and documented as the basis for the classification. Auditors probe exactly this.
Ask the room: 'who here is Class B?' Then: 'what would have to be true for you to be C?' The discomfort is instructive.
RIGHT CARD — segregation. Genuinely useful and widely misused. Real segregation means the architecture prevents interference: separate processors, memory protection units, hypervisor separation, a physically separate channel. 'Different modules in the same binary on the same MCU with shared memory' is not segregation. If the segregation claim fails, everything you scoped down is now under-documented, and that discovery typically happens at the worst possible moment.
Practical note: the cost difference between B and C is substantial, which is exactly why the reasoning must be written down at the time and not reconstructed. If it is not in the architecture document, it did not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LEVEL (0:44-0:48)
This is examinable material — Exercise 1 asks them to do exactly this. Make sure it lands.
KEY POINT 1: Level of Concern is retired. If their submission templates still use Minor/Moderate/Major, those templates predate June 2023. Worth a direct ask.
KEY POINT 2: the 'before risk control measures' phrase in the fourth Enhanced criterion. Same trap as the safety class slide — assess the unmitigated flaw. A team that says 'our mitigations mean no probable risk of death' has applied the test backwards.
KEY POINT 3: 'or anyone else.' Not only patients and users. Think of a device that could be used as a vector into hospital infrastructure, or an imaging system whose failure endangers a bystander. This phrase is doing real work and people skim past it.
KEY POINT 4 (the callout): Basic/Enhanced and Class A/B/C are different frameworks answering different questions for different audiences. They correlate; they do not map. A Class C device is very likely Enhanced. But a combination product constituent could be Enhanced while its software is Class B. Document both decisions with independent reasoning — a reviewer who sees 'Enhanced because Class C' has learned that you did the analysis once.
On Basic not being a concession: teams sometimes over-document defensively, believing more paper reads as more diligence. It does not. It reads as a team that could not determine what mattered, and it gives a reviewer more surface to find inconsistencies in. Right-sizing is a skill.
TRANSITION: 'So what is actually in the package?'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DELIVERABLES (0:48-0:51)
Do NOT read this table. It is a reference slide and it is reproduced in the workbook. Pick three and make them count.
PICK 1 — Unresolved anomalies, bottom row. This is the one that surprises people, so lead with it. A submission claiming zero open defects invites scepticism, because real software of any complexity has open items. What reviewers want is evidence that you KNOW your defects and have assessed each one for clinical impact. A well-characterised list of 40 known anomalies with impact rationales is a stronger signal of process maturity than a blank page. The failure mode is not having defects; it is not knowing them.
PICK 2 — Requirements include security. Third row. Security requirements belong in the SRS, verified like any other requirement. If security requirements live only in a separate security document that never reaches the test plan, they are aspirations. This is a direct bridge to Part 3, so plant it here.
PICK 3 — Development environment includes the maintenance process. Fifth row. FDA is asking, at premarket, how you will maintain the software post-market. That is the same question 524B asks from the security side. Notice the pattern: the regulatory system has shifted from 'prove it is good at release' to 'prove you can keep it good.' That is the through-line of this entire seminar.
If short on time, this is a cuttable slide — say 'this is in your workbook, here is the one thing that surprises people' and give them the anomalies point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(0:51-0:55)
This is the highest-practical-value slide in Part 2. Do not rush it. Read the first weak requirement aloud and let people recognise their own documents in it.
Work row 1 interactively if the room is willing. Ask: 'what is wrong with this?' You will get 'promptly'. Then push: what else? The channel is unspecified. The failure behaviour is unspecified. What if the workstation is logged out? What if the network is down? Each of those gaps is a real field failure that traces back to this sentence.
Row 2 matters most for Part 3 and deserves explicit attention: 'transmitted securely' is the single most common security requirement in the industry and it is not a requirement at all. It cannot be verified, so it will be tested by someone ticking a box. The rewrite is specific enough that a test engineer knows exactly what to attempt, including the NEGATIVE case — rejecting an invalid certificate and logging it. Security requirements must specify what the system does when the security control is exercised against it, not merely that the control exists.
Row 3 — 'reliable', 'robust', 'user-friendly', 'performant' are all the same failure. Decompose or delete.
THE CALLOUT is the practical takeaway and it is worth writing on a whiteboard. Two competent engineers, same requirement, independently — do you get clinically equivalent systems? It is a better test than any checklist because it exposes ambiguity rather than incompleteness.
If the room engages, this can absorb an extra two minutes profitably. It is the slide most likely to change what someone does next week. Take the time from slide 18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TRACEABILITY (0:55-0:58)
The chain diagram is familiar. The three cards underneath are the content.
BACKWARDS traceability is the one teams neglect and it is the more revealing direction. Forwards traceability answers 'did we build everything we promised?' Backwards answers 'did we build anything we did not promise?' Undocumented functionality is genuinely dangerous: it was not risk-assessed, it was not validated, and in a connected device it is very often the debug interface, the maintenance backdoor or the diagnostic port that becomes a security finding in Part 3. Orphaned code is where safety and security failures meet.
Concrete example worth telling: a service menu reachable by a key sequence, added by an engineer in year one, never in any requirement, still present in the shipped product, no authentication on it. That is simultaneously a traceability gap, a validation gap and a vulnerability.
THE AMBER BAR — risk controls. This is what separates a real traceability matrix from a requirements spreadsheet. ISO 14971 requires you to verify both that the risk control was implemented AND that it is effective. Those are two different tests and the matrix needs to show both. Teams frequently prove implementation and skip effectiveness.
THIRD CARD — the honesty point. Say it plainly: everyone in this room knows whether their matrix is maintained or reconstructed. Reconstruction is visible to an experienced auditor because the artefacts are too tidy, the dates cluster, and the requirement wording matches the code rather than preceding it. More importantly, reconstruction gives you none of the engineering benefit — a live matrix tells you what a change will break BEFORE you make it. That is worth more than the audit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STRATEGY (0:58-1:02)
Left column is orientation; right column is where the value is. If time is short, skip the left entirely and work the right.
POINT 1 — coverage of requirements vs coverage of code. Worth being blunt: code coverage is a quality signal for engineers, not a compliance argument for reviewers. A team reporting '92% statement coverage' as their V&amp;V summary has answered a question nobody asked. The question is which requirements are verified and by what evidence.
POINT 2 — negative cases. This is the strongest bridge into Part 3 on the whole slide, so make it deliberately. Security testing is, structurally, negative testing at scale: malformed input, unexpected sequences, resource exhaustion, invalid credentials. A team with a mature negative-testing culture is already doing a meaningful fraction of security testing and does not realise it. A team that only tests the happy path will find security testing alien and expensive.
Concrete negative cases worth naming aloud because they cause real field failures: what happens when an update is interrupted at 60%? When the system clock jumps backwards? When two clinicians modify the same record simultaneously? When the network returns after a four-hour outage with queued data? None of these are exotic.
POINT 3 — reproducible environment. Ties back to slide 14 row 3. If a test passed on 'the laptop in the lab', you have not got evidence, you have got an anecdote.
POINT 4 — regression scope. The defensible answer is always the impact analysis. Both extremes fail: brute force is unaffordable at CI cadence, and 'it was a small change' is what precedes most field recalls.
POINT 5 — a real inspection finding pattern: beautiful protocols, missing executed records, and no disposition for the tests that failed. Failures are fine. Unexplained failures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SOUP / OTS (1:02-1:05)
High-value slide; most teams underestimate the obligation. Frame it at the top: 'the code you did not write is code you are still responsible for, and in a modern build it is the overwhelming majority of what ships.'
EMPHASISE 1 — transitive dependencies (card 1). Teams list their direct dependencies and stop. A single npm or pip dependency can pull in hundreds of packages. The URGENT/11 vulnerabilities in 2019 landed in devices because a widely used TCP/IP stack was embedded deep inside an RTOS that manufacturers had licensed years earlier — many affected manufacturers could not immediately answer whether they were affected. That is a SOUP inventory failure before it is a security failure. I will come back to this in Part 3.
EMPHASISE 2 — card 4, verification in context. The common argument is 'it is a mature, widely used library, it is well tested.' Widely used in web applications tells you nothing about behaviour under YOUR memory constraints, YOUR real-time deadlines, YOUR malformed-input conditions. You are not re-testing the library; you are testing your reliance on it.
EMPHASISE 3 — card 5, the lifespan mismatch. This is the structural problem and it is worth stating starkly: your device has a 10-15 year service life. Your open-source dependency has a maintainer who may lose interest in 18 months. Your commercial RTOS vendor has an end-of-support date that is probably earlier than your end-of-service date. Someone must own that gap at design time — deciding it in year eight is deciding it too late. Direct link to slide 44 on legacy devices.
CARD 6 — the pinning point is concrete and actionable. If your build resolves 'latest' at build time, you cannot reproduce the validated build, and two builds from identical source are different devices.
Practical ask for the room: 'could you produce a complete, versioned inventory of third-party components in your shipped product today?' If not, that is the first item on their 30-day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CONTROL (1:05-1:08)
Two points to land, one on each side.
LEFT — impact analysis, not diff size. The line worth saying: 'the size of a change tells you how long it took to write. It tells you nothing about what it can break.' The classic recall pattern is a tiny, obviously-safe-looking change to a calculation or a unit conversion. Give the room the contrast: one line in a dose calculator versus three thousand lines in a report generator.
Also on the left: security patches. Teams build a disciplined change process for features and an emergency bypass for security fixes, then discover that the bypass is where the defects come from. The right answer is a PRE-VALIDATED fast path: a defined, rehearsed process for urgent changes with a reduced but predetermined scope of regression, approved in advance. You cannot design that process during an incident. Link forward to Part 3.
RIGHT — the accumulation trap is the most commercially dangerous idea on this slide. Each change is assessed against the previous build, each is judged minor, and after two years the product is materially different from what was cleared. The assessment baseline must be THE LAST CLEARED VERSION. Say it twice.
Also right: the 'no new 510(k)' memo. This is cheap to produce and disproportionately valuable in an inspection. An investigator is rarely trying to second-guess your engineering judgement; they are checking whether judgement was exercised and recorded.
If the room is EU-only, note the parallel: significant change under MDR, with its own criteria and its own notified body conversation. Same discipline, different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PCCP (1:08-1:10)
Move quickly unless the room is AI-heavy — check back to the calibration poll. This is a candidate cut if you are running behind.
The concept in one sentence: instead of clearing a device and then submitting again every time you improve it, you get the CHANGE PROCESS itself authorised, and then you operate inside that envelope.
Why it matters for this seminar's theme: it is the clearest example of regulation adapting to software's actual behaviour. The old model assumed a device is designed once and manufactured repeatedly. Software is not like that, and AI-enabled software is emphatically not like that.
THE HONEST CAVEAT — be direct about this: a PCCP is not a shortcut. The effort moves earlier rather than disappearing. You must specify in advance what you would otherwise figure out later, and that is genuinely harder. The teams that benefit are the ones that already know what they want to change and why. The teams that write a vague PCCP hoping for maximum latitude get a narrow one, or questions.
THE BOTTOM CARD is the point I would most want them to remember: the rollback threshold. Ask the room — 'what performance drop in your algorithm would make you pull an update?' Most teams have never set that number. Setting it is valuable whether or not you ever file a PCCP.
VERIFY BEFORE PRESENTING: confirm the current status and scope of FDA's PCCP guidance documents — the AI-enabled version finalised in December 2024, and there is separate material on PCCPs for devices generally.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AI/ML (1:10-1:13)
Adjust depth to the room. If few hands went up on SaMD, take rows 1 and 4 only and move on.
ROW 1 is the conceptual key: for conventional software, requirements specify behaviour and code implements it. For a learned model, the DATA specifies behaviour. That means your data pipeline is a design input and belongs under configuration management with the same rigour as source code. Most teams version their code meticulously and their datasets casually.
ROW 2 — data leakage. This is the most common technical failure in medical AI and it is almost always accidental. Splitting by image rather than by patient means the same patient's scans appear in both training and test. Splitting randomly across sites means the model learns scanner characteristics. The reported performance is real on paper and does not survive deployment. Ask: 'do you split by patient or by sample?' It is a five-second question that finds real problems.
ROW 3 — subgroup performance. Both a safety obligation and, increasingly, an explicit regulatory expectation. Aggregate AUC is a summary statistic, and summary statistics hide exactly the populations most likely to be underrepresented in the training data.
ROW 4 — drift. Connect it to Part 3's structural theme: like security, this is a postmarket obligation that has to be designed in premarket. You cannot bolt on monitoring for a product that does not emit the signals you need. Define the metric, the threshold and the response before launch, or you will be deciding all three during an incident.
ROW 5 — links back to slide 8 and the CDS exclusion. If the clinician cannot independently review the basis, the carve-out is not available.
REFERENCE: FDA's 'Artificial Intelligence-Enabled Device Software Functions: Lifecycle Management and Marketing Submission Recommendations' was issued as a DRAFT on 6 January 2025 and remains draft. Say so — it is non-binding, and the distinction matters to a regulatory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 CLOUD (1:13-1:16)
This slide usually gets the most engagement from engineering-heavy rooms. The callout is the argument that changes minds, so build to it.
THE REFRAME, stated fully: a mature CI/CD pipeline already produces immutable build artefacts with version identifiers, automated test execution with retained results, code review gates with approver identity, dependency manifests, and a full audit trail of who changed what and when. That is a very large fraction of a 62304 evidence package. The problem in most organisations is not that engineering lacks the evidence — it is that the evidence lives in a build system nobody treats as a controlled record, while a separate team retypes a subset of it into documents.
So the practical advice is: stop writing documents about what the pipeline did, and start treating the pipeline's output as the record. That requires the pipeline to be under configuration control and its retention to be defined — which is real work, but it is work that pays back every sprint rather than every submission.
CARD 3 — cloud supplier changes. Genuinely under-managed. A managed database version deprecation with a 90-day window is a supplier-initiated change to your device. Who receives that notice? Is it in your change control system? For most teams the answer is 'a DevOps engineer's inbox', which is not a controlled process.
CARD 4 — the blast radius point. Worth dwelling on because it is counterintuitive: web-delivered software eliminates the legacy version problem and replaces it with a simultaneity problem. With an installed base, a bad update reaches some users slowly. With SaMD delivered as a service, it reaches all of them at once. Staged rollout and rollback are therefore RISK CONTROLS and should be in the risk management file, verified like any other control — not merely DevOps good practice.
If a team says 'we deploy twice a day', ask what their release gate is. The answer tells you whether they have engineered this or are hoping.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CSA (1:16-1:19)
Depth depends on the room. Manufacturing and QA people care a lot; a pure SaMD startup can be given the headline and moved past.
THE HISTORY in one line: the industry responded to 21 CFR 820.70(i) with enormous, screenshot-heavy, low-value documentation — validating a spreadsheet to the same depth as a sterilisation controller. That consumed resource without improving quality, and FDA's CSA work is an explicit attempt to redirect effort toward critical thinking and testing rather than evidence production.
THE MOST IMPORTANT BULLET is the last one on the right. Say it firmly. CSA applies to production and quality system software. It does NOT apply to the software you ship in or as your device. Someone will try to use 'least burdensome' and 'unscripted testing' to justify thinner device software validation. That is a misreading with serious consequences, and it is worth pre-empting here rather than correcting later.
THE VENDOR LEVERAGE point is practically valuable and under-used. You are not validating that a major eQMS platform's database works. You are validating that YOUR workflow configuration does what YOU need. Supplier assessment plus configuration validation, not a re-test of the product.
Useful challenge for the room: 'name a piece of software in your quality system that you validated far more heavily than its risk warranted.' Most people have one, usually a spreadsheet or a training-records tool. Then the harder question: 'name one you use for a release decision that you never validated at all.' That one is more common than the first, and more serious.
CITATION: finalised 24 September 2025 as 'Computer Software Assurance for Production and Quality Management System Software'. It supersedes Section 6 of the General Principles of Software Validation — so GPSV still governs device software validation, but no longer governs production and QMS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FINDINGS (1:19-1:21)
Let them read. Talk over it rather than reading it out. Two minutes maximum — this slide's job is recognition, not instruction.
THE CALLOUT IS THE POINT and it is worth saying with some force: look at the list again and notice that these are overwhelmingly maintenance failures rather than creation failures. Companies are generally good at building a validation package for a launch. They are poor at keeping it alive through five years of changes, staff turnover and commercial pressure. The traceability matrix was accurate at submission. The risk file was thorough in 2021. The SOUP inventory was complete when someone compiled it.
That is the same structural point as the whole seminar: the regulatory system has moved from 'prove it was right at release' to 'prove you keep it right.' 524B does exactly this for security. QMSR does it for the quality system. PCCP does it for change.
A light way to make it personal: 'pick the one on this slide that you would least like an investigator to ask about tomorrow. That is your first agenda item on Monday.' Point them at the workbook action page.
Do not oversell inspection fear — this room is mostly trying to do the right thing. The credible framing is that these are the places where good programmes decay, not where bad companies cheat.
TRANSITION to Exercise 1: 'Let us put the first half to work. Tables of four to six, workbook page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 (1:21-1:33) — 12 MINUTES
SETUP (1 min): tables of 4-6. Workbook page 5 has the worksheet and space to write. Tell them to nominate someone to report back — otherwise the report-back stalls.
RUN (8 min): circulate. Listen for the disagreements; those are what you want in the debrief. Give a 2-minute warning.
DEBRIEF (4 min): do not take all five questions from every table. Take Q1 from one table, Q2 from another, and so on. Full answer key is in the facilitator guide.
HEADLINES FOR THE DEBRIEF:
Q1 — the point is that one product contains all three categories. Patch firmware = SiMD. Cloud arrhythmia algorithm = SaMD. Scheduling and billing = very likely not a device. The app is the interesting one: if it only transports and displays data it may be a lower-risk data-transfer function, but if it buffers, filters, triages or alerts, it is doing something medical. Push on that — it is where teams under-classify.
Q2 — expect argument, and welcome it. The algorithm is the crux: a missed arrhythmia in a post-cardiac-event patient can contribute to death or serious injury, which points to Class C. Watch for the circularity trap from slide 16 — 'a clinician confirms every event, so we are Class B.' Ask: is that review an external risk control you have designed, verified and documented, or an assumption about user behaviour? If a clinician sees only what the algorithm flags, clinician review does not mitigate a false negative at all. That is the best moment in this exercise; make sure it happens.
Q3 — Enhanced is defensible via the probable-risk-of-death-or-serious-injury criterion, assessed before risk controls. Accept Basic if and only if they argue it coherently. Reward reasoning over the answer.
Q4 — yes, and it should be quick. BLE, a smartphone, and a cloud service; software validated and installed by the sponsor; ability to connect to the internet. All three limbs met.
Q5 — expect: BLE stack, RTOS on the patch, cryptographic library, mobile OS frameworks, ML framework, cloud base images, web framework. For each: name, version, manufacturer, functional and performance requirements they rely on, hardware/software the item needs, known anomalies and vulnerabilities, support status.
If running behind: drop Q5 and set it as reading. Do NOT drop Q2 — the safety class argument is the whole value of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 you should be at 1:33.
This is the segment that overruns. 30 minutes to slide 45, where the tabletop starts at 2:17. Watch the clock hard from slide 39 onward; if you are past 2:00 at slide 39, compress slides 42 and 44 to 60 seconds each.
Protect the tabletop. It is the high point of the session and a rushed one is worse than a short lecture.
Transition line: 'Same lifecycle, different question. Not 'did our process let a defect through' but 'can someone make this device do something it should not.''
Open Part 3 honestly — the credibility you establish on slide 31 buys attention for everything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THREAT LANDSCAPE (1:33-1:36)
Set an honest tone immediately. The security field oversells targeted attack scenarios and clinical audiences have learned to discount them. Credibility here buys attention for the rest of Part 3.
CARD 1 — lead with this and be explicit: there is no well-documented public case of a patient being killed by a targeted attack on a medical device. Say that plainly. Then say why it does not let anyone off: the demonstrated harm is disruption at scale. WannaCry in 2017 disrupted hospitals and affected medical equipment worldwide, and it was never aimed at devices. Ransomware against health systems has caused diverted ambulances and delayed procedures. That is the real risk model, and it is more actionable than a movie plot because it changes what you design for — resilience and recovery, not just intrusion prevention.
CARD 2 — 'assume hostile network' is the single most useful design principle in this part. The hospital cannot promise you a clean network. Some will have flat networks with unsupported Windows on them. Your device must not depend on network hygiene you cannot verify.
CARD 3 — the CIA inversion. Worth spelling out for anyone who has hired a security person from finance or tech: in healthcare delivery, availability frequently outranks confidentiality in immediate patient-harm terms. This is why 'fail secure by locking everyone out' can be the wrong answer in a clinical setting, and why security controls have to be designed with clinical workflow in the room. A control that causes clinicians to prop the door open has reduced security.
CARD 4 — sets up slide 43. The choice is not whether researchers look at your product; it is whether you have somewhere for them to send what they find.
THE CALLOUT reframes the room's scepticism into a question they can actually answer. Use it as the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FILES (1:36-1:40)
Roughly a minute each, then the callout. Keep to publicly reported facts and avoid embellishing — this audience includes people who worked on these products, and precision matters for credibility.
2017 PACEMAKER — the point is remediation logistics, not the vulnerability itself. Updating an implanted device means bringing patients into clinics. Ask the room to sit with that: your remediation plan requires hundreds of thousands of clinical appointments. Every design choice about update mechanisms is really a choice about what your worst day looks like.
2019 URGENT/11 — the cleanest possible argument for SBOM, and it is why I put it second. The vulnerable code was in a networking stack inside an RTOS licensed years before, often several layers below what manufacturers tracked. The scramble was not 'how do we fix this' — it was 'are we even affected?' Weeks of engineering time spent on a question a software inventory answers in minutes. If anyone in the room still thinks SBOM is a compliance tax, this is the story to tell them.
2019 INSULIN PUMP — the hardest lesson: unpatchable means recall. When the remediation path does not exist, the only option is replacing devices, with all the patient disruption that entails. Updateability is a design requirement with direct commercial consequences. This also seeds Exercise 2, which turns on exactly this problem — flag that.
THE CALLOUT: in every case the expensive decision was taken years before anyone found the bug. That is the argument for security-by-design in one sentence, and it is more persuasive than any maturity model. Deliver it and pause before moving on.
If an attendee worked on any of these, be gracious. The industry learned from these companies and the lessons were paid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524B (1:40-1:44)
The most consequential slide in Part 3. Deliver it as law, because that is what it is.
OPEN with the distinction, again: everything else we discuss today is guidance — FDA's current thinking, and you may propose an alternative approach with justification. This is statute. FDA has authority to refuse to accept a submission that does not meet it, and that began on 1 October 2023. Refuse-to-accept means your submission is not reviewed. It is returned. Your launch date moves.
OBLIGATION 1 — note carefully: this is a plan you must both SUBMIT and OPERATE. Companies have written excellent plans and built no capability behind them. The plan describes a process; the process has to exist. Who receives the report? What is the triage SLA? Who decides severity? Who authorises a patch? If those have no names against them, you have a document, not a process.
OBLIGATION 2 — the phrase to dwell on is 'reasonably justified regular cycle.' You must have a patch cadence and be able to justify it, AND be able to go out-of-cycle for critical vulnerabilities. That out-of-cycle capability is an engineering and logistics capability, not a policy statement. Have you ever exercised it? If not, you do not know whether it works. (Tie back to the pre-validated fast path on slide 23.)
OBLIGATION 3 — SBOM. Covered properly on slide 39.
OBLIGATION 4 — the growth clause. Design your programme around the principle rather than the current minimum, because the minimum is explicitly built to move.
THE BOTTOM CARD deserves 30 seconds of its own. 'Ability to connect' is the trap. Teams reason from intended use — 'we do not intend clinicians to connect it to the internet.' The statute speaks to capability. A maintenance Ethernet port, a Bluetooth service interface, a USB port that mounts storage: those are capabilities. If your product has a radio you disable in software, ask whether you can defend that as an absence of ability.
Ask for hands: 'who has formally documented a determination of whether their product is a cyber device?' It is usually a sparse show, and it is a concrete Monday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SPDF (1:44-1:46)
Brisk — this is a signposting slide for the next five. Its job is to give them the three-part structure so the following detail has somewhere to land.
The one-line version: FDA is not asking 'is your device secure?' — an unanswerable question — but 'does your development process systematically produce a secure device, and can you show me?' That is the same logical move design controls made for safety in the 1990s, and it is worth drawing that parallel explicitly. It usually clicks for quality people in the room.
THE BOTTOM CARD is the 'why' and it pre-empts the most common complaint, which is 'just tell us what controls you want.' The answer: a mandated control list would be obsolete in three years and would produce compliance without security. A defibrillator, a diagnostic app and an imaging workstation do not need the same controls — they need the same REASONING applied to different contexts.
Also make the organisational point: the SPDF is not the security team's document. Security risk management interfaces with safety risk management, which is quality's. Security architecture is engineering's. Testing spans both. If your SPDF lives entirely in one function, it is not integrated, and the interfaces are where things fall through.
IEC 81001-5-1 is the standard that operationalises much of this, and it maps well onto 62304's structure. Recommend it as the implementation reference and move on.
Next three slides take each element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VS SAFETY RISK (1:46-1:50)
This expands slide 11 and it is the most intellectually important slide in Part 3. Take the time.
ROW 2 is the crux — highlighted in red for a reason. You cannot put a probability on an attack. There is no base rate, and the estimate would be meaningless if you invented one. Exploitability asks instead: what access does the attacker need (physical? adjacent network? remote?), what skill, what equipment, what window of opportunity? That is assessable by engineers from the design, which is the point.
ROW 3 — the adaptive adversary. Worth a concrete illustration: add a lockout after five failed password attempts and a random-failure analysis says brute force is now negligible. An attacker simply stops brute-forcing and looks at the firmware update channel instead. Controls redirect attackers; they do not reduce their rate. This is why defence in depth is not redundancy theatre — it is the correct response to an adversary who reroutes.
ROW 4 — controlled vs uncontrolled risk is FDA's postmarket vocabulary and it matters for slide 43 and Exercise 2. Note the asymmetry with safety: in safety you may accept a residual risk against benefit. Uncontrolled security risk is expected to be remediated. Flag it here, land it later.
ROW 5 — the time dimension. A device secure at launch is not secure at year seven. Nothing about it changed; the world did. Cryptography weakens, exploits get published, tooling gets easier. This is the strongest argument that security must be a lifecycle process rather than a submission artefact, and it is the honest answer to 'when are we done?' — you are not.
THE CALLOUT is the practical instruction. Say it as a rule: security findings with a patient-harm pathway MUST land in the risk management file. The security team owns how the attack works. The safety process owns the harm and whether the control is adequate. If your threat models never reach your risk file, you have two disconnected activities and an auditable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THREAT MODELLING (1:50-1:54)
The most directly actionable slide in Part 3. Many in the room will never have sat in a threat modelling session, so demystify it: it is a structured conversation with a whiteboard, not a specialist tool purchase.
LEFT — the four questions are Shostack's framing and they are genuinely all you need to start. Question 1 does most of the work: draw the system, then draw the TRUST BOUNDARIES. Every place data crosses a boundary is where you reason hardest. For the Exercise 1 product, the boundaries are patch-to-phone, phone-to-cloud, cloud-to-portal, and the update path back down to the patch.
THE AMBER CARD — timing is everything. A threat model after design freeze is an inventory of things you now cannot afford to fix. At architecture time it is cheap: moving a trust boundary on a whiteboard costs nothing.
RIGHT — STRIDE. Two entries to emphasise for this audience:
D, Denial of service — in most industries this is a middling concern. For a device in active clinical use it is frequently the HIGHEST patient risk. Make sure teams do not import a generic severity scale that ranks availability third.
E, Elevation of privilege — this is where the undocumented functionality from slide 20 comes back. Service menus, debug interfaces, engineering backdoors, shared default credentials, hardcoded maintenance accounts. These are found constantly in device security assessments. Ask the room: 'does your device have a service mode, and what authenticates access to it?' Watch faces.
PRACTICAL ADVICE worth giving explicitly: your first threat model should be one afternoon, one whiteboard, one product, with an engineer, a clinical person and someone who knows the deployment environment. Output: a list. That is a legitimate starting point. Teams that wait for a tool, a consultant and a template never start.
Reference: MITRE and MDIC published a threat modelling playbook for medical devices — recommend it as the free, practical starting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VIEWS (1:54-1:57)
Practical slide — this is a documentation deliverable, and teams often do not know what is expected.
VIEW 1 — the completeness point matters most. The most common omission is the manufacturer's own infrastructure: the update server, the telemetry endpoint, the service laptop, the support VPN. Those are part of the device's security posture. So is the build pipeline, arguably — if an attacker can compromise your CI system they can sign malicious firmware.
VIEW 2 — spend the most time here, per the callout. The single question 'how many patients could one successful attack affect?' reframes the entire risk conversation. One device compromised at the bedside is a serious incident. A compromised fleet update key is a public health event. Anything shared across the fleet — a signing key, a default credential, a common server, a hardcoded secret — is a multi-patient harm pathway. This is also exactly the consideration that determines whether a vulnerability is a field correction or a recall.
VIEW 3 — the updateability view is your remediation capability, documented in advance. The insulin pump case on slide 32 is what happens when this view would have been blank. Also ask the interrupted-update question: if power is lost at 60%, does the device brick, roll back, or boot a partially written image? That is both a safety and a security question.
VIEW 4 — use cases catch what static diagrams miss, because controls fail in SEQUENCE. Decommissioning is the one people forget: what happens to keys, credentials and patient data when a device is returned, resold or scrapped? Devices with patient data have been bought on secondary markets.
Encourage them to start with view 1 and view 3 if they have nothing. Those two produce the most insight per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CONTROLS (1:57-2:00)
Do not read eight cards. Let them scan; pick three.
PICK — Authentication: 'no shared or default credentials' sounds obvious and is violated constantly in this industry, usually for good operational reasons. Service accounts shared across a fleet so any engineer can service any device. A default password in the manual. The uncomfortable question: 'if one of your service credentials leaked, how many devices would be affected, and could you change it?' That is a multi-patient harm pathway (view 2) and usually an unpatchable one.
PICK — Resiliency and recovery: the one generic security frameworks under-weight and clinical settings need most. The design question is not only 'can we stop the attack' but 'what does the device do while under attack, and can the clinician still deliver care?' A device that safely degrades to a usable local mode when the network is hostile may protect patients better than one that locks down completely. This is where clinical and security thinking have to be in the same room.
PICK — Secure updates: the highest-leverage control on the slide, and I would say so explicitly. Everything else defends against threats you know about today. Updateability defends against everything you have not thought of yet. If a team can only afford to do one thing well, it is this.
THE CALLOUT is the discipline: controls flow from threats. A team that implements all eight categories without a threat model has spent money and cannot tell you what they bought. Equally, a threat in your model with no corresponding control is precisely what a reviewer will circle.
On cryptography and key lifecycle: a device shipping today may still be in service in 2040. Are your keys rotatable? Is your algorithm choice replaceable? Crypto-agility is a design decision, and 'we will deal with it later' means dealing with it by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SBOM (2:00-2:03)
Pitch this as capability, not paperwork. The right-hand side is the argument; the left is the specification.
THE SUPPORT-STATUS POINT (left, second bullet) is the one people miss and it is where FDA's expectation goes beyond a generic software inventory. Knowing you use a library is table stakes. Knowing that its supplier ends support in eighteen months, while your device has nine years of service life left, is a planning problem you can only act on if you have written it down. That gap is where legacy device problems are born — link forward to slide 44.
MACHINE-READABLE, said plainly: if your SBOM is a PDF, you have satisfied the letter and destroyed the purpose. The value is automated matching against vulnerability feeds. SPDX or CycloneDX, generated by the build pipeline.
GENERATED, NOT CURATED: a human-maintained list is out of date after the next dependency bump. Build-time generation is also the only way to catch transitive dependencies, which is exactly where URGENT/11 lived.
THE RIGHT-HAND NARRATIVE — tell it as a story with a clock running. Friday afternoon, a CVE lands, and by Monday morning your customers' security teams are emailing. The manufacturer who answers in two hours keeps the relationship. The one who answers in three weeks is explaining themselves to a hospital's risk committee. This is a commercial argument as much as a regulatory one, and it works on executives who tune out compliance framing.
THE CALLOUT — distribution is genuinely under-planned. Hospital security teams increasingly ask for SBOMs at procurement. Is there a route to get one without a support ticket? Is it published, or does it require an NDA? Have you thought about what you will do when a customer asks for an SBOM for a product you shipped in 2018?
Next slide: what you DO with it once a match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VULNERABILITY MANAGEMENT (2:03-2:06)
This is the operational heart of 524B obligations 1 and 2. Emphasise that this is a running process with named owners, not a project.
STEP 2, TRIAGE, is where the work actually is. A large product will match dozens of CVEs a month. Most will not be exploitable — the vulnerable function is never called, the interface is not exposed, a compensating control blocks the path. But 'not exploitable' is a conclusion you must reach and record, not assume. The discipline is: every match gets a documented disposition. That record is also what you hand a regulator or a customer who asks.
LEFT CARD — the CVSS point deserves real emphasis because it is widely mishandled. CVSS base scores are context-free by design. Give the room the comparison on the card: a 9.8 requiring physical access to an implanted device versus a 6.5 reachable from any hospital workstation. Ranked by patient risk, the order can invert. The medical device rubric from MITRE/MDIC exists precisely because generic scoring misleads here. Use CVSS to prioritise triage, then assess clinical consequence separately.
RIGHT CARD — VEX is the answer to the most common objection to SBOM, which is 'if we publish what is inside, customers will panic about things that do not affect them.' That objection is legitimate, and VEX is the designed response. Without it, transparency creates an support burden that makes everyone cynical. With it, you can be transparent AND precise.
ORGANISATIONAL QUESTION for the room, and it is the one that finds gaps: 'who does step 1 on a Saturday?' Monitoring is continuous; vulnerabilities do not respect release calendars. If the answer is 'nobody, we check when we remember', that is the finding.
Next: proving the controls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TESTING (2:06-2:09)
The framing that helps: these are four different questions, and teams commonly do one — usually a penetration test — and treat it as coverage. It is not.
1 — REQUIREMENTS TESTING. Straight back to slide 19. If your security requirement says 'transmitted securely', there is nothing to test. If it specifies TLS 1.2+, mutual certificate authentication, rejection of invalid certificates and logging of the rejection, a test engineer knows exactly what to do — including the negative case. Security controls must be tested for what they REFUSE, not only what they permit. That is the part teams skip.
2 — THREAT MITIGATION TESTING. The distinctive one and the one most often absent. The question is not whether a control is present but whether it defeats the specific attack you modelled, in the integrated system. Your threat model said an attacker on the same network could alter infusion settings; you implemented mutual authentication; now demonstrate that the attack fails. This is what connects slide 36 to evidence, and without it your threat model is an unverified assertion.
3 — VULNERABILITY TESTING. Largely automatable, and should run in CI: SAST, dependency scanning against the SBOM, DAST, fuzzing of every parser that touches untrusted input. Fuzzing is high value and under-used in this industry — anything that parses a network protocol, a file format or a device message should be fuzzed. Vulnerability chaining is worth naming: three low-severity findings that combine into a full compromise, which is exactly what a scanner will not tell you.
4 — PENETRATION TESTING. Useful, necessary, and not a substitute. It is a point-in-time sample by a skilled human. Scope matters enormously — a test scoped to exclude the cloud back end and the update mechanism has tested the least interesting part.
THE CALLOUT — say this one firmly. An undispositioned pen test report is a documented record that you were informed and did not act. Treat findings exactly like unresolved anomalies from slide 18: assess, decide, record the rationale. Accepting a finding with a written justification is legitimate. Filing the report unread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LABELLING (2:09-2:11)
Quick slide. The conceptual shift is the content: your users are no longer only clinicians and patients. Hospital IT, biomedical engineering, procurement and security teams all make decisions that affect whether your device is safe in practice.
THE END-OF-SUPPORT POINT is the one worth pressing, and it is uncomfortable in a good way. Hospitals buy capital equipment on ten to fifteen year horizons. If you will stop issuing security patches in year seven, they need that number BEFORE they buy — because years eight through fifteen are then their risk to manage, and they may choose differently. Commercially, manufacturers dislike publishing this. Clinically, withholding it pushes risk onto people treating patients with equipment they were never told had an expiry date.
Worth saying: this is becoming a competitive differentiator, not just a compliance item. Procurement teams increasingly score security documentation, and MDS2 completeness is a visible signal.
MDS2 — mention it, note that many will have been asked for one, and that the honest answer for many organisations is that someone in sales fills it in without engineering review. That is a bad idea: it is a technical disclosure document with real consequences.
THE DECOMMISSIONING POINT connects back to architecture view 4. Devices are resold, returned, scrapped and donated. If patient data or credentials survive that transition, you have a disclosure problem you will hear about from someone else's research paper.
Keep this to two minutes — slide 43 is more important and Exercise 2 needs its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POSTMARKET (2:11-2:15)
Four points; the first two matter most.
1 — CVD. Make it concrete and slightly uncomfortable: a researcher finds something in your product on a Sunday. They go to your website. If there is no security contact, no security.txt, no policy — what do they do? Some try support and get a ticket about a login problem. Some give up. Some go straight to publication or to a conference CFP. You do not get to choose whether people look at your product. You only choose whether there is a door.
Practical and cheap: publish a security.txt, monitor the address, acknowledge within a stated period, and state your disclosure timeline. This is days of work and it is now a statutory expectation under 524B obligation 1.
2 — Controlled vs uncontrolled risk. The vocabulary that drives the whole postmarket decision tree. Controlled: residual risk to health is acceptable. Uncontrolled: it is not, and remediation is expected rather than optional. Contrast with safety risk where you may accept residual risk against clinical benefit — and note that a risk that is controlled today may become uncontrolled when an exploit is published, with no change to your device. That is slide 35 row 5 in operation.
3 — Reporting thresholds. Be careful and be accurate here rather than approximate. Point them at FDA's 2016 postmarket cybersecurity guidance, which sets out the circumstances in which FDA does not intend to enforce certain reporting requirements for particular vulnerability remediations — including conditions around communicating with customers and remediating within defined timeframes. Do not attempt to recite the specific conditions from memory in front of a room that includes regulatory professionals; tell them to read the guidance and involve regulatory early. That is the honest and defensible answer, and it models the right behaviour.
4 — ISAO participation. Genuinely useful for early warning and explicitly contemplated in the guidance.
TRANSITION: 'One more problem — the hardest one — and then we put all of this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(2:15-2:17)
Important for credibility. Most of this room supports products they did not design under rules that did not exist. If the seminar only addresses greenfield design, half the room leaves thinking none of it applies to them.
OPEN with acknowledgement: 'everything in the last thirty minutes assumed you are designing something new. Most devices in clinical use were not designed under these expectations, and nobody expects you to retrofit a secure development lifecycle onto a product from 2014.'
THEN the reframe — what IS expected is proportionate and achievable:
- Know what you have deployed and what is inside it (retrospective SBOM, at least for the significant components).
- Assess reachability rather than presence. An old library in code that is never exposed is different from one parsing network input.
- Give customers compensating controls: network segmentation guidance, which services to disable, what monitoring to put around it.
- Be honest about end of support.
CARD 3 is the heart of it. Hospitals successfully run risky legacy equipment all the time — behind segmented networks, with monitoring, with replacement plans. What defeats them is opacity. 'We cannot tell you what is inside it' means they cannot make a defensible risk decision, so they either take unmanaged risk or pull a clinically needed device. Neither is good for patients, and both are avoidable.
CARD 4 is the sting, and it is the right note before the exercise: the product you are specifying this quarter becomes the legacy problem of 2035. Whether that is expensive is being decided now, in decisions about updateability and crypto-agility that feel like cost items today. Call back to the insulin pump case on slide 32 — unpatchable meant recall.
IMDRF published guidance on legacy medical devices, and FDA's guidance addresses them too. Point them at it rather than detailing it here — time is short and Exercise 2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2 (2:17-2:32) — 15 MINUTES, FACILITATOR-PACED
This is the high point of the seminar. Run it with energy and keep the clock moving — time pressure is part of the learning.
SETUP (1 min): same tables. Read the scenario aloud yourself; it lands better than letting them read. Stress: you will call each round, and they must decide with incomplete information, because that is the real condition.
ROUND 1 (4 min) — WHAT TO LISTEN FOR:
- Does anyone acknowledge the researcher TODAY? This is the cheapest and most commonly missed action. A holding reply that says a named human has it and gives a date starts a 90-day collaboration. Silence starts a countdown.
- Who is in the room: engineering, regulatory, clinical, quality, legal, communications, and someone with authority to spend money. If legal is the only name offered, challenge it.
- The three things to establish: is it real and reproducible; what is the clinical consequence if exploited (what can the attacker actually make the pump DO); and what is the actual exposure — how many units, in what configurations, with what network posture.
- Watch for the instinct to ask the researcher to sign an NDA before engaging. Name it if it comes up: it is a common reflex and it reliably damages the relationship.
ROUND 2 (4 min):
- Controlled vs uncontrolled: guide them to the reasoning rather than the answer. Unauthenticated RCE at 10 metres on a device delivering medication, with a working proof of concept, is very hard to argue is controlled.
- Reporting: the correct professional answer is that regulatory affairs is engaged now and the team works FDA's postmarket guidance deliberately. Do not let a table assert a bright-line rule from memory — including yourself. Reward 'we bring regulatory in on day one.'
- Customer communication: push on WHO. The purchasing contact is not the person who can segment a network at 2am. Do they know how to reach biomedical engineering and hospital security in their customer base? Most do not, and that is a real finding.
ROUND 3 (4 min) — the hardest and most valuable:
- The 4,200 units: options are field service visits to update by another route if one exists, hardware replacement, compensating controls plus an accelerated replacement plan, or withdrawal. All are expensive. That is the point — the cost was set by the hardware decision years ago.
- Compensating controls hospitals can apply: is Bluetooth disableable? Can the pump run without the radio? Physical access restrictions, monitoring, segmentation. Note that 'disable the radio' may remove clinical functionality the hospital bought — the mitigation has a clinical cost.
- 'What would have made this a two-week problem?' is the closing question and the bridge to Part 4. Expect: an SBOM (know instantly which units use the library), a published CVD process (the report reaches the right person in minutes), a pre-validated emergency patch path, universal updateability, and a rehearsed communication route to hospital security teams. Every single one is a design or process decision available before the incident.
DEBRIEF (2 min): take the Round 3 final question from two or three tables and write the answers up. That list IS Part 4. Then transition: 'Everything on this list was decidable before Monday morning. That is the whole seminar.'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 you should be at 2:32.
13 minutes to the end of slide 51, with discussion from 2:45. If you have a hard 90-minute stop, compress to slides 47, 50 and 52 and take questions inside the remaining time.
Transition straight off the tabletop debrief: 'Everything on that whiteboard was decidable before Monday morning. This last section is how you make those decisions by default rather than by heroics.'
Slide 47 is the payoff of the whole seminar; slide 50 is what people repeat to colleagues. Do not rush either to protect slide 48 or 49 — those are take-aways they can read in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(2:32-2:36)
This is the payoff slide for the whole seminar. The right-hand column is the content — everything else is scaffolding.
THE ARGUMENT: most organisations have a quality function that owns validation and a security function (often newer, often smaller, sometimes borrowed from IT) that owns cybersecurity. They produce parallel documentation, hold separate reviews, and meet properly for the first time during a submission or an incident. That is expensive, it produces contradictions a reviewer will find, and it leaves the interfaces unowned.
Go row by row, briefly, but land these three:
ROW 1 — one requirements specification. If security requirements live in a separate document that never reaches the test plan, they are aspirations, not requirements. Putting them in the SRS means they get traced, tested and maintained like everything else. This is a small change with a large effect and it is the easiest recommendation on the slide to act on Monday.
ROW 2 — the SOUP list and the SBOM are the same inventory serving two purposes. Teams genuinely maintain these separately, in different formats, owned by different people, already diverging. Building it once, from the build system, satisfies 62304 and 524B simultaneously.
ROW 5 — one intake. A hospital reports that the pump is behaving oddly. Is that a complaint or a security incident? The reporter does not know, and cannot be expected to. If those go to different queues with different SLAs, the misrouted ones are exactly the serious ones. One intake, one triage, then route.
ROW 3 is the nuance to preserve: this is the one place where you do NOT merge. Separate methods, one interface point, per slide 35. Say that explicitly so nobody leaves thinking integration means collapsing everything into one matrix.
If you have a whiteboard, this is worth reproducing on it — people photograph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30/60/90 (2:36-2:39)
Practical close. Do not read it — this is a take-away, reproduced in the workbook. Pick two or three and explain why they are first.
WHY THE 30-DAY ITEMS ARE FIRST: every one is cheap, fast, and unblocks something else.
- The cyber device determination takes an afternoon and tells you whether 524B applies. Some teams have been arguing about scope for months without ever writing the determination down.
- The component inventory is the prerequisite for vulnerability management, SBOM compliance and legacy assessment. One product, generated from the build, as a proof of concept.
- The security contact is the highest value-per-hour item on the entire slide. A security.txt file and a monitored mailbox. It changes what happens when a researcher finds something, and it is days of work.
- Naming an owner matters more than it sounds. 'Everyone is responsible' means nobody checks on Saturday.
THE 60-DAY THREAT MODEL: repeat the demystification from slide 36. One afternoon, one product, one whiteboard, three people. The output is a list. Teams that wait for a tool and a consultant never start.
REHEARSING THE EMERGENCY PATCH PATH is the item people skip and it is the one Exercise 2 just demonstrated the value of. An untested emergency process is an assumption. Run a drill.
THE 90-DAY THEME is systematisation — turning individual efforts into something that happens by default. The last item matters most long-term: getting the security architecture views into the design documentation template means the NEXT product starts correctly without anyone remembering to ask.
Tell them the workbook has this as a worksheet with space for owners and dates. Encourage them to fill in three items before they leave the room — commitment made in the room is commitment that survives the journey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SELF-ASSESSMENT (2:39-2:41)
Let them read for twenty seconds, then talk.
ASK THEM TO PLACE THEMSELVES — twice. Once for software validation, once for security. The most useful observation is the GAP between the two, and it usually exists in one direction: organisations that have been building devices for decades are often level 3 or 4 on validation and level 1 or 2 on security, because the validation system is mature and the security function is five years old. Newer digital-health companies are frequently the reverse — strong engineering automation, weak formal design control.
That asymmetry is genuinely useful to name, because the remedy differs. If you are strong on validation and weak on security, you do not need a new system — you need to extend the one you have, and slide 47 is your map. If you are strong on automation and weak on formal process, you probably already generate most of the evidence and are not retaining it as records.
THE CALLOUT is the encouraging and honest note. Levels 1 to 3 are mostly decisions: where requirements live, who owns the inbox, whether the matrix is maintained. Those cost meetings and discipline, not capital. Levels 4 and 5 need real investment in tooling and architecture. So nobody in the room should leave thinking they need a budget cycle before they can move — the first three levels are available immediately.
Do not let this become a competitive moment. Nobody should be announcing they are level 5. The honest answer for most organisations is 'level 2 with pockets of 4', and saying so out loud is a sign of a healthy programme rather than a weak one.
The workbook has a twelve-item readiness self-assessment that scores against these levels — point them at it for a more granular answer than a show of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(2:41-2:44)
Deliver these deliberately. Slow down; this is what they will repeat to colleagues, and the phrasing matters.
If you only have time for one, make it number 4 — it is the most actionable and the one with the clearest commercial consequence. The insulin pump case on slide 32 and Exercise 2 both turned on it, so it has been earned twice during the session.
Number 1 is the conceptual reframe for the quality and regulatory people: security findings that have a patient-harm pathway belong in the risk management file. Say the caveat too, so nobody over-corrects — distinct processes, one interface.
Number 2 is the structural observation that ties the whole session together. Worth naming explicitly: every regulatory development we discussed today pushes in the same direction. That is not five separate compliance burdens, it is one shift, and an organisation that understands the shift can meet all of them with one investment.
Number 3 is the cheapest to act on and the prerequisite for most of the rest.
Number 5 is the organisational ask, and it usually needs someone senior in the room to hear it. If there are executives present, this is the slide to look at them for.
Then: 'Resources are on the next slide and in your workbook — then I want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(2:44-2:45)
Do not read this. It is a reference slide and it is reproduced in the workbook with a short note on what each document is actually for, which is more useful than the list itself.
Say only this: if they read three things, make it
1) the 2023 premarket software guidance,
2) the 2023 cybersecurity guidance (current version), and
3) IEC 81001-5-1, because it is the one that shows you how to operationalise security inside a 62304 lifecycle rather than alongside it.
Mention that the MITRE/MDIC threat modelling playbook is free and genuinely practical — a good first document for a team that has never run a threat model, and the cheapest way to act on slide 36.
REPEAT THE CAVEAT on the lede line, because it is important for a room that may cite these: confirm current versions. FDA reissues guidance, standards get amended, and the CSA guidance status in particular should be checked rather than assumed. Better that they verify than that they quote a seminar slide in a submission.
Then move straight to Q&amp;A — do not linger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(2:45-3:00 or to time)
The five prompts are there so you are never standing in silence. Use one if the first question does not come within about ten seconds — and do not be too quick to rescue the silence, people often need a moment.
PROMPT 2 is the best opener for a quiet room, because it is concrete, everyone can picture their own organisation, and the answer is usually uncomfortable in a productive way.
PROMPT 5 works well if there are several people from the same organisation — it tends to surface a real internal issue they have been circling.
QUESTIONS YOU SHOULD EXPECT:
'Does 524B apply to our product?' — Do not answer definitively for someone else's device. Walk them through the three limbs of the definition and tell them to document the determination. Offer to talk afterwards.
'How much security testing is enough?' — Enough to demonstrate your threat model's controls work, plus continuous automated vulnerability testing, plus periodic independent testing scoped to the whole system. Resist giving a number.
'Do we need a separate security team?' — Not necessarily. You need named ownership and competence. A small organisation can do this with an engineer who has the remit and the training. What does not work is diffuse responsibility.
'What about our legacy products?' — Slide 44. Inventory, assess reachability, compensating controls, honest end-of-support communication.
'Our notified body / our reviewer asked for X' — Take it as a real data point, but be careful about generalising one reviewer's request into an industry expectation.
IF YOU DO NOT KNOW, SAY SO. This is a field where confident wrong answers cause real harm, and the room will respect 'I would want to check that before answering' far more than a guess. Offer to follow up.
CLOSE: thank them, point at the workbook action page, and ask them to write down one thing they will do this week before they leave the room. Commitment made in the room is the only part of a seminar that reliably survives the journey back to the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1572768"/>
            <a:ext cx="11094415" cy="310896"/>
          </a:xfrm>
          <a:prstGeom prst="rect">
            <a:avLst/>
          </a:prstGeom>
          <a:noFill/>
          <a:ln/>
        </p:spPr>
        <p:txBody>
          <a:bodyPr wrap="square" lIns="0" tIns="0" rIns="0" bIns="0" rtlCol="0" anchor="ctr"/>
          <a:lstStyle/>
          <a:p>
            <a:pPr indent="0" marL="0">
              <a:buNone/>
            </a:pPr>
            <a:r>
              <a:rPr lang="en-US" sz="1300" b="1" spc="260" kern="0" dirty="0">
                <a:solidFill>
                  <a:srgbClr val="2A9D8F"/>
                </a:solidFill>
                <a:latin typeface="Calibri" pitchFamily="34" charset="0"/>
                <a:ea typeface="Calibri" pitchFamily="34" charset="-122"/>
                <a:cs typeface="Calibri" pitchFamily="34" charset="-120"/>
              </a:rPr>
              <a:t>MEDICAL DEVICE SEMINAR</a:t>
            </a:r>
            <a:endParaRPr lang="en-US" sz="1300" dirty="0"/>
          </a:p>
        </p:txBody>
      </p:sp>
      <p:sp>
        <p:nvSpPr>
          <p:cNvPr id="3" name="Text 1"/>
          <p:cNvSpPr txBox="1"/>
          <p:nvPr/>
        </p:nvSpPr>
        <p:spPr>
          <a:xfrm>
            <a:off x="548640" y="1993392"/>
            <a:ext cx="10241280" cy="1828800"/>
          </a:xfrm>
          <a:prstGeom prst="rect">
            <a:avLst/>
          </a:prstGeom>
          <a:noFill/>
          <a:ln/>
        </p:spPr>
        <p:txBody>
          <a:bodyPr wrap="square" lIns="0" tIns="0" rIns="0" bIns="0" rtlCol="0" anchor="ctr"/>
          <a:lstStyle/>
          <a:p>
            <a:pPr indent="0" marL="0">
              <a:lnSpc>
                <a:spcPct val="95000"/>
              </a:lnSpc>
              <a:buNone/>
            </a:pPr>
            <a:r>
              <a:rPr lang="en-US" sz="4800" b="1" dirty="0">
                <a:solidFill>
                  <a:srgbClr val="FFFFFF"/>
                </a:solidFill>
                <a:latin typeface="Cambria" pitchFamily="34" charset="0"/>
                <a:ea typeface="Cambria" pitchFamily="34" charset="-122"/>
                <a:cs typeface="Cambria" pitchFamily="34" charset="-120"/>
              </a:rPr>
              <a:t>Software Validation</a:t>
            </a:r>
            <a:endParaRPr lang="en-US" sz="4800" dirty="0"/>
          </a:p>
          <a:p>
            <a:pPr indent="0" marL="0">
              <a:lnSpc>
                <a:spcPct val="95000"/>
              </a:lnSpc>
              <a:buNone/>
            </a:pPr>
            <a:r>
              <a:rPr lang="en-US" sz="4800" b="1" dirty="0">
                <a:solidFill>
                  <a:srgbClr val="FFFFFF"/>
                </a:solidFill>
                <a:latin typeface="Cambria" pitchFamily="34" charset="0"/>
                <a:ea typeface="Cambria" pitchFamily="34" charset="-122"/>
                <a:cs typeface="Cambria" pitchFamily="34" charset="-120"/>
              </a:rPr>
              <a:t>&amp; Cybersecurity</a:t>
            </a:r>
            <a:endParaRPr lang="en-US" sz="4800" dirty="0"/>
          </a:p>
        </p:txBody>
      </p:sp>
      <p:sp>
        <p:nvSpPr>
          <p:cNvPr id="4" name="Text 2"/>
          <p:cNvSpPr txBox="1"/>
          <p:nvPr/>
        </p:nvSpPr>
        <p:spPr>
          <a:xfrm>
            <a:off x="548640" y="3950208"/>
            <a:ext cx="9509760" cy="548640"/>
          </a:xfrm>
          <a:prstGeom prst="rect">
            <a:avLst/>
          </a:prstGeom>
          <a:noFill/>
          <a:ln/>
        </p:spPr>
        <p:txBody>
          <a:bodyPr wrap="square" lIns="0" tIns="0" rIns="0" bIns="0" rtlCol="0" anchor="ctr"/>
          <a:lstStyle/>
          <a:p>
            <a:pPr indent="0" marL="0">
              <a:buNone/>
            </a:pPr>
            <a:r>
              <a:rPr lang="en-US" sz="1700" dirty="0">
                <a:solidFill>
                  <a:srgbClr val="BCCCD2"/>
                </a:solidFill>
                <a:latin typeface="Calibri" pitchFamily="34" charset="0"/>
                <a:ea typeface="Calibri" pitchFamily="34" charset="-122"/>
                <a:cs typeface="Calibri" pitchFamily="34" charset="-120"/>
              </a:rPr>
              <a:t>Addressing the challenges of connected devices and Software as a Medical Device</a:t>
            </a:r>
            <a:endParaRPr lang="en-US" sz="1700" dirty="0"/>
          </a:p>
        </p:txBody>
      </p:sp>
      <p:sp>
        <p:nvSpPr>
          <p:cNvPr id="5" name="Shape 3"/>
          <p:cNvSpPr/>
          <p:nvPr/>
        </p:nvSpPr>
        <p:spPr>
          <a:xfrm>
            <a:off x="548640" y="4773168"/>
            <a:ext cx="1920240" cy="32004"/>
          </a:xfrm>
          <a:prstGeom prst="rect">
            <a:avLst/>
          </a:prstGeom>
          <a:solidFill>
            <a:srgbClr val="2A9D8F"/>
          </a:solidFill>
          <a:ln w="12700">
            <a:solidFill>
              <a:srgbClr val="333333"/>
            </a:solidFill>
            <a:prstDash val="solid"/>
          </a:ln>
        </p:spPr>
      </p:sp>
      <p:sp>
        <p:nvSpPr>
          <p:cNvPr id="6" name="Text 4"/>
          <p:cNvSpPr txBox="1"/>
          <p:nvPr/>
        </p:nvSpPr>
        <p:spPr>
          <a:xfrm>
            <a:off x="548640" y="5029200"/>
            <a:ext cx="9144000" cy="329184"/>
          </a:xfrm>
          <a:prstGeom prst="rect">
            <a:avLst/>
          </a:prstGeom>
          <a:noFill/>
          <a:ln/>
        </p:spPr>
        <p:txBody>
          <a:bodyPr wrap="square" lIns="0" tIns="0" rIns="0" bIns="0" rtlCol="0" anchor="ctr"/>
          <a:lstStyle/>
          <a:p>
            <a:pPr indent="0" marL="0">
              <a:buNone/>
            </a:pPr>
            <a:r>
              <a:rPr lang="en-US" sz="1250" dirty="0">
                <a:solidFill>
                  <a:srgbClr val="8FA6AE"/>
                </a:solidFill>
                <a:latin typeface="Calibri" pitchFamily="34" charset="0"/>
                <a:ea typeface="Calibri" pitchFamily="34" charset="-122"/>
                <a:cs typeface="Calibri" pitchFamily="34" charset="-120"/>
              </a:rPr>
              <a:t>90 minutes  ·  Two working sessions  ·  Participant workbook provided</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RUN OF SHOW</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Where we are going</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527048"/>
            <a:ext cx="11094415" cy="1060704"/>
          </a:xfrm>
          <a:prstGeom prst="roundRect">
            <a:avLst>
              <a:gd name="adj" fmla="val 6034"/>
            </a:avLst>
          </a:prstGeom>
          <a:solidFill>
            <a:srgbClr val="F1F5F6"/>
          </a:solidFill>
          <a:ln w="12700">
            <a:solidFill>
              <a:srgbClr val="D7E2E5"/>
            </a:solidFill>
            <a:prstDash val="solid"/>
          </a:ln>
        </p:spPr>
      </p:sp>
      <p:sp>
        <p:nvSpPr>
          <p:cNvPr id="7" name="Shape 5"/>
          <p:cNvSpPr/>
          <p:nvPr/>
        </p:nvSpPr>
        <p:spPr>
          <a:xfrm>
            <a:off x="822960" y="1828800"/>
            <a:ext cx="457200" cy="457200"/>
          </a:xfrm>
          <a:prstGeom prst="ellipse">
            <a:avLst/>
          </a:prstGeom>
          <a:solidFill>
            <a:srgbClr val="0E7C7B"/>
          </a:solidFill>
          <a:ln w="12700">
            <a:solidFill>
              <a:srgbClr val="333333"/>
            </a:solidFill>
            <a:prstDash val="solid"/>
          </a:ln>
        </p:spPr>
      </p:sp>
      <p:sp>
        <p:nvSpPr>
          <p:cNvPr id="8" name="Text 6"/>
          <p:cNvSpPr txBox="1"/>
          <p:nvPr/>
        </p:nvSpPr>
        <p:spPr>
          <a:xfrm>
            <a:off x="82296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463040" y="1691640"/>
            <a:ext cx="8625535" cy="731520"/>
          </a:xfrm>
          <a:prstGeom prst="rect">
            <a:avLst/>
          </a:prstGeom>
          <a:noFill/>
          <a:ln/>
        </p:spPr>
        <p:txBody>
          <a:bodyPr wrap="square" lIns="0" tIns="0" rIns="0" bIns="0" rtlCol="0" anchor="ctr"/>
          <a:lstStyle/>
          <a:p>
            <a:pPr indent="0" marL="0">
              <a:lnSpc>
                <a:spcPct val="106000"/>
              </a:lnSpc>
              <a:buNone/>
            </a:pPr>
            <a:r>
              <a:rPr lang="en-US" sz="1550" b="1" dirty="0">
                <a:solidFill>
                  <a:srgbClr val="1B3A4B"/>
                </a:solidFill>
                <a:latin typeface="Calibri" pitchFamily="34" charset="0"/>
                <a:ea typeface="Calibri" pitchFamily="34" charset="-122"/>
                <a:cs typeface="Calibri" pitchFamily="34" charset="-120"/>
              </a:rPr>
              <a:t>The new operating environment</a:t>
            </a:r>
            <a:endParaRPr lang="en-US" sz="1550" dirty="0"/>
          </a:p>
          <a:p>
            <a:pPr indent="0" marL="0">
              <a:lnSpc>
                <a:spcPct val="106000"/>
              </a:lnSpc>
              <a:buNone/>
            </a:pPr>
            <a:r>
              <a:rPr lang="en-US" sz="1200" dirty="0">
                <a:solidFill>
                  <a:srgbClr val="22333B"/>
                </a:solidFill>
                <a:latin typeface="Calibri" pitchFamily="34" charset="0"/>
                <a:ea typeface="Calibri" pitchFamily="34" charset="-122"/>
                <a:cs typeface="Calibri" pitchFamily="34" charset="-120"/>
              </a:rPr>
              <a:t>What changed in regulation and in the threat picture — and why the old playbook no longer fits.</a:t>
            </a:r>
            <a:endParaRPr lang="en-US" sz="1550" dirty="0"/>
          </a:p>
        </p:txBody>
      </p:sp>
      <p:sp>
        <p:nvSpPr>
          <p:cNvPr id="10" name="Text 8"/>
          <p:cNvSpPr txBox="1"/>
          <p:nvPr/>
        </p:nvSpPr>
        <p:spPr>
          <a:xfrm>
            <a:off x="10271455" y="1527048"/>
            <a:ext cx="1097280" cy="1060704"/>
          </a:xfrm>
          <a:prstGeom prst="rect">
            <a:avLst/>
          </a:prstGeom>
          <a:noFill/>
          <a:ln/>
        </p:spPr>
        <p:txBody>
          <a:bodyPr wrap="square" lIns="0" tIns="0" rIns="0" bIns="0" rtlCol="0" anchor="ctr"/>
          <a:lstStyle/>
          <a:p>
            <a:pPr algn="r" indent="0" marL="0">
              <a:buNone/>
            </a:pPr>
            <a:r>
              <a:rPr lang="en-US" sz="1300" b="1" dirty="0">
                <a:solidFill>
                  <a:srgbClr val="C77C1E"/>
                </a:solidFill>
                <a:latin typeface="Calibri" pitchFamily="34" charset="0"/>
                <a:ea typeface="Calibri" pitchFamily="34" charset="-122"/>
                <a:cs typeface="Calibri" pitchFamily="34" charset="-120"/>
              </a:rPr>
              <a:t>15 min</a:t>
            </a:r>
            <a:endParaRPr lang="en-US" sz="1300" dirty="0"/>
          </a:p>
        </p:txBody>
      </p:sp>
      <p:sp>
        <p:nvSpPr>
          <p:cNvPr id="11" name="Shape 9"/>
          <p:cNvSpPr/>
          <p:nvPr/>
        </p:nvSpPr>
        <p:spPr>
          <a:xfrm>
            <a:off x="548640" y="2752344"/>
            <a:ext cx="11094415" cy="1060704"/>
          </a:xfrm>
          <a:prstGeom prst="roundRect">
            <a:avLst>
              <a:gd name="adj" fmla="val 6034"/>
            </a:avLst>
          </a:prstGeom>
          <a:solidFill>
            <a:srgbClr val="F1F5F6"/>
          </a:solidFill>
          <a:ln w="12700">
            <a:solidFill>
              <a:srgbClr val="D7E2E5"/>
            </a:solidFill>
            <a:prstDash val="solid"/>
          </a:ln>
        </p:spPr>
      </p:sp>
      <p:sp>
        <p:nvSpPr>
          <p:cNvPr id="12" name="Shape 10"/>
          <p:cNvSpPr/>
          <p:nvPr/>
        </p:nvSpPr>
        <p:spPr>
          <a:xfrm>
            <a:off x="822960" y="3054096"/>
            <a:ext cx="457200" cy="457200"/>
          </a:xfrm>
          <a:prstGeom prst="ellipse">
            <a:avLst/>
          </a:prstGeom>
          <a:solidFill>
            <a:srgbClr val="0E7C7B"/>
          </a:solidFill>
          <a:ln w="12700">
            <a:solidFill>
              <a:srgbClr val="333333"/>
            </a:solidFill>
            <a:prstDash val="solid"/>
          </a:ln>
        </p:spPr>
      </p:sp>
      <p:sp>
        <p:nvSpPr>
          <p:cNvPr id="13" name="Text 11"/>
          <p:cNvSpPr txBox="1"/>
          <p:nvPr/>
        </p:nvSpPr>
        <p:spPr>
          <a:xfrm>
            <a:off x="822960" y="30540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463040" y="2916936"/>
            <a:ext cx="8625535" cy="731520"/>
          </a:xfrm>
          <a:prstGeom prst="rect">
            <a:avLst/>
          </a:prstGeom>
          <a:noFill/>
          <a:ln/>
        </p:spPr>
        <p:txBody>
          <a:bodyPr wrap="square" lIns="0" tIns="0" rIns="0" bIns="0" rtlCol="0" anchor="ctr"/>
          <a:lstStyle/>
          <a:p>
            <a:pPr indent="0" marL="0">
              <a:lnSpc>
                <a:spcPct val="106000"/>
              </a:lnSpc>
              <a:buNone/>
            </a:pPr>
            <a:r>
              <a:rPr lang="en-US" sz="1550" b="1" dirty="0">
                <a:solidFill>
                  <a:srgbClr val="1B3A4B"/>
                </a:solidFill>
                <a:latin typeface="Calibri" pitchFamily="34" charset="0"/>
                <a:ea typeface="Calibri" pitchFamily="34" charset="-122"/>
                <a:cs typeface="Calibri" pitchFamily="34" charset="-120"/>
              </a:rPr>
              <a:t>Software validation</a:t>
            </a:r>
            <a:endParaRPr lang="en-US" sz="1550" dirty="0"/>
          </a:p>
          <a:p>
            <a:pPr indent="0" marL="0">
              <a:lnSpc>
                <a:spcPct val="106000"/>
              </a:lnSpc>
              <a:buNone/>
            </a:pPr>
            <a:r>
              <a:rPr lang="en-US" sz="1200" dirty="0">
                <a:solidFill>
                  <a:srgbClr val="22333B"/>
                </a:solidFill>
                <a:latin typeface="Calibri" pitchFamily="34" charset="0"/>
                <a:ea typeface="Calibri" pitchFamily="34" charset="-122"/>
                <a:cs typeface="Calibri" pitchFamily="34" charset="-120"/>
              </a:rPr>
              <a:t>IEC 62304, documentation level, traceability, SOUP, change control, AI/ML, and CSA.</a:t>
            </a:r>
            <a:endParaRPr lang="en-US" sz="1550" dirty="0"/>
          </a:p>
        </p:txBody>
      </p:sp>
      <p:sp>
        <p:nvSpPr>
          <p:cNvPr id="15" name="Text 13"/>
          <p:cNvSpPr txBox="1"/>
          <p:nvPr/>
        </p:nvSpPr>
        <p:spPr>
          <a:xfrm>
            <a:off x="10271455" y="2752344"/>
            <a:ext cx="1097280" cy="1060704"/>
          </a:xfrm>
          <a:prstGeom prst="rect">
            <a:avLst/>
          </a:prstGeom>
          <a:noFill/>
          <a:ln/>
        </p:spPr>
        <p:txBody>
          <a:bodyPr wrap="square" lIns="0" tIns="0" rIns="0" bIns="0" rtlCol="0" anchor="ctr"/>
          <a:lstStyle/>
          <a:p>
            <a:pPr algn="r" indent="0" marL="0">
              <a:buNone/>
            </a:pPr>
            <a:r>
              <a:rPr lang="en-US" sz="1300" b="1" dirty="0">
                <a:solidFill>
                  <a:srgbClr val="C77C1E"/>
                </a:solidFill>
                <a:latin typeface="Calibri" pitchFamily="34" charset="0"/>
                <a:ea typeface="Calibri" pitchFamily="34" charset="-122"/>
                <a:cs typeface="Calibri" pitchFamily="34" charset="-120"/>
              </a:rPr>
              <a:t>25 min</a:t>
            </a:r>
            <a:endParaRPr lang="en-US" sz="1300" dirty="0"/>
          </a:p>
        </p:txBody>
      </p:sp>
      <p:sp>
        <p:nvSpPr>
          <p:cNvPr id="16" name="Shape 14"/>
          <p:cNvSpPr/>
          <p:nvPr/>
        </p:nvSpPr>
        <p:spPr>
          <a:xfrm>
            <a:off x="548640" y="3977640"/>
            <a:ext cx="11094415" cy="1060704"/>
          </a:xfrm>
          <a:prstGeom prst="roundRect">
            <a:avLst>
              <a:gd name="adj" fmla="val 6034"/>
            </a:avLst>
          </a:prstGeom>
          <a:solidFill>
            <a:srgbClr val="F1F5F6"/>
          </a:solidFill>
          <a:ln w="12700">
            <a:solidFill>
              <a:srgbClr val="D7E2E5"/>
            </a:solidFill>
            <a:prstDash val="solid"/>
          </a:ln>
        </p:spPr>
      </p:sp>
      <p:sp>
        <p:nvSpPr>
          <p:cNvPr id="17" name="Shape 15"/>
          <p:cNvSpPr/>
          <p:nvPr/>
        </p:nvSpPr>
        <p:spPr>
          <a:xfrm>
            <a:off x="822960" y="4279392"/>
            <a:ext cx="457200" cy="457200"/>
          </a:xfrm>
          <a:prstGeom prst="ellipse">
            <a:avLst/>
          </a:prstGeom>
          <a:solidFill>
            <a:srgbClr val="0E7C7B"/>
          </a:solidFill>
          <a:ln w="12700">
            <a:solidFill>
              <a:srgbClr val="333333"/>
            </a:solidFill>
            <a:prstDash val="solid"/>
          </a:ln>
        </p:spPr>
      </p:sp>
      <p:sp>
        <p:nvSpPr>
          <p:cNvPr id="18" name="Text 16"/>
          <p:cNvSpPr txBox="1"/>
          <p:nvPr/>
        </p:nvSpPr>
        <p:spPr>
          <a:xfrm>
            <a:off x="822960" y="42793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463040" y="4142232"/>
            <a:ext cx="8625535" cy="731520"/>
          </a:xfrm>
          <a:prstGeom prst="rect">
            <a:avLst/>
          </a:prstGeom>
          <a:noFill/>
          <a:ln/>
        </p:spPr>
        <p:txBody>
          <a:bodyPr wrap="square" lIns="0" tIns="0" rIns="0" bIns="0" rtlCol="0" anchor="ctr"/>
          <a:lstStyle/>
          <a:p>
            <a:pPr indent="0" marL="0">
              <a:lnSpc>
                <a:spcPct val="106000"/>
              </a:lnSpc>
              <a:buNone/>
            </a:pPr>
            <a:r>
              <a:rPr lang="en-US" sz="1550" b="1" dirty="0">
                <a:solidFill>
                  <a:srgbClr val="1B3A4B"/>
                </a:solidFill>
                <a:latin typeface="Calibri" pitchFamily="34" charset="0"/>
                <a:ea typeface="Calibri" pitchFamily="34" charset="-122"/>
                <a:cs typeface="Calibri" pitchFamily="34" charset="-120"/>
              </a:rPr>
              <a:t>Cybersecurity</a:t>
            </a:r>
            <a:endParaRPr lang="en-US" sz="1550" dirty="0"/>
          </a:p>
          <a:p>
            <a:pPr indent="0" marL="0">
              <a:lnSpc>
                <a:spcPct val="106000"/>
              </a:lnSpc>
              <a:buNone/>
            </a:pPr>
            <a:r>
              <a:rPr lang="en-US" sz="1200" dirty="0">
                <a:solidFill>
                  <a:srgbClr val="22333B"/>
                </a:solidFill>
                <a:latin typeface="Calibri" pitchFamily="34" charset="0"/>
                <a:ea typeface="Calibri" pitchFamily="34" charset="-122"/>
                <a:cs typeface="Calibri" pitchFamily="34" charset="-120"/>
              </a:rPr>
              <a:t>Section 524B, the SPDF, threat modelling, SBOM, testing, and postmarket obligations.</a:t>
            </a:r>
            <a:endParaRPr lang="en-US" sz="1550" dirty="0"/>
          </a:p>
        </p:txBody>
      </p:sp>
      <p:sp>
        <p:nvSpPr>
          <p:cNvPr id="20" name="Text 18"/>
          <p:cNvSpPr txBox="1"/>
          <p:nvPr/>
        </p:nvSpPr>
        <p:spPr>
          <a:xfrm>
            <a:off x="10271455" y="3977640"/>
            <a:ext cx="1097280" cy="1060704"/>
          </a:xfrm>
          <a:prstGeom prst="rect">
            <a:avLst/>
          </a:prstGeom>
          <a:noFill/>
          <a:ln/>
        </p:spPr>
        <p:txBody>
          <a:bodyPr wrap="square" lIns="0" tIns="0" rIns="0" bIns="0" rtlCol="0" anchor="ctr"/>
          <a:lstStyle/>
          <a:p>
            <a:pPr algn="r" indent="0" marL="0">
              <a:buNone/>
            </a:pPr>
            <a:r>
              <a:rPr lang="en-US" sz="1300" b="1" dirty="0">
                <a:solidFill>
                  <a:srgbClr val="C77C1E"/>
                </a:solidFill>
                <a:latin typeface="Calibri" pitchFamily="34" charset="0"/>
                <a:ea typeface="Calibri" pitchFamily="34" charset="-122"/>
                <a:cs typeface="Calibri" pitchFamily="34" charset="-120"/>
              </a:rPr>
              <a:t>30 min</a:t>
            </a:r>
            <a:endParaRPr lang="en-US" sz="1300" dirty="0"/>
          </a:p>
        </p:txBody>
      </p:sp>
      <p:sp>
        <p:nvSpPr>
          <p:cNvPr id="21" name="Shape 19"/>
          <p:cNvSpPr/>
          <p:nvPr/>
        </p:nvSpPr>
        <p:spPr>
          <a:xfrm>
            <a:off x="548640" y="5202936"/>
            <a:ext cx="11094415" cy="1060704"/>
          </a:xfrm>
          <a:prstGeom prst="roundRect">
            <a:avLst>
              <a:gd name="adj" fmla="val 6034"/>
            </a:avLst>
          </a:prstGeom>
          <a:solidFill>
            <a:srgbClr val="F1F5F6"/>
          </a:solidFill>
          <a:ln w="12700">
            <a:solidFill>
              <a:srgbClr val="D7E2E5"/>
            </a:solidFill>
            <a:prstDash val="solid"/>
          </a:ln>
        </p:spPr>
      </p:sp>
      <p:sp>
        <p:nvSpPr>
          <p:cNvPr id="22" name="Shape 20"/>
          <p:cNvSpPr/>
          <p:nvPr/>
        </p:nvSpPr>
        <p:spPr>
          <a:xfrm>
            <a:off x="822960" y="5504688"/>
            <a:ext cx="457200" cy="457200"/>
          </a:xfrm>
          <a:prstGeom prst="ellipse">
            <a:avLst/>
          </a:prstGeom>
          <a:solidFill>
            <a:srgbClr val="0E7C7B"/>
          </a:solidFill>
          <a:ln w="12700">
            <a:solidFill>
              <a:srgbClr val="333333"/>
            </a:solidFill>
            <a:prstDash val="solid"/>
          </a:ln>
        </p:spPr>
      </p:sp>
      <p:sp>
        <p:nvSpPr>
          <p:cNvPr id="23" name="Text 21"/>
          <p:cNvSpPr txBox="1"/>
          <p:nvPr/>
        </p:nvSpPr>
        <p:spPr>
          <a:xfrm>
            <a:off x="822960" y="55046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1463040" y="5367528"/>
            <a:ext cx="8625535" cy="731520"/>
          </a:xfrm>
          <a:prstGeom prst="rect">
            <a:avLst/>
          </a:prstGeom>
          <a:noFill/>
          <a:ln/>
        </p:spPr>
        <p:txBody>
          <a:bodyPr wrap="square" lIns="0" tIns="0" rIns="0" bIns="0" rtlCol="0" anchor="ctr"/>
          <a:lstStyle/>
          <a:p>
            <a:pPr indent="0" marL="0">
              <a:lnSpc>
                <a:spcPct val="106000"/>
              </a:lnSpc>
              <a:buNone/>
            </a:pPr>
            <a:r>
              <a:rPr lang="en-US" sz="1550" b="1" dirty="0">
                <a:solidFill>
                  <a:srgbClr val="1B3A4B"/>
                </a:solidFill>
                <a:latin typeface="Calibri" pitchFamily="34" charset="0"/>
                <a:ea typeface="Calibri" pitchFamily="34" charset="-122"/>
                <a:cs typeface="Calibri" pitchFamily="34" charset="-120"/>
              </a:rPr>
              <a:t>Making it work Monday</a:t>
            </a:r>
            <a:endParaRPr lang="en-US" sz="1550" dirty="0"/>
          </a:p>
          <a:p>
            <a:pPr indent="0" marL="0">
              <a:lnSpc>
                <a:spcPct val="106000"/>
              </a:lnSpc>
              <a:buNone/>
            </a:pPr>
            <a:r>
              <a:rPr lang="en-US" sz="1200" dirty="0">
                <a:solidFill>
                  <a:srgbClr val="22333B"/>
                </a:solidFill>
                <a:latin typeface="Calibri" pitchFamily="34" charset="0"/>
                <a:ea typeface="Calibri" pitchFamily="34" charset="-122"/>
                <a:cs typeface="Calibri" pitchFamily="34" charset="-120"/>
              </a:rPr>
              <a:t>Integrating the two lifecycles, a 30/60/90 plan, and open discussion.</a:t>
            </a:r>
            <a:endParaRPr lang="en-US" sz="1550" dirty="0"/>
          </a:p>
        </p:txBody>
      </p:sp>
      <p:sp>
        <p:nvSpPr>
          <p:cNvPr id="25" name="Text 23"/>
          <p:cNvSpPr txBox="1"/>
          <p:nvPr/>
        </p:nvSpPr>
        <p:spPr>
          <a:xfrm>
            <a:off x="10271455" y="5202936"/>
            <a:ext cx="1097280" cy="1060704"/>
          </a:xfrm>
          <a:prstGeom prst="rect">
            <a:avLst/>
          </a:prstGeom>
          <a:noFill/>
          <a:ln/>
        </p:spPr>
        <p:txBody>
          <a:bodyPr wrap="square" lIns="0" tIns="0" rIns="0" bIns="0" rtlCol="0" anchor="ctr"/>
          <a:lstStyle/>
          <a:p>
            <a:pPr algn="r" indent="0" marL="0">
              <a:buNone/>
            </a:pPr>
            <a:r>
              <a:rPr lang="en-US" sz="1300" b="1" dirty="0">
                <a:solidFill>
                  <a:srgbClr val="C77C1E"/>
                </a:solidFill>
                <a:latin typeface="Calibri" pitchFamily="34" charset="0"/>
                <a:ea typeface="Calibri" pitchFamily="34" charset="-122"/>
                <a:cs typeface="Calibri" pitchFamily="34" charset="-120"/>
              </a:rPr>
              <a:t>15 min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OBJECTIVES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What you should be able to do afterwards</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Not 'be aware of' — be able to do. Hold me to this at the end.</a:t>
            </a:r>
            <a:endParaRPr lang="en-US" sz="1400" dirty="0"/>
          </a:p>
        </p:txBody>
      </p:sp>
      <p:sp>
        <p:nvSpPr>
          <p:cNvPr id="7" name="Shape 5"/>
          <p:cNvSpPr/>
          <p:nvPr/>
        </p:nvSpPr>
        <p:spPr>
          <a:xfrm>
            <a:off x="548640" y="1737360"/>
            <a:ext cx="3515258" cy="2121408"/>
          </a:xfrm>
          <a:prstGeom prst="roundRect">
            <a:avLst>
              <a:gd name="adj" fmla="val 3017"/>
            </a:avLst>
          </a:prstGeom>
          <a:solidFill>
            <a:srgbClr val="F1F5F6"/>
          </a:solidFill>
          <a:ln w="12700">
            <a:solidFill>
              <a:srgbClr val="D7E2E5"/>
            </a:solidFill>
            <a:prstDash val="solid"/>
          </a:ln>
        </p:spPr>
      </p:sp>
      <p:sp>
        <p:nvSpPr>
          <p:cNvPr id="8" name="Shape 6"/>
          <p:cNvSpPr/>
          <p:nvPr/>
        </p:nvSpPr>
        <p:spPr>
          <a:xfrm>
            <a:off x="768096" y="1938528"/>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414016"/>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Classify correctly</a:t>
            </a:r>
            <a:endParaRPr lang="en-US" sz="1400" dirty="0"/>
          </a:p>
        </p:txBody>
      </p:sp>
      <p:sp>
        <p:nvSpPr>
          <p:cNvPr id="11" name="Text 9"/>
          <p:cNvSpPr txBox="1"/>
          <p:nvPr/>
        </p:nvSpPr>
        <p:spPr>
          <a:xfrm>
            <a:off x="768096" y="2759456"/>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Decide whether a software function is SaMD, software in a device, or outside the device definition — and assign an IEC 62304 safety class and an FDA documentation level you can defend.</a:t>
            </a:r>
            <a:endParaRPr lang="en-US" sz="1100" dirty="0"/>
          </a:p>
        </p:txBody>
      </p:sp>
      <p:sp>
        <p:nvSpPr>
          <p:cNvPr id="12" name="Shape 10"/>
          <p:cNvSpPr/>
          <p:nvPr/>
        </p:nvSpPr>
        <p:spPr>
          <a:xfrm>
            <a:off x="4338218" y="1737360"/>
            <a:ext cx="3515258" cy="2121408"/>
          </a:xfrm>
          <a:prstGeom prst="roundRect">
            <a:avLst>
              <a:gd name="adj" fmla="val 3017"/>
            </a:avLst>
          </a:prstGeom>
          <a:solidFill>
            <a:srgbClr val="F1F5F6"/>
          </a:solidFill>
          <a:ln w="12700">
            <a:solidFill>
              <a:srgbClr val="D7E2E5"/>
            </a:solidFill>
            <a:prstDash val="solid"/>
          </a:ln>
        </p:spPr>
      </p:sp>
      <p:sp>
        <p:nvSpPr>
          <p:cNvPr id="13" name="Shape 11"/>
          <p:cNvSpPr/>
          <p:nvPr/>
        </p:nvSpPr>
        <p:spPr>
          <a:xfrm>
            <a:off x="4557674" y="1938528"/>
            <a:ext cx="365760" cy="365760"/>
          </a:xfrm>
          <a:prstGeom prst="ellipse">
            <a:avLst/>
          </a:prstGeom>
          <a:solidFill>
            <a:srgbClr val="0E7C7B"/>
          </a:solidFill>
          <a:ln w="12700">
            <a:solidFill>
              <a:srgbClr val="0E7C7B"/>
            </a:solidFill>
            <a:prstDash val="solid"/>
          </a:ln>
        </p:spPr>
      </p:sp>
      <p:sp>
        <p:nvSpPr>
          <p:cNvPr id="14" name="Text 12"/>
          <p:cNvSpPr txBox="1"/>
          <p:nvPr/>
        </p:nvSpPr>
        <p:spPr>
          <a:xfrm>
            <a:off x="4557674"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4557674" y="2414016"/>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Build the evidence</a:t>
            </a:r>
            <a:endParaRPr lang="en-US" sz="1400" dirty="0"/>
          </a:p>
        </p:txBody>
      </p:sp>
      <p:sp>
        <p:nvSpPr>
          <p:cNvPr id="16" name="Text 14"/>
          <p:cNvSpPr txBox="1"/>
          <p:nvPr/>
        </p:nvSpPr>
        <p:spPr>
          <a:xfrm>
            <a:off x="4557674" y="2759456"/>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Name the validation deliverables a submission and an inspection actually require, and explain what makes each one adequate rather than merely present.</a:t>
            </a:r>
            <a:endParaRPr lang="en-US" sz="1100" dirty="0"/>
          </a:p>
        </p:txBody>
      </p:sp>
      <p:sp>
        <p:nvSpPr>
          <p:cNvPr id="17" name="Shape 15"/>
          <p:cNvSpPr/>
          <p:nvPr/>
        </p:nvSpPr>
        <p:spPr>
          <a:xfrm>
            <a:off x="8127797" y="1737360"/>
            <a:ext cx="3515258" cy="2121408"/>
          </a:xfrm>
          <a:prstGeom prst="roundRect">
            <a:avLst>
              <a:gd name="adj" fmla="val 3017"/>
            </a:avLst>
          </a:prstGeom>
          <a:solidFill>
            <a:srgbClr val="F1F5F6"/>
          </a:solidFill>
          <a:ln w="12700">
            <a:solidFill>
              <a:srgbClr val="D7E2E5"/>
            </a:solidFill>
            <a:prstDash val="solid"/>
          </a:ln>
        </p:spPr>
      </p:sp>
      <p:sp>
        <p:nvSpPr>
          <p:cNvPr id="18" name="Shape 16"/>
          <p:cNvSpPr/>
          <p:nvPr/>
        </p:nvSpPr>
        <p:spPr>
          <a:xfrm>
            <a:off x="8347253" y="1938528"/>
            <a:ext cx="365760" cy="365760"/>
          </a:xfrm>
          <a:prstGeom prst="ellipse">
            <a:avLst/>
          </a:prstGeom>
          <a:solidFill>
            <a:srgbClr val="0E7C7B"/>
          </a:solidFill>
          <a:ln w="12700">
            <a:solidFill>
              <a:srgbClr val="0E7C7B"/>
            </a:solidFill>
            <a:prstDash val="solid"/>
          </a:ln>
        </p:spPr>
      </p:sp>
      <p:sp>
        <p:nvSpPr>
          <p:cNvPr id="19" name="Text 17"/>
          <p:cNvSpPr txBox="1"/>
          <p:nvPr/>
        </p:nvSpPr>
        <p:spPr>
          <a:xfrm>
            <a:off x="8347253"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347253" y="2414016"/>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Run security as engineering</a:t>
            </a:r>
            <a:endParaRPr lang="en-US" sz="1400" dirty="0"/>
          </a:p>
        </p:txBody>
      </p:sp>
      <p:sp>
        <p:nvSpPr>
          <p:cNvPr id="21" name="Text 19"/>
          <p:cNvSpPr txBox="1"/>
          <p:nvPr/>
        </p:nvSpPr>
        <p:spPr>
          <a:xfrm>
            <a:off x="8347253" y="2759456"/>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Describe the Secure Product Development Framework, run a threat model, and distinguish security risk from safety risk without collapsing one into the other.</a:t>
            </a:r>
            <a:endParaRPr lang="en-US" sz="1100" dirty="0"/>
          </a:p>
        </p:txBody>
      </p:sp>
      <p:sp>
        <p:nvSpPr>
          <p:cNvPr id="22" name="Shape 20"/>
          <p:cNvSpPr/>
          <p:nvPr/>
        </p:nvSpPr>
        <p:spPr>
          <a:xfrm>
            <a:off x="548640" y="4133088"/>
            <a:ext cx="3515258" cy="2121408"/>
          </a:xfrm>
          <a:prstGeom prst="roundRect">
            <a:avLst>
              <a:gd name="adj" fmla="val 3017"/>
            </a:avLst>
          </a:prstGeom>
          <a:solidFill>
            <a:srgbClr val="F1F5F6"/>
          </a:solidFill>
          <a:ln w="12700">
            <a:solidFill>
              <a:srgbClr val="D7E2E5"/>
            </a:solidFill>
            <a:prstDash val="solid"/>
          </a:ln>
        </p:spPr>
      </p:sp>
      <p:sp>
        <p:nvSpPr>
          <p:cNvPr id="23" name="Shape 21"/>
          <p:cNvSpPr/>
          <p:nvPr/>
        </p:nvSpPr>
        <p:spPr>
          <a:xfrm>
            <a:off x="768096" y="4334256"/>
            <a:ext cx="365760" cy="365760"/>
          </a:xfrm>
          <a:prstGeom prst="ellipse">
            <a:avLst/>
          </a:prstGeom>
          <a:solidFill>
            <a:srgbClr val="0E7C7B"/>
          </a:solidFill>
          <a:ln w="12700">
            <a:solidFill>
              <a:srgbClr val="0E7C7B"/>
            </a:solidFill>
            <a:prstDash val="solid"/>
          </a:ln>
        </p:spPr>
      </p:sp>
      <p:sp>
        <p:nvSpPr>
          <p:cNvPr id="24" name="Text 22"/>
          <p:cNvSpPr txBox="1"/>
          <p:nvPr/>
        </p:nvSpPr>
        <p:spPr>
          <a:xfrm>
            <a:off x="768096" y="4334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768096" y="4809744"/>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Meet 524B</a:t>
            </a:r>
            <a:endParaRPr lang="en-US" sz="1400" dirty="0"/>
          </a:p>
        </p:txBody>
      </p:sp>
      <p:sp>
        <p:nvSpPr>
          <p:cNvPr id="26" name="Text 24"/>
          <p:cNvSpPr txBox="1"/>
          <p:nvPr/>
        </p:nvSpPr>
        <p:spPr>
          <a:xfrm>
            <a:off x="768096" y="5155184"/>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State the four statutory cybersecurity obligations for cyber devices and what evidence demonstrates each one.</a:t>
            </a:r>
            <a:endParaRPr lang="en-US" sz="1100" dirty="0"/>
          </a:p>
        </p:txBody>
      </p:sp>
      <p:sp>
        <p:nvSpPr>
          <p:cNvPr id="27" name="Shape 25"/>
          <p:cNvSpPr/>
          <p:nvPr/>
        </p:nvSpPr>
        <p:spPr>
          <a:xfrm>
            <a:off x="4338218" y="4133088"/>
            <a:ext cx="3515258" cy="2121408"/>
          </a:xfrm>
          <a:prstGeom prst="roundRect">
            <a:avLst>
              <a:gd name="adj" fmla="val 3017"/>
            </a:avLst>
          </a:prstGeom>
          <a:solidFill>
            <a:srgbClr val="F1F5F6"/>
          </a:solidFill>
          <a:ln w="12700">
            <a:solidFill>
              <a:srgbClr val="D7E2E5"/>
            </a:solidFill>
            <a:prstDash val="solid"/>
          </a:ln>
        </p:spPr>
      </p:sp>
      <p:sp>
        <p:nvSpPr>
          <p:cNvPr id="28" name="Shape 26"/>
          <p:cNvSpPr/>
          <p:nvPr/>
        </p:nvSpPr>
        <p:spPr>
          <a:xfrm>
            <a:off x="4557674" y="4334256"/>
            <a:ext cx="365760" cy="365760"/>
          </a:xfrm>
          <a:prstGeom prst="ellipse">
            <a:avLst/>
          </a:prstGeom>
          <a:solidFill>
            <a:srgbClr val="0E7C7B"/>
          </a:solidFill>
          <a:ln w="12700">
            <a:solidFill>
              <a:srgbClr val="0E7C7B"/>
            </a:solidFill>
            <a:prstDash val="solid"/>
          </a:ln>
        </p:spPr>
      </p:sp>
      <p:sp>
        <p:nvSpPr>
          <p:cNvPr id="29" name="Text 27"/>
          <p:cNvSpPr txBox="1"/>
          <p:nvPr/>
        </p:nvSpPr>
        <p:spPr>
          <a:xfrm>
            <a:off x="4557674" y="4334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4557674" y="4809744"/>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Handle a vulnerability</a:t>
            </a:r>
            <a:endParaRPr lang="en-US" sz="1400" dirty="0"/>
          </a:p>
        </p:txBody>
      </p:sp>
      <p:sp>
        <p:nvSpPr>
          <p:cNvPr id="31" name="Text 29"/>
          <p:cNvSpPr txBox="1"/>
          <p:nvPr/>
        </p:nvSpPr>
        <p:spPr>
          <a:xfrm>
            <a:off x="4557674" y="5155184"/>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Work a postmarket disclosure through triage, controlled-vs-uncontrolled risk, reporting decisions, and customer communication.</a:t>
            </a:r>
            <a:endParaRPr lang="en-US" sz="1100" dirty="0"/>
          </a:p>
        </p:txBody>
      </p:sp>
      <p:sp>
        <p:nvSpPr>
          <p:cNvPr id="32" name="Shape 30"/>
          <p:cNvSpPr/>
          <p:nvPr/>
        </p:nvSpPr>
        <p:spPr>
          <a:xfrm>
            <a:off x="8127797" y="4133088"/>
            <a:ext cx="3515258" cy="2121408"/>
          </a:xfrm>
          <a:prstGeom prst="roundRect">
            <a:avLst>
              <a:gd name="adj" fmla="val 3017"/>
            </a:avLst>
          </a:prstGeom>
          <a:solidFill>
            <a:srgbClr val="F1F5F6"/>
          </a:solidFill>
          <a:ln w="12700">
            <a:solidFill>
              <a:srgbClr val="D7E2E5"/>
            </a:solidFill>
            <a:prstDash val="solid"/>
          </a:ln>
        </p:spPr>
      </p:sp>
      <p:sp>
        <p:nvSpPr>
          <p:cNvPr id="33" name="Shape 31"/>
          <p:cNvSpPr/>
          <p:nvPr/>
        </p:nvSpPr>
        <p:spPr>
          <a:xfrm>
            <a:off x="8347253" y="4334256"/>
            <a:ext cx="365760" cy="365760"/>
          </a:xfrm>
          <a:prstGeom prst="ellipse">
            <a:avLst/>
          </a:prstGeom>
          <a:solidFill>
            <a:srgbClr val="0E7C7B"/>
          </a:solidFill>
          <a:ln w="12700">
            <a:solidFill>
              <a:srgbClr val="0E7C7B"/>
            </a:solidFill>
            <a:prstDash val="solid"/>
          </a:ln>
        </p:spPr>
      </p:sp>
      <p:sp>
        <p:nvSpPr>
          <p:cNvPr id="34" name="Text 32"/>
          <p:cNvSpPr txBox="1"/>
          <p:nvPr/>
        </p:nvSpPr>
        <p:spPr>
          <a:xfrm>
            <a:off x="8347253" y="4334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Text 33"/>
          <p:cNvSpPr txBox="1"/>
          <p:nvPr/>
        </p:nvSpPr>
        <p:spPr>
          <a:xfrm>
            <a:off x="8347253" y="4809744"/>
            <a:ext cx="3076346" cy="308864"/>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Find your gaps</a:t>
            </a:r>
            <a:endParaRPr lang="en-US" sz="1400" dirty="0"/>
          </a:p>
        </p:txBody>
      </p:sp>
      <p:sp>
        <p:nvSpPr>
          <p:cNvPr id="36" name="Text 34"/>
          <p:cNvSpPr txBox="1"/>
          <p:nvPr/>
        </p:nvSpPr>
        <p:spPr>
          <a:xfrm>
            <a:off x="8347253" y="5155184"/>
            <a:ext cx="3076346" cy="953008"/>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Leave with a prioritised list of what your own programme is missing and a 30/60/90 sequence to close it.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CALIBRATION</a:t>
            </a:r>
            <a:endParaRPr lang="en-US" sz="1100" dirty="0"/>
          </a:p>
        </p:txBody>
      </p:sp>
      <p:sp>
        <p:nvSpPr>
          <p:cNvPr id="3" name="Text 1"/>
          <p:cNvSpPr txBox="1"/>
          <p:nvPr/>
        </p:nvSpPr>
        <p:spPr>
          <a:xfrm>
            <a:off x="548640" y="566928"/>
            <a:ext cx="10058400"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Before we start: who is in the room?</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Hands up. I will adjust depth as we go — this tells me where to spend the time.</a:t>
            </a:r>
            <a:endParaRPr lang="en-US" sz="1400" dirty="0"/>
          </a:p>
        </p:txBody>
      </p:sp>
      <p:sp>
        <p:nvSpPr>
          <p:cNvPr id="7" name="Shape 5"/>
          <p:cNvSpPr/>
          <p:nvPr/>
        </p:nvSpPr>
        <p:spPr>
          <a:xfrm>
            <a:off x="548640" y="1755648"/>
            <a:ext cx="11094415" cy="1028700"/>
          </a:xfrm>
          <a:prstGeom prst="roundRect">
            <a:avLst>
              <a:gd name="adj" fmla="val 6222"/>
            </a:avLst>
          </a:prstGeom>
          <a:solidFill>
            <a:srgbClr val="F1F5F6"/>
          </a:solidFill>
          <a:ln w="12700">
            <a:solidFill>
              <a:srgbClr val="D7E2E5"/>
            </a:solidFill>
            <a:prstDash val="solid"/>
          </a:ln>
        </p:spPr>
      </p:sp>
      <p:sp>
        <p:nvSpPr>
          <p:cNvPr id="8" name="Shape 6"/>
          <p:cNvSpPr/>
          <p:nvPr/>
        </p:nvSpPr>
        <p:spPr>
          <a:xfrm>
            <a:off x="786384" y="2068830"/>
            <a:ext cx="402336" cy="402336"/>
          </a:xfrm>
          <a:prstGeom prst="ellipse">
            <a:avLst/>
          </a:prstGeom>
          <a:solidFill>
            <a:srgbClr val="0E7C7B"/>
          </a:solidFill>
          <a:ln w="12700">
            <a:solidFill>
              <a:srgbClr val="0E7C7B"/>
            </a:solidFill>
            <a:prstDash val="solid"/>
          </a:ln>
        </p:spPr>
      </p:sp>
      <p:sp>
        <p:nvSpPr>
          <p:cNvPr id="9" name="Text 7"/>
          <p:cNvSpPr txBox="1"/>
          <p:nvPr/>
        </p:nvSpPr>
        <p:spPr>
          <a:xfrm>
            <a:off x="786384" y="206883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0" name="Text 8"/>
          <p:cNvSpPr txBox="1"/>
          <p:nvPr/>
        </p:nvSpPr>
        <p:spPr>
          <a:xfrm>
            <a:off x="1335024" y="1874520"/>
            <a:ext cx="10033711" cy="790956"/>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Your device connects to something</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Wi-Fi, Bluetooth, cellular, USB, a hospital network, a phone, or a cloud service. Anything that is not fully air-gapped.</a:t>
            </a:r>
            <a:endParaRPr lang="en-US" sz="1450" dirty="0"/>
          </a:p>
        </p:txBody>
      </p:sp>
      <p:sp>
        <p:nvSpPr>
          <p:cNvPr id="11" name="Shape 9"/>
          <p:cNvSpPr/>
          <p:nvPr/>
        </p:nvSpPr>
        <p:spPr>
          <a:xfrm>
            <a:off x="548640" y="2912364"/>
            <a:ext cx="11094415" cy="1028700"/>
          </a:xfrm>
          <a:prstGeom prst="roundRect">
            <a:avLst>
              <a:gd name="adj" fmla="val 6222"/>
            </a:avLst>
          </a:prstGeom>
          <a:solidFill>
            <a:srgbClr val="F1F5F6"/>
          </a:solidFill>
          <a:ln w="12700">
            <a:solidFill>
              <a:srgbClr val="D7E2E5"/>
            </a:solidFill>
            <a:prstDash val="solid"/>
          </a:ln>
        </p:spPr>
      </p:sp>
      <p:sp>
        <p:nvSpPr>
          <p:cNvPr id="12" name="Shape 10"/>
          <p:cNvSpPr/>
          <p:nvPr/>
        </p:nvSpPr>
        <p:spPr>
          <a:xfrm>
            <a:off x="786384" y="3225546"/>
            <a:ext cx="402336" cy="402336"/>
          </a:xfrm>
          <a:prstGeom prst="ellipse">
            <a:avLst/>
          </a:prstGeom>
          <a:solidFill>
            <a:srgbClr val="2A9D8F"/>
          </a:solidFill>
          <a:ln w="12700">
            <a:solidFill>
              <a:srgbClr val="2A9D8F"/>
            </a:solidFill>
            <a:prstDash val="solid"/>
          </a:ln>
        </p:spPr>
      </p:sp>
      <p:sp>
        <p:nvSpPr>
          <p:cNvPr id="13" name="Text 11"/>
          <p:cNvSpPr txBox="1"/>
          <p:nvPr/>
        </p:nvSpPr>
        <p:spPr>
          <a:xfrm>
            <a:off x="786384" y="322554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35024" y="3031236"/>
            <a:ext cx="10033711" cy="790956"/>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You ship SaMD</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Software that is itself the medical device — an app, an algorithm, a web platform — not software embedded in hardware you also make.</a:t>
            </a:r>
            <a:endParaRPr lang="en-US" sz="1450" dirty="0"/>
          </a:p>
        </p:txBody>
      </p:sp>
      <p:sp>
        <p:nvSpPr>
          <p:cNvPr id="15" name="Shape 13"/>
          <p:cNvSpPr/>
          <p:nvPr/>
        </p:nvSpPr>
        <p:spPr>
          <a:xfrm>
            <a:off x="548640" y="4069080"/>
            <a:ext cx="11094415" cy="1028700"/>
          </a:xfrm>
          <a:prstGeom prst="roundRect">
            <a:avLst>
              <a:gd name="adj" fmla="val 6222"/>
            </a:avLst>
          </a:prstGeom>
          <a:solidFill>
            <a:srgbClr val="F1F5F6"/>
          </a:solidFill>
          <a:ln w="12700">
            <a:solidFill>
              <a:srgbClr val="D7E2E5"/>
            </a:solidFill>
            <a:prstDash val="solid"/>
          </a:ln>
        </p:spPr>
      </p:sp>
      <p:sp>
        <p:nvSpPr>
          <p:cNvPr id="16" name="Shape 14"/>
          <p:cNvSpPr/>
          <p:nvPr/>
        </p:nvSpPr>
        <p:spPr>
          <a:xfrm>
            <a:off x="786384" y="4382262"/>
            <a:ext cx="402336" cy="402336"/>
          </a:xfrm>
          <a:prstGeom prst="ellipse">
            <a:avLst/>
          </a:prstGeom>
          <a:solidFill>
            <a:srgbClr val="C77C1E"/>
          </a:solidFill>
          <a:ln w="12700">
            <a:solidFill>
              <a:srgbClr val="C77C1E"/>
            </a:solidFill>
            <a:prstDash val="solid"/>
          </a:ln>
        </p:spPr>
      </p:sp>
      <p:sp>
        <p:nvSpPr>
          <p:cNvPr id="17" name="Text 15"/>
          <p:cNvSpPr txBox="1"/>
          <p:nvPr/>
        </p:nvSpPr>
        <p:spPr>
          <a:xfrm>
            <a:off x="786384" y="438226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8" name="Text 16"/>
          <p:cNvSpPr txBox="1"/>
          <p:nvPr/>
        </p:nvSpPr>
        <p:spPr>
          <a:xfrm>
            <a:off x="1335024" y="4187952"/>
            <a:ext cx="10033711" cy="790956"/>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You have shipped a security patch to the field</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Not a feature release that happened to include fixes. A patch you issued because of a vulnerability.</a:t>
            </a:r>
            <a:endParaRPr lang="en-US" sz="1450" dirty="0"/>
          </a:p>
        </p:txBody>
      </p:sp>
      <p:sp>
        <p:nvSpPr>
          <p:cNvPr id="19" name="Shape 17"/>
          <p:cNvSpPr/>
          <p:nvPr/>
        </p:nvSpPr>
        <p:spPr>
          <a:xfrm>
            <a:off x="548640" y="5225796"/>
            <a:ext cx="11094415" cy="1028700"/>
          </a:xfrm>
          <a:prstGeom prst="roundRect">
            <a:avLst>
              <a:gd name="adj" fmla="val 6222"/>
            </a:avLst>
          </a:prstGeom>
          <a:solidFill>
            <a:srgbClr val="F1F5F6"/>
          </a:solidFill>
          <a:ln w="12700">
            <a:solidFill>
              <a:srgbClr val="D7E2E5"/>
            </a:solidFill>
            <a:prstDash val="solid"/>
          </a:ln>
        </p:spPr>
      </p:sp>
      <p:sp>
        <p:nvSpPr>
          <p:cNvPr id="20" name="Shape 18"/>
          <p:cNvSpPr/>
          <p:nvPr/>
        </p:nvSpPr>
        <p:spPr>
          <a:xfrm>
            <a:off x="786384" y="5538978"/>
            <a:ext cx="402336" cy="402336"/>
          </a:xfrm>
          <a:prstGeom prst="ellipse">
            <a:avLst/>
          </a:prstGeom>
          <a:solidFill>
            <a:srgbClr val="A83A3C"/>
          </a:solidFill>
          <a:ln w="12700">
            <a:solidFill>
              <a:srgbClr val="A83A3C"/>
            </a:solidFill>
            <a:prstDash val="solid"/>
          </a:ln>
        </p:spPr>
      </p:sp>
      <p:sp>
        <p:nvSpPr>
          <p:cNvPr id="21" name="Text 19"/>
          <p:cNvSpPr txBox="1"/>
          <p:nvPr/>
        </p:nvSpPr>
        <p:spPr>
          <a:xfrm>
            <a:off x="786384" y="553897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2" name="Text 20"/>
          <p:cNvSpPr txBox="1"/>
          <p:nvPr/>
        </p:nvSpPr>
        <p:spPr>
          <a:xfrm>
            <a:off x="1335024" y="5344668"/>
            <a:ext cx="10033711" cy="790956"/>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You have received an unsolicited vulnerability report</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From a researcher, a customer's security team, a regulator, or CISA.</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2057400"/>
            <a:ext cx="11094415" cy="292608"/>
          </a:xfrm>
          <a:prstGeom prst="rect">
            <a:avLst/>
          </a:prstGeom>
          <a:noFill/>
          <a:ln/>
        </p:spPr>
        <p:txBody>
          <a:bodyPr wrap="square" lIns="0" tIns="0" rIns="0" bIns="0" rtlCol="0" anchor="ctr"/>
          <a:lstStyle/>
          <a:p>
            <a:pPr indent="0" marL="0">
              <a:buNone/>
            </a:pPr>
            <a:r>
              <a:rPr lang="en-US" sz="1300" b="1" spc="220" kern="0" dirty="0">
                <a:solidFill>
                  <a:srgbClr val="2A9D8F"/>
                </a:solidFill>
                <a:latin typeface="Calibri" pitchFamily="34" charset="0"/>
                <a:ea typeface="Calibri" pitchFamily="34" charset="-122"/>
                <a:cs typeface="Calibri" pitchFamily="34" charset="-120"/>
              </a:rPr>
              <a:t>PART ONE</a:t>
            </a:r>
            <a:endParaRPr lang="en-US" sz="1300" dirty="0"/>
          </a:p>
        </p:txBody>
      </p:sp>
      <p:sp>
        <p:nvSpPr>
          <p:cNvPr id="3" name="Text 1"/>
          <p:cNvSpPr txBox="1"/>
          <p:nvPr/>
        </p:nvSpPr>
        <p:spPr>
          <a:xfrm>
            <a:off x="548640" y="2450592"/>
            <a:ext cx="9692640" cy="11430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new operating environment</a:t>
            </a:r>
            <a:endParaRPr lang="en-US" sz="4000" dirty="0"/>
          </a:p>
        </p:txBody>
      </p:sp>
      <p:sp>
        <p:nvSpPr>
          <p:cNvPr id="4" name="Text 2"/>
          <p:cNvSpPr txBox="1"/>
          <p:nvPr/>
        </p:nvSpPr>
        <p:spPr>
          <a:xfrm>
            <a:off x="548640" y="3657600"/>
            <a:ext cx="8961120" cy="822960"/>
          </a:xfrm>
          <a:prstGeom prst="rect">
            <a:avLst/>
          </a:prstGeom>
          <a:noFill/>
          <a:ln/>
        </p:spPr>
        <p:txBody>
          <a:bodyPr wrap="square" lIns="0" tIns="0" rIns="0" bIns="0" rtlCol="0" anchor="ctr"/>
          <a:lstStyle/>
          <a:p>
            <a:pPr indent="0" marL="0">
              <a:buNone/>
            </a:pPr>
            <a:r>
              <a:rPr lang="en-US" sz="1500" dirty="0">
                <a:solidFill>
                  <a:srgbClr val="BCCCD2"/>
                </a:solidFill>
                <a:latin typeface="Calibri" pitchFamily="34" charset="0"/>
                <a:ea typeface="Calibri" pitchFamily="34" charset="-122"/>
                <a:cs typeface="Calibri" pitchFamily="34" charset="-120"/>
              </a:rPr>
              <a:t>Three forces converged, and the regulatory floor moved underneath them.</a:t>
            </a:r>
            <a:endParaRPr lang="en-US" sz="1500" dirty="0"/>
          </a:p>
        </p:txBody>
      </p:sp>
      <p:sp>
        <p:nvSpPr>
          <p:cNvPr id="5" name="Text 3"/>
          <p:cNvSpPr txBox="1"/>
          <p:nvPr/>
        </p:nvSpPr>
        <p:spPr>
          <a:xfrm>
            <a:off x="548640" y="4617720"/>
            <a:ext cx="5486400" cy="320040"/>
          </a:xfrm>
          <a:prstGeom prst="rect">
            <a:avLst/>
          </a:prstGeom>
          <a:noFill/>
          <a:ln/>
        </p:spPr>
        <p:txBody>
          <a:bodyPr wrap="square" lIns="0" tIns="0" rIns="0" bIns="0" rtlCol="0" anchor="ctr"/>
          <a:lstStyle/>
          <a:p>
            <a:pPr indent="0" marL="0">
              <a:buNone/>
            </a:pPr>
            <a:r>
              <a:rPr lang="en-US" sz="1200" b="1" spc="100" kern="0" dirty="0">
                <a:solidFill>
                  <a:srgbClr val="C77C1E"/>
                </a:solidFill>
                <a:latin typeface="Calibri" pitchFamily="34" charset="0"/>
                <a:ea typeface="Calibri" pitchFamily="34" charset="-122"/>
                <a:cs typeface="Calibri" pitchFamily="34" charset="-120"/>
              </a:rPr>
              <a:t>15 minutes</a:t>
            </a:r>
            <a:endParaRPr lang="en-US" sz="1200" dirty="0"/>
          </a:p>
        </p:txBody>
      </p:sp>
      <p:sp>
        <p:nvSpPr>
          <p:cNvPr id="6" name="Text 4"/>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THE CONVERGENCE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Why this got hard, specifically</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664208"/>
            <a:ext cx="3515258" cy="3291840"/>
          </a:xfrm>
          <a:prstGeom prst="roundRect">
            <a:avLst>
              <a:gd name="adj" fmla="val 1944"/>
            </a:avLst>
          </a:prstGeom>
          <a:solidFill>
            <a:srgbClr val="F1F5F6"/>
          </a:solidFill>
          <a:ln w="12700">
            <a:solidFill>
              <a:srgbClr val="D7E2E5"/>
            </a:solidFill>
            <a:prstDash val="solid"/>
          </a:ln>
        </p:spPr>
      </p:sp>
      <p:sp>
        <p:nvSpPr>
          <p:cNvPr id="7" name="Shape 5"/>
          <p:cNvSpPr/>
          <p:nvPr/>
        </p:nvSpPr>
        <p:spPr>
          <a:xfrm>
            <a:off x="768096" y="1865376"/>
            <a:ext cx="365760" cy="365760"/>
          </a:xfrm>
          <a:prstGeom prst="ellipse">
            <a:avLst/>
          </a:prstGeom>
          <a:solidFill>
            <a:srgbClr val="0E7C7B"/>
          </a:solidFill>
          <a:ln w="12700">
            <a:solidFill>
              <a:srgbClr val="0E7C7B"/>
            </a:solidFill>
            <a:prstDash val="solid"/>
          </a:ln>
        </p:spPr>
      </p:sp>
      <p:sp>
        <p:nvSpPr>
          <p:cNvPr id="8" name="Text 6"/>
          <p:cNvSpPr txBox="1"/>
          <p:nvPr/>
        </p:nvSpPr>
        <p:spPr>
          <a:xfrm>
            <a:off x="768096" y="1865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768096" y="2340864"/>
            <a:ext cx="3076346" cy="508000"/>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The device became connected</a:t>
            </a:r>
            <a:endParaRPr lang="en-US" sz="1400" dirty="0"/>
          </a:p>
        </p:txBody>
      </p:sp>
      <p:sp>
        <p:nvSpPr>
          <p:cNvPr id="10" name="Text 8"/>
          <p:cNvSpPr txBox="1"/>
          <p:nvPr/>
        </p:nvSpPr>
        <p:spPr>
          <a:xfrm>
            <a:off x="768096" y="2885440"/>
            <a:ext cx="3076346" cy="1924304"/>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Connectivity moved from a premium feature to a default. Remote monitoring, OTA updates, cloud analytics and EHR integration all add clinical value — and every one of them is an attack surface that persists for the entire service life of the device.</a:t>
            </a:r>
            <a:endParaRPr lang="en-US" sz="1150" dirty="0"/>
          </a:p>
        </p:txBody>
      </p:sp>
      <p:sp>
        <p:nvSpPr>
          <p:cNvPr id="11" name="Shape 9"/>
          <p:cNvSpPr/>
          <p:nvPr/>
        </p:nvSpPr>
        <p:spPr>
          <a:xfrm>
            <a:off x="4338218" y="1664208"/>
            <a:ext cx="3515258" cy="3291840"/>
          </a:xfrm>
          <a:prstGeom prst="roundRect">
            <a:avLst>
              <a:gd name="adj" fmla="val 1944"/>
            </a:avLst>
          </a:prstGeom>
          <a:solidFill>
            <a:srgbClr val="F1F5F6"/>
          </a:solidFill>
          <a:ln w="12700">
            <a:solidFill>
              <a:srgbClr val="D7E2E5"/>
            </a:solidFill>
            <a:prstDash val="solid"/>
          </a:ln>
        </p:spPr>
      </p:sp>
      <p:sp>
        <p:nvSpPr>
          <p:cNvPr id="12" name="Shape 10"/>
          <p:cNvSpPr/>
          <p:nvPr/>
        </p:nvSpPr>
        <p:spPr>
          <a:xfrm>
            <a:off x="4557674" y="1865376"/>
            <a:ext cx="365760" cy="365760"/>
          </a:xfrm>
          <a:prstGeom prst="ellipse">
            <a:avLst/>
          </a:prstGeom>
          <a:solidFill>
            <a:srgbClr val="2A9D8F"/>
          </a:solidFill>
          <a:ln w="12700">
            <a:solidFill>
              <a:srgbClr val="2A9D8F"/>
            </a:solidFill>
            <a:prstDash val="solid"/>
          </a:ln>
        </p:spPr>
      </p:sp>
      <p:sp>
        <p:nvSpPr>
          <p:cNvPr id="13" name="Text 11"/>
          <p:cNvSpPr txBox="1"/>
          <p:nvPr/>
        </p:nvSpPr>
        <p:spPr>
          <a:xfrm>
            <a:off x="4557674" y="1865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57674" y="2340864"/>
            <a:ext cx="3076346" cy="508000"/>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The software became the device</a:t>
            </a:r>
            <a:endParaRPr lang="en-US" sz="1400" dirty="0"/>
          </a:p>
        </p:txBody>
      </p:sp>
      <p:sp>
        <p:nvSpPr>
          <p:cNvPr id="15" name="Text 13"/>
          <p:cNvSpPr txBox="1"/>
          <p:nvPr/>
        </p:nvSpPr>
        <p:spPr>
          <a:xfrm>
            <a:off x="4557674" y="2885440"/>
            <a:ext cx="3076346" cy="1924304"/>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When the product is an algorithm, there is no mechanical failsafe behind it. A bad build IS a bad device. Release velocity that the software industry considers normal collides with a regulatory system built around discrete, documented design changes.</a:t>
            </a:r>
            <a:endParaRPr lang="en-US" sz="1150" dirty="0"/>
          </a:p>
        </p:txBody>
      </p:sp>
      <p:sp>
        <p:nvSpPr>
          <p:cNvPr id="16" name="Shape 14"/>
          <p:cNvSpPr/>
          <p:nvPr/>
        </p:nvSpPr>
        <p:spPr>
          <a:xfrm>
            <a:off x="8127797" y="1664208"/>
            <a:ext cx="3515258" cy="3291840"/>
          </a:xfrm>
          <a:prstGeom prst="roundRect">
            <a:avLst>
              <a:gd name="adj" fmla="val 1944"/>
            </a:avLst>
          </a:prstGeom>
          <a:solidFill>
            <a:srgbClr val="F1F5F6"/>
          </a:solidFill>
          <a:ln w="12700">
            <a:solidFill>
              <a:srgbClr val="D7E2E5"/>
            </a:solidFill>
            <a:prstDash val="solid"/>
          </a:ln>
        </p:spPr>
      </p:sp>
      <p:sp>
        <p:nvSpPr>
          <p:cNvPr id="17" name="Shape 15"/>
          <p:cNvSpPr/>
          <p:nvPr/>
        </p:nvSpPr>
        <p:spPr>
          <a:xfrm>
            <a:off x="8347253" y="1865376"/>
            <a:ext cx="365760" cy="365760"/>
          </a:xfrm>
          <a:prstGeom prst="ellipse">
            <a:avLst/>
          </a:prstGeom>
          <a:solidFill>
            <a:srgbClr val="A83A3C"/>
          </a:solidFill>
          <a:ln w="12700">
            <a:solidFill>
              <a:srgbClr val="A83A3C"/>
            </a:solidFill>
            <a:prstDash val="solid"/>
          </a:ln>
        </p:spPr>
      </p:sp>
      <p:sp>
        <p:nvSpPr>
          <p:cNvPr id="18" name="Text 16"/>
          <p:cNvSpPr txBox="1"/>
          <p:nvPr/>
        </p:nvSpPr>
        <p:spPr>
          <a:xfrm>
            <a:off x="8347253" y="1865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47253" y="2340864"/>
            <a:ext cx="3076346" cy="508000"/>
          </a:xfrm>
          <a:prstGeom prst="rect">
            <a:avLst/>
          </a:prstGeom>
          <a:noFill/>
          <a:ln/>
        </p:spPr>
        <p:txBody>
          <a:bodyPr wrap="square" lIns="0" tIns="0" rIns="0" bIns="0" rtlCol="0" anchor="t"/>
          <a:lstStyle/>
          <a:p>
            <a:pPr indent="0" marL="0">
              <a:buNone/>
            </a:pPr>
            <a:r>
              <a:rPr lang="en-US" sz="1400" b="1" dirty="0">
                <a:solidFill>
                  <a:srgbClr val="1B3A4B"/>
                </a:solidFill>
                <a:latin typeface="Calibri" pitchFamily="34" charset="0"/>
                <a:ea typeface="Calibri" pitchFamily="34" charset="-122"/>
                <a:cs typeface="Calibri" pitchFamily="34" charset="-120"/>
              </a:rPr>
              <a:t>The adversary got economics</a:t>
            </a:r>
            <a:endParaRPr lang="en-US" sz="1400" dirty="0"/>
          </a:p>
        </p:txBody>
      </p:sp>
      <p:sp>
        <p:nvSpPr>
          <p:cNvPr id="20" name="Text 18"/>
          <p:cNvSpPr txBox="1"/>
          <p:nvPr/>
        </p:nvSpPr>
        <p:spPr>
          <a:xfrm>
            <a:off x="8347253" y="2885440"/>
            <a:ext cx="3076346" cy="1924304"/>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Healthcare is targeted because downtime is intolerable and data is valuable. Ransomware operators do not need to target your device specifically — they need the hospital network your device sits on, and your device is a foothold or a casualty.</a:t>
            </a:r>
            <a:endParaRPr lang="en-US" sz="1150" dirty="0"/>
          </a:p>
        </p:txBody>
      </p:sp>
      <p:sp>
        <p:nvSpPr>
          <p:cNvPr id="21" name="Shape 19"/>
          <p:cNvSpPr/>
          <p:nvPr/>
        </p:nvSpPr>
        <p:spPr>
          <a:xfrm>
            <a:off x="548640" y="5230368"/>
            <a:ext cx="11094415" cy="822960"/>
          </a:xfrm>
          <a:prstGeom prst="roundRect">
            <a:avLst>
              <a:gd name="adj" fmla="val 6667"/>
            </a:avLst>
          </a:prstGeom>
          <a:solidFill>
            <a:srgbClr val="EAF3F2"/>
          </a:solidFill>
          <a:ln w="12700">
            <a:solidFill>
              <a:srgbClr val="BFD9D6"/>
            </a:solidFill>
            <a:prstDash val="solid"/>
          </a:ln>
        </p:spPr>
      </p:sp>
      <p:sp>
        <p:nvSpPr>
          <p:cNvPr id="22" name="Text 20"/>
          <p:cNvSpPr txBox="1"/>
          <p:nvPr/>
        </p:nvSpPr>
        <p:spPr>
          <a:xfrm>
            <a:off x="786384" y="5230368"/>
            <a:ext cx="10618927" cy="822960"/>
          </a:xfrm>
          <a:prstGeom prst="rect">
            <a:avLst/>
          </a:prstGeom>
          <a:noFill/>
          <a:ln/>
        </p:spPr>
        <p:txBody>
          <a:bodyPr wrap="square" lIns="0" tIns="0" rIns="0" bIns="0" rtlCol="0" anchor="ctr"/>
          <a:lstStyle/>
          <a:p>
            <a:pPr indent="0" marL="0">
              <a:buNone/>
            </a:pPr>
            <a:r>
              <a:rPr lang="en-US" sz="1300" b="1" dirty="0">
                <a:solidFill>
                  <a:srgbClr val="1B3A4B"/>
                </a:solidFill>
                <a:latin typeface="Calibri" pitchFamily="34" charset="0"/>
                <a:ea typeface="Calibri" pitchFamily="34" charset="-122"/>
                <a:cs typeface="Calibri" pitchFamily="34" charset="-120"/>
              </a:rPr>
              <a:t>None of these is new on its own. What is new is that all three are now true at once, for the same product, for fifteen years of fielded service life.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TIMELINE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The regulatory floor moved</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536192"/>
            <a:ext cx="11094415" cy="850392"/>
          </a:xfrm>
          <a:prstGeom prst="roundRect">
            <a:avLst>
              <a:gd name="adj" fmla="val 7527"/>
            </a:avLst>
          </a:prstGeom>
          <a:solidFill>
            <a:srgbClr val="F1F5F6"/>
          </a:solidFill>
          <a:ln w="12700">
            <a:solidFill>
              <a:srgbClr val="D7E2E5"/>
            </a:solidFill>
            <a:prstDash val="solid"/>
          </a:ln>
        </p:spPr>
      </p:sp>
      <p:sp>
        <p:nvSpPr>
          <p:cNvPr id="7" name="Shape 5"/>
          <p:cNvSpPr/>
          <p:nvPr/>
        </p:nvSpPr>
        <p:spPr>
          <a:xfrm>
            <a:off x="731520" y="1737360"/>
            <a:ext cx="1024128" cy="438912"/>
          </a:xfrm>
          <a:prstGeom prst="roundRect">
            <a:avLst>
              <a:gd name="adj" fmla="val 12500"/>
            </a:avLst>
          </a:prstGeom>
          <a:solidFill>
            <a:srgbClr val="A83A3C"/>
          </a:solidFill>
          <a:ln w="12700">
            <a:solidFill>
              <a:srgbClr val="333333"/>
            </a:solidFill>
            <a:prstDash val="solid"/>
          </a:ln>
        </p:spPr>
      </p:sp>
      <p:sp>
        <p:nvSpPr>
          <p:cNvPr id="8" name="Text 6"/>
          <p:cNvSpPr txBox="1"/>
          <p:nvPr/>
        </p:nvSpPr>
        <p:spPr>
          <a:xfrm>
            <a:off x="731520" y="1737360"/>
            <a:ext cx="1024128"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Mar 2023</a:t>
            </a:r>
            <a:endParaRPr lang="en-US" sz="1050" dirty="0"/>
          </a:p>
        </p:txBody>
      </p:sp>
      <p:sp>
        <p:nvSpPr>
          <p:cNvPr id="9" name="Text 7"/>
          <p:cNvSpPr txBox="1"/>
          <p:nvPr/>
        </p:nvSpPr>
        <p:spPr>
          <a:xfrm>
            <a:off x="1920240" y="1627632"/>
            <a:ext cx="9448495" cy="667512"/>
          </a:xfrm>
          <a:prstGeom prst="rect">
            <a:avLst/>
          </a:prstGeom>
          <a:noFill/>
          <a:ln/>
        </p:spPr>
        <p:txBody>
          <a:bodyPr wrap="square" lIns="0" tIns="0" rIns="0" bIns="0" rtlCol="0" anchor="ctr"/>
          <a:lstStyle/>
          <a:p>
            <a:pPr indent="0" marL="0">
              <a:lnSpc>
                <a:spcPct val="102000"/>
              </a:lnSpc>
              <a:buNone/>
            </a:pPr>
            <a:r>
              <a:rPr lang="en-US" sz="1300" b="1" dirty="0">
                <a:solidFill>
                  <a:srgbClr val="1B3A4B"/>
                </a:solidFill>
                <a:latin typeface="Calibri" pitchFamily="34" charset="0"/>
                <a:ea typeface="Calibri" pitchFamily="34" charset="-122"/>
                <a:cs typeface="Calibri" pitchFamily="34" charset="-120"/>
              </a:rPr>
              <a:t>Section 524B takes effect</a:t>
            </a:r>
            <a:endParaRPr lang="en-US" sz="1300" dirty="0"/>
          </a:p>
          <a:p>
            <a:pPr indent="0" marL="0">
              <a:lnSpc>
                <a:spcPct val="102000"/>
              </a:lnSpc>
              <a:buNone/>
            </a:pPr>
            <a:r>
              <a:rPr lang="en-US" sz="1050" dirty="0">
                <a:solidFill>
                  <a:srgbClr val="22333B"/>
                </a:solidFill>
                <a:latin typeface="Calibri" pitchFamily="34" charset="0"/>
                <a:ea typeface="Calibri" pitchFamily="34" charset="-122"/>
                <a:cs typeface="Calibri" pitchFamily="34" charset="-120"/>
              </a:rPr>
              <a:t>The Consolidated Appropriations Act, 2023 adds 'Ensuring Cybersecurity of Devices' to the FD&amp;C Act. Cybersecurity becomes a statutory premarket requirement, not guidance. FDA began refusing to accept deficient submissions from 1 October 2023.</a:t>
            </a:r>
            <a:endParaRPr lang="en-US" sz="1300" dirty="0"/>
          </a:p>
        </p:txBody>
      </p:sp>
      <p:sp>
        <p:nvSpPr>
          <p:cNvPr id="10" name="Shape 8"/>
          <p:cNvSpPr/>
          <p:nvPr/>
        </p:nvSpPr>
        <p:spPr>
          <a:xfrm>
            <a:off x="548640" y="2496312"/>
            <a:ext cx="11094415" cy="850392"/>
          </a:xfrm>
          <a:prstGeom prst="roundRect">
            <a:avLst>
              <a:gd name="adj" fmla="val 7527"/>
            </a:avLst>
          </a:prstGeom>
          <a:solidFill>
            <a:srgbClr val="F1F5F6"/>
          </a:solidFill>
          <a:ln w="12700">
            <a:solidFill>
              <a:srgbClr val="D7E2E5"/>
            </a:solidFill>
            <a:prstDash val="solid"/>
          </a:ln>
        </p:spPr>
      </p:sp>
      <p:sp>
        <p:nvSpPr>
          <p:cNvPr id="11" name="Shape 9"/>
          <p:cNvSpPr/>
          <p:nvPr/>
        </p:nvSpPr>
        <p:spPr>
          <a:xfrm>
            <a:off x="731520" y="2697480"/>
            <a:ext cx="1024128" cy="438912"/>
          </a:xfrm>
          <a:prstGeom prst="roundRect">
            <a:avLst>
              <a:gd name="adj" fmla="val 12500"/>
            </a:avLst>
          </a:prstGeom>
          <a:solidFill>
            <a:srgbClr val="0E7C7B"/>
          </a:solidFill>
          <a:ln w="12700">
            <a:solidFill>
              <a:srgbClr val="333333"/>
            </a:solidFill>
            <a:prstDash val="solid"/>
          </a:ln>
        </p:spPr>
      </p:sp>
      <p:sp>
        <p:nvSpPr>
          <p:cNvPr id="12" name="Text 10"/>
          <p:cNvSpPr txBox="1"/>
          <p:nvPr/>
        </p:nvSpPr>
        <p:spPr>
          <a:xfrm>
            <a:off x="731520" y="2697480"/>
            <a:ext cx="1024128"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Jun 2023</a:t>
            </a:r>
            <a:endParaRPr lang="en-US" sz="1050" dirty="0"/>
          </a:p>
        </p:txBody>
      </p:sp>
      <p:sp>
        <p:nvSpPr>
          <p:cNvPr id="13" name="Text 11"/>
          <p:cNvSpPr txBox="1"/>
          <p:nvPr/>
        </p:nvSpPr>
        <p:spPr>
          <a:xfrm>
            <a:off x="1920240" y="2587752"/>
            <a:ext cx="9448495" cy="667512"/>
          </a:xfrm>
          <a:prstGeom prst="rect">
            <a:avLst/>
          </a:prstGeom>
          <a:noFill/>
          <a:ln/>
        </p:spPr>
        <p:txBody>
          <a:bodyPr wrap="square" lIns="0" tIns="0" rIns="0" bIns="0" rtlCol="0" anchor="ctr"/>
          <a:lstStyle/>
          <a:p>
            <a:pPr indent="0" marL="0">
              <a:lnSpc>
                <a:spcPct val="102000"/>
              </a:lnSpc>
              <a:buNone/>
            </a:pPr>
            <a:r>
              <a:rPr lang="en-US" sz="1300" b="1" dirty="0">
                <a:solidFill>
                  <a:srgbClr val="1B3A4B"/>
                </a:solidFill>
                <a:latin typeface="Calibri" pitchFamily="34" charset="0"/>
                <a:ea typeface="Calibri" pitchFamily="34" charset="-122"/>
                <a:cs typeface="Calibri" pitchFamily="34" charset="-120"/>
              </a:rPr>
              <a:t>Premarket software guidance finalised</a:t>
            </a:r>
            <a:endParaRPr lang="en-US" sz="1300" dirty="0"/>
          </a:p>
          <a:p>
            <a:pPr indent="0" marL="0">
              <a:lnSpc>
                <a:spcPct val="102000"/>
              </a:lnSpc>
              <a:buNone/>
            </a:pPr>
            <a:r>
              <a:rPr lang="en-US" sz="1050" dirty="0">
                <a:solidFill>
                  <a:srgbClr val="22333B"/>
                </a:solidFill>
                <a:latin typeface="Calibri" pitchFamily="34" charset="0"/>
                <a:ea typeface="Calibri" pitchFamily="34" charset="-122"/>
                <a:cs typeface="Calibri" pitchFamily="34" charset="-120"/>
              </a:rPr>
              <a:t>'Content of Premarket Submissions for Device Software Functions' replaces the 2005 guidance. Level of Concern (Minor/Moderate/Major) is retired; Basic and Enhanced Documentation Level replace it.</a:t>
            </a:r>
            <a:endParaRPr lang="en-US" sz="1300" dirty="0"/>
          </a:p>
        </p:txBody>
      </p:sp>
      <p:sp>
        <p:nvSpPr>
          <p:cNvPr id="14" name="Shape 12"/>
          <p:cNvSpPr/>
          <p:nvPr/>
        </p:nvSpPr>
        <p:spPr>
          <a:xfrm>
            <a:off x="548640" y="3456432"/>
            <a:ext cx="11094415" cy="850392"/>
          </a:xfrm>
          <a:prstGeom prst="roundRect">
            <a:avLst>
              <a:gd name="adj" fmla="val 7527"/>
            </a:avLst>
          </a:prstGeom>
          <a:solidFill>
            <a:srgbClr val="F1F5F6"/>
          </a:solidFill>
          <a:ln w="12700">
            <a:solidFill>
              <a:srgbClr val="D7E2E5"/>
            </a:solidFill>
            <a:prstDash val="solid"/>
          </a:ln>
        </p:spPr>
      </p:sp>
      <p:sp>
        <p:nvSpPr>
          <p:cNvPr id="15" name="Shape 13"/>
          <p:cNvSpPr/>
          <p:nvPr/>
        </p:nvSpPr>
        <p:spPr>
          <a:xfrm>
            <a:off x="731520" y="3657600"/>
            <a:ext cx="1024128" cy="438912"/>
          </a:xfrm>
          <a:prstGeom prst="roundRect">
            <a:avLst>
              <a:gd name="adj" fmla="val 12500"/>
            </a:avLst>
          </a:prstGeom>
          <a:solidFill>
            <a:srgbClr val="0E7C7B"/>
          </a:solidFill>
          <a:ln w="12700">
            <a:solidFill>
              <a:srgbClr val="333333"/>
            </a:solidFill>
            <a:prstDash val="solid"/>
          </a:ln>
        </p:spPr>
      </p:sp>
      <p:sp>
        <p:nvSpPr>
          <p:cNvPr id="16" name="Text 14"/>
          <p:cNvSpPr txBox="1"/>
          <p:nvPr/>
        </p:nvSpPr>
        <p:spPr>
          <a:xfrm>
            <a:off x="731520" y="3657600"/>
            <a:ext cx="1024128"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Jun 2025</a:t>
            </a:r>
            <a:endParaRPr lang="en-US" sz="1050" dirty="0"/>
          </a:p>
        </p:txBody>
      </p:sp>
      <p:sp>
        <p:nvSpPr>
          <p:cNvPr id="17" name="Text 15"/>
          <p:cNvSpPr txBox="1"/>
          <p:nvPr/>
        </p:nvSpPr>
        <p:spPr>
          <a:xfrm>
            <a:off x="1920240" y="3547872"/>
            <a:ext cx="9448495" cy="667512"/>
          </a:xfrm>
          <a:prstGeom prst="rect">
            <a:avLst/>
          </a:prstGeom>
          <a:noFill/>
          <a:ln/>
        </p:spPr>
        <p:txBody>
          <a:bodyPr wrap="square" lIns="0" tIns="0" rIns="0" bIns="0" rtlCol="0" anchor="ctr"/>
          <a:lstStyle/>
          <a:p>
            <a:pPr indent="0" marL="0">
              <a:lnSpc>
                <a:spcPct val="102000"/>
              </a:lnSpc>
              <a:buNone/>
            </a:pPr>
            <a:r>
              <a:rPr lang="en-US" sz="1300" b="1" dirty="0">
                <a:solidFill>
                  <a:srgbClr val="1B3A4B"/>
                </a:solidFill>
                <a:latin typeface="Calibri" pitchFamily="34" charset="0"/>
                <a:ea typeface="Calibri" pitchFamily="34" charset="-122"/>
                <a:cs typeface="Calibri" pitchFamily="34" charset="-120"/>
              </a:rPr>
              <a:t>Premarket cybersecurity guidance reissued</a:t>
            </a:r>
            <a:endParaRPr lang="en-US" sz="1300" dirty="0"/>
          </a:p>
          <a:p>
            <a:pPr indent="0" marL="0">
              <a:lnSpc>
                <a:spcPct val="102000"/>
              </a:lnSpc>
              <a:buNone/>
            </a:pPr>
            <a:r>
              <a:rPr lang="en-US" sz="1050" dirty="0">
                <a:solidFill>
                  <a:srgbClr val="22333B"/>
                </a:solidFill>
                <a:latin typeface="Calibri" pitchFamily="34" charset="0"/>
                <a:ea typeface="Calibri" pitchFamily="34" charset="-122"/>
                <a:cs typeface="Calibri" pitchFamily="34" charset="-120"/>
              </a:rPr>
              <a:t>'Cybersecurity in Medical Devices: Quality Management System Considerations and Content of Premarket Submissions' supersedes the September 2023 edition and adds a section addressing s.524B directly. The SPDF, architecture views, SBOM and testing expectations all sit here.</a:t>
            </a:r>
            <a:endParaRPr lang="en-US" sz="1300" dirty="0"/>
          </a:p>
        </p:txBody>
      </p:sp>
      <p:sp>
        <p:nvSpPr>
          <p:cNvPr id="18" name="Shape 16"/>
          <p:cNvSpPr/>
          <p:nvPr/>
        </p:nvSpPr>
        <p:spPr>
          <a:xfrm>
            <a:off x="548640" y="4416552"/>
            <a:ext cx="11094415" cy="850392"/>
          </a:xfrm>
          <a:prstGeom prst="roundRect">
            <a:avLst>
              <a:gd name="adj" fmla="val 7527"/>
            </a:avLst>
          </a:prstGeom>
          <a:solidFill>
            <a:srgbClr val="F1F5F6"/>
          </a:solidFill>
          <a:ln w="12700">
            <a:solidFill>
              <a:srgbClr val="D7E2E5"/>
            </a:solidFill>
            <a:prstDash val="solid"/>
          </a:ln>
        </p:spPr>
      </p:sp>
      <p:sp>
        <p:nvSpPr>
          <p:cNvPr id="19" name="Shape 17"/>
          <p:cNvSpPr/>
          <p:nvPr/>
        </p:nvSpPr>
        <p:spPr>
          <a:xfrm>
            <a:off x="731520" y="4617720"/>
            <a:ext cx="1024128" cy="438912"/>
          </a:xfrm>
          <a:prstGeom prst="roundRect">
            <a:avLst>
              <a:gd name="adj" fmla="val 12500"/>
            </a:avLst>
          </a:prstGeom>
          <a:solidFill>
            <a:srgbClr val="2A9D8F"/>
          </a:solidFill>
          <a:ln w="12700">
            <a:solidFill>
              <a:srgbClr val="333333"/>
            </a:solidFill>
            <a:prstDash val="solid"/>
          </a:ln>
        </p:spPr>
      </p:sp>
      <p:sp>
        <p:nvSpPr>
          <p:cNvPr id="20" name="Text 18"/>
          <p:cNvSpPr txBox="1"/>
          <p:nvPr/>
        </p:nvSpPr>
        <p:spPr>
          <a:xfrm>
            <a:off x="731520" y="4617720"/>
            <a:ext cx="1024128"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Dec 2024</a:t>
            </a:r>
            <a:endParaRPr lang="en-US" sz="1050" dirty="0"/>
          </a:p>
        </p:txBody>
      </p:sp>
      <p:sp>
        <p:nvSpPr>
          <p:cNvPr id="21" name="Text 19"/>
          <p:cNvSpPr txBox="1"/>
          <p:nvPr/>
        </p:nvSpPr>
        <p:spPr>
          <a:xfrm>
            <a:off x="1920240" y="4507992"/>
            <a:ext cx="9448495" cy="667512"/>
          </a:xfrm>
          <a:prstGeom prst="rect">
            <a:avLst/>
          </a:prstGeom>
          <a:noFill/>
          <a:ln/>
        </p:spPr>
        <p:txBody>
          <a:bodyPr wrap="square" lIns="0" tIns="0" rIns="0" bIns="0" rtlCol="0" anchor="ctr"/>
          <a:lstStyle/>
          <a:p>
            <a:pPr indent="0" marL="0">
              <a:lnSpc>
                <a:spcPct val="102000"/>
              </a:lnSpc>
              <a:buNone/>
            </a:pPr>
            <a:r>
              <a:rPr lang="en-US" sz="1300" b="1" dirty="0">
                <a:solidFill>
                  <a:srgbClr val="1B3A4B"/>
                </a:solidFill>
                <a:latin typeface="Calibri" pitchFamily="34" charset="0"/>
                <a:ea typeface="Calibri" pitchFamily="34" charset="-122"/>
                <a:cs typeface="Calibri" pitchFamily="34" charset="-120"/>
              </a:rPr>
              <a:t>PCCP guidance finalised for AI-enabled functions</a:t>
            </a:r>
            <a:endParaRPr lang="en-US" sz="1300" dirty="0"/>
          </a:p>
          <a:p>
            <a:pPr indent="0" marL="0">
              <a:lnSpc>
                <a:spcPct val="102000"/>
              </a:lnSpc>
              <a:buNone/>
            </a:pPr>
            <a:r>
              <a:rPr lang="en-US" sz="1050" dirty="0">
                <a:solidFill>
                  <a:srgbClr val="22333B"/>
                </a:solidFill>
                <a:latin typeface="Calibri" pitchFamily="34" charset="0"/>
                <a:ea typeface="Calibri" pitchFamily="34" charset="-122"/>
                <a:cs typeface="Calibri" pitchFamily="34" charset="-120"/>
              </a:rPr>
              <a:t>Pre-authorised change control: specify in advance what you may change post-clearance, how you will validate it, and what the impact assessment shows.</a:t>
            </a:r>
            <a:endParaRPr lang="en-US" sz="1300" dirty="0"/>
          </a:p>
        </p:txBody>
      </p:sp>
      <p:sp>
        <p:nvSpPr>
          <p:cNvPr id="22" name="Shape 20"/>
          <p:cNvSpPr/>
          <p:nvPr/>
        </p:nvSpPr>
        <p:spPr>
          <a:xfrm>
            <a:off x="548640" y="5376672"/>
            <a:ext cx="11094415" cy="850392"/>
          </a:xfrm>
          <a:prstGeom prst="roundRect">
            <a:avLst>
              <a:gd name="adj" fmla="val 7527"/>
            </a:avLst>
          </a:prstGeom>
          <a:solidFill>
            <a:srgbClr val="F1F5F6"/>
          </a:solidFill>
          <a:ln w="12700">
            <a:solidFill>
              <a:srgbClr val="D7E2E5"/>
            </a:solidFill>
            <a:prstDash val="solid"/>
          </a:ln>
        </p:spPr>
      </p:sp>
      <p:sp>
        <p:nvSpPr>
          <p:cNvPr id="23" name="Shape 21"/>
          <p:cNvSpPr/>
          <p:nvPr/>
        </p:nvSpPr>
        <p:spPr>
          <a:xfrm>
            <a:off x="731520" y="5577840"/>
            <a:ext cx="1024128" cy="438912"/>
          </a:xfrm>
          <a:prstGeom prst="roundRect">
            <a:avLst>
              <a:gd name="adj" fmla="val 12500"/>
            </a:avLst>
          </a:prstGeom>
          <a:solidFill>
            <a:srgbClr val="C77C1E"/>
          </a:solidFill>
          <a:ln w="12700">
            <a:solidFill>
              <a:srgbClr val="333333"/>
            </a:solidFill>
            <a:prstDash val="solid"/>
          </a:ln>
        </p:spPr>
      </p:sp>
      <p:sp>
        <p:nvSpPr>
          <p:cNvPr id="24" name="Text 22"/>
          <p:cNvSpPr txBox="1"/>
          <p:nvPr/>
        </p:nvSpPr>
        <p:spPr>
          <a:xfrm>
            <a:off x="731520" y="5577840"/>
            <a:ext cx="1024128"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Feb 2026</a:t>
            </a:r>
            <a:endParaRPr lang="en-US" sz="1050" dirty="0"/>
          </a:p>
        </p:txBody>
      </p:sp>
      <p:sp>
        <p:nvSpPr>
          <p:cNvPr id="25" name="Text 23"/>
          <p:cNvSpPr txBox="1"/>
          <p:nvPr/>
        </p:nvSpPr>
        <p:spPr>
          <a:xfrm>
            <a:off x="1920240" y="5468112"/>
            <a:ext cx="9448495" cy="667512"/>
          </a:xfrm>
          <a:prstGeom prst="rect">
            <a:avLst/>
          </a:prstGeom>
          <a:noFill/>
          <a:ln/>
        </p:spPr>
        <p:txBody>
          <a:bodyPr wrap="square" lIns="0" tIns="0" rIns="0" bIns="0" rtlCol="0" anchor="ctr"/>
          <a:lstStyle/>
          <a:p>
            <a:pPr indent="0" marL="0">
              <a:lnSpc>
                <a:spcPct val="102000"/>
              </a:lnSpc>
              <a:buNone/>
            </a:pPr>
            <a:r>
              <a:rPr lang="en-US" sz="1300" b="1" dirty="0">
                <a:solidFill>
                  <a:srgbClr val="1B3A4B"/>
                </a:solidFill>
                <a:latin typeface="Calibri" pitchFamily="34" charset="0"/>
                <a:ea typeface="Calibri" pitchFamily="34" charset="-122"/>
                <a:cs typeface="Calibri" pitchFamily="34" charset="-120"/>
              </a:rPr>
              <a:t>QMSR in force</a:t>
            </a:r>
            <a:endParaRPr lang="en-US" sz="1300" dirty="0"/>
          </a:p>
          <a:p>
            <a:pPr indent="0" marL="0">
              <a:lnSpc>
                <a:spcPct val="102000"/>
              </a:lnSpc>
              <a:buNone/>
            </a:pPr>
            <a:r>
              <a:rPr lang="en-US" sz="1050" dirty="0">
                <a:solidFill>
                  <a:srgbClr val="22333B"/>
                </a:solidFill>
                <a:latin typeface="Calibri" pitchFamily="34" charset="0"/>
                <a:ea typeface="Calibri" pitchFamily="34" charset="-122"/>
                <a:cs typeface="Calibri" pitchFamily="34" charset="-120"/>
              </a:rPr>
              <a:t>21 CFR 820 now incorporates ISO 13485:2016 by reference, and FDA retired QSIT in favour of the updated inspection compliance program. The substance of your obligations carries over; the clause numbers you cite do not.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TAXONOMY</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First, classify it correctly</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8</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Almost every downstream argument about scope starts with getting this wrong.</a:t>
            </a:r>
            <a:endParaRPr lang="en-US" sz="1400" dirty="0"/>
          </a:p>
        </p:txBody>
      </p:sp>
      <p:sp>
        <p:nvSpPr>
          <p:cNvPr id="7" name="Shape 5"/>
          <p:cNvSpPr/>
          <p:nvPr/>
        </p:nvSpPr>
        <p:spPr>
          <a:xfrm>
            <a:off x="548640" y="1792224"/>
            <a:ext cx="3515258" cy="3200400"/>
          </a:xfrm>
          <a:prstGeom prst="roundRect">
            <a:avLst>
              <a:gd name="adj" fmla="val 2000"/>
            </a:avLst>
          </a:prstGeom>
          <a:solidFill>
            <a:srgbClr val="F1F5F6"/>
          </a:solidFill>
          <a:ln w="12700">
            <a:solidFill>
              <a:srgbClr val="D7E2E5"/>
            </a:solidFill>
            <a:prstDash val="solid"/>
          </a:ln>
        </p:spPr>
      </p:sp>
      <p:sp>
        <p:nvSpPr>
          <p:cNvPr id="8" name="Text 6"/>
          <p:cNvSpPr txBox="1"/>
          <p:nvPr/>
        </p:nvSpPr>
        <p:spPr>
          <a:xfrm>
            <a:off x="768096" y="1993392"/>
            <a:ext cx="3076346" cy="365760"/>
          </a:xfrm>
          <a:prstGeom prst="rect">
            <a:avLst/>
          </a:prstGeom>
          <a:noFill/>
          <a:ln/>
        </p:spPr>
        <p:txBody>
          <a:bodyPr wrap="square" lIns="0" tIns="0" rIns="0" bIns="0" rtlCol="0" anchor="t"/>
          <a:lstStyle/>
          <a:p>
            <a:pPr indent="0" marL="0">
              <a:buNone/>
            </a:pPr>
            <a:r>
              <a:rPr lang="en-US" sz="1800" b="1" dirty="0">
                <a:solidFill>
                  <a:srgbClr val="0E7C7B"/>
                </a:solidFill>
                <a:latin typeface="Calibri" pitchFamily="34" charset="0"/>
                <a:ea typeface="Calibri" pitchFamily="34" charset="-122"/>
                <a:cs typeface="Calibri" pitchFamily="34" charset="-120"/>
              </a:rPr>
              <a:t>SaMD</a:t>
            </a:r>
            <a:endParaRPr lang="en-US" sz="1800" dirty="0"/>
          </a:p>
        </p:txBody>
      </p:sp>
      <p:sp>
        <p:nvSpPr>
          <p:cNvPr id="9" name="Text 7"/>
          <p:cNvSpPr txBox="1"/>
          <p:nvPr/>
        </p:nvSpPr>
        <p:spPr>
          <a:xfrm>
            <a:off x="768096" y="2395728"/>
            <a:ext cx="3076346" cy="245059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Software as a Medical Device.</a:t>
            </a:r>
            <a:endParaRPr lang="en-US" sz="1150" dirty="0"/>
          </a:p>
          <a:p>
            <a:pPr indent="0" marL="0">
              <a:lnSpc>
                <a:spcPct val="106000"/>
              </a:lnSpc>
              <a:buNone/>
            </a:pPr>
            <a:endParaRPr lang="en-US" sz="1150" dirty="0"/>
          </a:p>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Software intended for a medical purpose that performs that purpose WITHOUT being part of a hardware medical device.</a:t>
            </a:r>
            <a:endParaRPr lang="en-US" sz="1150" dirty="0"/>
          </a:p>
          <a:p>
            <a:pPr indent="0" marL="0">
              <a:lnSpc>
                <a:spcPct val="106000"/>
              </a:lnSpc>
              <a:buNone/>
            </a:pPr>
            <a:endParaRPr lang="en-US" sz="1150" dirty="0"/>
          </a:p>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An arrhythmia-detection algorithm, a diagnostic imaging analysis platform, a dosing-calculation app.</a:t>
            </a:r>
            <a:endParaRPr lang="en-US" sz="1150" dirty="0"/>
          </a:p>
        </p:txBody>
      </p:sp>
      <p:sp>
        <p:nvSpPr>
          <p:cNvPr id="10" name="Shape 8"/>
          <p:cNvSpPr/>
          <p:nvPr/>
        </p:nvSpPr>
        <p:spPr>
          <a:xfrm>
            <a:off x="4338218" y="1792224"/>
            <a:ext cx="3515258" cy="3200400"/>
          </a:xfrm>
          <a:prstGeom prst="roundRect">
            <a:avLst>
              <a:gd name="adj" fmla="val 2000"/>
            </a:avLst>
          </a:prstGeom>
          <a:solidFill>
            <a:srgbClr val="F1F5F6"/>
          </a:solidFill>
          <a:ln w="12700">
            <a:solidFill>
              <a:srgbClr val="D7E2E5"/>
            </a:solidFill>
            <a:prstDash val="solid"/>
          </a:ln>
        </p:spPr>
      </p:sp>
      <p:sp>
        <p:nvSpPr>
          <p:cNvPr id="11" name="Text 9"/>
          <p:cNvSpPr txBox="1"/>
          <p:nvPr/>
        </p:nvSpPr>
        <p:spPr>
          <a:xfrm>
            <a:off x="4557674" y="1993392"/>
            <a:ext cx="3076346" cy="365760"/>
          </a:xfrm>
          <a:prstGeom prst="rect">
            <a:avLst/>
          </a:prstGeom>
          <a:noFill/>
          <a:ln/>
        </p:spPr>
        <p:txBody>
          <a:bodyPr wrap="square" lIns="0" tIns="0" rIns="0" bIns="0" rtlCol="0" anchor="t"/>
          <a:lstStyle/>
          <a:p>
            <a:pPr indent="0" marL="0">
              <a:buNone/>
            </a:pPr>
            <a:r>
              <a:rPr lang="en-US" sz="1800" b="1" dirty="0">
                <a:solidFill>
                  <a:srgbClr val="2A9D8F"/>
                </a:solidFill>
                <a:latin typeface="Calibri" pitchFamily="34" charset="0"/>
                <a:ea typeface="Calibri" pitchFamily="34" charset="-122"/>
                <a:cs typeface="Calibri" pitchFamily="34" charset="-120"/>
              </a:rPr>
              <a:t>SiMD</a:t>
            </a:r>
            <a:endParaRPr lang="en-US" sz="1800" dirty="0"/>
          </a:p>
        </p:txBody>
      </p:sp>
      <p:sp>
        <p:nvSpPr>
          <p:cNvPr id="12" name="Text 10"/>
          <p:cNvSpPr txBox="1"/>
          <p:nvPr/>
        </p:nvSpPr>
        <p:spPr>
          <a:xfrm>
            <a:off x="4557674" y="2395728"/>
            <a:ext cx="3076346" cy="245059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Software IN a Medical Device.</a:t>
            </a:r>
            <a:endParaRPr lang="en-US" sz="1150" dirty="0"/>
          </a:p>
          <a:p>
            <a:pPr indent="0" marL="0">
              <a:lnSpc>
                <a:spcPct val="106000"/>
              </a:lnSpc>
              <a:buNone/>
            </a:pPr>
            <a:endParaRPr lang="en-US" sz="1150" dirty="0"/>
          </a:p>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Software that is embedded in, or drives, a hardware medical device.</a:t>
            </a:r>
            <a:endParaRPr lang="en-US" sz="1150" dirty="0"/>
          </a:p>
          <a:p>
            <a:pPr indent="0" marL="0">
              <a:lnSpc>
                <a:spcPct val="106000"/>
              </a:lnSpc>
              <a:buNone/>
            </a:pPr>
            <a:endParaRPr lang="en-US" sz="1150" dirty="0"/>
          </a:p>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Infusion pump firmware, the control software of a ventilator, an imaging system's acquisition software.</a:t>
            </a:r>
            <a:endParaRPr lang="en-US" sz="1150" dirty="0"/>
          </a:p>
        </p:txBody>
      </p:sp>
      <p:sp>
        <p:nvSpPr>
          <p:cNvPr id="13" name="Shape 11"/>
          <p:cNvSpPr/>
          <p:nvPr/>
        </p:nvSpPr>
        <p:spPr>
          <a:xfrm>
            <a:off x="8127797" y="1792224"/>
            <a:ext cx="3515258" cy="3200400"/>
          </a:xfrm>
          <a:prstGeom prst="roundRect">
            <a:avLst>
              <a:gd name="adj" fmla="val 2000"/>
            </a:avLst>
          </a:prstGeom>
          <a:solidFill>
            <a:srgbClr val="F1F5F6"/>
          </a:solidFill>
          <a:ln w="12700">
            <a:solidFill>
              <a:srgbClr val="D7E2E5"/>
            </a:solidFill>
            <a:prstDash val="solid"/>
          </a:ln>
        </p:spPr>
      </p:sp>
      <p:sp>
        <p:nvSpPr>
          <p:cNvPr id="14" name="Text 12"/>
          <p:cNvSpPr txBox="1"/>
          <p:nvPr/>
        </p:nvSpPr>
        <p:spPr>
          <a:xfrm>
            <a:off x="8347253" y="1993392"/>
            <a:ext cx="3076346" cy="365760"/>
          </a:xfrm>
          <a:prstGeom prst="rect">
            <a:avLst/>
          </a:prstGeom>
          <a:noFill/>
          <a:ln/>
        </p:spPr>
        <p:txBody>
          <a:bodyPr wrap="square" lIns="0" tIns="0" rIns="0" bIns="0" rtlCol="0" anchor="t"/>
          <a:lstStyle/>
          <a:p>
            <a:pPr indent="0" marL="0">
              <a:buNone/>
            </a:pPr>
            <a:r>
              <a:rPr lang="en-US" sz="1800" b="1" dirty="0">
                <a:solidFill>
                  <a:srgbClr val="4E626D"/>
                </a:solidFill>
                <a:latin typeface="Calibri" pitchFamily="34" charset="0"/>
                <a:ea typeface="Calibri" pitchFamily="34" charset="-122"/>
                <a:cs typeface="Calibri" pitchFamily="34" charset="-120"/>
              </a:rPr>
              <a:t>Not a device</a:t>
            </a:r>
            <a:endParaRPr lang="en-US" sz="1800" dirty="0"/>
          </a:p>
        </p:txBody>
      </p:sp>
      <p:sp>
        <p:nvSpPr>
          <p:cNvPr id="15" name="Text 13"/>
          <p:cNvSpPr txBox="1"/>
          <p:nvPr/>
        </p:nvSpPr>
        <p:spPr>
          <a:xfrm>
            <a:off x="8347253" y="2395728"/>
            <a:ext cx="3076346" cy="245059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Software functions excluded by the 21st Century Cures Act (FD&amp;C Act s.520(o)).</a:t>
            </a:r>
            <a:endParaRPr lang="en-US" sz="1150" dirty="0"/>
          </a:p>
          <a:p>
            <a:pPr indent="0" marL="0">
              <a:lnSpc>
                <a:spcPct val="106000"/>
              </a:lnSpc>
              <a:buNone/>
            </a:pPr>
            <a:endParaRPr lang="en-US" sz="1150" dirty="0"/>
          </a:p>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Administrative support, general wellness, EHR record-keeping, and certain clinical decision support that lets the clinician independently review the basis for the recommendation.</a:t>
            </a:r>
            <a:endParaRPr lang="en-US" sz="1150" dirty="0"/>
          </a:p>
        </p:txBody>
      </p:sp>
      <p:sp>
        <p:nvSpPr>
          <p:cNvPr id="16" name="Shape 14"/>
          <p:cNvSpPr/>
          <p:nvPr/>
        </p:nvSpPr>
        <p:spPr>
          <a:xfrm>
            <a:off x="548640" y="5175504"/>
            <a:ext cx="11094415" cy="786384"/>
          </a:xfrm>
          <a:prstGeom prst="roundRect">
            <a:avLst>
              <a:gd name="adj" fmla="val 6977"/>
            </a:avLst>
          </a:prstGeom>
          <a:solidFill>
            <a:srgbClr val="FBF0E2"/>
          </a:solidFill>
          <a:ln w="12700">
            <a:solidFill>
              <a:srgbClr val="E3C893"/>
            </a:solidFill>
            <a:prstDash val="solid"/>
          </a:ln>
        </p:spPr>
      </p:sp>
      <p:sp>
        <p:nvSpPr>
          <p:cNvPr id="17" name="Text 15"/>
          <p:cNvSpPr txBox="1"/>
          <p:nvPr/>
        </p:nvSpPr>
        <p:spPr>
          <a:xfrm>
            <a:off x="786384" y="5175504"/>
            <a:ext cx="10618927" cy="786384"/>
          </a:xfrm>
          <a:prstGeom prst="rect">
            <a:avLst/>
          </a:prstGeom>
          <a:noFill/>
          <a:ln/>
        </p:spPr>
        <p:txBody>
          <a:bodyPr wrap="square" lIns="0" tIns="0" rIns="0" bIns="0" rtlCol="0" anchor="ctr"/>
          <a:lstStyle/>
          <a:p>
            <a:pPr indent="0" marL="0">
              <a:buNone/>
            </a:pPr>
            <a:r>
              <a:rPr lang="en-US" sz="1300" b="1" dirty="0">
                <a:solidFill>
                  <a:srgbClr val="7A4E12"/>
                </a:solidFill>
                <a:latin typeface="Calibri" pitchFamily="34" charset="0"/>
                <a:ea typeface="Calibri" pitchFamily="34" charset="-122"/>
                <a:cs typeface="Calibri" pitchFamily="34" charset="-120"/>
              </a:rPr>
              <a:t>Warning: one product routinely contains all three. Classify at the level of the software FUNCTION, not the product — and document the reasoning for each.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IMDRF CATEGORISATION</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800" b="1" dirty="0">
                <a:solidFill>
                  <a:srgbClr val="1B3A4B"/>
                </a:solidFill>
                <a:latin typeface="Cambria" pitchFamily="34" charset="0"/>
                <a:ea typeface="Cambria" pitchFamily="34" charset="-122"/>
                <a:cs typeface="Cambria" pitchFamily="34" charset="-120"/>
              </a:rPr>
              <a:t>How much does it matter? The SaMD risk framework</a:t>
            </a:r>
            <a:endParaRPr lang="en-US" sz="28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9</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IMDRF N12: significance of the information (across) against state of the healthcare situation (down).</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55648"/>
          <a:ext cx="11094415" cy="914400"/>
        </p:xfrm>
        <a:graphic>
          <a:graphicData uri="http://schemas.openxmlformats.org/drawingml/2006/table">
            <a:tbl>
              <a:tblPr/>
              <a:tblGrid>
                <a:gridCol w="2862072"/>
                <a:gridCol w="2743200"/>
                <a:gridCol w="2743200"/>
                <a:gridCol w="2743200"/>
              </a:tblGrid>
              <a:tr h="566928">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Treat or diagnose</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Drive clinical management</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Inform clinical management</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566928">
                <a:tc>
                  <a:txBody>
                    <a:bodyPr/>
                    <a:lstStyle/>
                    <a:p>
                      <a:pPr indent="0" marL="0">
                        <a:buNone/>
                      </a:pPr>
                      <a:r>
                        <a:rPr lang="en-US" sz="1200" b="1" dirty="0">
                          <a:solidFill>
                            <a:srgbClr val="1B3A4B"/>
                          </a:solidFill>
                          <a:latin typeface="Calibri" pitchFamily="34" charset="0"/>
                          <a:ea typeface="Calibri" pitchFamily="34" charset="-122"/>
                          <a:cs typeface="Calibri" pitchFamily="34" charset="-120"/>
                        </a:rPr>
                        <a:t>Critical situation</a:t>
                      </a:r>
                      <a:endParaRPr lang="en-US" sz="12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algn="ctr" indent="0" marL="0">
                        <a:buNone/>
                      </a:pPr>
                      <a:r>
                        <a:rPr lang="en-US" sz="2000" b="1" dirty="0">
                          <a:solidFill>
                            <a:srgbClr val="A83A3C"/>
                          </a:solidFill>
                          <a:latin typeface="Calibri" pitchFamily="34" charset="0"/>
                          <a:ea typeface="Calibri" pitchFamily="34" charset="-122"/>
                          <a:cs typeface="Calibri" pitchFamily="34" charset="-120"/>
                        </a:rPr>
                        <a:t>IV</a:t>
                      </a:r>
                      <a:endParaRPr lang="en-US" sz="20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2DADA"/>
                    </a:solidFill>
                  </a:tcPr>
                </a:tc>
                <a:tc>
                  <a:txBody>
                    <a:bodyPr/>
                    <a:lstStyle/>
                    <a:p>
                      <a:pPr algn="ctr" indent="0" marL="0">
                        <a:buNone/>
                      </a:pPr>
                      <a:r>
                        <a:rPr lang="en-US" sz="2000" b="1" dirty="0">
                          <a:solidFill>
                            <a:srgbClr val="C77C1E"/>
                          </a:solidFill>
                          <a:latin typeface="Calibri" pitchFamily="34" charset="0"/>
                          <a:ea typeface="Calibri" pitchFamily="34" charset="-122"/>
                          <a:cs typeface="Calibri" pitchFamily="34" charset="-120"/>
                        </a:rPr>
                        <a:t>III</a:t>
                      </a:r>
                      <a:endParaRPr lang="en-US" sz="20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7E6D6"/>
                    </a:solidFill>
                  </a:tcPr>
                </a:tc>
                <a:tc>
                  <a:txBody>
                    <a:bodyPr/>
                    <a:lstStyle/>
                    <a:p>
                      <a:pPr algn="ctr" indent="0" marL="0">
                        <a:buNone/>
                      </a:pPr>
                      <a:r>
                        <a:rPr lang="en-US" sz="2000" b="1" dirty="0">
                          <a:solidFill>
                            <a:srgbClr val="8A6D1F"/>
                          </a:solidFill>
                          <a:latin typeface="Calibri" pitchFamily="34" charset="0"/>
                          <a:ea typeface="Calibri" pitchFamily="34" charset="-122"/>
                          <a:cs typeface="Calibri" pitchFamily="34" charset="-120"/>
                        </a:rPr>
                        <a:t>II</a:t>
                      </a:r>
                      <a:endParaRPr lang="en-US" sz="20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AF3E4"/>
                    </a:solidFill>
                  </a:tcPr>
                </a:tc>
              </a:tr>
              <a:tr h="566928">
                <a:tc>
                  <a:txBody>
                    <a:bodyPr/>
                    <a:lstStyle/>
                    <a:p>
                      <a:pPr indent="0" marL="0">
                        <a:buNone/>
                      </a:pPr>
                      <a:r>
                        <a:rPr lang="en-US" sz="1200" b="1" dirty="0">
                          <a:solidFill>
                            <a:srgbClr val="1B3A4B"/>
                          </a:solidFill>
                          <a:latin typeface="Calibri" pitchFamily="34" charset="0"/>
                          <a:ea typeface="Calibri" pitchFamily="34" charset="-122"/>
                          <a:cs typeface="Calibri" pitchFamily="34" charset="-120"/>
                        </a:rPr>
                        <a:t>Serious situation</a:t>
                      </a:r>
                      <a:endParaRPr lang="en-US" sz="12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algn="ctr" indent="0" marL="0">
                        <a:buNone/>
                      </a:pPr>
                      <a:r>
                        <a:rPr lang="en-US" sz="2000" b="1" dirty="0">
                          <a:solidFill>
                            <a:srgbClr val="C77C1E"/>
                          </a:solidFill>
                          <a:latin typeface="Calibri" pitchFamily="34" charset="0"/>
                          <a:ea typeface="Calibri" pitchFamily="34" charset="-122"/>
                          <a:cs typeface="Calibri" pitchFamily="34" charset="-120"/>
                        </a:rPr>
                        <a:t>III</a:t>
                      </a:r>
                      <a:endParaRPr lang="en-US" sz="20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7E6D6"/>
                    </a:solidFill>
                  </a:tcPr>
                </a:tc>
                <a:tc>
                  <a:txBody>
                    <a:bodyPr/>
                    <a:lstStyle/>
                    <a:p>
                      <a:pPr algn="ctr" indent="0" marL="0">
                        <a:buNone/>
                      </a:pPr>
                      <a:r>
                        <a:rPr lang="en-US" sz="2000" b="1" dirty="0">
                          <a:solidFill>
                            <a:srgbClr val="8A6D1F"/>
                          </a:solidFill>
                          <a:latin typeface="Calibri" pitchFamily="34" charset="0"/>
                          <a:ea typeface="Calibri" pitchFamily="34" charset="-122"/>
                          <a:cs typeface="Calibri" pitchFamily="34" charset="-120"/>
                        </a:rPr>
                        <a:t>II</a:t>
                      </a:r>
                      <a:endParaRPr lang="en-US" sz="20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AF3E4"/>
                    </a:solidFill>
                  </a:tcPr>
                </a:tc>
                <a:tc>
                  <a:txBody>
                    <a:bodyPr/>
                    <a:lstStyle/>
                    <a:p>
                      <a:pPr algn="ctr" indent="0" marL="0">
                        <a:buNone/>
                      </a:pPr>
                      <a:r>
                        <a:rPr lang="en-US" sz="2000" b="1" dirty="0">
                          <a:solidFill>
                            <a:srgbClr val="0E7C7B"/>
                          </a:solidFill>
                          <a:latin typeface="Calibri" pitchFamily="34" charset="0"/>
                          <a:ea typeface="Calibri" pitchFamily="34" charset="-122"/>
                          <a:cs typeface="Calibri" pitchFamily="34" charset="-120"/>
                        </a:rPr>
                        <a:t>I</a:t>
                      </a:r>
                      <a:endParaRPr lang="en-US" sz="20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E7F1EF"/>
                    </a:solidFill>
                  </a:tcPr>
                </a:tc>
              </a:tr>
              <a:tr h="566928">
                <a:tc>
                  <a:txBody>
                    <a:bodyPr/>
                    <a:lstStyle/>
                    <a:p>
                      <a:pPr indent="0" marL="0">
                        <a:buNone/>
                      </a:pPr>
                      <a:r>
                        <a:rPr lang="en-US" sz="1200" b="1" dirty="0">
                          <a:solidFill>
                            <a:srgbClr val="1B3A4B"/>
                          </a:solidFill>
                          <a:latin typeface="Calibri" pitchFamily="34" charset="0"/>
                          <a:ea typeface="Calibri" pitchFamily="34" charset="-122"/>
                          <a:cs typeface="Calibri" pitchFamily="34" charset="-120"/>
                        </a:rPr>
                        <a:t>Non-serious situation</a:t>
                      </a:r>
                      <a:endParaRPr lang="en-US" sz="12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algn="ctr" indent="0" marL="0">
                        <a:buNone/>
                      </a:pPr>
                      <a:r>
                        <a:rPr lang="en-US" sz="2000" b="1" dirty="0">
                          <a:solidFill>
                            <a:srgbClr val="8A6D1F"/>
                          </a:solidFill>
                          <a:latin typeface="Calibri" pitchFamily="34" charset="0"/>
                          <a:ea typeface="Calibri" pitchFamily="34" charset="-122"/>
                          <a:cs typeface="Calibri" pitchFamily="34" charset="-120"/>
                        </a:rPr>
                        <a:t>II</a:t>
                      </a:r>
                      <a:endParaRPr lang="en-US" sz="20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AF3E4"/>
                    </a:solidFill>
                  </a:tcPr>
                </a:tc>
                <a:tc>
                  <a:txBody>
                    <a:bodyPr/>
                    <a:lstStyle/>
                    <a:p>
                      <a:pPr algn="ctr" indent="0" marL="0">
                        <a:buNone/>
                      </a:pPr>
                      <a:r>
                        <a:rPr lang="en-US" sz="2000" b="1" dirty="0">
                          <a:solidFill>
                            <a:srgbClr val="0E7C7B"/>
                          </a:solidFill>
                          <a:latin typeface="Calibri" pitchFamily="34" charset="0"/>
                          <a:ea typeface="Calibri" pitchFamily="34" charset="-122"/>
                          <a:cs typeface="Calibri" pitchFamily="34" charset="-120"/>
                        </a:rPr>
                        <a:t>I</a:t>
                      </a:r>
                      <a:endParaRPr lang="en-US" sz="20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E7F1EF"/>
                    </a:solidFill>
                  </a:tcPr>
                </a:tc>
                <a:tc>
                  <a:txBody>
                    <a:bodyPr/>
                    <a:lstStyle/>
                    <a:p>
                      <a:pPr algn="ctr" indent="0" marL="0">
                        <a:buNone/>
                      </a:pPr>
                      <a:r>
                        <a:rPr lang="en-US" sz="2000" b="1" dirty="0">
                          <a:solidFill>
                            <a:srgbClr val="0E7C7B"/>
                          </a:solidFill>
                          <a:latin typeface="Calibri" pitchFamily="34" charset="0"/>
                          <a:ea typeface="Calibri" pitchFamily="34" charset="-122"/>
                          <a:cs typeface="Calibri" pitchFamily="34" charset="-120"/>
                        </a:rPr>
                        <a:t>I</a:t>
                      </a:r>
                      <a:endParaRPr lang="en-US" sz="20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E7F1EF"/>
                    </a:solidFill>
                  </a:tcPr>
                </a:tc>
              </a:tr>
            </a:tbl>
          </a:graphicData>
        </a:graphic>
      </p:graphicFrame>
      <p:sp>
        <p:nvSpPr>
          <p:cNvPr id="8" name="Shape 5"/>
          <p:cNvSpPr/>
          <p:nvPr/>
        </p:nvSpPr>
        <p:spPr>
          <a:xfrm>
            <a:off x="548640" y="4956048"/>
            <a:ext cx="11094415" cy="1170432"/>
          </a:xfrm>
          <a:prstGeom prst="roundRect">
            <a:avLst>
              <a:gd name="adj" fmla="val 5469"/>
            </a:avLst>
          </a:prstGeom>
          <a:solidFill>
            <a:srgbClr val="F1F5F6"/>
          </a:solidFill>
          <a:ln w="12700">
            <a:solidFill>
              <a:srgbClr val="D7E2E5"/>
            </a:solidFill>
            <a:prstDash val="solid"/>
          </a:ln>
        </p:spPr>
      </p:sp>
      <p:sp>
        <p:nvSpPr>
          <p:cNvPr id="9" name="Text 6"/>
          <p:cNvSpPr txBox="1"/>
          <p:nvPr/>
        </p:nvSpPr>
        <p:spPr>
          <a:xfrm>
            <a:off x="786384" y="5084064"/>
            <a:ext cx="10618927" cy="914400"/>
          </a:xfrm>
          <a:prstGeom prst="rect">
            <a:avLst/>
          </a:prstGeom>
          <a:noFill/>
          <a:ln/>
        </p:spPr>
        <p:txBody>
          <a:bodyPr wrap="square" lIns="0" tIns="0" rIns="0" bIns="0" rtlCol="0" anchor="t"/>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Read it as a conversation starter, not a classification rule.  </a:t>
            </a:r>
            <a:pPr indent="0" marL="0">
              <a:lnSpc>
                <a:spcPct val="105000"/>
              </a:lnSpc>
              <a:buNone/>
            </a:pPr>
            <a:r>
              <a:rPr lang="en-US" sz="1200" dirty="0">
                <a:solidFill>
                  <a:srgbClr val="22333B"/>
                </a:solidFill>
                <a:latin typeface="Calibri" pitchFamily="34" charset="0"/>
                <a:ea typeface="Calibri" pitchFamily="34" charset="-122"/>
                <a:cs typeface="Calibri" pitchFamily="34" charset="-120"/>
              </a:rPr>
              <a:t>IMDRF categories do not map one-to-one onto FDA device class, IEC 62304 safety class, or FDA documentation level — four different frameworks, four different questions. What the matrix is genuinely good for is forcing a team to state, in writing, what the software's output is actually used for clinically. Teams that cannot agree on which column they are in have a specification problem, not a regulatory problem.</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JURISDICTIONS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The map you are navigating</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94415" cy="914400"/>
        </p:xfrm>
        <a:graphic>
          <a:graphicData uri="http://schemas.openxmlformats.org/drawingml/2006/table">
            <a:tbl>
              <a:tblPr/>
              <a:tblGrid>
                <a:gridCol w="1783080"/>
                <a:gridCol w="3246120"/>
                <a:gridCol w="3108960"/>
                <a:gridCol w="2953512"/>
              </a:tblGrid>
              <a:tr h="10241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Jurisdiction</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Validation instrument</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Cybersecurity instrument</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The catch</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1024128">
                <a:tc>
                  <a:txBody>
                    <a:bodyPr/>
                    <a:lstStyle/>
                    <a:p>
                      <a:pPr indent="0" marL="0">
                        <a:buNone/>
                      </a:pPr>
                      <a:r>
                        <a:rPr lang="en-US" sz="1150" b="1" dirty="0">
                          <a:solidFill>
                            <a:srgbClr val="1B3A4B"/>
                          </a:solidFill>
                          <a:latin typeface="Calibri" pitchFamily="34" charset="0"/>
                          <a:ea typeface="Calibri" pitchFamily="34" charset="-122"/>
                          <a:cs typeface="Calibri" pitchFamily="34" charset="-120"/>
                        </a:rPr>
                        <a:t>United States</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QMSR (21 CFR 820 → ISO 13485:2016); design controls; premarket software guidance (2023); GPSV (2002)</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FD&amp;C Act s.524B (statutory); premarket cyber guidance (current edition June 2025); postmarket cyber guidance (2016)</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0" i="1" dirty="0">
                          <a:solidFill>
                            <a:srgbClr val="22333B"/>
                          </a:solidFill>
                          <a:latin typeface="Calibri" pitchFamily="34" charset="0"/>
                          <a:ea typeface="Calibri" pitchFamily="34" charset="-122"/>
                          <a:cs typeface="Calibri" pitchFamily="34" charset="-120"/>
                        </a:rPr>
                        <a:t>524B applies to 'cyber devices' — the definition is broader than most teams assume</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1024128">
                <a:tc>
                  <a:txBody>
                    <a:bodyPr/>
                    <a:lstStyle/>
                    <a:p>
                      <a:pPr indent="0" marL="0">
                        <a:buNone/>
                      </a:pPr>
                      <a:r>
                        <a:rPr lang="en-US" sz="1150" b="1" dirty="0">
                          <a:solidFill>
                            <a:srgbClr val="1B3A4B"/>
                          </a:solidFill>
                          <a:latin typeface="Calibri" pitchFamily="34" charset="0"/>
                          <a:ea typeface="Calibri" pitchFamily="34" charset="-122"/>
                          <a:cs typeface="Calibri" pitchFamily="34" charset="-120"/>
                        </a:rPr>
                        <a:t>European Union</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MDR 2017/745 Annex I §17 — software developed to the state of the art, with a defined lifecycle; Rule 11 classification</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MDR Annex I §17.4 (IT security minimums); MDCG 2019-16; NIS2 for the operators who buy from you</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0" i="1" dirty="0">
                          <a:solidFill>
                            <a:srgbClr val="22333B"/>
                          </a:solidFill>
                          <a:latin typeface="Calibri" pitchFamily="34" charset="0"/>
                          <a:ea typeface="Calibri" pitchFamily="34" charset="-122"/>
                          <a:cs typeface="Calibri" pitchFamily="34" charset="-120"/>
                        </a:rPr>
                        <a:t>The Cyber Resilience Act largely excludes MDR/IVDR devices — but your non-device software may be in scope</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1024128">
                <a:tc>
                  <a:txBody>
                    <a:bodyPr/>
                    <a:lstStyle/>
                    <a:p>
                      <a:pPr indent="0" marL="0">
                        <a:buNone/>
                      </a:pPr>
                      <a:r>
                        <a:rPr lang="en-US" sz="1150" b="1" dirty="0">
                          <a:solidFill>
                            <a:srgbClr val="1B3A4B"/>
                          </a:solidFill>
                          <a:latin typeface="Calibri" pitchFamily="34" charset="0"/>
                          <a:ea typeface="Calibri" pitchFamily="34" charset="-122"/>
                          <a:cs typeface="Calibri" pitchFamily="34" charset="-120"/>
                        </a:rPr>
                        <a:t>Harmonised standards</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IEC 62304 (lifecycle); ISO 14971 + ISO/TR 24971 (risk); ISO 13485 (QMS)</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IEC 81001-5-1 (security in the lifecycle); AAMI SW96; AAMI TIR57 and TIR97</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0" i="1" dirty="0">
                          <a:solidFill>
                            <a:srgbClr val="22333B"/>
                          </a:solidFill>
                          <a:latin typeface="Calibri" pitchFamily="34" charset="0"/>
                          <a:ea typeface="Calibri" pitchFamily="34" charset="-122"/>
                          <a:cs typeface="Calibri" pitchFamily="34" charset="-120"/>
                        </a:rPr>
                        <a:t>Recognition status differs by jurisdiction and by edition — check the version, not just the number</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MENTAL MODEL</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Three kinds of risk, three different questions</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572768"/>
            <a:ext cx="3515258" cy="3063240"/>
          </a:xfrm>
          <a:prstGeom prst="roundRect">
            <a:avLst>
              <a:gd name="adj" fmla="val 2090"/>
            </a:avLst>
          </a:prstGeom>
          <a:solidFill>
            <a:srgbClr val="F1F5F6"/>
          </a:solidFill>
          <a:ln w="12700">
            <a:solidFill>
              <a:srgbClr val="D7E2E5"/>
            </a:solidFill>
            <a:prstDash val="solid"/>
          </a:ln>
        </p:spPr>
      </p:sp>
      <p:sp>
        <p:nvSpPr>
          <p:cNvPr id="7" name="Text 5"/>
          <p:cNvSpPr txBox="1"/>
          <p:nvPr/>
        </p:nvSpPr>
        <p:spPr>
          <a:xfrm>
            <a:off x="768096" y="1773936"/>
            <a:ext cx="3076346" cy="365760"/>
          </a:xfrm>
          <a:prstGeom prst="rect">
            <a:avLst/>
          </a:prstGeom>
          <a:noFill/>
          <a:ln/>
        </p:spPr>
        <p:txBody>
          <a:bodyPr wrap="square" lIns="0" tIns="0" rIns="0" bIns="0" rtlCol="0" anchor="t"/>
          <a:lstStyle/>
          <a:p>
            <a:pPr indent="0" marL="0">
              <a:buNone/>
            </a:pPr>
            <a:r>
              <a:rPr lang="en-US" sz="1800" b="1" dirty="0">
                <a:solidFill>
                  <a:srgbClr val="0E7C7B"/>
                </a:solidFill>
                <a:latin typeface="Calibri" pitchFamily="34" charset="0"/>
                <a:ea typeface="Calibri" pitchFamily="34" charset="-122"/>
                <a:cs typeface="Calibri" pitchFamily="34" charset="-120"/>
              </a:rPr>
              <a:t>Safety risk</a:t>
            </a:r>
            <a:endParaRPr lang="en-US" sz="1800" dirty="0"/>
          </a:p>
        </p:txBody>
      </p:sp>
      <p:sp>
        <p:nvSpPr>
          <p:cNvPr id="8" name="Text 6"/>
          <p:cNvSpPr txBox="1"/>
          <p:nvPr/>
        </p:nvSpPr>
        <p:spPr>
          <a:xfrm>
            <a:off x="768096" y="2176272"/>
            <a:ext cx="3076346" cy="231343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ISO 14971</a:t>
            </a:r>
            <a:endParaRPr lang="en-US" sz="1150" dirty="0"/>
          </a:p>
          <a:p>
            <a:pPr indent="0" marL="0">
              <a:lnSpc>
                <a:spcPct val="106000"/>
              </a:lnSpc>
              <a:buNone/>
            </a:pPr>
            <a:endParaRPr lang="en-US" sz="1150" dirty="0"/>
          </a:p>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Q: Could this device harm a patient, and how likely is that harm?</a:t>
            </a:r>
            <a:endParaRPr lang="en-US" sz="1150" dirty="0"/>
          </a:p>
          <a:p>
            <a:pPr indent="0" marL="0">
              <a:lnSpc>
                <a:spcPct val="106000"/>
              </a:lnSpc>
              <a:buNone/>
            </a:pPr>
            <a:endParaRPr lang="en-US" sz="1150" dirty="0"/>
          </a:p>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Probability is estimable from failure rates, use error data and clinical experience. The hazard does not adapt to your controls.</a:t>
            </a:r>
            <a:endParaRPr lang="en-US" sz="1150" dirty="0"/>
          </a:p>
        </p:txBody>
      </p:sp>
      <p:sp>
        <p:nvSpPr>
          <p:cNvPr id="9" name="Shape 7"/>
          <p:cNvSpPr/>
          <p:nvPr/>
        </p:nvSpPr>
        <p:spPr>
          <a:xfrm>
            <a:off x="4338218" y="1572768"/>
            <a:ext cx="3515258" cy="3063240"/>
          </a:xfrm>
          <a:prstGeom prst="roundRect">
            <a:avLst>
              <a:gd name="adj" fmla="val 2090"/>
            </a:avLst>
          </a:prstGeom>
          <a:solidFill>
            <a:srgbClr val="F1F5F6"/>
          </a:solidFill>
          <a:ln w="12700">
            <a:solidFill>
              <a:srgbClr val="D7E2E5"/>
            </a:solidFill>
            <a:prstDash val="solid"/>
          </a:ln>
        </p:spPr>
      </p:sp>
      <p:sp>
        <p:nvSpPr>
          <p:cNvPr id="10" name="Text 8"/>
          <p:cNvSpPr txBox="1"/>
          <p:nvPr/>
        </p:nvSpPr>
        <p:spPr>
          <a:xfrm>
            <a:off x="4557674" y="1773936"/>
            <a:ext cx="3076346" cy="365760"/>
          </a:xfrm>
          <a:prstGeom prst="rect">
            <a:avLst/>
          </a:prstGeom>
          <a:noFill/>
          <a:ln/>
        </p:spPr>
        <p:txBody>
          <a:bodyPr wrap="square" lIns="0" tIns="0" rIns="0" bIns="0" rtlCol="0" anchor="t"/>
          <a:lstStyle/>
          <a:p>
            <a:pPr indent="0" marL="0">
              <a:buNone/>
            </a:pPr>
            <a:r>
              <a:rPr lang="en-US" sz="1800" b="1" dirty="0">
                <a:solidFill>
                  <a:srgbClr val="A83A3C"/>
                </a:solidFill>
                <a:latin typeface="Calibri" pitchFamily="34" charset="0"/>
                <a:ea typeface="Calibri" pitchFamily="34" charset="-122"/>
                <a:cs typeface="Calibri" pitchFamily="34" charset="-120"/>
              </a:rPr>
              <a:t>Security risk</a:t>
            </a:r>
            <a:endParaRPr lang="en-US" sz="1800" dirty="0"/>
          </a:p>
        </p:txBody>
      </p:sp>
      <p:sp>
        <p:nvSpPr>
          <p:cNvPr id="11" name="Text 9"/>
          <p:cNvSpPr txBox="1"/>
          <p:nvPr/>
        </p:nvSpPr>
        <p:spPr>
          <a:xfrm>
            <a:off x="4557674" y="2176272"/>
            <a:ext cx="3076346" cy="231343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AAMI SW96 · IEC 81001-5-1</a:t>
            </a:r>
            <a:endParaRPr lang="en-US" sz="1150" dirty="0"/>
          </a:p>
          <a:p>
            <a:pPr indent="0" marL="0">
              <a:lnSpc>
                <a:spcPct val="106000"/>
              </a:lnSpc>
              <a:buNone/>
            </a:pPr>
            <a:endParaRPr lang="en-US" sz="1150" dirty="0"/>
          </a:p>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Q: Could someone MAKE this device harm a patient, or deny its use?</a:t>
            </a:r>
            <a:endParaRPr lang="en-US" sz="1150" dirty="0"/>
          </a:p>
          <a:p>
            <a:pPr indent="0" marL="0">
              <a:lnSpc>
                <a:spcPct val="106000"/>
              </a:lnSpc>
              <a:buNone/>
            </a:pPr>
            <a:endParaRPr lang="en-US" sz="1150" dirty="0"/>
          </a:p>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There is no meaningful probability — there is exploitability. The adversary responds to your controls. Assess feasibility, not frequency.</a:t>
            </a:r>
            <a:endParaRPr lang="en-US" sz="1150" dirty="0"/>
          </a:p>
        </p:txBody>
      </p:sp>
      <p:sp>
        <p:nvSpPr>
          <p:cNvPr id="12" name="Shape 10"/>
          <p:cNvSpPr/>
          <p:nvPr/>
        </p:nvSpPr>
        <p:spPr>
          <a:xfrm>
            <a:off x="8127797" y="1572768"/>
            <a:ext cx="3515258" cy="3063240"/>
          </a:xfrm>
          <a:prstGeom prst="roundRect">
            <a:avLst>
              <a:gd name="adj" fmla="val 2090"/>
            </a:avLst>
          </a:prstGeom>
          <a:solidFill>
            <a:srgbClr val="F1F5F6"/>
          </a:solidFill>
          <a:ln w="12700">
            <a:solidFill>
              <a:srgbClr val="D7E2E5"/>
            </a:solidFill>
            <a:prstDash val="solid"/>
          </a:ln>
        </p:spPr>
      </p:sp>
      <p:sp>
        <p:nvSpPr>
          <p:cNvPr id="13" name="Text 11"/>
          <p:cNvSpPr txBox="1"/>
          <p:nvPr/>
        </p:nvSpPr>
        <p:spPr>
          <a:xfrm>
            <a:off x="8347253" y="1773936"/>
            <a:ext cx="3076346" cy="365760"/>
          </a:xfrm>
          <a:prstGeom prst="rect">
            <a:avLst/>
          </a:prstGeom>
          <a:noFill/>
          <a:ln/>
        </p:spPr>
        <p:txBody>
          <a:bodyPr wrap="square" lIns="0" tIns="0" rIns="0" bIns="0" rtlCol="0" anchor="t"/>
          <a:lstStyle/>
          <a:p>
            <a:pPr indent="0" marL="0">
              <a:buNone/>
            </a:pPr>
            <a:r>
              <a:rPr lang="en-US" sz="1800" b="1" dirty="0">
                <a:solidFill>
                  <a:srgbClr val="C77C1E"/>
                </a:solidFill>
                <a:latin typeface="Calibri" pitchFamily="34" charset="0"/>
                <a:ea typeface="Calibri" pitchFamily="34" charset="-122"/>
                <a:cs typeface="Calibri" pitchFamily="34" charset="-120"/>
              </a:rPr>
              <a:t>Quality / process risk</a:t>
            </a:r>
            <a:endParaRPr lang="en-US" sz="1800" dirty="0"/>
          </a:p>
        </p:txBody>
      </p:sp>
      <p:sp>
        <p:nvSpPr>
          <p:cNvPr id="14" name="Text 12"/>
          <p:cNvSpPr txBox="1"/>
          <p:nvPr/>
        </p:nvSpPr>
        <p:spPr>
          <a:xfrm>
            <a:off x="8347253" y="2176272"/>
            <a:ext cx="3076346" cy="231343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ISO 13485 · QMSR</a:t>
            </a:r>
            <a:endParaRPr lang="en-US" sz="1150" dirty="0"/>
          </a:p>
          <a:p>
            <a:pPr indent="0" marL="0">
              <a:lnSpc>
                <a:spcPct val="106000"/>
              </a:lnSpc>
              <a:buNone/>
            </a:pPr>
            <a:endParaRPr lang="en-US" sz="1150" dirty="0"/>
          </a:p>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Q: Could our process let a defect through undetected?</a:t>
            </a:r>
            <a:endParaRPr lang="en-US" sz="1150" dirty="0"/>
          </a:p>
          <a:p>
            <a:pPr indent="0" marL="0">
              <a:lnSpc>
                <a:spcPct val="106000"/>
              </a:lnSpc>
              <a:buNone/>
            </a:pPr>
            <a:endParaRPr lang="en-US" sz="1150" dirty="0"/>
          </a:p>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This is what validation addresses. It governs how much evidence and rigour a given function warrants.</a:t>
            </a:r>
            <a:endParaRPr lang="en-US" sz="1150" dirty="0"/>
          </a:p>
        </p:txBody>
      </p:sp>
      <p:sp>
        <p:nvSpPr>
          <p:cNvPr id="15" name="Shape 13"/>
          <p:cNvSpPr/>
          <p:nvPr/>
        </p:nvSpPr>
        <p:spPr>
          <a:xfrm>
            <a:off x="548640" y="4864608"/>
            <a:ext cx="11094415" cy="1243584"/>
          </a:xfrm>
          <a:prstGeom prst="roundRect">
            <a:avLst>
              <a:gd name="adj" fmla="val 5147"/>
            </a:avLst>
          </a:prstGeom>
          <a:solidFill>
            <a:srgbClr val="EAF3F2"/>
          </a:solidFill>
          <a:ln w="12700">
            <a:solidFill>
              <a:srgbClr val="BFD9D6"/>
            </a:solidFill>
            <a:prstDash val="solid"/>
          </a:ln>
        </p:spPr>
      </p:sp>
      <p:sp>
        <p:nvSpPr>
          <p:cNvPr id="16" name="Text 14"/>
          <p:cNvSpPr txBox="1"/>
          <p:nvPr/>
        </p:nvSpPr>
        <p:spPr>
          <a:xfrm>
            <a:off x="786384" y="4992624"/>
            <a:ext cx="10618927" cy="987552"/>
          </a:xfrm>
          <a:prstGeom prst="rect">
            <a:avLst/>
          </a:prstGeom>
          <a:noFill/>
          <a:ln/>
        </p:spPr>
        <p:txBody>
          <a:bodyPr wrap="square" lIns="0" tIns="0" rIns="0" bIns="0" rtlCol="0" anchor="t"/>
          <a:lstStyle/>
          <a:p>
            <a:pPr indent="0" marL="0">
              <a:lnSpc>
                <a:spcPct val="105000"/>
              </a:lnSpc>
              <a:buNone/>
            </a:pPr>
            <a:r>
              <a:rPr lang="en-US" sz="1300" b="1" dirty="0">
                <a:solidFill>
                  <a:srgbClr val="1B3A4B"/>
                </a:solidFill>
                <a:latin typeface="Calibri" pitchFamily="34" charset="0"/>
                <a:ea typeface="Calibri" pitchFamily="34" charset="-122"/>
                <a:cs typeface="Calibri" pitchFamily="34" charset="-120"/>
              </a:rPr>
              <a:t>The interface is where programmes fail.  </a:t>
            </a:r>
            <a:pPr indent="0" marL="0">
              <a:lnSpc>
                <a:spcPct val="105000"/>
              </a:lnSpc>
              <a:buNone/>
            </a:pPr>
            <a:r>
              <a:rPr lang="en-US" sz="1200" dirty="0">
                <a:solidFill>
                  <a:srgbClr val="22333B"/>
                </a:solidFill>
                <a:latin typeface="Calibri" pitchFamily="34" charset="0"/>
                <a:ea typeface="Calibri" pitchFamily="34" charset="-122"/>
                <a:cs typeface="Calibri" pitchFamily="34" charset="-120"/>
              </a:rPr>
              <a:t>Security risk and safety risk are assessed by different methods and cannot be merged into one matrix — but they must be connected. The bridge is this: when a security analysis identifies an exploit that could lead to patient harm, that harm enters your ISO 14971 risk management file as a hazardous situation. Run the two processes separately; make them talk at the point where exploitability becomes a pathway to harm.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2057400"/>
            <a:ext cx="11094415" cy="292608"/>
          </a:xfrm>
          <a:prstGeom prst="rect">
            <a:avLst/>
          </a:prstGeom>
          <a:noFill/>
          <a:ln/>
        </p:spPr>
        <p:txBody>
          <a:bodyPr wrap="square" lIns="0" tIns="0" rIns="0" bIns="0" rtlCol="0" anchor="ctr"/>
          <a:lstStyle/>
          <a:p>
            <a:pPr indent="0" marL="0">
              <a:buNone/>
            </a:pPr>
            <a:r>
              <a:rPr lang="en-US" sz="1300" b="1" spc="220" kern="0" dirty="0">
                <a:solidFill>
                  <a:srgbClr val="2A9D8F"/>
                </a:solidFill>
                <a:latin typeface="Calibri" pitchFamily="34" charset="0"/>
                <a:ea typeface="Calibri" pitchFamily="34" charset="-122"/>
                <a:cs typeface="Calibri" pitchFamily="34" charset="-120"/>
              </a:rPr>
              <a:t>PART TWO</a:t>
            </a:r>
            <a:endParaRPr lang="en-US" sz="1300" dirty="0"/>
          </a:p>
        </p:txBody>
      </p:sp>
      <p:sp>
        <p:nvSpPr>
          <p:cNvPr id="3" name="Text 1"/>
          <p:cNvSpPr txBox="1"/>
          <p:nvPr/>
        </p:nvSpPr>
        <p:spPr>
          <a:xfrm>
            <a:off x="548640" y="2450592"/>
            <a:ext cx="9692640" cy="11430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Software validation</a:t>
            </a:r>
            <a:endParaRPr lang="en-US" sz="4000" dirty="0"/>
          </a:p>
        </p:txBody>
      </p:sp>
      <p:sp>
        <p:nvSpPr>
          <p:cNvPr id="4" name="Text 2"/>
          <p:cNvSpPr txBox="1"/>
          <p:nvPr/>
        </p:nvSpPr>
        <p:spPr>
          <a:xfrm>
            <a:off x="548640" y="3657600"/>
            <a:ext cx="8961120" cy="822960"/>
          </a:xfrm>
          <a:prstGeom prst="rect">
            <a:avLst/>
          </a:prstGeom>
          <a:noFill/>
          <a:ln/>
        </p:spPr>
        <p:txBody>
          <a:bodyPr wrap="square" lIns="0" tIns="0" rIns="0" bIns="0" rtlCol="0" anchor="ctr"/>
          <a:lstStyle/>
          <a:p>
            <a:pPr indent="0" marL="0">
              <a:buNone/>
            </a:pPr>
            <a:r>
              <a:rPr lang="en-US" sz="1500" dirty="0">
                <a:solidFill>
                  <a:srgbClr val="BCCCD2"/>
                </a:solidFill>
                <a:latin typeface="Calibri" pitchFamily="34" charset="0"/>
                <a:ea typeface="Calibri" pitchFamily="34" charset="-122"/>
                <a:cs typeface="Calibri" pitchFamily="34" charset="-120"/>
              </a:rPr>
              <a:t>Building evidence that the software does what you intended — and nothing you did not.</a:t>
            </a:r>
            <a:endParaRPr lang="en-US" sz="1500" dirty="0"/>
          </a:p>
        </p:txBody>
      </p:sp>
      <p:sp>
        <p:nvSpPr>
          <p:cNvPr id="5" name="Text 3"/>
          <p:cNvSpPr txBox="1"/>
          <p:nvPr/>
        </p:nvSpPr>
        <p:spPr>
          <a:xfrm>
            <a:off x="548640" y="4617720"/>
            <a:ext cx="5486400" cy="320040"/>
          </a:xfrm>
          <a:prstGeom prst="rect">
            <a:avLst/>
          </a:prstGeom>
          <a:noFill/>
          <a:ln/>
        </p:spPr>
        <p:txBody>
          <a:bodyPr wrap="square" lIns="0" tIns="0" rIns="0" bIns="0" rtlCol="0" anchor="ctr"/>
          <a:lstStyle/>
          <a:p>
            <a:pPr indent="0" marL="0">
              <a:buNone/>
            </a:pPr>
            <a:r>
              <a:rPr lang="en-US" sz="1200" b="1" spc="100" kern="0" dirty="0">
                <a:solidFill>
                  <a:srgbClr val="C77C1E"/>
                </a:solidFill>
                <a:latin typeface="Calibri" pitchFamily="34" charset="0"/>
                <a:ea typeface="Calibri" pitchFamily="34" charset="-122"/>
                <a:cs typeface="Calibri" pitchFamily="34" charset="-120"/>
              </a:rPr>
              <a:t>25 minutes</a:t>
            </a:r>
            <a:endParaRPr lang="en-US" sz="1200" dirty="0"/>
          </a:p>
        </p:txBody>
      </p:sp>
      <p:sp>
        <p:nvSpPr>
          <p:cNvPr id="6" name="Text 4"/>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DEFINITIONS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Three words people use interchangeably</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13</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They are not synonyms, and conflating them produces the wrong evidence.</a:t>
            </a:r>
            <a:endParaRPr lang="en-US" sz="1400" dirty="0"/>
          </a:p>
        </p:txBody>
      </p:sp>
      <p:sp>
        <p:nvSpPr>
          <p:cNvPr id="7" name="Shape 5"/>
          <p:cNvSpPr/>
          <p:nvPr/>
        </p:nvSpPr>
        <p:spPr>
          <a:xfrm>
            <a:off x="548640" y="1792224"/>
            <a:ext cx="11094415" cy="1103376"/>
          </a:xfrm>
          <a:prstGeom prst="roundRect">
            <a:avLst>
              <a:gd name="adj" fmla="val 5801"/>
            </a:avLst>
          </a:prstGeom>
          <a:solidFill>
            <a:srgbClr val="F1F5F6"/>
          </a:solidFill>
          <a:ln w="12700">
            <a:solidFill>
              <a:srgbClr val="D7E2E5"/>
            </a:solidFill>
            <a:prstDash val="solid"/>
          </a:ln>
        </p:spPr>
      </p:sp>
      <p:sp>
        <p:nvSpPr>
          <p:cNvPr id="8" name="Shape 6"/>
          <p:cNvSpPr/>
          <p:nvPr/>
        </p:nvSpPr>
        <p:spPr>
          <a:xfrm>
            <a:off x="786384" y="2142744"/>
            <a:ext cx="402336" cy="402336"/>
          </a:xfrm>
          <a:prstGeom prst="ellipse">
            <a:avLst/>
          </a:prstGeom>
          <a:solidFill>
            <a:srgbClr val="0E7C7B"/>
          </a:solidFill>
          <a:ln w="12700">
            <a:solidFill>
              <a:srgbClr val="0E7C7B"/>
            </a:solidFill>
            <a:prstDash val="solid"/>
          </a:ln>
        </p:spPr>
      </p:sp>
      <p:sp>
        <p:nvSpPr>
          <p:cNvPr id="9" name="Text 7"/>
          <p:cNvSpPr txBox="1"/>
          <p:nvPr/>
        </p:nvSpPr>
        <p:spPr>
          <a:xfrm>
            <a:off x="786384" y="21427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t>
            </a:r>
            <a:endParaRPr lang="en-US" sz="1300" dirty="0"/>
          </a:p>
        </p:txBody>
      </p:sp>
      <p:sp>
        <p:nvSpPr>
          <p:cNvPr id="10" name="Text 8"/>
          <p:cNvSpPr txBox="1"/>
          <p:nvPr/>
        </p:nvSpPr>
        <p:spPr>
          <a:xfrm>
            <a:off x="1335024" y="1911096"/>
            <a:ext cx="10033711" cy="865632"/>
          </a:xfrm>
          <a:prstGeom prst="rect">
            <a:avLst/>
          </a:prstGeom>
          <a:noFill/>
          <a:ln/>
        </p:spPr>
        <p:txBody>
          <a:bodyPr wrap="square" lIns="0" tIns="0" rIns="0" bIns="0" rtlCol="0" anchor="ctr"/>
          <a:lstStyle/>
          <a:p>
            <a:pPr indent="0" marL="0">
              <a:lnSpc>
                <a:spcPct val="105000"/>
              </a:lnSpc>
              <a:buNone/>
            </a:pPr>
            <a:r>
              <a:rPr lang="en-US" sz="1500" b="1" dirty="0">
                <a:solidFill>
                  <a:srgbClr val="1B3A4B"/>
                </a:solidFill>
                <a:latin typeface="Calibri" pitchFamily="34" charset="0"/>
                <a:ea typeface="Calibri" pitchFamily="34" charset="-122"/>
                <a:cs typeface="Calibri" pitchFamily="34" charset="-120"/>
              </a:rPr>
              <a:t>Verification — did we build the thing right?</a:t>
            </a:r>
            <a:endParaRPr lang="en-US" sz="1500" dirty="0"/>
          </a:p>
          <a:p>
            <a:pPr indent="0" marL="0">
              <a:lnSpc>
                <a:spcPct val="105000"/>
              </a:lnSpc>
              <a:buNone/>
            </a:pPr>
            <a:r>
              <a:rPr lang="en-US" sz="1200" dirty="0">
                <a:solidFill>
                  <a:srgbClr val="22333B"/>
                </a:solidFill>
                <a:latin typeface="Calibri" pitchFamily="34" charset="0"/>
                <a:ea typeface="Calibri" pitchFamily="34" charset="-122"/>
                <a:cs typeface="Calibri" pitchFamily="34" charset="-120"/>
              </a:rPr>
              <a:t>Objective evidence that a specified output meets its specified input requirement. Unit tests, code review, integration tests, static analysis. Internal: it compares your product against your own specification.</a:t>
            </a:r>
            <a:endParaRPr lang="en-US" sz="1500" dirty="0"/>
          </a:p>
        </p:txBody>
      </p:sp>
      <p:sp>
        <p:nvSpPr>
          <p:cNvPr id="11" name="Shape 9"/>
          <p:cNvSpPr/>
          <p:nvPr/>
        </p:nvSpPr>
        <p:spPr>
          <a:xfrm>
            <a:off x="548640" y="3078480"/>
            <a:ext cx="11094415" cy="1103376"/>
          </a:xfrm>
          <a:prstGeom prst="roundRect">
            <a:avLst>
              <a:gd name="adj" fmla="val 5801"/>
            </a:avLst>
          </a:prstGeom>
          <a:solidFill>
            <a:srgbClr val="F1F5F6"/>
          </a:solidFill>
          <a:ln w="12700">
            <a:solidFill>
              <a:srgbClr val="D7E2E5"/>
            </a:solidFill>
            <a:prstDash val="solid"/>
          </a:ln>
        </p:spPr>
      </p:sp>
      <p:sp>
        <p:nvSpPr>
          <p:cNvPr id="12" name="Shape 10"/>
          <p:cNvSpPr/>
          <p:nvPr/>
        </p:nvSpPr>
        <p:spPr>
          <a:xfrm>
            <a:off x="786384" y="3429000"/>
            <a:ext cx="402336" cy="402336"/>
          </a:xfrm>
          <a:prstGeom prst="ellipse">
            <a:avLst/>
          </a:prstGeom>
          <a:solidFill>
            <a:srgbClr val="2A9D8F"/>
          </a:solidFill>
          <a:ln w="12700">
            <a:solidFill>
              <a:srgbClr val="2A9D8F"/>
            </a:solidFill>
            <a:prstDash val="solid"/>
          </a:ln>
        </p:spPr>
      </p:sp>
      <p:sp>
        <p:nvSpPr>
          <p:cNvPr id="13" name="Text 11"/>
          <p:cNvSpPr txBox="1"/>
          <p:nvPr/>
        </p:nvSpPr>
        <p:spPr>
          <a:xfrm>
            <a:off x="786384" y="34290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t>
            </a:r>
            <a:endParaRPr lang="en-US" sz="1300" dirty="0"/>
          </a:p>
        </p:txBody>
      </p:sp>
      <p:sp>
        <p:nvSpPr>
          <p:cNvPr id="14" name="Text 12"/>
          <p:cNvSpPr txBox="1"/>
          <p:nvPr/>
        </p:nvSpPr>
        <p:spPr>
          <a:xfrm>
            <a:off x="1335024" y="3197352"/>
            <a:ext cx="10033711" cy="865632"/>
          </a:xfrm>
          <a:prstGeom prst="rect">
            <a:avLst/>
          </a:prstGeom>
          <a:noFill/>
          <a:ln/>
        </p:spPr>
        <p:txBody>
          <a:bodyPr wrap="square" lIns="0" tIns="0" rIns="0" bIns="0" rtlCol="0" anchor="ctr"/>
          <a:lstStyle/>
          <a:p>
            <a:pPr indent="0" marL="0">
              <a:lnSpc>
                <a:spcPct val="105000"/>
              </a:lnSpc>
              <a:buNone/>
            </a:pPr>
            <a:r>
              <a:rPr lang="en-US" sz="1500" b="1" dirty="0">
                <a:solidFill>
                  <a:srgbClr val="1B3A4B"/>
                </a:solidFill>
                <a:latin typeface="Calibri" pitchFamily="34" charset="0"/>
                <a:ea typeface="Calibri" pitchFamily="34" charset="-122"/>
                <a:cs typeface="Calibri" pitchFamily="34" charset="-120"/>
              </a:rPr>
              <a:t>Validation — did we build the right thing?</a:t>
            </a:r>
            <a:endParaRPr lang="en-US" sz="1500" dirty="0"/>
          </a:p>
          <a:p>
            <a:pPr indent="0" marL="0">
              <a:lnSpc>
                <a:spcPct val="105000"/>
              </a:lnSpc>
              <a:buNone/>
            </a:pPr>
            <a:r>
              <a:rPr lang="en-US" sz="1200" dirty="0">
                <a:solidFill>
                  <a:srgbClr val="22333B"/>
                </a:solidFill>
                <a:latin typeface="Calibri" pitchFamily="34" charset="0"/>
                <a:ea typeface="Calibri" pitchFamily="34" charset="-122"/>
                <a:cs typeface="Calibri" pitchFamily="34" charset="-120"/>
              </a:rPr>
              <a:t>Objective evidence that the device conforms to user needs and intended uses, under actual or simulated use conditions. External: it compares your product against the clinical reality it must survive. Usability and human factors live here.</a:t>
            </a:r>
            <a:endParaRPr lang="en-US" sz="1500" dirty="0"/>
          </a:p>
        </p:txBody>
      </p:sp>
      <p:sp>
        <p:nvSpPr>
          <p:cNvPr id="15" name="Shape 13"/>
          <p:cNvSpPr/>
          <p:nvPr/>
        </p:nvSpPr>
        <p:spPr>
          <a:xfrm>
            <a:off x="548640" y="4364736"/>
            <a:ext cx="11094415" cy="1103376"/>
          </a:xfrm>
          <a:prstGeom prst="roundRect">
            <a:avLst>
              <a:gd name="adj" fmla="val 5801"/>
            </a:avLst>
          </a:prstGeom>
          <a:solidFill>
            <a:srgbClr val="F1F5F6"/>
          </a:solidFill>
          <a:ln w="12700">
            <a:solidFill>
              <a:srgbClr val="D7E2E5"/>
            </a:solidFill>
            <a:prstDash val="solid"/>
          </a:ln>
        </p:spPr>
      </p:sp>
      <p:sp>
        <p:nvSpPr>
          <p:cNvPr id="16" name="Shape 14"/>
          <p:cNvSpPr/>
          <p:nvPr/>
        </p:nvSpPr>
        <p:spPr>
          <a:xfrm>
            <a:off x="786384" y="4715256"/>
            <a:ext cx="402336" cy="402336"/>
          </a:xfrm>
          <a:prstGeom prst="ellipse">
            <a:avLst/>
          </a:prstGeom>
          <a:solidFill>
            <a:srgbClr val="C77C1E"/>
          </a:solidFill>
          <a:ln w="12700">
            <a:solidFill>
              <a:srgbClr val="C77C1E"/>
            </a:solidFill>
            <a:prstDash val="solid"/>
          </a:ln>
        </p:spPr>
      </p:sp>
      <p:sp>
        <p:nvSpPr>
          <p:cNvPr id="17" name="Text 15"/>
          <p:cNvSpPr txBox="1"/>
          <p:nvPr/>
        </p:nvSpPr>
        <p:spPr>
          <a:xfrm>
            <a:off x="786384" y="47152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8" name="Text 16"/>
          <p:cNvSpPr txBox="1"/>
          <p:nvPr/>
        </p:nvSpPr>
        <p:spPr>
          <a:xfrm>
            <a:off x="1335024" y="4483608"/>
            <a:ext cx="10033711" cy="865632"/>
          </a:xfrm>
          <a:prstGeom prst="rect">
            <a:avLst/>
          </a:prstGeom>
          <a:noFill/>
          <a:ln/>
        </p:spPr>
        <p:txBody>
          <a:bodyPr wrap="square" lIns="0" tIns="0" rIns="0" bIns="0" rtlCol="0" anchor="ctr"/>
          <a:lstStyle/>
          <a:p>
            <a:pPr indent="0" marL="0">
              <a:lnSpc>
                <a:spcPct val="105000"/>
              </a:lnSpc>
              <a:buNone/>
            </a:pPr>
            <a:r>
              <a:rPr lang="en-US" sz="1500" b="1" dirty="0">
                <a:solidFill>
                  <a:srgbClr val="1B3A4B"/>
                </a:solidFill>
                <a:latin typeface="Calibri" pitchFamily="34" charset="0"/>
                <a:ea typeface="Calibri" pitchFamily="34" charset="-122"/>
                <a:cs typeface="Calibri" pitchFamily="34" charset="-120"/>
              </a:rPr>
              <a:t>Assurance — how much evidence is enough?</a:t>
            </a:r>
            <a:endParaRPr lang="en-US" sz="1500" dirty="0"/>
          </a:p>
          <a:p>
            <a:pPr indent="0" marL="0">
              <a:lnSpc>
                <a:spcPct val="105000"/>
              </a:lnSpc>
              <a:buNone/>
            </a:pPr>
            <a:r>
              <a:rPr lang="en-US" sz="1200" dirty="0">
                <a:solidFill>
                  <a:srgbClr val="22333B"/>
                </a:solidFill>
                <a:latin typeface="Calibri" pitchFamily="34" charset="0"/>
                <a:ea typeface="Calibri" pitchFamily="34" charset="-122"/>
                <a:cs typeface="Calibri" pitchFamily="34" charset="-120"/>
              </a:rPr>
              <a:t>The risk-based question underneath both. FDA's Computer Software Assurance guidance for production and quality management system software makes it explicit: spend the effort where failure would hurt someone, and use the lightest credible method everywhere else.</a:t>
            </a:r>
            <a:endParaRPr lang="en-US" sz="1500" dirty="0"/>
          </a:p>
        </p:txBody>
      </p:sp>
      <p:sp>
        <p:nvSpPr>
          <p:cNvPr id="19" name="Shape 17"/>
          <p:cNvSpPr/>
          <p:nvPr/>
        </p:nvSpPr>
        <p:spPr>
          <a:xfrm>
            <a:off x="548640" y="5614416"/>
            <a:ext cx="11094415" cy="658368"/>
          </a:xfrm>
          <a:prstGeom prst="roundRect">
            <a:avLst>
              <a:gd name="adj" fmla="val 8333"/>
            </a:avLst>
          </a:prstGeom>
          <a:solidFill>
            <a:srgbClr val="EAF3F2"/>
          </a:solidFill>
          <a:ln w="12700">
            <a:solidFill>
              <a:srgbClr val="BFD9D6"/>
            </a:solidFill>
            <a:prstDash val="solid"/>
          </a:ln>
        </p:spPr>
      </p:sp>
      <p:sp>
        <p:nvSpPr>
          <p:cNvPr id="20" name="Text 18"/>
          <p:cNvSpPr txBox="1"/>
          <p:nvPr/>
        </p:nvSpPr>
        <p:spPr>
          <a:xfrm>
            <a:off x="786384" y="5614416"/>
            <a:ext cx="10618927" cy="658368"/>
          </a:xfrm>
          <a:prstGeom prst="rect">
            <a:avLst/>
          </a:prstGeom>
          <a:noFill/>
          <a:ln/>
        </p:spPr>
        <p:txBody>
          <a:bodyPr wrap="square" lIns="0" tIns="0" rIns="0" bIns="0" rtlCol="0" anchor="ctr"/>
          <a:lstStyle/>
          <a:p>
            <a:pPr indent="0" marL="0">
              <a:buNone/>
            </a:pPr>
            <a:r>
              <a:rPr lang="en-US" sz="1300" b="1" dirty="0">
                <a:solidFill>
                  <a:srgbClr val="1B3A4B"/>
                </a:solidFill>
                <a:latin typeface="Calibri" pitchFamily="34" charset="0"/>
                <a:ea typeface="Calibri" pitchFamily="34" charset="-122"/>
                <a:cs typeface="Calibri" pitchFamily="34" charset="-120"/>
              </a:rPr>
              <a:t>A test suite with 100% pass and 100% coverage verifies a great deal and validates nothing, if the requirements it traces to were wrong.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SCOPE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Validation is three different jobs</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14</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Different rules, different evidence, different owners. Teams routinely apply one playbook to all three.</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92224"/>
          <a:ext cx="11094415" cy="914400"/>
        </p:xfrm>
        <a:graphic>
          <a:graphicData uri="http://schemas.openxmlformats.org/drawingml/2006/table">
            <a:tbl>
              <a:tblPr/>
              <a:tblGrid>
                <a:gridCol w="2011680"/>
                <a:gridCol w="3703320"/>
                <a:gridCol w="2880360"/>
                <a:gridCol w="2496312"/>
              </a:tblGrid>
              <a:tr h="1088502">
                <a:tc>
                  <a:txBody>
                    <a:bodyPr/>
                    <a:lstStyle/>
                    <a:p>
                      <a:pPr algn="l" indent="0" marL="0">
                        <a:buNone/>
                      </a:pPr>
                      <a:r>
                        <a:rPr lang="en-US" sz="1104" b="1" dirty="0">
                          <a:solidFill>
                            <a:srgbClr val="FFFFFF"/>
                          </a:solidFill>
                          <a:latin typeface="Calibri" pitchFamily="34" charset="0"/>
                          <a:ea typeface="Calibri" pitchFamily="34" charset="-122"/>
                          <a:cs typeface="Calibri" pitchFamily="34" charset="-120"/>
                        </a:rPr>
                        <a:t>Domain</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04" b="1" dirty="0">
                          <a:solidFill>
                            <a:srgbClr val="FFFFFF"/>
                          </a:solidFill>
                          <a:latin typeface="Calibri" pitchFamily="34" charset="0"/>
                          <a:ea typeface="Calibri" pitchFamily="34" charset="-122"/>
                          <a:cs typeface="Calibri" pitchFamily="34" charset="-120"/>
                        </a:rPr>
                        <a:t>What it covers</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04" b="1" dirty="0">
                          <a:solidFill>
                            <a:srgbClr val="FFFFFF"/>
                          </a:solidFill>
                          <a:latin typeface="Calibri" pitchFamily="34" charset="0"/>
                          <a:ea typeface="Calibri" pitchFamily="34" charset="-122"/>
                          <a:cs typeface="Calibri" pitchFamily="34" charset="-120"/>
                        </a:rPr>
                        <a:t>Governing expectation</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04" b="1" dirty="0">
                          <a:solidFill>
                            <a:srgbClr val="FFFFFF"/>
                          </a:solidFill>
                          <a:latin typeface="Calibri" pitchFamily="34" charset="0"/>
                          <a:ea typeface="Calibri" pitchFamily="34" charset="-122"/>
                          <a:cs typeface="Calibri" pitchFamily="34" charset="-120"/>
                        </a:rPr>
                        <a:t>Typical failure</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1088502">
                <a:tc>
                  <a:txBody>
                    <a:bodyPr/>
                    <a:lstStyle/>
                    <a:p>
                      <a:pPr indent="0" marL="0">
                        <a:buNone/>
                      </a:pPr>
                      <a:r>
                        <a:rPr lang="en-US" sz="1152" b="1" dirty="0">
                          <a:solidFill>
                            <a:srgbClr val="FFFFFF"/>
                          </a:solidFill>
                          <a:latin typeface="Calibri" pitchFamily="34" charset="0"/>
                          <a:ea typeface="Calibri" pitchFamily="34" charset="-122"/>
                          <a:cs typeface="Calibri" pitchFamily="34" charset="-120"/>
                        </a:rPr>
                        <a:t>Device software</a:t>
                      </a:r>
                      <a:endParaRPr lang="en-US" sz="115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0E7C7B"/>
                    </a:solidFill>
                  </a:tcPr>
                </a:tc>
                <a:tc>
                  <a:txBody>
                    <a:bodyPr/>
                    <a:lstStyle/>
                    <a:p>
                      <a:pPr indent="0" marL="0">
                        <a:buNone/>
                      </a:pPr>
                      <a:r>
                        <a:rPr lang="en-US" sz="1008" dirty="0">
                          <a:solidFill>
                            <a:srgbClr val="22333B"/>
                          </a:solidFill>
                          <a:latin typeface="Calibri" pitchFamily="34" charset="0"/>
                          <a:ea typeface="Calibri" pitchFamily="34" charset="-122"/>
                          <a:cs typeface="Calibri" pitchFamily="34" charset="-120"/>
                        </a:rPr>
                        <a:t>The software you ship: SaMD, embedded firmware, companion apps, the cloud services the device depends on to perform its medical function</a:t>
                      </a:r>
                      <a:endParaRPr lang="en-US" sz="100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08" dirty="0">
                          <a:solidFill>
                            <a:srgbClr val="22333B"/>
                          </a:solidFill>
                          <a:latin typeface="Calibri" pitchFamily="34" charset="0"/>
                          <a:ea typeface="Calibri" pitchFamily="34" charset="-122"/>
                          <a:cs typeface="Calibri" pitchFamily="34" charset="-120"/>
                        </a:rPr>
                        <a:t>Design controls; IEC 62304 lifecycle; premarket software documentation; security risk management</a:t>
                      </a:r>
                      <a:endParaRPr lang="en-US" sz="100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08" i="1" dirty="0">
                          <a:solidFill>
                            <a:srgbClr val="A83A3C"/>
                          </a:solidFill>
                          <a:latin typeface="Calibri" pitchFamily="34" charset="0"/>
                          <a:ea typeface="Calibri" pitchFamily="34" charset="-122"/>
                          <a:cs typeface="Calibri" pitchFamily="34" charset="-120"/>
                        </a:rPr>
                        <a:t>Cloud components treated as 'IT infrastructure' and left outside the design history file</a:t>
                      </a:r>
                      <a:endParaRPr lang="en-US" sz="100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1088502">
                <a:tc>
                  <a:txBody>
                    <a:bodyPr/>
                    <a:lstStyle/>
                    <a:p>
                      <a:pPr indent="0" marL="0">
                        <a:buNone/>
                      </a:pPr>
                      <a:r>
                        <a:rPr lang="en-US" sz="1152" b="1" dirty="0">
                          <a:solidFill>
                            <a:srgbClr val="FFFFFF"/>
                          </a:solidFill>
                          <a:latin typeface="Calibri" pitchFamily="34" charset="0"/>
                          <a:ea typeface="Calibri" pitchFamily="34" charset="-122"/>
                          <a:cs typeface="Calibri" pitchFamily="34" charset="-120"/>
                        </a:rPr>
                        <a:t>Production &amp; QS software</a:t>
                      </a:r>
                      <a:endParaRPr lang="en-US" sz="115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2A9D8F"/>
                    </a:solidFill>
                  </a:tcPr>
                </a:tc>
                <a:tc>
                  <a:txBody>
                    <a:bodyPr/>
                    <a:lstStyle/>
                    <a:p>
                      <a:pPr indent="0" marL="0">
                        <a:buNone/>
                      </a:pPr>
                      <a:r>
                        <a:rPr lang="en-US" sz="1008" dirty="0">
                          <a:solidFill>
                            <a:srgbClr val="22333B"/>
                          </a:solidFill>
                          <a:latin typeface="Calibri" pitchFamily="34" charset="0"/>
                          <a:ea typeface="Calibri" pitchFamily="34" charset="-122"/>
                          <a:cs typeface="Calibri" pitchFamily="34" charset="-120"/>
                        </a:rPr>
                        <a:t>Software used in production or in the quality system: MES, test rigs, eQMS, calibration tools, LIMS, statistical tools, spreadsheets used for release decisions</a:t>
                      </a:r>
                      <a:endParaRPr lang="en-US" sz="100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08" dirty="0">
                          <a:solidFill>
                            <a:srgbClr val="22333B"/>
                          </a:solidFill>
                          <a:latin typeface="Calibri" pitchFamily="34" charset="0"/>
                          <a:ea typeface="Calibri" pitchFamily="34" charset="-122"/>
                          <a:cs typeface="Calibri" pitchFamily="34" charset="-120"/>
                        </a:rPr>
                        <a:t>Validation for intended use — QMSR/ISO 13485 4.1.6 and 7.5.6; the 2025 Computer Software Assurance guidance applies here</a:t>
                      </a:r>
                      <a:endParaRPr lang="en-US" sz="100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08" i="1" dirty="0">
                          <a:solidFill>
                            <a:srgbClr val="A83A3C"/>
                          </a:solidFill>
                          <a:latin typeface="Calibri" pitchFamily="34" charset="0"/>
                          <a:ea typeface="Calibri" pitchFamily="34" charset="-122"/>
                          <a:cs typeface="Calibri" pitchFamily="34" charset="-120"/>
                        </a:rPr>
                        <a:t>Either no validation at all, or 400 pages of screenshot-driven testing for a low-risk tool</a:t>
                      </a:r>
                      <a:endParaRPr lang="en-US" sz="100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1088502">
                <a:tc>
                  <a:txBody>
                    <a:bodyPr/>
                    <a:lstStyle/>
                    <a:p>
                      <a:pPr indent="0" marL="0">
                        <a:buNone/>
                      </a:pPr>
                      <a:r>
                        <a:rPr lang="en-US" sz="1152" b="1" dirty="0">
                          <a:solidFill>
                            <a:srgbClr val="FFFFFF"/>
                          </a:solidFill>
                          <a:latin typeface="Calibri" pitchFamily="34" charset="0"/>
                          <a:ea typeface="Calibri" pitchFamily="34" charset="-122"/>
                          <a:cs typeface="Calibri" pitchFamily="34" charset="-120"/>
                        </a:rPr>
                        <a:t>Infrastructure &amp; tooling</a:t>
                      </a:r>
                      <a:endParaRPr lang="en-US" sz="115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C77C1E"/>
                    </a:solidFill>
                  </a:tcPr>
                </a:tc>
                <a:tc>
                  <a:txBody>
                    <a:bodyPr/>
                    <a:lstStyle/>
                    <a:p>
                      <a:pPr indent="0" marL="0">
                        <a:buNone/>
                      </a:pPr>
                      <a:r>
                        <a:rPr lang="en-US" sz="1008" dirty="0">
                          <a:solidFill>
                            <a:srgbClr val="22333B"/>
                          </a:solidFill>
                          <a:latin typeface="Calibri" pitchFamily="34" charset="0"/>
                          <a:ea typeface="Calibri" pitchFamily="34" charset="-122"/>
                          <a:cs typeface="Calibri" pitchFamily="34" charset="-120"/>
                        </a:rPr>
                        <a:t>Compilers, build pipelines, source control, the CI/CD system, containers and the hosting platform underneath your SaMD</a:t>
                      </a:r>
                      <a:endParaRPr lang="en-US" sz="100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08" dirty="0">
                          <a:solidFill>
                            <a:srgbClr val="22333B"/>
                          </a:solidFill>
                          <a:latin typeface="Calibri" pitchFamily="34" charset="0"/>
                          <a:ea typeface="Calibri" pitchFamily="34" charset="-122"/>
                          <a:cs typeface="Calibri" pitchFamily="34" charset="-120"/>
                        </a:rPr>
                        <a:t>Configuration management and toolchain control under 62304; qualification proportionate to what the tool can silently break</a:t>
                      </a:r>
                      <a:endParaRPr lang="en-US" sz="100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08" i="1" dirty="0">
                          <a:solidFill>
                            <a:srgbClr val="A83A3C"/>
                          </a:solidFill>
                          <a:latin typeface="Calibri" pitchFamily="34" charset="0"/>
                          <a:ea typeface="Calibri" pitchFamily="34" charset="-122"/>
                          <a:cs typeface="Calibri" pitchFamily="34" charset="-120"/>
                        </a:rPr>
                        <a:t>An unpinned, unrecorded build environment — you cannot reproduce the binary you shipped</a:t>
                      </a:r>
                      <a:endParaRPr lang="en-US" sz="1008"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STANDARDS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IEC 62304: the lifecycle backbone</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15</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Not a development methodology. A set of processes and outputs that any methodology must produce.</a:t>
            </a:r>
            <a:endParaRPr lang="en-US" sz="1400" dirty="0"/>
          </a:p>
        </p:txBody>
      </p:sp>
      <p:sp>
        <p:nvSpPr>
          <p:cNvPr id="7" name="Shape 5"/>
          <p:cNvSpPr/>
          <p:nvPr/>
        </p:nvSpPr>
        <p:spPr>
          <a:xfrm>
            <a:off x="548640" y="1828800"/>
            <a:ext cx="2567864" cy="1563624"/>
          </a:xfrm>
          <a:prstGeom prst="roundRect">
            <a:avLst>
              <a:gd name="adj" fmla="val 4094"/>
            </a:avLst>
          </a:prstGeom>
          <a:solidFill>
            <a:srgbClr val="F1F5F6"/>
          </a:solidFill>
          <a:ln w="12700">
            <a:solidFill>
              <a:srgbClr val="D7E2E5"/>
            </a:solidFill>
            <a:prstDash val="solid"/>
          </a:ln>
        </p:spPr>
      </p:sp>
      <p:sp>
        <p:nvSpPr>
          <p:cNvPr id="8" name="Text 6"/>
          <p:cNvSpPr txBox="1"/>
          <p:nvPr/>
        </p:nvSpPr>
        <p:spPr>
          <a:xfrm>
            <a:off x="768096" y="2029968"/>
            <a:ext cx="2128952" cy="4653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1 · Planning</a:t>
            </a:r>
            <a:endParaRPr lang="en-US" sz="1250" dirty="0"/>
          </a:p>
        </p:txBody>
      </p:sp>
      <p:sp>
        <p:nvSpPr>
          <p:cNvPr id="9" name="Text 7"/>
          <p:cNvSpPr txBox="1"/>
          <p:nvPr/>
        </p:nvSpPr>
        <p:spPr>
          <a:xfrm>
            <a:off x="768096" y="2531872"/>
            <a:ext cx="2128952" cy="714248"/>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Software development plan, standards, tools, configuration and problem-resolution approach</a:t>
            </a:r>
            <a:endParaRPr lang="en-US" sz="850" dirty="0"/>
          </a:p>
        </p:txBody>
      </p:sp>
      <p:sp>
        <p:nvSpPr>
          <p:cNvPr id="10" name="Shape 8"/>
          <p:cNvSpPr/>
          <p:nvPr/>
        </p:nvSpPr>
        <p:spPr>
          <a:xfrm>
            <a:off x="3390824" y="1828800"/>
            <a:ext cx="2567864" cy="1563624"/>
          </a:xfrm>
          <a:prstGeom prst="roundRect">
            <a:avLst>
              <a:gd name="adj" fmla="val 4094"/>
            </a:avLst>
          </a:prstGeom>
          <a:solidFill>
            <a:srgbClr val="F1F5F6"/>
          </a:solidFill>
          <a:ln w="12700">
            <a:solidFill>
              <a:srgbClr val="D7E2E5"/>
            </a:solidFill>
            <a:prstDash val="solid"/>
          </a:ln>
        </p:spPr>
      </p:sp>
      <p:sp>
        <p:nvSpPr>
          <p:cNvPr id="11" name="Text 9"/>
          <p:cNvSpPr txBox="1"/>
          <p:nvPr/>
        </p:nvSpPr>
        <p:spPr>
          <a:xfrm>
            <a:off x="3610280" y="2029968"/>
            <a:ext cx="2128952" cy="4653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2 · Requirements</a:t>
            </a:r>
            <a:endParaRPr lang="en-US" sz="1250" dirty="0"/>
          </a:p>
        </p:txBody>
      </p:sp>
      <p:sp>
        <p:nvSpPr>
          <p:cNvPr id="12" name="Text 10"/>
          <p:cNvSpPr txBox="1"/>
          <p:nvPr/>
        </p:nvSpPr>
        <p:spPr>
          <a:xfrm>
            <a:off x="3610280" y="2531872"/>
            <a:ext cx="2128952" cy="714248"/>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Software requirements specification derived from system requirements and risk controls</a:t>
            </a:r>
            <a:endParaRPr lang="en-US" sz="850" dirty="0"/>
          </a:p>
        </p:txBody>
      </p:sp>
      <p:sp>
        <p:nvSpPr>
          <p:cNvPr id="13" name="Shape 11"/>
          <p:cNvSpPr/>
          <p:nvPr/>
        </p:nvSpPr>
        <p:spPr>
          <a:xfrm>
            <a:off x="6233008" y="1828800"/>
            <a:ext cx="2567864" cy="1563624"/>
          </a:xfrm>
          <a:prstGeom prst="roundRect">
            <a:avLst>
              <a:gd name="adj" fmla="val 4094"/>
            </a:avLst>
          </a:prstGeom>
          <a:solidFill>
            <a:srgbClr val="F1F5F6"/>
          </a:solidFill>
          <a:ln w="12700">
            <a:solidFill>
              <a:srgbClr val="D7E2E5"/>
            </a:solidFill>
            <a:prstDash val="solid"/>
          </a:ln>
        </p:spPr>
      </p:sp>
      <p:sp>
        <p:nvSpPr>
          <p:cNvPr id="14" name="Text 12"/>
          <p:cNvSpPr txBox="1"/>
          <p:nvPr/>
        </p:nvSpPr>
        <p:spPr>
          <a:xfrm>
            <a:off x="6452464" y="2029968"/>
            <a:ext cx="2128952" cy="4653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3 · Architecture</a:t>
            </a:r>
            <a:endParaRPr lang="en-US" sz="1250" dirty="0"/>
          </a:p>
        </p:txBody>
      </p:sp>
      <p:sp>
        <p:nvSpPr>
          <p:cNvPr id="15" name="Text 13"/>
          <p:cNvSpPr txBox="1"/>
          <p:nvPr/>
        </p:nvSpPr>
        <p:spPr>
          <a:xfrm>
            <a:off x="6452464" y="2531872"/>
            <a:ext cx="2128952" cy="714248"/>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Architectural design, including SOUP identification and segregation decisions</a:t>
            </a:r>
            <a:endParaRPr lang="en-US" sz="850" dirty="0"/>
          </a:p>
        </p:txBody>
      </p:sp>
      <p:sp>
        <p:nvSpPr>
          <p:cNvPr id="16" name="Shape 14"/>
          <p:cNvSpPr/>
          <p:nvPr/>
        </p:nvSpPr>
        <p:spPr>
          <a:xfrm>
            <a:off x="9075191" y="1828800"/>
            <a:ext cx="2567864" cy="1563624"/>
          </a:xfrm>
          <a:prstGeom prst="roundRect">
            <a:avLst>
              <a:gd name="adj" fmla="val 4094"/>
            </a:avLst>
          </a:prstGeom>
          <a:solidFill>
            <a:srgbClr val="F1F5F6"/>
          </a:solidFill>
          <a:ln w="12700">
            <a:solidFill>
              <a:srgbClr val="D7E2E5"/>
            </a:solidFill>
            <a:prstDash val="solid"/>
          </a:ln>
        </p:spPr>
      </p:sp>
      <p:sp>
        <p:nvSpPr>
          <p:cNvPr id="17" name="Text 15"/>
          <p:cNvSpPr txBox="1"/>
          <p:nvPr/>
        </p:nvSpPr>
        <p:spPr>
          <a:xfrm>
            <a:off x="9294647" y="2029968"/>
            <a:ext cx="2128952" cy="4653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4 · Detailed design</a:t>
            </a:r>
            <a:endParaRPr lang="en-US" sz="1250" dirty="0"/>
          </a:p>
        </p:txBody>
      </p:sp>
      <p:sp>
        <p:nvSpPr>
          <p:cNvPr id="18" name="Text 16"/>
          <p:cNvSpPr txBox="1"/>
          <p:nvPr/>
        </p:nvSpPr>
        <p:spPr>
          <a:xfrm>
            <a:off x="9294647" y="2531872"/>
            <a:ext cx="2128952" cy="714248"/>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Unit-level design — required for Class C; expectations scale with class</a:t>
            </a:r>
            <a:endParaRPr lang="en-US" sz="850" dirty="0"/>
          </a:p>
        </p:txBody>
      </p:sp>
      <p:sp>
        <p:nvSpPr>
          <p:cNvPr id="19" name="Shape 17"/>
          <p:cNvSpPr/>
          <p:nvPr/>
        </p:nvSpPr>
        <p:spPr>
          <a:xfrm>
            <a:off x="548640" y="3666744"/>
            <a:ext cx="2567864" cy="1563624"/>
          </a:xfrm>
          <a:prstGeom prst="roundRect">
            <a:avLst>
              <a:gd name="adj" fmla="val 4094"/>
            </a:avLst>
          </a:prstGeom>
          <a:solidFill>
            <a:srgbClr val="F1F5F6"/>
          </a:solidFill>
          <a:ln w="12700">
            <a:solidFill>
              <a:srgbClr val="D7E2E5"/>
            </a:solidFill>
            <a:prstDash val="solid"/>
          </a:ln>
        </p:spPr>
      </p:sp>
      <p:sp>
        <p:nvSpPr>
          <p:cNvPr id="20" name="Text 18"/>
          <p:cNvSpPr txBox="1"/>
          <p:nvPr/>
        </p:nvSpPr>
        <p:spPr>
          <a:xfrm>
            <a:off x="768096" y="3867912"/>
            <a:ext cx="2128952" cy="4653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5 · Implementation</a:t>
            </a:r>
            <a:endParaRPr lang="en-US" sz="1250" dirty="0"/>
          </a:p>
        </p:txBody>
      </p:sp>
      <p:sp>
        <p:nvSpPr>
          <p:cNvPr id="21" name="Text 19"/>
          <p:cNvSpPr txBox="1"/>
          <p:nvPr/>
        </p:nvSpPr>
        <p:spPr>
          <a:xfrm>
            <a:off x="768096" y="4369816"/>
            <a:ext cx="2128952" cy="714248"/>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Coding standards, unit verification, review and static analysis</a:t>
            </a:r>
            <a:endParaRPr lang="en-US" sz="850" dirty="0"/>
          </a:p>
        </p:txBody>
      </p:sp>
      <p:sp>
        <p:nvSpPr>
          <p:cNvPr id="22" name="Shape 20"/>
          <p:cNvSpPr/>
          <p:nvPr/>
        </p:nvSpPr>
        <p:spPr>
          <a:xfrm>
            <a:off x="3390824" y="3666744"/>
            <a:ext cx="2567864" cy="1563624"/>
          </a:xfrm>
          <a:prstGeom prst="roundRect">
            <a:avLst>
              <a:gd name="adj" fmla="val 4094"/>
            </a:avLst>
          </a:prstGeom>
          <a:solidFill>
            <a:srgbClr val="F1F5F6"/>
          </a:solidFill>
          <a:ln w="12700">
            <a:solidFill>
              <a:srgbClr val="D7E2E5"/>
            </a:solidFill>
            <a:prstDash val="solid"/>
          </a:ln>
        </p:spPr>
      </p:sp>
      <p:sp>
        <p:nvSpPr>
          <p:cNvPr id="23" name="Text 21"/>
          <p:cNvSpPr txBox="1"/>
          <p:nvPr/>
        </p:nvSpPr>
        <p:spPr>
          <a:xfrm>
            <a:off x="3610280" y="3867912"/>
            <a:ext cx="2128952" cy="4653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6 · Integration &amp; system test</a:t>
            </a:r>
            <a:endParaRPr lang="en-US" sz="1250" dirty="0"/>
          </a:p>
        </p:txBody>
      </p:sp>
      <p:sp>
        <p:nvSpPr>
          <p:cNvPr id="24" name="Text 22"/>
          <p:cNvSpPr txBox="1"/>
          <p:nvPr/>
        </p:nvSpPr>
        <p:spPr>
          <a:xfrm>
            <a:off x="3610280" y="4369816"/>
            <a:ext cx="2128952" cy="714248"/>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Integration strategy, regression, system-level test against requirements</a:t>
            </a:r>
            <a:endParaRPr lang="en-US" sz="850" dirty="0"/>
          </a:p>
        </p:txBody>
      </p:sp>
      <p:sp>
        <p:nvSpPr>
          <p:cNvPr id="25" name="Shape 23"/>
          <p:cNvSpPr/>
          <p:nvPr/>
        </p:nvSpPr>
        <p:spPr>
          <a:xfrm>
            <a:off x="6233008" y="3666744"/>
            <a:ext cx="2567864" cy="1563624"/>
          </a:xfrm>
          <a:prstGeom prst="roundRect">
            <a:avLst>
              <a:gd name="adj" fmla="val 4094"/>
            </a:avLst>
          </a:prstGeom>
          <a:solidFill>
            <a:srgbClr val="F1F5F6"/>
          </a:solidFill>
          <a:ln w="12700">
            <a:solidFill>
              <a:srgbClr val="D7E2E5"/>
            </a:solidFill>
            <a:prstDash val="solid"/>
          </a:ln>
        </p:spPr>
      </p:sp>
      <p:sp>
        <p:nvSpPr>
          <p:cNvPr id="26" name="Text 24"/>
          <p:cNvSpPr txBox="1"/>
          <p:nvPr/>
        </p:nvSpPr>
        <p:spPr>
          <a:xfrm>
            <a:off x="6452464" y="3867912"/>
            <a:ext cx="2128952" cy="4653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7 · Release</a:t>
            </a:r>
            <a:endParaRPr lang="en-US" sz="1250" dirty="0"/>
          </a:p>
        </p:txBody>
      </p:sp>
      <p:sp>
        <p:nvSpPr>
          <p:cNvPr id="27" name="Text 25"/>
          <p:cNvSpPr txBox="1"/>
          <p:nvPr/>
        </p:nvSpPr>
        <p:spPr>
          <a:xfrm>
            <a:off x="6452464" y="4369816"/>
            <a:ext cx="2128952" cy="714248"/>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Known anomalies evaluated, archived build, documented release</a:t>
            </a:r>
            <a:endParaRPr lang="en-US" sz="850" dirty="0"/>
          </a:p>
        </p:txBody>
      </p:sp>
      <p:sp>
        <p:nvSpPr>
          <p:cNvPr id="28" name="Shape 26"/>
          <p:cNvSpPr/>
          <p:nvPr/>
        </p:nvSpPr>
        <p:spPr>
          <a:xfrm>
            <a:off x="9075191" y="3666744"/>
            <a:ext cx="2567864" cy="1563624"/>
          </a:xfrm>
          <a:prstGeom prst="roundRect">
            <a:avLst>
              <a:gd name="adj" fmla="val 4094"/>
            </a:avLst>
          </a:prstGeom>
          <a:solidFill>
            <a:srgbClr val="EAF3F2"/>
          </a:solidFill>
          <a:ln w="12700">
            <a:solidFill>
              <a:srgbClr val="BFD9D6"/>
            </a:solidFill>
            <a:prstDash val="solid"/>
          </a:ln>
        </p:spPr>
      </p:sp>
      <p:sp>
        <p:nvSpPr>
          <p:cNvPr id="29" name="Text 27"/>
          <p:cNvSpPr txBox="1"/>
          <p:nvPr/>
        </p:nvSpPr>
        <p:spPr>
          <a:xfrm>
            <a:off x="9294647" y="3867912"/>
            <a:ext cx="2128952" cy="465328"/>
          </a:xfrm>
          <a:prstGeom prst="rect">
            <a:avLst/>
          </a:prstGeom>
          <a:noFill/>
          <a:ln/>
        </p:spPr>
        <p:txBody>
          <a:bodyPr wrap="square" lIns="0" tIns="0" rIns="0" bIns="0" rtlCol="0" anchor="t"/>
          <a:lstStyle/>
          <a:p>
            <a:pPr indent="0" marL="0">
              <a:buNone/>
            </a:pPr>
            <a:r>
              <a:rPr lang="en-US" sz="1250" b="1" dirty="0">
                <a:solidFill>
                  <a:srgbClr val="0E7C7B"/>
                </a:solidFill>
                <a:latin typeface="Calibri" pitchFamily="34" charset="0"/>
                <a:ea typeface="Calibri" pitchFamily="34" charset="-122"/>
                <a:cs typeface="Calibri" pitchFamily="34" charset="-120"/>
              </a:rPr>
              <a:t>Running throughout</a:t>
            </a:r>
            <a:endParaRPr lang="en-US" sz="1250" dirty="0"/>
          </a:p>
        </p:txBody>
      </p:sp>
      <p:sp>
        <p:nvSpPr>
          <p:cNvPr id="30" name="Text 28"/>
          <p:cNvSpPr txBox="1"/>
          <p:nvPr/>
        </p:nvSpPr>
        <p:spPr>
          <a:xfrm>
            <a:off x="9294647" y="4369816"/>
            <a:ext cx="2128952" cy="714248"/>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Risk management · configuration management · problem resolution · maintenance. Not phases — continuous processes, and 62304 holds maintenance to the same rigour as development.</a:t>
            </a:r>
            <a:endParaRPr lang="en-US" sz="850" dirty="0"/>
          </a:p>
        </p:txBody>
      </p:sp>
      <p:sp>
        <p:nvSpPr>
          <p:cNvPr id="31" name="Shape 29"/>
          <p:cNvSpPr/>
          <p:nvPr/>
        </p:nvSpPr>
        <p:spPr>
          <a:xfrm>
            <a:off x="548640" y="5486400"/>
            <a:ext cx="11094415" cy="694944"/>
          </a:xfrm>
          <a:prstGeom prst="roundRect">
            <a:avLst>
              <a:gd name="adj" fmla="val 7895"/>
            </a:avLst>
          </a:prstGeom>
          <a:solidFill>
            <a:srgbClr val="EAF3F2"/>
          </a:solidFill>
          <a:ln w="12700">
            <a:solidFill>
              <a:srgbClr val="BFD9D6"/>
            </a:solidFill>
            <a:prstDash val="solid"/>
          </a:ln>
        </p:spPr>
      </p:sp>
      <p:sp>
        <p:nvSpPr>
          <p:cNvPr id="32" name="Text 30"/>
          <p:cNvSpPr txBox="1"/>
          <p:nvPr/>
        </p:nvSpPr>
        <p:spPr>
          <a:xfrm>
            <a:off x="786384" y="5486400"/>
            <a:ext cx="10618927" cy="694944"/>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62304 is method-agnostic. Agile satisfies it — if your sprints produce the required outputs under configuration control, rather than producing them retrospectively before an audit.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IEC 62304</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Safety class drives how much rigour</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4415" cy="914400"/>
        </p:xfrm>
        <a:graphic>
          <a:graphicData uri="http://schemas.openxmlformats.org/drawingml/2006/table">
            <a:tbl>
              <a:tblPr/>
              <a:tblGrid>
                <a:gridCol w="1280160"/>
                <a:gridCol w="4937760"/>
                <a:gridCol w="4873752"/>
              </a:tblGrid>
              <a:tr h="702259">
                <a:tc>
                  <a:txBody>
                    <a:bodyPr/>
                    <a:lstStyle/>
                    <a:p>
                      <a:pPr algn="l" indent="0" marL="0">
                        <a:buNone/>
                      </a:pPr>
                      <a:r>
                        <a:rPr lang="en-US" sz="1104" b="1" dirty="0">
                          <a:solidFill>
                            <a:srgbClr val="FFFFFF"/>
                          </a:solidFill>
                          <a:latin typeface="Calibri" pitchFamily="34" charset="0"/>
                          <a:ea typeface="Calibri" pitchFamily="34" charset="-122"/>
                          <a:cs typeface="Calibri" pitchFamily="34" charset="-120"/>
                        </a:rPr>
                        <a:t>Class</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04" b="1" dirty="0">
                          <a:solidFill>
                            <a:srgbClr val="FFFFFF"/>
                          </a:solidFill>
                          <a:latin typeface="Calibri" pitchFamily="34" charset="0"/>
                          <a:ea typeface="Calibri" pitchFamily="34" charset="-122"/>
                          <a:cs typeface="Calibri" pitchFamily="34" charset="-120"/>
                        </a:rPr>
                        <a:t>Definition — what the software can contribute to</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04" b="1" dirty="0">
                          <a:solidFill>
                            <a:srgbClr val="FFFFFF"/>
                          </a:solidFill>
                          <a:latin typeface="Calibri" pitchFamily="34" charset="0"/>
                          <a:ea typeface="Calibri" pitchFamily="34" charset="-122"/>
                          <a:cs typeface="Calibri" pitchFamily="34" charset="-120"/>
                        </a:rPr>
                        <a:t>Practical consequence</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702259">
                <a:tc>
                  <a:txBody>
                    <a:bodyPr/>
                    <a:lstStyle/>
                    <a:p>
                      <a:pPr algn="ctr" indent="0" marL="0">
                        <a:buNone/>
                      </a:pPr>
                      <a:r>
                        <a:rPr lang="en-US" sz="2112" b="1" dirty="0">
                          <a:solidFill>
                            <a:srgbClr val="FFFFFF"/>
                          </a:solidFill>
                          <a:latin typeface="Calibri" pitchFamily="34" charset="0"/>
                          <a:ea typeface="Calibri" pitchFamily="34" charset="-122"/>
                          <a:cs typeface="Calibri" pitchFamily="34" charset="-120"/>
                        </a:rPr>
                        <a:t>A</a:t>
                      </a:r>
                      <a:endParaRPr lang="en-US" sz="21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0E7C7B"/>
                    </a:solidFill>
                  </a:tcPr>
                </a:tc>
                <a:tc>
                  <a:txBody>
                    <a:bodyPr/>
                    <a:lstStyle/>
                    <a:p>
                      <a:pPr indent="0" marL="0">
                        <a:buNone/>
                      </a:pPr>
                      <a:r>
                        <a:rPr lang="en-US" sz="1152" dirty="0">
                          <a:solidFill>
                            <a:srgbClr val="22333B"/>
                          </a:solidFill>
                          <a:latin typeface="Calibri" pitchFamily="34" charset="0"/>
                          <a:ea typeface="Calibri" pitchFamily="34" charset="-122"/>
                          <a:cs typeface="Calibri" pitchFamily="34" charset="-120"/>
                        </a:rPr>
                        <a:t>No injury or damage to health is possible</a:t>
                      </a:r>
                      <a:endParaRPr lang="en-US" sz="115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Lightest process. Planning, requirements, system test, release and the continuous processes still apply</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02259">
                <a:tc>
                  <a:txBody>
                    <a:bodyPr/>
                    <a:lstStyle/>
                    <a:p>
                      <a:pPr algn="ctr" indent="0" marL="0">
                        <a:buNone/>
                      </a:pPr>
                      <a:r>
                        <a:rPr lang="en-US" sz="2112" b="1" dirty="0">
                          <a:solidFill>
                            <a:srgbClr val="FFFFFF"/>
                          </a:solidFill>
                          <a:latin typeface="Calibri" pitchFamily="34" charset="0"/>
                          <a:ea typeface="Calibri" pitchFamily="34" charset="-122"/>
                          <a:cs typeface="Calibri" pitchFamily="34" charset="-120"/>
                        </a:rPr>
                        <a:t>B</a:t>
                      </a:r>
                      <a:endParaRPr lang="en-US" sz="21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C77C1E"/>
                    </a:solidFill>
                  </a:tcPr>
                </a:tc>
                <a:tc>
                  <a:txBody>
                    <a:bodyPr/>
                    <a:lstStyle/>
                    <a:p>
                      <a:pPr indent="0" marL="0">
                        <a:buNone/>
                      </a:pPr>
                      <a:r>
                        <a:rPr lang="en-US" sz="1152" dirty="0">
                          <a:solidFill>
                            <a:srgbClr val="22333B"/>
                          </a:solidFill>
                          <a:latin typeface="Calibri" pitchFamily="34" charset="0"/>
                          <a:ea typeface="Calibri" pitchFamily="34" charset="-122"/>
                          <a:cs typeface="Calibri" pitchFamily="34" charset="-120"/>
                        </a:rPr>
                        <a:t>Non-serious injury is possible</a:t>
                      </a:r>
                      <a:endParaRPr lang="en-US" sz="115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Adds architectural design, integration testing and unit verification obligations</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02259">
                <a:tc>
                  <a:txBody>
                    <a:bodyPr/>
                    <a:lstStyle/>
                    <a:p>
                      <a:pPr algn="ctr" indent="0" marL="0">
                        <a:buNone/>
                      </a:pPr>
                      <a:r>
                        <a:rPr lang="en-US" sz="2112" b="1" dirty="0">
                          <a:solidFill>
                            <a:srgbClr val="FFFFFF"/>
                          </a:solidFill>
                          <a:latin typeface="Calibri" pitchFamily="34" charset="0"/>
                          <a:ea typeface="Calibri" pitchFamily="34" charset="-122"/>
                          <a:cs typeface="Calibri" pitchFamily="34" charset="-120"/>
                        </a:rPr>
                        <a:t>C</a:t>
                      </a:r>
                      <a:endParaRPr lang="en-US" sz="21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A83A3C"/>
                    </a:solidFill>
                  </a:tcPr>
                </a:tc>
                <a:tc>
                  <a:txBody>
                    <a:bodyPr/>
                    <a:lstStyle/>
                    <a:p>
                      <a:pPr indent="0" marL="0">
                        <a:buNone/>
                      </a:pPr>
                      <a:r>
                        <a:rPr lang="en-US" sz="1152" dirty="0">
                          <a:solidFill>
                            <a:srgbClr val="22333B"/>
                          </a:solidFill>
                          <a:latin typeface="Calibri" pitchFamily="34" charset="0"/>
                          <a:ea typeface="Calibri" pitchFamily="34" charset="-122"/>
                          <a:cs typeface="Calibri" pitchFamily="34" charset="-120"/>
                        </a:rPr>
                        <a:t>Death or serious injury is possible</a:t>
                      </a:r>
                      <a:endParaRPr lang="en-US" sz="115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Adds detailed design down to the unit level, with the fullest verification and documentation expectations</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
        <p:nvSpPr>
          <p:cNvPr id="7" name="Shape 4"/>
          <p:cNvSpPr/>
          <p:nvPr/>
        </p:nvSpPr>
        <p:spPr>
          <a:xfrm>
            <a:off x="548640" y="4590288"/>
            <a:ext cx="5394960" cy="1536192"/>
          </a:xfrm>
          <a:prstGeom prst="roundRect">
            <a:avLst>
              <a:gd name="adj" fmla="val 4167"/>
            </a:avLst>
          </a:prstGeom>
          <a:solidFill>
            <a:srgbClr val="FBF0E2"/>
          </a:solidFill>
          <a:ln w="12700">
            <a:solidFill>
              <a:srgbClr val="E3C893"/>
            </a:solidFill>
            <a:prstDash val="solid"/>
          </a:ln>
        </p:spPr>
      </p:sp>
      <p:sp>
        <p:nvSpPr>
          <p:cNvPr id="8" name="Text 5"/>
          <p:cNvSpPr txBox="1"/>
          <p:nvPr/>
        </p:nvSpPr>
        <p:spPr>
          <a:xfrm>
            <a:off x="786384" y="4736592"/>
            <a:ext cx="4919472" cy="1280160"/>
          </a:xfrm>
          <a:prstGeom prst="rect">
            <a:avLst/>
          </a:prstGeom>
          <a:noFill/>
          <a:ln/>
        </p:spPr>
        <p:txBody>
          <a:bodyPr wrap="square" lIns="0" tIns="0" rIns="0" bIns="0" rtlCol="0" anchor="t"/>
          <a:lstStyle/>
          <a:p>
            <a:pPr indent="0" marL="0">
              <a:lnSpc>
                <a:spcPct val="105000"/>
              </a:lnSpc>
              <a:buNone/>
            </a:pPr>
            <a:r>
              <a:rPr lang="en-US" sz="1250" b="1" dirty="0">
                <a:solidFill>
                  <a:srgbClr val="7A4E12"/>
                </a:solidFill>
                <a:latin typeface="Calibri" pitchFamily="34" charset="0"/>
                <a:ea typeface="Calibri" pitchFamily="34" charset="-122"/>
                <a:cs typeface="Calibri" pitchFamily="34" charset="-120"/>
              </a:rPr>
              <a:t>Classify BEFORE risk controls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Assign the class on the basis of what the software could contribute to in the absence of external risk control measures. Classifying on the residual risk after you have credited your own mitigations is circular — and it is the most common way teams talk themselves down from C to B.</a:t>
            </a:r>
            <a:endParaRPr lang="en-US" sz="1250" dirty="0"/>
          </a:p>
        </p:txBody>
      </p:sp>
      <p:sp>
        <p:nvSpPr>
          <p:cNvPr id="9" name="Shape 6"/>
          <p:cNvSpPr/>
          <p:nvPr/>
        </p:nvSpPr>
        <p:spPr>
          <a:xfrm>
            <a:off x="6245352" y="4590288"/>
            <a:ext cx="5394960" cy="1536192"/>
          </a:xfrm>
          <a:prstGeom prst="roundRect">
            <a:avLst>
              <a:gd name="adj" fmla="val 4167"/>
            </a:avLst>
          </a:prstGeom>
          <a:solidFill>
            <a:srgbClr val="EAF3F2"/>
          </a:solidFill>
          <a:ln w="12700">
            <a:solidFill>
              <a:srgbClr val="BFD9D6"/>
            </a:solidFill>
            <a:prstDash val="solid"/>
          </a:ln>
        </p:spPr>
      </p:sp>
      <p:sp>
        <p:nvSpPr>
          <p:cNvPr id="10" name="Text 7"/>
          <p:cNvSpPr txBox="1"/>
          <p:nvPr/>
        </p:nvSpPr>
        <p:spPr>
          <a:xfrm>
            <a:off x="6483096" y="4736592"/>
            <a:ext cx="4919472" cy="1280160"/>
          </a:xfrm>
          <a:prstGeom prst="rect">
            <a:avLst/>
          </a:prstGeom>
          <a:noFill/>
          <a:ln/>
        </p:spPr>
        <p:txBody>
          <a:bodyPr wrap="square" lIns="0" tIns="0" rIns="0" bIns="0" rtlCol="0" anchor="t"/>
          <a:lstStyle/>
          <a:p>
            <a:pPr indent="0" marL="0">
              <a:lnSpc>
                <a:spcPct val="105000"/>
              </a:lnSpc>
              <a:buNone/>
            </a:pPr>
            <a:r>
              <a:rPr lang="en-US" sz="1250" b="1" dirty="0">
                <a:solidFill>
                  <a:srgbClr val="0E7C7B"/>
                </a:solidFill>
                <a:latin typeface="Calibri" pitchFamily="34" charset="0"/>
                <a:ea typeface="Calibri" pitchFamily="34" charset="-122"/>
                <a:cs typeface="Calibri" pitchFamily="34" charset="-120"/>
              </a:rPr>
              <a:t>Segregation is legitimate — if you can defend it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You may classify software ITEMS separately and apply lower-class processes to lower-class items, provided the architecture genuinely prevents a failure in the lower-class item from affecting the higher-class one. The segregation must be designed, documented and verified — 'they are different modules' is not segregation.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PREMARKET</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FDA documentation level: a separate decision</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17</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Basic or Enhanced. This replaced Level of Concern in 2023 — and it is NOT the same as your 62304 safety class.</a:t>
            </a:r>
            <a:endParaRPr lang="en-US" sz="1400" dirty="0"/>
          </a:p>
        </p:txBody>
      </p:sp>
      <p:sp>
        <p:nvSpPr>
          <p:cNvPr id="7" name="Shape 5"/>
          <p:cNvSpPr/>
          <p:nvPr/>
        </p:nvSpPr>
        <p:spPr>
          <a:xfrm>
            <a:off x="548640" y="1792224"/>
            <a:ext cx="5394960" cy="3017520"/>
          </a:xfrm>
          <a:prstGeom prst="roundRect">
            <a:avLst>
              <a:gd name="adj" fmla="val 2121"/>
            </a:avLst>
          </a:prstGeom>
          <a:solidFill>
            <a:srgbClr val="F7DEDE"/>
          </a:solidFill>
          <a:ln w="12700">
            <a:solidFill>
              <a:srgbClr val="DFA9A9"/>
            </a:solidFill>
            <a:prstDash val="solid"/>
          </a:ln>
        </p:spPr>
      </p:sp>
      <p:sp>
        <p:nvSpPr>
          <p:cNvPr id="8" name="Text 6"/>
          <p:cNvSpPr txBox="1"/>
          <p:nvPr/>
        </p:nvSpPr>
        <p:spPr>
          <a:xfrm>
            <a:off x="804672" y="1956816"/>
            <a:ext cx="4882896" cy="292608"/>
          </a:xfrm>
          <a:prstGeom prst="rect">
            <a:avLst/>
          </a:prstGeom>
          <a:noFill/>
          <a:ln/>
        </p:spPr>
        <p:txBody>
          <a:bodyPr wrap="square" lIns="0" tIns="0" rIns="0" bIns="0" rtlCol="0" anchor="ctr"/>
          <a:lstStyle/>
          <a:p>
            <a:pPr indent="0" marL="0">
              <a:buNone/>
            </a:pPr>
            <a:r>
              <a:rPr lang="en-US" sz="1300" b="1" spc="60" kern="0" dirty="0">
                <a:solidFill>
                  <a:srgbClr val="A83A3C"/>
                </a:solidFill>
                <a:latin typeface="Calibri" pitchFamily="34" charset="0"/>
                <a:ea typeface="Calibri" pitchFamily="34" charset="-122"/>
                <a:cs typeface="Calibri" pitchFamily="34" charset="-120"/>
              </a:rPr>
              <a:t>ENHANCED — if ANY of these is true</a:t>
            </a:r>
            <a:endParaRPr lang="en-US" sz="1300" dirty="0"/>
          </a:p>
        </p:txBody>
      </p:sp>
      <p:sp>
        <p:nvSpPr>
          <p:cNvPr id="9" name="Text 7"/>
          <p:cNvSpPr txBox="1"/>
          <p:nvPr/>
        </p:nvSpPr>
        <p:spPr>
          <a:xfrm>
            <a:off x="804672" y="2340864"/>
            <a:ext cx="4882896" cy="2377440"/>
          </a:xfrm>
          <a:prstGeom prst="rect">
            <a:avLst/>
          </a:prstGeom>
          <a:noFill/>
          <a:ln/>
        </p:spPr>
        <p:txBody>
          <a:bodyPr wrap="square" lIns="0" tIns="0" rIns="0" bIns="0" rtlCol="0" anchor="t"/>
          <a:lstStyle/>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The device is a constituent part of a combination product</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The device is intended to test blood donations for transfusion-transmitted infections, or to determine donor/recipient compatibility; or it is a blood establishment computer software product</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The device is Class III</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A failure or latent flaw in the device software function could present a probable risk of death or serious injury — to a patient, a user, or anyone else — assessed BEFORE risk control measures are applied</a:t>
            </a:r>
            <a:endParaRPr lang="en-US" sz="1100" dirty="0"/>
          </a:p>
        </p:txBody>
      </p:sp>
      <p:sp>
        <p:nvSpPr>
          <p:cNvPr id="10" name="Shape 8"/>
          <p:cNvSpPr/>
          <p:nvPr/>
        </p:nvSpPr>
        <p:spPr>
          <a:xfrm>
            <a:off x="6245352" y="1792224"/>
            <a:ext cx="5394960" cy="3017520"/>
          </a:xfrm>
          <a:prstGeom prst="roundRect">
            <a:avLst>
              <a:gd name="adj" fmla="val 2121"/>
            </a:avLst>
          </a:prstGeom>
          <a:solidFill>
            <a:srgbClr val="EAF3F2"/>
          </a:solidFill>
          <a:ln w="12700">
            <a:solidFill>
              <a:srgbClr val="BFD9D6"/>
            </a:solidFill>
            <a:prstDash val="solid"/>
          </a:ln>
        </p:spPr>
      </p:sp>
      <p:sp>
        <p:nvSpPr>
          <p:cNvPr id="11" name="Text 9"/>
          <p:cNvSpPr txBox="1"/>
          <p:nvPr/>
        </p:nvSpPr>
        <p:spPr>
          <a:xfrm>
            <a:off x="6501384" y="1956816"/>
            <a:ext cx="4882896" cy="292608"/>
          </a:xfrm>
          <a:prstGeom prst="rect">
            <a:avLst/>
          </a:prstGeom>
          <a:noFill/>
          <a:ln/>
        </p:spPr>
        <p:txBody>
          <a:bodyPr wrap="square" lIns="0" tIns="0" rIns="0" bIns="0" rtlCol="0" anchor="ctr"/>
          <a:lstStyle/>
          <a:p>
            <a:pPr indent="0" marL="0">
              <a:buNone/>
            </a:pPr>
            <a:r>
              <a:rPr lang="en-US" sz="1300" b="1" spc="60" kern="0" dirty="0">
                <a:solidFill>
                  <a:srgbClr val="0E7C7B"/>
                </a:solidFill>
                <a:latin typeface="Calibri" pitchFamily="34" charset="0"/>
                <a:ea typeface="Calibri" pitchFamily="34" charset="-122"/>
                <a:cs typeface="Calibri" pitchFamily="34" charset="-120"/>
              </a:rPr>
              <a:t>BASIC — everything else</a:t>
            </a:r>
            <a:endParaRPr lang="en-US" sz="1300" dirty="0"/>
          </a:p>
        </p:txBody>
      </p:sp>
      <p:sp>
        <p:nvSpPr>
          <p:cNvPr id="12" name="Text 10"/>
          <p:cNvSpPr txBox="1"/>
          <p:nvPr/>
        </p:nvSpPr>
        <p:spPr>
          <a:xfrm>
            <a:off x="6501384" y="2340864"/>
            <a:ext cx="4882896" cy="2377440"/>
          </a:xfrm>
          <a:prstGeom prst="rect">
            <a:avLst/>
          </a:prstGeom>
          <a:noFill/>
          <a:ln/>
        </p:spPr>
        <p:txBody>
          <a:bodyPr wrap="square" lIns="0" tIns="0" rIns="0" bIns="0" rtlCol="0" anchor="t"/>
          <a:lstStyle/>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Basic is the default, not a concession you have to argue for</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It still requires a genuine documentation package — description, risk file, requirements, architecture, development environment, V&amp;V summary, unresolved anomalies</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Enhanced adds depth rather than new categories: fuller design documentation, more detailed V&amp;V evidence including unit and integration level results, and a configuration management and maintenance picture</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The level applies to the device software function — a submission can contain functions at different levels</a:t>
            </a:r>
            <a:endParaRPr lang="en-US" sz="1100" dirty="0"/>
          </a:p>
        </p:txBody>
      </p:sp>
      <p:sp>
        <p:nvSpPr>
          <p:cNvPr id="13" name="Shape 11"/>
          <p:cNvSpPr/>
          <p:nvPr/>
        </p:nvSpPr>
        <p:spPr>
          <a:xfrm>
            <a:off x="548640" y="5614416"/>
            <a:ext cx="11094415" cy="658368"/>
          </a:xfrm>
          <a:prstGeom prst="roundRect">
            <a:avLst>
              <a:gd name="adj" fmla="val 8333"/>
            </a:avLst>
          </a:prstGeom>
          <a:solidFill>
            <a:srgbClr val="EAF3F2"/>
          </a:solidFill>
          <a:ln w="12700">
            <a:solidFill>
              <a:srgbClr val="BFD9D6"/>
            </a:solidFill>
            <a:prstDash val="solid"/>
          </a:ln>
        </p:spPr>
      </p:sp>
      <p:sp>
        <p:nvSpPr>
          <p:cNvPr id="14" name="Text 12"/>
          <p:cNvSpPr txBox="1"/>
          <p:nvPr/>
        </p:nvSpPr>
        <p:spPr>
          <a:xfrm>
            <a:off x="786384" y="5614416"/>
            <a:ext cx="10618927" cy="658368"/>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Note the last Enhanced criterion mirrors 62304 Class C — but the frameworks are independent. Decide each on its own terms and record both rationales.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DELIVERABLES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What the package actually contains</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4415" cy="914400"/>
        </p:xfrm>
        <a:graphic>
          <a:graphicData uri="http://schemas.openxmlformats.org/drawingml/2006/table">
            <a:tbl>
              <a:tblPr/>
              <a:tblGrid>
                <a:gridCol w="3200400"/>
                <a:gridCol w="7891272"/>
              </a:tblGrid>
              <a:tr h="54864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Element</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makes it adequate — not merely present</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54864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Software description &amp; device architecture</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A reviewer with no prior knowledge can understand what the software does, where it runs, and what it talks to. Include the cloud and mobile components.</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4864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Risk management file</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Software-related hazards, hazardous situations and harms, with risk controls traced to requirements and to the verification that proves each control works.</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4864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Software requirements specification</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Testable, unambiguous, complete — including performance, interface, security and alarm requirements, not just functional behaviour.</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4864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Architecture &amp; design documentation</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Modules, interfaces, data flows, SOUP items and their integration. Enhanced level expects detail sufficient to understand how requirements are realised.</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4864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Development environment description</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Lifecycle plan, configuration management, and the maintenance process — including how you will handle defects and security patches after release.</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4864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V&amp;V documentation</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Testing at the unit, integration and system levels with pass/fail results traceable to requirements. Enhanced expects the underlying evidence, not only the summary.</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54864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Revision history &amp; unresolved anomalies</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Every open defect, with a documented clinical impact assessment. Declaring nothing open is a red flag, not a clean bill of health.</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ROOT CAUSE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Requirements: where most programmes actually fail</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19</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Every downstream artefact inherits the quality of this one. Traceability to a bad requirement is worthless.</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3566160"/>
                <a:gridCol w="3200400"/>
                <a:gridCol w="4325112"/>
              </a:tblGrid>
              <a:tr h="885139">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Weak requirement</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Why it fails</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012" b="1" dirty="0">
                          <a:solidFill>
                            <a:srgbClr val="FFFFFF"/>
                          </a:solidFill>
                          <a:latin typeface="Calibri" pitchFamily="34" charset="0"/>
                          <a:ea typeface="Calibri" pitchFamily="34" charset="-122"/>
                          <a:cs typeface="Calibri" pitchFamily="34" charset="-120"/>
                        </a:rPr>
                        <a:t>Stronger</a:t>
                      </a:r>
                      <a:endParaRPr lang="en-US" sz="1012"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885139">
                <a:tc>
                  <a:txBody>
                    <a:bodyPr/>
                    <a:lstStyle/>
                    <a:p>
                      <a:pPr indent="0" marL="0">
                        <a:buNone/>
                      </a:pPr>
                      <a:r>
                        <a:rPr lang="en-US" sz="924" i="1" dirty="0">
                          <a:solidFill>
                            <a:srgbClr val="22333B"/>
                          </a:solidFill>
                          <a:latin typeface="Calibri" pitchFamily="34" charset="0"/>
                          <a:ea typeface="Calibri" pitchFamily="34" charset="-122"/>
                          <a:cs typeface="Calibri" pitchFamily="34" charset="-120"/>
                        </a:rPr>
                        <a:t>"The system shall alert the clinician promptly when an arrhythmia is detected."</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BEDED"/>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'Promptly' is untestable. 'Alert' does not say through which channel, or what happens if that channel is unavailable.</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"On detection, the system shall present a visual and audible alert at the clinician workstation within 10 seconds, and shall escalate to the paging interface if unacknowledged within 60 seconds."</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EAF3F2"/>
                    </a:solidFill>
                  </a:tcPr>
                </a:tc>
              </a:tr>
              <a:tr h="885139">
                <a:tc>
                  <a:txBody>
                    <a:bodyPr/>
                    <a:lstStyle/>
                    <a:p>
                      <a:pPr indent="0" marL="0">
                        <a:buNone/>
                      </a:pPr>
                      <a:r>
                        <a:rPr lang="en-US" sz="924" i="1" dirty="0">
                          <a:solidFill>
                            <a:srgbClr val="22333B"/>
                          </a:solidFill>
                          <a:latin typeface="Calibri" pitchFamily="34" charset="0"/>
                          <a:ea typeface="Calibri" pitchFamily="34" charset="-122"/>
                          <a:cs typeface="Calibri" pitchFamily="34" charset="-120"/>
                        </a:rPr>
                        <a:t>"Patient data shall be transmitted securely."</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BEDED"/>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Not a requirement — an intention. Nothing here can be verified, and nothing constrains the implementer.</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"All patient data in transit shall be protected using TLS 1.2 or higher with mutual certificate authentication; the device shall reject connections that fail certificate validation and log the rejection."</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EAF3F2"/>
                    </a:solidFill>
                  </a:tcPr>
                </a:tc>
              </a:tr>
              <a:tr h="885139">
                <a:tc>
                  <a:txBody>
                    <a:bodyPr/>
                    <a:lstStyle/>
                    <a:p>
                      <a:pPr indent="0" marL="0">
                        <a:buNone/>
                      </a:pPr>
                      <a:r>
                        <a:rPr lang="en-US" sz="924" i="1" dirty="0">
                          <a:solidFill>
                            <a:srgbClr val="22333B"/>
                          </a:solidFill>
                          <a:latin typeface="Calibri" pitchFamily="34" charset="0"/>
                          <a:ea typeface="Calibri" pitchFamily="34" charset="-122"/>
                          <a:cs typeface="Calibri" pitchFamily="34" charset="-120"/>
                        </a:rPr>
                        <a:t>"The software shall be reliable."</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BEDED"/>
                    </a:solidFill>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Unfalsifiable. It will trace to a test that passes and prove nothing.</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924" dirty="0">
                          <a:solidFill>
                            <a:srgbClr val="22333B"/>
                          </a:solidFill>
                          <a:latin typeface="Calibri" pitchFamily="34" charset="0"/>
                          <a:ea typeface="Calibri" pitchFamily="34" charset="-122"/>
                          <a:cs typeface="Calibri" pitchFamily="34" charset="-120"/>
                        </a:rPr>
                        <a:t>Decompose into specific behaviours: recovery from loss of network within N seconds without data loss; defined safe state on power interruption; maximum acceptable false-alarm rate.</a:t>
                      </a:r>
                      <a:endParaRPr lang="en-US" sz="92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EAF3F2"/>
                    </a:solidFill>
                  </a:tcPr>
                </a:tc>
              </a:tr>
            </a:tbl>
          </a:graphicData>
        </a:graphic>
      </p:graphicFrame>
      <p:sp>
        <p:nvSpPr>
          <p:cNvPr id="8" name="Shape 5"/>
          <p:cNvSpPr/>
          <p:nvPr/>
        </p:nvSpPr>
        <p:spPr>
          <a:xfrm>
            <a:off x="548640" y="5669280"/>
            <a:ext cx="11094415" cy="603504"/>
          </a:xfrm>
          <a:prstGeom prst="roundRect">
            <a:avLst>
              <a:gd name="adj" fmla="val 9091"/>
            </a:avLst>
          </a:prstGeom>
          <a:solidFill>
            <a:srgbClr val="EAF3F2"/>
          </a:solidFill>
          <a:ln w="12700">
            <a:solidFill>
              <a:srgbClr val="BFD9D6"/>
            </a:solidFill>
            <a:prstDash val="solid"/>
          </a:ln>
        </p:spPr>
      </p:sp>
      <p:sp>
        <p:nvSpPr>
          <p:cNvPr id="9" name="Text 6"/>
          <p:cNvSpPr txBox="1"/>
          <p:nvPr/>
        </p:nvSpPr>
        <p:spPr>
          <a:xfrm>
            <a:off x="786384" y="5669280"/>
            <a:ext cx="10618927" cy="603504"/>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Test: could two competent engineers, working independently from this requirement, build things that both pass and behave differently in a clinical setting? If yes, it is not a requirement yet.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EVIDENCE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Traceability that survives an audit</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20</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chain has to close in both directions — and risk controls are part of it.</a:t>
            </a:r>
            <a:endParaRPr lang="en-US" sz="1400" dirty="0"/>
          </a:p>
        </p:txBody>
      </p:sp>
      <p:sp>
        <p:nvSpPr>
          <p:cNvPr id="7" name="Shape 5"/>
          <p:cNvSpPr/>
          <p:nvPr/>
        </p:nvSpPr>
        <p:spPr>
          <a:xfrm>
            <a:off x="548640" y="1847088"/>
            <a:ext cx="1627632" cy="768096"/>
          </a:xfrm>
          <a:prstGeom prst="roundRect">
            <a:avLst>
              <a:gd name="adj" fmla="val 7143"/>
            </a:avLst>
          </a:prstGeom>
          <a:solidFill>
            <a:srgbClr val="F1F5F6"/>
          </a:solidFill>
          <a:ln w="12700">
            <a:solidFill>
              <a:srgbClr val="D7E2E5"/>
            </a:solidFill>
            <a:prstDash val="solid"/>
          </a:ln>
        </p:spPr>
      </p:sp>
      <p:sp>
        <p:nvSpPr>
          <p:cNvPr id="8" name="Text 6"/>
          <p:cNvSpPr txBox="1"/>
          <p:nvPr/>
        </p:nvSpPr>
        <p:spPr>
          <a:xfrm>
            <a:off x="621792" y="1847088"/>
            <a:ext cx="1481328" cy="768096"/>
          </a:xfrm>
          <a:prstGeom prst="rect">
            <a:avLst/>
          </a:prstGeom>
          <a:noFill/>
          <a:ln/>
        </p:spPr>
        <p:txBody>
          <a:bodyPr wrap="square" lIns="0" tIns="0" rIns="0" bIns="0" rtlCol="0" anchor="ctr"/>
          <a:lstStyle/>
          <a:p>
            <a:pPr algn="ctr" indent="0" marL="0">
              <a:buNone/>
            </a:pPr>
            <a:r>
              <a:rPr lang="en-US" sz="1150" b="1" dirty="0">
                <a:solidFill>
                  <a:srgbClr val="1B3A4B"/>
                </a:solidFill>
                <a:latin typeface="Calibri" pitchFamily="34" charset="0"/>
                <a:ea typeface="Calibri" pitchFamily="34" charset="-122"/>
                <a:cs typeface="Calibri" pitchFamily="34" charset="-120"/>
              </a:rPr>
              <a:t>User need</a:t>
            </a:r>
            <a:endParaRPr lang="en-US" sz="1150" dirty="0"/>
          </a:p>
        </p:txBody>
      </p:sp>
      <p:sp>
        <p:nvSpPr>
          <p:cNvPr id="9" name="Shape 7"/>
          <p:cNvSpPr/>
          <p:nvPr/>
        </p:nvSpPr>
        <p:spPr>
          <a:xfrm>
            <a:off x="2221992" y="2130552"/>
            <a:ext cx="164592" cy="201168"/>
          </a:xfrm>
          <a:prstGeom prst="rightArrow">
            <a:avLst/>
          </a:prstGeom>
          <a:solidFill>
            <a:srgbClr val="8FA6AE"/>
          </a:solidFill>
          <a:ln w="12700">
            <a:solidFill>
              <a:srgbClr val="333333"/>
            </a:solidFill>
            <a:prstDash val="solid"/>
          </a:ln>
        </p:spPr>
      </p:sp>
      <p:sp>
        <p:nvSpPr>
          <p:cNvPr id="10" name="Shape 8"/>
          <p:cNvSpPr/>
          <p:nvPr/>
        </p:nvSpPr>
        <p:spPr>
          <a:xfrm>
            <a:off x="2432304" y="1847088"/>
            <a:ext cx="1627632" cy="768096"/>
          </a:xfrm>
          <a:prstGeom prst="roundRect">
            <a:avLst>
              <a:gd name="adj" fmla="val 7143"/>
            </a:avLst>
          </a:prstGeom>
          <a:solidFill>
            <a:srgbClr val="F1F5F6"/>
          </a:solidFill>
          <a:ln w="12700">
            <a:solidFill>
              <a:srgbClr val="D7E2E5"/>
            </a:solidFill>
            <a:prstDash val="solid"/>
          </a:ln>
        </p:spPr>
      </p:sp>
      <p:sp>
        <p:nvSpPr>
          <p:cNvPr id="11" name="Text 9"/>
          <p:cNvSpPr txBox="1"/>
          <p:nvPr/>
        </p:nvSpPr>
        <p:spPr>
          <a:xfrm>
            <a:off x="2505456" y="1847088"/>
            <a:ext cx="1481328" cy="768096"/>
          </a:xfrm>
          <a:prstGeom prst="rect">
            <a:avLst/>
          </a:prstGeom>
          <a:noFill/>
          <a:ln/>
        </p:spPr>
        <p:txBody>
          <a:bodyPr wrap="square" lIns="0" tIns="0" rIns="0" bIns="0" rtlCol="0" anchor="ctr"/>
          <a:lstStyle/>
          <a:p>
            <a:pPr algn="ctr" indent="0" marL="0">
              <a:buNone/>
            </a:pPr>
            <a:r>
              <a:rPr lang="en-US" sz="1150" b="1" dirty="0">
                <a:solidFill>
                  <a:srgbClr val="1B3A4B"/>
                </a:solidFill>
                <a:latin typeface="Calibri" pitchFamily="34" charset="0"/>
                <a:ea typeface="Calibri" pitchFamily="34" charset="-122"/>
                <a:cs typeface="Calibri" pitchFamily="34" charset="-120"/>
              </a:rPr>
              <a:t>System requirement</a:t>
            </a:r>
            <a:endParaRPr lang="en-US" sz="1150" dirty="0"/>
          </a:p>
        </p:txBody>
      </p:sp>
      <p:sp>
        <p:nvSpPr>
          <p:cNvPr id="12" name="Shape 10"/>
          <p:cNvSpPr/>
          <p:nvPr/>
        </p:nvSpPr>
        <p:spPr>
          <a:xfrm>
            <a:off x="4105656" y="2130552"/>
            <a:ext cx="164592" cy="201168"/>
          </a:xfrm>
          <a:prstGeom prst="rightArrow">
            <a:avLst/>
          </a:prstGeom>
          <a:solidFill>
            <a:srgbClr val="8FA6AE"/>
          </a:solidFill>
          <a:ln w="12700">
            <a:solidFill>
              <a:srgbClr val="333333"/>
            </a:solidFill>
            <a:prstDash val="solid"/>
          </a:ln>
        </p:spPr>
      </p:sp>
      <p:sp>
        <p:nvSpPr>
          <p:cNvPr id="13" name="Shape 11"/>
          <p:cNvSpPr/>
          <p:nvPr/>
        </p:nvSpPr>
        <p:spPr>
          <a:xfrm>
            <a:off x="4315968" y="1847088"/>
            <a:ext cx="1627632" cy="768096"/>
          </a:xfrm>
          <a:prstGeom prst="roundRect">
            <a:avLst>
              <a:gd name="adj" fmla="val 7143"/>
            </a:avLst>
          </a:prstGeom>
          <a:solidFill>
            <a:srgbClr val="F1F5F6"/>
          </a:solidFill>
          <a:ln w="12700">
            <a:solidFill>
              <a:srgbClr val="D7E2E5"/>
            </a:solidFill>
            <a:prstDash val="solid"/>
          </a:ln>
        </p:spPr>
      </p:sp>
      <p:sp>
        <p:nvSpPr>
          <p:cNvPr id="14" name="Text 12"/>
          <p:cNvSpPr txBox="1"/>
          <p:nvPr/>
        </p:nvSpPr>
        <p:spPr>
          <a:xfrm>
            <a:off x="4389120" y="1847088"/>
            <a:ext cx="1481328" cy="768096"/>
          </a:xfrm>
          <a:prstGeom prst="rect">
            <a:avLst/>
          </a:prstGeom>
          <a:noFill/>
          <a:ln/>
        </p:spPr>
        <p:txBody>
          <a:bodyPr wrap="square" lIns="0" tIns="0" rIns="0" bIns="0" rtlCol="0" anchor="ctr"/>
          <a:lstStyle/>
          <a:p>
            <a:pPr algn="ctr" indent="0" marL="0">
              <a:buNone/>
            </a:pPr>
            <a:r>
              <a:rPr lang="en-US" sz="1150" b="1" dirty="0">
                <a:solidFill>
                  <a:srgbClr val="1B3A4B"/>
                </a:solidFill>
                <a:latin typeface="Calibri" pitchFamily="34" charset="0"/>
                <a:ea typeface="Calibri" pitchFamily="34" charset="-122"/>
                <a:cs typeface="Calibri" pitchFamily="34" charset="-120"/>
              </a:rPr>
              <a:t>Software requirement</a:t>
            </a:r>
            <a:endParaRPr lang="en-US" sz="1150" dirty="0"/>
          </a:p>
        </p:txBody>
      </p:sp>
      <p:sp>
        <p:nvSpPr>
          <p:cNvPr id="15" name="Shape 13"/>
          <p:cNvSpPr/>
          <p:nvPr/>
        </p:nvSpPr>
        <p:spPr>
          <a:xfrm>
            <a:off x="5989320" y="2130552"/>
            <a:ext cx="164592" cy="201168"/>
          </a:xfrm>
          <a:prstGeom prst="rightArrow">
            <a:avLst/>
          </a:prstGeom>
          <a:solidFill>
            <a:srgbClr val="8FA6AE"/>
          </a:solidFill>
          <a:ln w="12700">
            <a:solidFill>
              <a:srgbClr val="333333"/>
            </a:solidFill>
            <a:prstDash val="solid"/>
          </a:ln>
        </p:spPr>
      </p:sp>
      <p:sp>
        <p:nvSpPr>
          <p:cNvPr id="16" name="Shape 14"/>
          <p:cNvSpPr/>
          <p:nvPr/>
        </p:nvSpPr>
        <p:spPr>
          <a:xfrm>
            <a:off x="6199632" y="1847088"/>
            <a:ext cx="1627632" cy="768096"/>
          </a:xfrm>
          <a:prstGeom prst="roundRect">
            <a:avLst>
              <a:gd name="adj" fmla="val 7143"/>
            </a:avLst>
          </a:prstGeom>
          <a:solidFill>
            <a:srgbClr val="F1F5F6"/>
          </a:solidFill>
          <a:ln w="12700">
            <a:solidFill>
              <a:srgbClr val="D7E2E5"/>
            </a:solidFill>
            <a:prstDash val="solid"/>
          </a:ln>
        </p:spPr>
      </p:sp>
      <p:sp>
        <p:nvSpPr>
          <p:cNvPr id="17" name="Text 15"/>
          <p:cNvSpPr txBox="1"/>
          <p:nvPr/>
        </p:nvSpPr>
        <p:spPr>
          <a:xfrm>
            <a:off x="6272784" y="1847088"/>
            <a:ext cx="1481328" cy="768096"/>
          </a:xfrm>
          <a:prstGeom prst="rect">
            <a:avLst/>
          </a:prstGeom>
          <a:noFill/>
          <a:ln/>
        </p:spPr>
        <p:txBody>
          <a:bodyPr wrap="square" lIns="0" tIns="0" rIns="0" bIns="0" rtlCol="0" anchor="ctr"/>
          <a:lstStyle/>
          <a:p>
            <a:pPr algn="ctr" indent="0" marL="0">
              <a:buNone/>
            </a:pPr>
            <a:r>
              <a:rPr lang="en-US" sz="1150" b="1" dirty="0">
                <a:solidFill>
                  <a:srgbClr val="1B3A4B"/>
                </a:solidFill>
                <a:latin typeface="Calibri" pitchFamily="34" charset="0"/>
                <a:ea typeface="Calibri" pitchFamily="34" charset="-122"/>
                <a:cs typeface="Calibri" pitchFamily="34" charset="-120"/>
              </a:rPr>
              <a:t>Design element</a:t>
            </a:r>
            <a:endParaRPr lang="en-US" sz="1150" dirty="0"/>
          </a:p>
        </p:txBody>
      </p:sp>
      <p:sp>
        <p:nvSpPr>
          <p:cNvPr id="18" name="Shape 16"/>
          <p:cNvSpPr/>
          <p:nvPr/>
        </p:nvSpPr>
        <p:spPr>
          <a:xfrm>
            <a:off x="7872984" y="2130552"/>
            <a:ext cx="164592" cy="201168"/>
          </a:xfrm>
          <a:prstGeom prst="rightArrow">
            <a:avLst/>
          </a:prstGeom>
          <a:solidFill>
            <a:srgbClr val="8FA6AE"/>
          </a:solidFill>
          <a:ln w="12700">
            <a:solidFill>
              <a:srgbClr val="333333"/>
            </a:solidFill>
            <a:prstDash val="solid"/>
          </a:ln>
        </p:spPr>
      </p:sp>
      <p:sp>
        <p:nvSpPr>
          <p:cNvPr id="19" name="Shape 17"/>
          <p:cNvSpPr/>
          <p:nvPr/>
        </p:nvSpPr>
        <p:spPr>
          <a:xfrm>
            <a:off x="8083296" y="1847088"/>
            <a:ext cx="1627632" cy="768096"/>
          </a:xfrm>
          <a:prstGeom prst="roundRect">
            <a:avLst>
              <a:gd name="adj" fmla="val 7143"/>
            </a:avLst>
          </a:prstGeom>
          <a:solidFill>
            <a:srgbClr val="F1F5F6"/>
          </a:solidFill>
          <a:ln w="12700">
            <a:solidFill>
              <a:srgbClr val="D7E2E5"/>
            </a:solidFill>
            <a:prstDash val="solid"/>
          </a:ln>
        </p:spPr>
      </p:sp>
      <p:sp>
        <p:nvSpPr>
          <p:cNvPr id="20" name="Text 18"/>
          <p:cNvSpPr txBox="1"/>
          <p:nvPr/>
        </p:nvSpPr>
        <p:spPr>
          <a:xfrm>
            <a:off x="8156448" y="1847088"/>
            <a:ext cx="1481328" cy="768096"/>
          </a:xfrm>
          <a:prstGeom prst="rect">
            <a:avLst/>
          </a:prstGeom>
          <a:noFill/>
          <a:ln/>
        </p:spPr>
        <p:txBody>
          <a:bodyPr wrap="square" lIns="0" tIns="0" rIns="0" bIns="0" rtlCol="0" anchor="ctr"/>
          <a:lstStyle/>
          <a:p>
            <a:pPr algn="ctr" indent="0" marL="0">
              <a:buNone/>
            </a:pPr>
            <a:r>
              <a:rPr lang="en-US" sz="1150" b="1" dirty="0">
                <a:solidFill>
                  <a:srgbClr val="1B3A4B"/>
                </a:solidFill>
                <a:latin typeface="Calibri" pitchFamily="34" charset="0"/>
                <a:ea typeface="Calibri" pitchFamily="34" charset="-122"/>
                <a:cs typeface="Calibri" pitchFamily="34" charset="-120"/>
              </a:rPr>
              <a:t>Test case</a:t>
            </a:r>
            <a:endParaRPr lang="en-US" sz="1150" dirty="0"/>
          </a:p>
        </p:txBody>
      </p:sp>
      <p:sp>
        <p:nvSpPr>
          <p:cNvPr id="21" name="Shape 19"/>
          <p:cNvSpPr/>
          <p:nvPr/>
        </p:nvSpPr>
        <p:spPr>
          <a:xfrm>
            <a:off x="9756648" y="2130552"/>
            <a:ext cx="164592" cy="201168"/>
          </a:xfrm>
          <a:prstGeom prst="rightArrow">
            <a:avLst/>
          </a:prstGeom>
          <a:solidFill>
            <a:srgbClr val="8FA6AE"/>
          </a:solidFill>
          <a:ln w="12700">
            <a:solidFill>
              <a:srgbClr val="333333"/>
            </a:solidFill>
            <a:prstDash val="solid"/>
          </a:ln>
        </p:spPr>
      </p:sp>
      <p:sp>
        <p:nvSpPr>
          <p:cNvPr id="22" name="Shape 20"/>
          <p:cNvSpPr/>
          <p:nvPr/>
        </p:nvSpPr>
        <p:spPr>
          <a:xfrm>
            <a:off x="9966960" y="1847088"/>
            <a:ext cx="1627632" cy="768096"/>
          </a:xfrm>
          <a:prstGeom prst="roundRect">
            <a:avLst>
              <a:gd name="adj" fmla="val 7143"/>
            </a:avLst>
          </a:prstGeom>
          <a:solidFill>
            <a:srgbClr val="0E7C7B"/>
          </a:solidFill>
          <a:ln w="12700">
            <a:solidFill>
              <a:srgbClr val="0E7C7B"/>
            </a:solidFill>
            <a:prstDash val="solid"/>
          </a:ln>
        </p:spPr>
      </p:sp>
      <p:sp>
        <p:nvSpPr>
          <p:cNvPr id="23" name="Text 21"/>
          <p:cNvSpPr txBox="1"/>
          <p:nvPr/>
        </p:nvSpPr>
        <p:spPr>
          <a:xfrm>
            <a:off x="10040112" y="1847088"/>
            <a:ext cx="1481328" cy="7680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p>
        </p:txBody>
      </p:sp>
      <p:sp>
        <p:nvSpPr>
          <p:cNvPr id="24" name="Shape 22"/>
          <p:cNvSpPr/>
          <p:nvPr/>
        </p:nvSpPr>
        <p:spPr>
          <a:xfrm>
            <a:off x="548640" y="2816352"/>
            <a:ext cx="11094415" cy="566928"/>
          </a:xfrm>
          <a:prstGeom prst="roundRect">
            <a:avLst>
              <a:gd name="adj" fmla="val 9677"/>
            </a:avLst>
          </a:prstGeom>
          <a:solidFill>
            <a:srgbClr val="FBF0E2"/>
          </a:solidFill>
          <a:ln w="12700">
            <a:solidFill>
              <a:srgbClr val="E3C893"/>
            </a:solidFill>
            <a:prstDash val="solid"/>
          </a:ln>
        </p:spPr>
      </p:sp>
      <p:sp>
        <p:nvSpPr>
          <p:cNvPr id="25" name="Text 23"/>
          <p:cNvSpPr txBox="1"/>
          <p:nvPr/>
        </p:nvSpPr>
        <p:spPr>
          <a:xfrm>
            <a:off x="786384" y="2816352"/>
            <a:ext cx="10618927" cy="566928"/>
          </a:xfrm>
          <a:prstGeom prst="rect">
            <a:avLst/>
          </a:prstGeom>
          <a:noFill/>
          <a:ln/>
        </p:spPr>
        <p:txBody>
          <a:bodyPr wrap="square" lIns="0" tIns="0" rIns="0" bIns="0" rtlCol="0" anchor="ctr"/>
          <a:lstStyle/>
          <a:p>
            <a:pPr algn="ctr" indent="0" marL="0">
              <a:buNone/>
            </a:pPr>
            <a:r>
              <a:rPr lang="en-US" sz="1200" b="1" dirty="0">
                <a:solidFill>
                  <a:srgbClr val="7A4E12"/>
                </a:solidFill>
                <a:latin typeface="Calibri" pitchFamily="34" charset="0"/>
                <a:ea typeface="Calibri" pitchFamily="34" charset="-122"/>
                <a:cs typeface="Calibri" pitchFamily="34" charset="-120"/>
              </a:rPr>
              <a:t>Risk control measures attach here — every control traced to the requirement that implements it and the test that proves it is effective</a:t>
            </a:r>
            <a:endParaRPr lang="en-US" sz="1200" dirty="0"/>
          </a:p>
        </p:txBody>
      </p:sp>
      <p:sp>
        <p:nvSpPr>
          <p:cNvPr id="26" name="Shape 24"/>
          <p:cNvSpPr/>
          <p:nvPr/>
        </p:nvSpPr>
        <p:spPr>
          <a:xfrm>
            <a:off x="548640" y="3639312"/>
            <a:ext cx="3515258" cy="1517904"/>
          </a:xfrm>
          <a:prstGeom prst="roundRect">
            <a:avLst>
              <a:gd name="adj" fmla="val 4217"/>
            </a:avLst>
          </a:prstGeom>
          <a:solidFill>
            <a:srgbClr val="F1F5F6"/>
          </a:solidFill>
          <a:ln w="12700">
            <a:solidFill>
              <a:srgbClr val="D7E2E5"/>
            </a:solidFill>
            <a:prstDash val="solid"/>
          </a:ln>
        </p:spPr>
      </p:sp>
      <p:sp>
        <p:nvSpPr>
          <p:cNvPr id="27" name="Text 25"/>
          <p:cNvSpPr txBox="1"/>
          <p:nvPr/>
        </p:nvSpPr>
        <p:spPr>
          <a:xfrm>
            <a:off x="768096" y="3840480"/>
            <a:ext cx="3076346" cy="301752"/>
          </a:xfrm>
          <a:prstGeom prst="rect">
            <a:avLst/>
          </a:prstGeom>
          <a:noFill/>
          <a:ln/>
        </p:spPr>
        <p:txBody>
          <a:bodyPr wrap="square" lIns="0" tIns="0" rIns="0" bIns="0" rtlCol="0" anchor="t"/>
          <a:lstStyle/>
          <a:p>
            <a:pPr indent="0" marL="0">
              <a:buNone/>
            </a:pPr>
            <a:r>
              <a:rPr lang="en-US" sz="1350" b="1" dirty="0">
                <a:solidFill>
                  <a:srgbClr val="1B3A4B"/>
                </a:solidFill>
                <a:latin typeface="Calibri" pitchFamily="34" charset="0"/>
                <a:ea typeface="Calibri" pitchFamily="34" charset="-122"/>
                <a:cs typeface="Calibri" pitchFamily="34" charset="-120"/>
              </a:rPr>
              <a:t>Forwards</a:t>
            </a:r>
            <a:endParaRPr lang="en-US" sz="1350" dirty="0"/>
          </a:p>
        </p:txBody>
      </p:sp>
      <p:sp>
        <p:nvSpPr>
          <p:cNvPr id="28" name="Text 26"/>
          <p:cNvSpPr txBox="1"/>
          <p:nvPr/>
        </p:nvSpPr>
        <p:spPr>
          <a:xfrm>
            <a:off x="768096" y="4178808"/>
            <a:ext cx="3076346" cy="832104"/>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Every user need reaches at least one verified test. Gaps here mean unverified clinical intent.</a:t>
            </a:r>
            <a:endParaRPr lang="en-US" sz="1100" dirty="0"/>
          </a:p>
        </p:txBody>
      </p:sp>
      <p:sp>
        <p:nvSpPr>
          <p:cNvPr id="29" name="Shape 27"/>
          <p:cNvSpPr/>
          <p:nvPr/>
        </p:nvSpPr>
        <p:spPr>
          <a:xfrm>
            <a:off x="4338218" y="3639312"/>
            <a:ext cx="3515258" cy="1517904"/>
          </a:xfrm>
          <a:prstGeom prst="roundRect">
            <a:avLst>
              <a:gd name="adj" fmla="val 4217"/>
            </a:avLst>
          </a:prstGeom>
          <a:solidFill>
            <a:srgbClr val="F1F5F6"/>
          </a:solidFill>
          <a:ln w="12700">
            <a:solidFill>
              <a:srgbClr val="D7E2E5"/>
            </a:solidFill>
            <a:prstDash val="solid"/>
          </a:ln>
        </p:spPr>
      </p:sp>
      <p:sp>
        <p:nvSpPr>
          <p:cNvPr id="30" name="Text 28"/>
          <p:cNvSpPr txBox="1"/>
          <p:nvPr/>
        </p:nvSpPr>
        <p:spPr>
          <a:xfrm>
            <a:off x="4557674" y="3840480"/>
            <a:ext cx="3076346" cy="301752"/>
          </a:xfrm>
          <a:prstGeom prst="rect">
            <a:avLst/>
          </a:prstGeom>
          <a:noFill/>
          <a:ln/>
        </p:spPr>
        <p:txBody>
          <a:bodyPr wrap="square" lIns="0" tIns="0" rIns="0" bIns="0" rtlCol="0" anchor="t"/>
          <a:lstStyle/>
          <a:p>
            <a:pPr indent="0" marL="0">
              <a:buNone/>
            </a:pPr>
            <a:r>
              <a:rPr lang="en-US" sz="1350" b="1" dirty="0">
                <a:solidFill>
                  <a:srgbClr val="1B3A4B"/>
                </a:solidFill>
                <a:latin typeface="Calibri" pitchFamily="34" charset="0"/>
                <a:ea typeface="Calibri" pitchFamily="34" charset="-122"/>
                <a:cs typeface="Calibri" pitchFamily="34" charset="-120"/>
              </a:rPr>
              <a:t>Backwards</a:t>
            </a:r>
            <a:endParaRPr lang="en-US" sz="1350" dirty="0"/>
          </a:p>
        </p:txBody>
      </p:sp>
      <p:sp>
        <p:nvSpPr>
          <p:cNvPr id="31" name="Text 29"/>
          <p:cNvSpPr txBox="1"/>
          <p:nvPr/>
        </p:nvSpPr>
        <p:spPr>
          <a:xfrm>
            <a:off x="4557674" y="4178808"/>
            <a:ext cx="3076346" cy="832104"/>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Every test and every line of functionality traces to a requirement. Orphans here mean undocumented features — which are undocumented risk.</a:t>
            </a:r>
            <a:endParaRPr lang="en-US" sz="1100" dirty="0"/>
          </a:p>
        </p:txBody>
      </p:sp>
      <p:sp>
        <p:nvSpPr>
          <p:cNvPr id="32" name="Shape 30"/>
          <p:cNvSpPr/>
          <p:nvPr/>
        </p:nvSpPr>
        <p:spPr>
          <a:xfrm>
            <a:off x="8127797" y="3639312"/>
            <a:ext cx="3515258" cy="1517904"/>
          </a:xfrm>
          <a:prstGeom prst="roundRect">
            <a:avLst>
              <a:gd name="adj" fmla="val 4217"/>
            </a:avLst>
          </a:prstGeom>
          <a:solidFill>
            <a:srgbClr val="F1F5F6"/>
          </a:solidFill>
          <a:ln w="12700">
            <a:solidFill>
              <a:srgbClr val="D7E2E5"/>
            </a:solidFill>
            <a:prstDash val="solid"/>
          </a:ln>
        </p:spPr>
      </p:sp>
      <p:sp>
        <p:nvSpPr>
          <p:cNvPr id="33" name="Text 31"/>
          <p:cNvSpPr txBox="1"/>
          <p:nvPr/>
        </p:nvSpPr>
        <p:spPr>
          <a:xfrm>
            <a:off x="8347253" y="3840480"/>
            <a:ext cx="3076346" cy="301752"/>
          </a:xfrm>
          <a:prstGeom prst="rect">
            <a:avLst/>
          </a:prstGeom>
          <a:noFill/>
          <a:ln/>
        </p:spPr>
        <p:txBody>
          <a:bodyPr wrap="square" lIns="0" tIns="0" rIns="0" bIns="0" rtlCol="0" anchor="t"/>
          <a:lstStyle/>
          <a:p>
            <a:pPr indent="0" marL="0">
              <a:buNone/>
            </a:pPr>
            <a:r>
              <a:rPr lang="en-US" sz="1350" b="1" dirty="0">
                <a:solidFill>
                  <a:srgbClr val="1B3A4B"/>
                </a:solidFill>
                <a:latin typeface="Calibri" pitchFamily="34" charset="0"/>
                <a:ea typeface="Calibri" pitchFamily="34" charset="-122"/>
                <a:cs typeface="Calibri" pitchFamily="34" charset="-120"/>
              </a:rPr>
              <a:t>Maintained, not reconstructed</a:t>
            </a:r>
            <a:endParaRPr lang="en-US" sz="1350" dirty="0"/>
          </a:p>
        </p:txBody>
      </p:sp>
      <p:sp>
        <p:nvSpPr>
          <p:cNvPr id="34" name="Text 32"/>
          <p:cNvSpPr txBox="1"/>
          <p:nvPr/>
        </p:nvSpPr>
        <p:spPr>
          <a:xfrm>
            <a:off x="8347253" y="4178808"/>
            <a:ext cx="3076346" cy="832104"/>
          </a:xfrm>
          <a:prstGeom prst="rect">
            <a:avLst/>
          </a:prstGeom>
          <a:noFill/>
          <a:ln/>
        </p:spPr>
        <p:txBody>
          <a:bodyPr wrap="square" lIns="0" tIns="0" rIns="0" bIns="0" rtlCol="0" anchor="t"/>
          <a:lstStyle/>
          <a:p>
            <a:pPr indent="0" marL="0">
              <a:lnSpc>
                <a:spcPct val="106000"/>
              </a:lnSpc>
              <a:buNone/>
            </a:pPr>
            <a:r>
              <a:rPr lang="en-US" sz="1100" dirty="0">
                <a:solidFill>
                  <a:srgbClr val="22333B"/>
                </a:solidFill>
                <a:latin typeface="Calibri" pitchFamily="34" charset="0"/>
                <a:ea typeface="Calibri" pitchFamily="34" charset="-122"/>
                <a:cs typeface="Calibri" pitchFamily="34" charset="-120"/>
              </a:rPr>
              <a:t>A matrix assembled the month before submission documents your archaeology, not your process. Auditors can tell the difference.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VERIFICATION</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Test strategy: what the evidence has to show</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21</a:t>
            </a:r>
            <a:endParaRPr lang="en-US" sz="900" dirty="0"/>
          </a:p>
        </p:txBody>
      </p:sp>
      <p:sp>
        <p:nvSpPr>
          <p:cNvPr id="6" name="Text 4"/>
          <p:cNvSpPr txBox="1"/>
          <p:nvPr/>
        </p:nvSpPr>
        <p:spPr>
          <a:xfrm>
            <a:off x="548640" y="148132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THE LEVELS</a:t>
            </a:r>
            <a:endParaRPr lang="en-US" sz="1100" dirty="0"/>
          </a:p>
        </p:txBody>
      </p:sp>
      <p:sp>
        <p:nvSpPr>
          <p:cNvPr id="7" name="Shape 5"/>
          <p:cNvSpPr/>
          <p:nvPr/>
        </p:nvSpPr>
        <p:spPr>
          <a:xfrm>
            <a:off x="548640" y="1792224"/>
            <a:ext cx="5394960" cy="1014984"/>
          </a:xfrm>
          <a:prstGeom prst="roundRect">
            <a:avLst>
              <a:gd name="adj" fmla="val 6306"/>
            </a:avLst>
          </a:prstGeom>
          <a:solidFill>
            <a:srgbClr val="F1F5F6"/>
          </a:solidFill>
          <a:ln w="12700">
            <a:solidFill>
              <a:srgbClr val="D7E2E5"/>
            </a:solidFill>
            <a:prstDash val="solid"/>
          </a:ln>
        </p:spPr>
      </p:sp>
      <p:sp>
        <p:nvSpPr>
          <p:cNvPr id="8" name="Shape 6"/>
          <p:cNvSpPr/>
          <p:nvPr/>
        </p:nvSpPr>
        <p:spPr>
          <a:xfrm>
            <a:off x="548640" y="1792224"/>
            <a:ext cx="82296" cy="1014984"/>
          </a:xfrm>
          <a:prstGeom prst="rect">
            <a:avLst/>
          </a:prstGeom>
          <a:solidFill>
            <a:srgbClr val="0E7C7B"/>
          </a:solidFill>
          <a:ln w="12700">
            <a:solidFill>
              <a:srgbClr val="333333"/>
            </a:solidFill>
            <a:prstDash val="solid"/>
          </a:ln>
        </p:spPr>
      </p:sp>
      <p:sp>
        <p:nvSpPr>
          <p:cNvPr id="9" name="Text 7"/>
          <p:cNvSpPr txBox="1"/>
          <p:nvPr/>
        </p:nvSpPr>
        <p:spPr>
          <a:xfrm>
            <a:off x="841248" y="1901952"/>
            <a:ext cx="4901184" cy="795528"/>
          </a:xfrm>
          <a:prstGeom prst="rect">
            <a:avLst/>
          </a:prstGeom>
          <a:noFill/>
          <a:ln/>
        </p:spPr>
        <p:txBody>
          <a:bodyPr wrap="square" lIns="0" tIns="0" rIns="0" bIns="0" rtlCol="0" anchor="ctr"/>
          <a:lstStyle/>
          <a:p>
            <a:pPr indent="0" marL="0">
              <a:lnSpc>
                <a:spcPct val="104000"/>
              </a:lnSpc>
              <a:buNone/>
            </a:pPr>
            <a:r>
              <a:rPr lang="en-US" sz="1350" b="1" dirty="0">
                <a:solidFill>
                  <a:srgbClr val="1B3A4B"/>
                </a:solidFill>
                <a:latin typeface="Calibri" pitchFamily="34" charset="0"/>
                <a:ea typeface="Calibri" pitchFamily="34" charset="-122"/>
                <a:cs typeface="Calibri" pitchFamily="34" charset="-120"/>
              </a:rPr>
              <a:t>Unit</a:t>
            </a:r>
            <a:endParaRPr lang="en-US" sz="1350" dirty="0"/>
          </a:p>
          <a:p>
            <a:pPr indent="0" marL="0">
              <a:lnSpc>
                <a:spcPct val="104000"/>
              </a:lnSpc>
              <a:buNone/>
            </a:pPr>
            <a:r>
              <a:rPr lang="en-US" sz="1080" dirty="0">
                <a:solidFill>
                  <a:srgbClr val="22333B"/>
                </a:solidFill>
                <a:latin typeface="Calibri" pitchFamily="34" charset="0"/>
                <a:ea typeface="Calibri" pitchFamily="34" charset="-122"/>
                <a:cs typeface="Calibri" pitchFamily="34" charset="-120"/>
              </a:rPr>
              <a:t>Individual functions and modules against detailed design. Automate aggressively — this is where regression protection is cheapest and where Class C expectations are highest.</a:t>
            </a:r>
            <a:endParaRPr lang="en-US" sz="1350" dirty="0"/>
          </a:p>
        </p:txBody>
      </p:sp>
      <p:sp>
        <p:nvSpPr>
          <p:cNvPr id="10" name="Shape 8"/>
          <p:cNvSpPr/>
          <p:nvPr/>
        </p:nvSpPr>
        <p:spPr>
          <a:xfrm>
            <a:off x="548640" y="2935224"/>
            <a:ext cx="5394960" cy="1014984"/>
          </a:xfrm>
          <a:prstGeom prst="roundRect">
            <a:avLst>
              <a:gd name="adj" fmla="val 6306"/>
            </a:avLst>
          </a:prstGeom>
          <a:solidFill>
            <a:srgbClr val="F1F5F6"/>
          </a:solidFill>
          <a:ln w="12700">
            <a:solidFill>
              <a:srgbClr val="D7E2E5"/>
            </a:solidFill>
            <a:prstDash val="solid"/>
          </a:ln>
        </p:spPr>
      </p:sp>
      <p:sp>
        <p:nvSpPr>
          <p:cNvPr id="11" name="Shape 9"/>
          <p:cNvSpPr/>
          <p:nvPr/>
        </p:nvSpPr>
        <p:spPr>
          <a:xfrm>
            <a:off x="548640" y="2935224"/>
            <a:ext cx="82296" cy="1014984"/>
          </a:xfrm>
          <a:prstGeom prst="rect">
            <a:avLst/>
          </a:prstGeom>
          <a:solidFill>
            <a:srgbClr val="2A9D8F"/>
          </a:solidFill>
          <a:ln w="12700">
            <a:solidFill>
              <a:srgbClr val="333333"/>
            </a:solidFill>
            <a:prstDash val="solid"/>
          </a:ln>
        </p:spPr>
      </p:sp>
      <p:sp>
        <p:nvSpPr>
          <p:cNvPr id="12" name="Text 10"/>
          <p:cNvSpPr txBox="1"/>
          <p:nvPr/>
        </p:nvSpPr>
        <p:spPr>
          <a:xfrm>
            <a:off x="841248" y="3044952"/>
            <a:ext cx="4901184" cy="795528"/>
          </a:xfrm>
          <a:prstGeom prst="rect">
            <a:avLst/>
          </a:prstGeom>
          <a:noFill/>
          <a:ln/>
        </p:spPr>
        <p:txBody>
          <a:bodyPr wrap="square" lIns="0" tIns="0" rIns="0" bIns="0" rtlCol="0" anchor="ctr"/>
          <a:lstStyle/>
          <a:p>
            <a:pPr indent="0" marL="0">
              <a:lnSpc>
                <a:spcPct val="104000"/>
              </a:lnSpc>
              <a:buNone/>
            </a:pPr>
            <a:r>
              <a:rPr lang="en-US" sz="1350" b="1" dirty="0">
                <a:solidFill>
                  <a:srgbClr val="1B3A4B"/>
                </a:solidFill>
                <a:latin typeface="Calibri" pitchFamily="34" charset="0"/>
                <a:ea typeface="Calibri" pitchFamily="34" charset="-122"/>
                <a:cs typeface="Calibri" pitchFamily="34" charset="-120"/>
              </a:rPr>
              <a:t>Integration</a:t>
            </a:r>
            <a:endParaRPr lang="en-US" sz="1350" dirty="0"/>
          </a:p>
          <a:p>
            <a:pPr indent="0" marL="0">
              <a:lnSpc>
                <a:spcPct val="104000"/>
              </a:lnSpc>
              <a:buNone/>
            </a:pPr>
            <a:r>
              <a:rPr lang="en-US" sz="1080" dirty="0">
                <a:solidFill>
                  <a:srgbClr val="22333B"/>
                </a:solidFill>
                <a:latin typeface="Calibri" pitchFamily="34" charset="0"/>
                <a:ea typeface="Calibri" pitchFamily="34" charset="-122"/>
                <a:cs typeface="Calibri" pitchFamily="34" charset="-120"/>
              </a:rPr>
              <a:t>Interfaces between software items, and between software and hardware. Where SOUP boundaries, timing and error propagation actually get exercised.</a:t>
            </a:r>
            <a:endParaRPr lang="en-US" sz="1350" dirty="0"/>
          </a:p>
        </p:txBody>
      </p:sp>
      <p:sp>
        <p:nvSpPr>
          <p:cNvPr id="13" name="Shape 11"/>
          <p:cNvSpPr/>
          <p:nvPr/>
        </p:nvSpPr>
        <p:spPr>
          <a:xfrm>
            <a:off x="548640" y="4078224"/>
            <a:ext cx="5394960" cy="1014984"/>
          </a:xfrm>
          <a:prstGeom prst="roundRect">
            <a:avLst>
              <a:gd name="adj" fmla="val 6306"/>
            </a:avLst>
          </a:prstGeom>
          <a:solidFill>
            <a:srgbClr val="F1F5F6"/>
          </a:solidFill>
          <a:ln w="12700">
            <a:solidFill>
              <a:srgbClr val="D7E2E5"/>
            </a:solidFill>
            <a:prstDash val="solid"/>
          </a:ln>
        </p:spPr>
      </p:sp>
      <p:sp>
        <p:nvSpPr>
          <p:cNvPr id="14" name="Shape 12"/>
          <p:cNvSpPr/>
          <p:nvPr/>
        </p:nvSpPr>
        <p:spPr>
          <a:xfrm>
            <a:off x="548640" y="4078224"/>
            <a:ext cx="82296" cy="1014984"/>
          </a:xfrm>
          <a:prstGeom prst="rect">
            <a:avLst/>
          </a:prstGeom>
          <a:solidFill>
            <a:srgbClr val="C77C1E"/>
          </a:solidFill>
          <a:ln w="12700">
            <a:solidFill>
              <a:srgbClr val="333333"/>
            </a:solidFill>
            <a:prstDash val="solid"/>
          </a:ln>
        </p:spPr>
      </p:sp>
      <p:sp>
        <p:nvSpPr>
          <p:cNvPr id="15" name="Text 13"/>
          <p:cNvSpPr txBox="1"/>
          <p:nvPr/>
        </p:nvSpPr>
        <p:spPr>
          <a:xfrm>
            <a:off x="841248" y="4187952"/>
            <a:ext cx="4901184" cy="795528"/>
          </a:xfrm>
          <a:prstGeom prst="rect">
            <a:avLst/>
          </a:prstGeom>
          <a:noFill/>
          <a:ln/>
        </p:spPr>
        <p:txBody>
          <a:bodyPr wrap="square" lIns="0" tIns="0" rIns="0" bIns="0" rtlCol="0" anchor="ctr"/>
          <a:lstStyle/>
          <a:p>
            <a:pPr indent="0" marL="0">
              <a:lnSpc>
                <a:spcPct val="104000"/>
              </a:lnSpc>
              <a:buNone/>
            </a:pPr>
            <a:r>
              <a:rPr lang="en-US" sz="1350" b="1" dirty="0">
                <a:solidFill>
                  <a:srgbClr val="1B3A4B"/>
                </a:solidFill>
                <a:latin typeface="Calibri" pitchFamily="34" charset="0"/>
                <a:ea typeface="Calibri" pitchFamily="34" charset="-122"/>
                <a:cs typeface="Calibri" pitchFamily="34" charset="-120"/>
              </a:rPr>
              <a:t>System</a:t>
            </a:r>
            <a:endParaRPr lang="en-US" sz="1350" dirty="0"/>
          </a:p>
          <a:p>
            <a:pPr indent="0" marL="0">
              <a:lnSpc>
                <a:spcPct val="104000"/>
              </a:lnSpc>
              <a:buNone/>
            </a:pPr>
            <a:r>
              <a:rPr lang="en-US" sz="1080" dirty="0">
                <a:solidFill>
                  <a:srgbClr val="22333B"/>
                </a:solidFill>
                <a:latin typeface="Calibri" pitchFamily="34" charset="0"/>
                <a:ea typeface="Calibri" pitchFamily="34" charset="-122"/>
                <a:cs typeface="Calibri" pitchFamily="34" charset="-120"/>
              </a:rPr>
              <a:t>The complete device against software requirements, in the target environment — including degraded conditions, not only the happy path.</a:t>
            </a:r>
            <a:endParaRPr lang="en-US" sz="1350" dirty="0"/>
          </a:p>
        </p:txBody>
      </p:sp>
      <p:sp>
        <p:nvSpPr>
          <p:cNvPr id="16" name="Shape 14"/>
          <p:cNvSpPr/>
          <p:nvPr/>
        </p:nvSpPr>
        <p:spPr>
          <a:xfrm>
            <a:off x="548640" y="5221224"/>
            <a:ext cx="5394960" cy="1014984"/>
          </a:xfrm>
          <a:prstGeom prst="roundRect">
            <a:avLst>
              <a:gd name="adj" fmla="val 6306"/>
            </a:avLst>
          </a:prstGeom>
          <a:solidFill>
            <a:srgbClr val="F1F5F6"/>
          </a:solidFill>
          <a:ln w="12700">
            <a:solidFill>
              <a:srgbClr val="D7E2E5"/>
            </a:solidFill>
            <a:prstDash val="solid"/>
          </a:ln>
        </p:spPr>
      </p:sp>
      <p:sp>
        <p:nvSpPr>
          <p:cNvPr id="17" name="Shape 15"/>
          <p:cNvSpPr/>
          <p:nvPr/>
        </p:nvSpPr>
        <p:spPr>
          <a:xfrm>
            <a:off x="548640" y="5221224"/>
            <a:ext cx="82296" cy="1014984"/>
          </a:xfrm>
          <a:prstGeom prst="rect">
            <a:avLst/>
          </a:prstGeom>
          <a:solidFill>
            <a:srgbClr val="A83A3C"/>
          </a:solidFill>
          <a:ln w="12700">
            <a:solidFill>
              <a:srgbClr val="333333"/>
            </a:solidFill>
            <a:prstDash val="solid"/>
          </a:ln>
        </p:spPr>
      </p:sp>
      <p:sp>
        <p:nvSpPr>
          <p:cNvPr id="18" name="Text 16"/>
          <p:cNvSpPr txBox="1"/>
          <p:nvPr/>
        </p:nvSpPr>
        <p:spPr>
          <a:xfrm>
            <a:off x="841248" y="5330952"/>
            <a:ext cx="4901184" cy="795528"/>
          </a:xfrm>
          <a:prstGeom prst="rect">
            <a:avLst/>
          </a:prstGeom>
          <a:noFill/>
          <a:ln/>
        </p:spPr>
        <p:txBody>
          <a:bodyPr wrap="square" lIns="0" tIns="0" rIns="0" bIns="0" rtlCol="0" anchor="ctr"/>
          <a:lstStyle/>
          <a:p>
            <a:pPr indent="0" marL="0">
              <a:lnSpc>
                <a:spcPct val="104000"/>
              </a:lnSpc>
              <a:buNone/>
            </a:pPr>
            <a:r>
              <a:rPr lang="en-US" sz="1350" b="1" dirty="0">
                <a:solidFill>
                  <a:srgbClr val="1B3A4B"/>
                </a:solidFill>
                <a:latin typeface="Calibri" pitchFamily="34" charset="0"/>
                <a:ea typeface="Calibri" pitchFamily="34" charset="-122"/>
                <a:cs typeface="Calibri" pitchFamily="34" charset="-120"/>
              </a:rPr>
              <a:t>Validation</a:t>
            </a:r>
            <a:endParaRPr lang="en-US" sz="1350" dirty="0"/>
          </a:p>
          <a:p>
            <a:pPr indent="0" marL="0">
              <a:lnSpc>
                <a:spcPct val="104000"/>
              </a:lnSpc>
              <a:buNone/>
            </a:pPr>
            <a:r>
              <a:rPr lang="en-US" sz="1080" dirty="0">
                <a:solidFill>
                  <a:srgbClr val="22333B"/>
                </a:solidFill>
                <a:latin typeface="Calibri" pitchFamily="34" charset="0"/>
                <a:ea typeface="Calibri" pitchFamily="34" charset="-122"/>
                <a:cs typeface="Calibri" pitchFamily="34" charset="-120"/>
              </a:rPr>
              <a:t>Against user needs and intended use, with representative users where human factors are engaged. Simulated or actual use conditions.</a:t>
            </a:r>
            <a:endParaRPr lang="en-US" sz="1350" dirty="0"/>
          </a:p>
        </p:txBody>
      </p:sp>
      <p:sp>
        <p:nvSpPr>
          <p:cNvPr id="19" name="Text 17"/>
          <p:cNvSpPr txBox="1"/>
          <p:nvPr/>
        </p:nvSpPr>
        <p:spPr>
          <a:xfrm>
            <a:off x="6245352" y="148132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WHAT REVIEWERS AND AUDITORS LOOK FOR</a:t>
            </a:r>
            <a:endParaRPr lang="en-US" sz="1100" dirty="0"/>
          </a:p>
        </p:txBody>
      </p:sp>
      <p:sp>
        <p:nvSpPr>
          <p:cNvPr id="20" name="Shape 18"/>
          <p:cNvSpPr/>
          <p:nvPr/>
        </p:nvSpPr>
        <p:spPr>
          <a:xfrm>
            <a:off x="6245352" y="1792224"/>
            <a:ext cx="5394960" cy="4370832"/>
          </a:xfrm>
          <a:prstGeom prst="roundRect">
            <a:avLst>
              <a:gd name="adj" fmla="val 1464"/>
            </a:avLst>
          </a:prstGeom>
          <a:solidFill>
            <a:srgbClr val="F1F5F6"/>
          </a:solidFill>
          <a:ln w="12700">
            <a:solidFill>
              <a:srgbClr val="D7E2E5"/>
            </a:solidFill>
            <a:prstDash val="solid"/>
          </a:ln>
        </p:spPr>
      </p:sp>
      <p:sp>
        <p:nvSpPr>
          <p:cNvPr id="21" name="Text 19"/>
          <p:cNvSpPr txBox="1"/>
          <p:nvPr/>
        </p:nvSpPr>
        <p:spPr>
          <a:xfrm>
            <a:off x="6483096" y="1956816"/>
            <a:ext cx="4919472" cy="4041648"/>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Coverage of requirements, not coverage of code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Code coverage is a useful engineering metric and a poor compliance argument. 95% coverage against the wrong requirements proves nothing.</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Negative and boundary cases</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Invalid input, loss of connectivity, resource exhaustion, clock changes, interrupted updates, simultaneous users. The happy path is not the risk.</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Defined, reproducible test environment</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Hardware revision, OS build, dependency versions. If you cannot reproduce the environment, you cannot reproduce the result.</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A regression strategy tied to change impact</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'We re-ran everything' is expensive and unfocused; 're-ran nothing because the change was small' is indefensible. Show the impact analysis that chose the scope.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Results, not just protocols</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Executed evidence with dates, versions, operators and dispositions of failures — including what you did about the ones that failed.</a:t>
            </a:r>
            <a:endParaRPr lang="en-US" sz="10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THIRD-PARTY CODE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SOUP and off-the-shelf software</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22</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Software of Unknown Provenance: you did not develop it, and you cannot fully characterise its development. You are still responsible for it.</a:t>
            </a:r>
            <a:endParaRPr lang="en-US" sz="1400" dirty="0"/>
          </a:p>
        </p:txBody>
      </p:sp>
      <p:sp>
        <p:nvSpPr>
          <p:cNvPr id="7" name="Shape 5"/>
          <p:cNvSpPr/>
          <p:nvPr/>
        </p:nvSpPr>
        <p:spPr>
          <a:xfrm>
            <a:off x="548640" y="1901952"/>
            <a:ext cx="3515258" cy="2039112"/>
          </a:xfrm>
          <a:prstGeom prst="roundRect">
            <a:avLst>
              <a:gd name="adj" fmla="val 3139"/>
            </a:avLst>
          </a:prstGeom>
          <a:solidFill>
            <a:srgbClr val="F1F5F6"/>
          </a:solidFill>
          <a:ln w="12700">
            <a:solidFill>
              <a:srgbClr val="D7E2E5"/>
            </a:solidFill>
            <a:prstDash val="solid"/>
          </a:ln>
        </p:spPr>
      </p:sp>
      <p:sp>
        <p:nvSpPr>
          <p:cNvPr id="8" name="Shape 6"/>
          <p:cNvSpPr/>
          <p:nvPr/>
        </p:nvSpPr>
        <p:spPr>
          <a:xfrm>
            <a:off x="768096" y="2103120"/>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103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578608"/>
            <a:ext cx="3076346" cy="294640"/>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Identify it — all of it</a:t>
            </a:r>
            <a:endParaRPr lang="en-US" sz="1300" dirty="0"/>
          </a:p>
        </p:txBody>
      </p:sp>
      <p:sp>
        <p:nvSpPr>
          <p:cNvPr id="11" name="Text 9"/>
          <p:cNvSpPr txBox="1"/>
          <p:nvPr/>
        </p:nvSpPr>
        <p:spPr>
          <a:xfrm>
            <a:off x="768096" y="2909824"/>
            <a:ext cx="3076346" cy="884936"/>
          </a:xfrm>
          <a:prstGeom prst="rect">
            <a:avLst/>
          </a:prstGeom>
          <a:noFill/>
          <a:ln/>
        </p:spPr>
        <p:txBody>
          <a:bodyPr wrap="square" lIns="0" tIns="0" rIns="0" bIns="0" rtlCol="0" anchor="t"/>
          <a:lstStyle/>
          <a:p>
            <a:pPr indent="0" marL="0">
              <a:lnSpc>
                <a:spcPct val="106000"/>
              </a:lnSpc>
              <a:buNone/>
            </a:pPr>
            <a:r>
              <a:rPr lang="en-US" sz="1000" dirty="0">
                <a:solidFill>
                  <a:srgbClr val="22333B"/>
                </a:solidFill>
                <a:latin typeface="Calibri" pitchFamily="34" charset="0"/>
                <a:ea typeface="Calibri" pitchFamily="34" charset="-122"/>
                <a:cs typeface="Calibri" pitchFamily="34" charset="-120"/>
              </a:rPr>
              <a:t>Every library, framework, RTOS, driver, container base image, and transitively pulled dependency. Name, manufacturer, version. This list is the seed of your SBOM in Part 3 — build it once, use it twice.</a:t>
            </a:r>
            <a:endParaRPr lang="en-US" sz="1000" dirty="0"/>
          </a:p>
        </p:txBody>
      </p:sp>
      <p:sp>
        <p:nvSpPr>
          <p:cNvPr id="12" name="Shape 10"/>
          <p:cNvSpPr/>
          <p:nvPr/>
        </p:nvSpPr>
        <p:spPr>
          <a:xfrm>
            <a:off x="4338218" y="1901952"/>
            <a:ext cx="3515258" cy="2039112"/>
          </a:xfrm>
          <a:prstGeom prst="roundRect">
            <a:avLst>
              <a:gd name="adj" fmla="val 3139"/>
            </a:avLst>
          </a:prstGeom>
          <a:solidFill>
            <a:srgbClr val="F1F5F6"/>
          </a:solidFill>
          <a:ln w="12700">
            <a:solidFill>
              <a:srgbClr val="D7E2E5"/>
            </a:solidFill>
            <a:prstDash val="solid"/>
          </a:ln>
        </p:spPr>
      </p:sp>
      <p:sp>
        <p:nvSpPr>
          <p:cNvPr id="13" name="Shape 11"/>
          <p:cNvSpPr/>
          <p:nvPr/>
        </p:nvSpPr>
        <p:spPr>
          <a:xfrm>
            <a:off x="4557674" y="2103120"/>
            <a:ext cx="365760" cy="365760"/>
          </a:xfrm>
          <a:prstGeom prst="ellipse">
            <a:avLst/>
          </a:prstGeom>
          <a:solidFill>
            <a:srgbClr val="2A9D8F"/>
          </a:solidFill>
          <a:ln w="12700">
            <a:solidFill>
              <a:srgbClr val="2A9D8F"/>
            </a:solidFill>
            <a:prstDash val="solid"/>
          </a:ln>
        </p:spPr>
      </p:sp>
      <p:sp>
        <p:nvSpPr>
          <p:cNvPr id="14" name="Text 12"/>
          <p:cNvSpPr txBox="1"/>
          <p:nvPr/>
        </p:nvSpPr>
        <p:spPr>
          <a:xfrm>
            <a:off x="4557674" y="2103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4557674" y="2578608"/>
            <a:ext cx="3076346" cy="294640"/>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Specify what you need from it</a:t>
            </a:r>
            <a:endParaRPr lang="en-US" sz="1300" dirty="0"/>
          </a:p>
        </p:txBody>
      </p:sp>
      <p:sp>
        <p:nvSpPr>
          <p:cNvPr id="16" name="Text 14"/>
          <p:cNvSpPr txBox="1"/>
          <p:nvPr/>
        </p:nvSpPr>
        <p:spPr>
          <a:xfrm>
            <a:off x="4557674" y="2909824"/>
            <a:ext cx="3076346" cy="884936"/>
          </a:xfrm>
          <a:prstGeom prst="rect">
            <a:avLst/>
          </a:prstGeom>
          <a:noFill/>
          <a:ln/>
        </p:spPr>
        <p:txBody>
          <a:bodyPr wrap="square" lIns="0" tIns="0" rIns="0" bIns="0" rtlCol="0" anchor="t"/>
          <a:lstStyle/>
          <a:p>
            <a:pPr indent="0" marL="0">
              <a:lnSpc>
                <a:spcPct val="106000"/>
              </a:lnSpc>
              <a:buNone/>
            </a:pPr>
            <a:r>
              <a:rPr lang="en-US" sz="1000" dirty="0">
                <a:solidFill>
                  <a:srgbClr val="22333B"/>
                </a:solidFill>
                <a:latin typeface="Calibri" pitchFamily="34" charset="0"/>
                <a:ea typeface="Calibri" pitchFamily="34" charset="-122"/>
                <a:cs typeface="Calibri" pitchFamily="34" charset="-120"/>
              </a:rPr>
              <a:t>62304 expects functional and performance requirements for each SOUP item, plus the hardware and software the item itself requires to operate correctly. What are you relying on it to do?</a:t>
            </a:r>
            <a:endParaRPr lang="en-US" sz="1000" dirty="0"/>
          </a:p>
        </p:txBody>
      </p:sp>
      <p:sp>
        <p:nvSpPr>
          <p:cNvPr id="17" name="Shape 15"/>
          <p:cNvSpPr/>
          <p:nvPr/>
        </p:nvSpPr>
        <p:spPr>
          <a:xfrm>
            <a:off x="8127797" y="1901952"/>
            <a:ext cx="3515258" cy="2039112"/>
          </a:xfrm>
          <a:prstGeom prst="roundRect">
            <a:avLst>
              <a:gd name="adj" fmla="val 3139"/>
            </a:avLst>
          </a:prstGeom>
          <a:solidFill>
            <a:srgbClr val="F1F5F6"/>
          </a:solidFill>
          <a:ln w="12700">
            <a:solidFill>
              <a:srgbClr val="D7E2E5"/>
            </a:solidFill>
            <a:prstDash val="solid"/>
          </a:ln>
        </p:spPr>
      </p:sp>
      <p:sp>
        <p:nvSpPr>
          <p:cNvPr id="18" name="Shape 16"/>
          <p:cNvSpPr/>
          <p:nvPr/>
        </p:nvSpPr>
        <p:spPr>
          <a:xfrm>
            <a:off x="8347253" y="2103120"/>
            <a:ext cx="365760" cy="365760"/>
          </a:xfrm>
          <a:prstGeom prst="ellipse">
            <a:avLst/>
          </a:prstGeom>
          <a:solidFill>
            <a:srgbClr val="C77C1E"/>
          </a:solidFill>
          <a:ln w="12700">
            <a:solidFill>
              <a:srgbClr val="C77C1E"/>
            </a:solidFill>
            <a:prstDash val="solid"/>
          </a:ln>
        </p:spPr>
      </p:sp>
      <p:sp>
        <p:nvSpPr>
          <p:cNvPr id="19" name="Text 17"/>
          <p:cNvSpPr txBox="1"/>
          <p:nvPr/>
        </p:nvSpPr>
        <p:spPr>
          <a:xfrm>
            <a:off x="8347253" y="2103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347253" y="2578608"/>
            <a:ext cx="3076346" cy="294640"/>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Assess what it can do to you</a:t>
            </a:r>
            <a:endParaRPr lang="en-US" sz="1300" dirty="0"/>
          </a:p>
        </p:txBody>
      </p:sp>
      <p:sp>
        <p:nvSpPr>
          <p:cNvPr id="21" name="Text 19"/>
          <p:cNvSpPr txBox="1"/>
          <p:nvPr/>
        </p:nvSpPr>
        <p:spPr>
          <a:xfrm>
            <a:off x="8347253" y="2909824"/>
            <a:ext cx="3076346" cy="884936"/>
          </a:xfrm>
          <a:prstGeom prst="rect">
            <a:avLst/>
          </a:prstGeom>
          <a:noFill/>
          <a:ln/>
        </p:spPr>
        <p:txBody>
          <a:bodyPr wrap="square" lIns="0" tIns="0" rIns="0" bIns="0" rtlCol="0" anchor="t"/>
          <a:lstStyle/>
          <a:p>
            <a:pPr indent="0" marL="0">
              <a:lnSpc>
                <a:spcPct val="106000"/>
              </a:lnSpc>
              <a:buNone/>
            </a:pPr>
            <a:r>
              <a:rPr lang="en-US" sz="1000" dirty="0">
                <a:solidFill>
                  <a:srgbClr val="22333B"/>
                </a:solidFill>
                <a:latin typeface="Calibri" pitchFamily="34" charset="0"/>
                <a:ea typeface="Calibri" pitchFamily="34" charset="-122"/>
                <a:cs typeface="Calibri" pitchFamily="34" charset="-120"/>
              </a:rPr>
              <a:t>Published anomaly lists, known vulnerabilities, support status, licence terms. Evaluate whether known defects could contribute to a hazardous situation in YOUR use of it.</a:t>
            </a:r>
            <a:endParaRPr lang="en-US" sz="1000" dirty="0"/>
          </a:p>
        </p:txBody>
      </p:sp>
      <p:sp>
        <p:nvSpPr>
          <p:cNvPr id="22" name="Shape 20"/>
          <p:cNvSpPr/>
          <p:nvPr/>
        </p:nvSpPr>
        <p:spPr>
          <a:xfrm>
            <a:off x="548640" y="4215384"/>
            <a:ext cx="3515258" cy="2039112"/>
          </a:xfrm>
          <a:prstGeom prst="roundRect">
            <a:avLst>
              <a:gd name="adj" fmla="val 3139"/>
            </a:avLst>
          </a:prstGeom>
          <a:solidFill>
            <a:srgbClr val="F1F5F6"/>
          </a:solidFill>
          <a:ln w="12700">
            <a:solidFill>
              <a:srgbClr val="D7E2E5"/>
            </a:solidFill>
            <a:prstDash val="solid"/>
          </a:ln>
        </p:spPr>
      </p:sp>
      <p:sp>
        <p:nvSpPr>
          <p:cNvPr id="23" name="Shape 21"/>
          <p:cNvSpPr/>
          <p:nvPr/>
        </p:nvSpPr>
        <p:spPr>
          <a:xfrm>
            <a:off x="768096" y="4416552"/>
            <a:ext cx="365760" cy="365760"/>
          </a:xfrm>
          <a:prstGeom prst="ellipse">
            <a:avLst/>
          </a:prstGeom>
          <a:solidFill>
            <a:srgbClr val="A83A3C"/>
          </a:solidFill>
          <a:ln w="12700">
            <a:solidFill>
              <a:srgbClr val="A83A3C"/>
            </a:solidFill>
            <a:prstDash val="solid"/>
          </a:ln>
        </p:spPr>
      </p:sp>
      <p:sp>
        <p:nvSpPr>
          <p:cNvPr id="24" name="Text 22"/>
          <p:cNvSpPr txBox="1"/>
          <p:nvPr/>
        </p:nvSpPr>
        <p:spPr>
          <a:xfrm>
            <a:off x="768096" y="44165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768096" y="4892040"/>
            <a:ext cx="3076346" cy="294640"/>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Verify it in your context</a:t>
            </a:r>
            <a:endParaRPr lang="en-US" sz="1300" dirty="0"/>
          </a:p>
        </p:txBody>
      </p:sp>
      <p:sp>
        <p:nvSpPr>
          <p:cNvPr id="26" name="Text 24"/>
          <p:cNvSpPr txBox="1"/>
          <p:nvPr/>
        </p:nvSpPr>
        <p:spPr>
          <a:xfrm>
            <a:off x="768096" y="5223256"/>
            <a:ext cx="3076346" cy="884936"/>
          </a:xfrm>
          <a:prstGeom prst="rect">
            <a:avLst/>
          </a:prstGeom>
          <a:noFill/>
          <a:ln/>
        </p:spPr>
        <p:txBody>
          <a:bodyPr wrap="square" lIns="0" tIns="0" rIns="0" bIns="0" rtlCol="0" anchor="t"/>
          <a:lstStyle/>
          <a:p>
            <a:pPr indent="0" marL="0">
              <a:lnSpc>
                <a:spcPct val="106000"/>
              </a:lnSpc>
              <a:buNone/>
            </a:pPr>
            <a:r>
              <a:rPr lang="en-US" sz="1000" dirty="0">
                <a:solidFill>
                  <a:srgbClr val="22333B"/>
                </a:solidFill>
                <a:latin typeface="Calibri" pitchFamily="34" charset="0"/>
                <a:ea typeface="Calibri" pitchFamily="34" charset="-122"/>
                <a:cs typeface="Calibri" pitchFamily="34" charset="-120"/>
              </a:rPr>
              <a:t>The component's own test suite is not your verification. You must demonstrate it behaves as required within your architecture, at your boundaries, under your error conditions.</a:t>
            </a:r>
            <a:endParaRPr lang="en-US" sz="1000" dirty="0"/>
          </a:p>
        </p:txBody>
      </p:sp>
      <p:sp>
        <p:nvSpPr>
          <p:cNvPr id="27" name="Shape 25"/>
          <p:cNvSpPr/>
          <p:nvPr/>
        </p:nvSpPr>
        <p:spPr>
          <a:xfrm>
            <a:off x="4338218" y="4215384"/>
            <a:ext cx="3515258" cy="2039112"/>
          </a:xfrm>
          <a:prstGeom prst="roundRect">
            <a:avLst>
              <a:gd name="adj" fmla="val 3139"/>
            </a:avLst>
          </a:prstGeom>
          <a:solidFill>
            <a:srgbClr val="F1F5F6"/>
          </a:solidFill>
          <a:ln w="12700">
            <a:solidFill>
              <a:srgbClr val="D7E2E5"/>
            </a:solidFill>
            <a:prstDash val="solid"/>
          </a:ln>
        </p:spPr>
      </p:sp>
      <p:sp>
        <p:nvSpPr>
          <p:cNvPr id="28" name="Shape 26"/>
          <p:cNvSpPr/>
          <p:nvPr/>
        </p:nvSpPr>
        <p:spPr>
          <a:xfrm>
            <a:off x="4557674" y="4416552"/>
            <a:ext cx="365760" cy="365760"/>
          </a:xfrm>
          <a:prstGeom prst="ellipse">
            <a:avLst/>
          </a:prstGeom>
          <a:solidFill>
            <a:srgbClr val="0E7C7B"/>
          </a:solidFill>
          <a:ln w="12700">
            <a:solidFill>
              <a:srgbClr val="0E7C7B"/>
            </a:solidFill>
            <a:prstDash val="solid"/>
          </a:ln>
        </p:spPr>
      </p:sp>
      <p:sp>
        <p:nvSpPr>
          <p:cNvPr id="29" name="Text 27"/>
          <p:cNvSpPr txBox="1"/>
          <p:nvPr/>
        </p:nvSpPr>
        <p:spPr>
          <a:xfrm>
            <a:off x="4557674" y="44165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4557674" y="4892040"/>
            <a:ext cx="3076346" cy="294640"/>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Plan for its lifecycle</a:t>
            </a:r>
            <a:endParaRPr lang="en-US" sz="1300" dirty="0"/>
          </a:p>
        </p:txBody>
      </p:sp>
      <p:sp>
        <p:nvSpPr>
          <p:cNvPr id="31" name="Text 29"/>
          <p:cNvSpPr txBox="1"/>
          <p:nvPr/>
        </p:nvSpPr>
        <p:spPr>
          <a:xfrm>
            <a:off x="4557674" y="5223256"/>
            <a:ext cx="3076346" cy="884936"/>
          </a:xfrm>
          <a:prstGeom prst="rect">
            <a:avLst/>
          </a:prstGeom>
          <a:noFill/>
          <a:ln/>
        </p:spPr>
        <p:txBody>
          <a:bodyPr wrap="square" lIns="0" tIns="0" rIns="0" bIns="0" rtlCol="0" anchor="t"/>
          <a:lstStyle/>
          <a:p>
            <a:pPr indent="0" marL="0">
              <a:lnSpc>
                <a:spcPct val="106000"/>
              </a:lnSpc>
              <a:buNone/>
            </a:pPr>
            <a:r>
              <a:rPr lang="en-US" sz="1000" dirty="0">
                <a:solidFill>
                  <a:srgbClr val="22333B"/>
                </a:solidFill>
                <a:latin typeface="Calibri" pitchFamily="34" charset="0"/>
                <a:ea typeface="Calibri" pitchFamily="34" charset="-122"/>
                <a:cs typeface="Calibri" pitchFamily="34" charset="-120"/>
              </a:rPr>
              <a:t>Who monitors upstream for defects and CVEs? What triggers an upgrade? What is your path when the project is abandoned, or the vendor ends support before you end service?</a:t>
            </a:r>
            <a:endParaRPr lang="en-US" sz="1000" dirty="0"/>
          </a:p>
        </p:txBody>
      </p:sp>
      <p:sp>
        <p:nvSpPr>
          <p:cNvPr id="32" name="Shape 30"/>
          <p:cNvSpPr/>
          <p:nvPr/>
        </p:nvSpPr>
        <p:spPr>
          <a:xfrm>
            <a:off x="8127797" y="4215384"/>
            <a:ext cx="3515258" cy="2039112"/>
          </a:xfrm>
          <a:prstGeom prst="roundRect">
            <a:avLst>
              <a:gd name="adj" fmla="val 3139"/>
            </a:avLst>
          </a:prstGeom>
          <a:solidFill>
            <a:srgbClr val="F1F5F6"/>
          </a:solidFill>
          <a:ln w="12700">
            <a:solidFill>
              <a:srgbClr val="D7E2E5"/>
            </a:solidFill>
            <a:prstDash val="solid"/>
          </a:ln>
        </p:spPr>
      </p:sp>
      <p:sp>
        <p:nvSpPr>
          <p:cNvPr id="33" name="Shape 31"/>
          <p:cNvSpPr/>
          <p:nvPr/>
        </p:nvSpPr>
        <p:spPr>
          <a:xfrm>
            <a:off x="8347253" y="4416552"/>
            <a:ext cx="365760" cy="365760"/>
          </a:xfrm>
          <a:prstGeom prst="ellipse">
            <a:avLst/>
          </a:prstGeom>
          <a:solidFill>
            <a:srgbClr val="2A9D8F"/>
          </a:solidFill>
          <a:ln w="12700">
            <a:solidFill>
              <a:srgbClr val="2A9D8F"/>
            </a:solidFill>
            <a:prstDash val="solid"/>
          </a:ln>
        </p:spPr>
      </p:sp>
      <p:sp>
        <p:nvSpPr>
          <p:cNvPr id="34" name="Text 32"/>
          <p:cNvSpPr txBox="1"/>
          <p:nvPr/>
        </p:nvSpPr>
        <p:spPr>
          <a:xfrm>
            <a:off x="8347253" y="44165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Text 33"/>
          <p:cNvSpPr txBox="1"/>
          <p:nvPr/>
        </p:nvSpPr>
        <p:spPr>
          <a:xfrm>
            <a:off x="8347253" y="4892040"/>
            <a:ext cx="3076346" cy="294640"/>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Control the version</a:t>
            </a:r>
            <a:endParaRPr lang="en-US" sz="1300" dirty="0"/>
          </a:p>
        </p:txBody>
      </p:sp>
      <p:sp>
        <p:nvSpPr>
          <p:cNvPr id="36" name="Text 34"/>
          <p:cNvSpPr txBox="1"/>
          <p:nvPr/>
        </p:nvSpPr>
        <p:spPr>
          <a:xfrm>
            <a:off x="8347253" y="5223256"/>
            <a:ext cx="3076346" cy="884936"/>
          </a:xfrm>
          <a:prstGeom prst="rect">
            <a:avLst/>
          </a:prstGeom>
          <a:noFill/>
          <a:ln/>
        </p:spPr>
        <p:txBody>
          <a:bodyPr wrap="square" lIns="0" tIns="0" rIns="0" bIns="0" rtlCol="0" anchor="t"/>
          <a:lstStyle/>
          <a:p>
            <a:pPr indent="0" marL="0">
              <a:lnSpc>
                <a:spcPct val="106000"/>
              </a:lnSpc>
              <a:buNone/>
            </a:pPr>
            <a:r>
              <a:rPr lang="en-US" sz="1000" dirty="0">
                <a:solidFill>
                  <a:srgbClr val="22333B"/>
                </a:solidFill>
                <a:latin typeface="Calibri" pitchFamily="34" charset="0"/>
                <a:ea typeface="Calibri" pitchFamily="34" charset="-122"/>
                <a:cs typeface="Calibri" pitchFamily="34" charset="-120"/>
              </a:rPr>
              <a:t>Pinned, recorded in configuration management, and reproducible in the build. 'Latest' is not a version, and a floating dependency means the device you validated is not the device you shipped.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MAINTENANCE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Change control: the question after every change</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23</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Two decisions, made every time, and documented: what do we re-validate, and does this need a new submission?</a:t>
            </a:r>
            <a:endParaRPr lang="en-US" sz="1400" dirty="0"/>
          </a:p>
        </p:txBody>
      </p:sp>
      <p:sp>
        <p:nvSpPr>
          <p:cNvPr id="7" name="Text 5"/>
          <p:cNvSpPr txBox="1"/>
          <p:nvPr/>
        </p:nvSpPr>
        <p:spPr>
          <a:xfrm>
            <a:off x="548640" y="1828800"/>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DECISION 1 — VALIDATION SCOPE</a:t>
            </a:r>
            <a:endParaRPr lang="en-US" sz="1100" dirty="0"/>
          </a:p>
        </p:txBody>
      </p:sp>
      <p:sp>
        <p:nvSpPr>
          <p:cNvPr id="8" name="Shape 6"/>
          <p:cNvSpPr/>
          <p:nvPr/>
        </p:nvSpPr>
        <p:spPr>
          <a:xfrm>
            <a:off x="548640" y="2139696"/>
            <a:ext cx="5394960" cy="3566160"/>
          </a:xfrm>
          <a:prstGeom prst="roundRect">
            <a:avLst>
              <a:gd name="adj" fmla="val 1795"/>
            </a:avLst>
          </a:prstGeom>
          <a:solidFill>
            <a:srgbClr val="F1F5F6"/>
          </a:solidFill>
          <a:ln w="12700">
            <a:solidFill>
              <a:srgbClr val="D7E2E5"/>
            </a:solidFill>
            <a:prstDash val="solid"/>
          </a:ln>
        </p:spPr>
      </p:sp>
      <p:sp>
        <p:nvSpPr>
          <p:cNvPr id="9" name="Text 7"/>
          <p:cNvSpPr txBox="1"/>
          <p:nvPr/>
        </p:nvSpPr>
        <p:spPr>
          <a:xfrm>
            <a:off x="786384" y="2322576"/>
            <a:ext cx="4919472" cy="320040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Start from impact analysis, not from the size of the diff.</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 one-line change to a dose-calculation routine has wider impact than a 3,000-line change to a reporting module.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Ask what the change can reach.</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Which requirements, which risk controls, which interfaces, which SOUP items? The traceability matrix from slide 20 is what makes this answerable in minutes rather than weeks.</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Re-run risk management, not just tests.</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 change can introduce a new hazardous situation, or invalidate an existing risk control. ISO 14971 is a lifecycle process, not a design-phase deliverable.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Security patches are changes too.</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They go through this same process. Urgency is a reason to have a fast path prepared in advance — never a reason to bypass one.</a:t>
            </a:r>
            <a:endParaRPr lang="en-US" sz="1080" dirty="0"/>
          </a:p>
        </p:txBody>
      </p:sp>
      <p:sp>
        <p:nvSpPr>
          <p:cNvPr id="10" name="Text 8"/>
          <p:cNvSpPr txBox="1"/>
          <p:nvPr/>
        </p:nvSpPr>
        <p:spPr>
          <a:xfrm>
            <a:off x="6245352" y="1828800"/>
            <a:ext cx="5394960" cy="256032"/>
          </a:xfrm>
          <a:prstGeom prst="rect">
            <a:avLst/>
          </a:prstGeom>
          <a:noFill/>
          <a:ln/>
        </p:spPr>
        <p:txBody>
          <a:bodyPr wrap="square" lIns="0" tIns="0" rIns="0" bIns="0" rtlCol="0" anchor="ctr"/>
          <a:lstStyle/>
          <a:p>
            <a:pPr indent="0" marL="0">
              <a:buNone/>
            </a:pPr>
            <a:r>
              <a:rPr lang="en-US" sz="1100" b="1" spc="120" kern="0" dirty="0">
                <a:solidFill>
                  <a:srgbClr val="A83A3C"/>
                </a:solidFill>
                <a:latin typeface="Calibri" pitchFamily="34" charset="0"/>
                <a:ea typeface="Calibri" pitchFamily="34" charset="-122"/>
                <a:cs typeface="Calibri" pitchFamily="34" charset="-120"/>
              </a:rPr>
              <a:t>DECISION 2 — DOES IT NEED A NEW 510(K)?</a:t>
            </a:r>
            <a:endParaRPr lang="en-US" sz="1100" dirty="0"/>
          </a:p>
        </p:txBody>
      </p:sp>
      <p:sp>
        <p:nvSpPr>
          <p:cNvPr id="11" name="Shape 9"/>
          <p:cNvSpPr/>
          <p:nvPr/>
        </p:nvSpPr>
        <p:spPr>
          <a:xfrm>
            <a:off x="6245352" y="2139696"/>
            <a:ext cx="5394960" cy="3566160"/>
          </a:xfrm>
          <a:prstGeom prst="roundRect">
            <a:avLst>
              <a:gd name="adj" fmla="val 1795"/>
            </a:avLst>
          </a:prstGeom>
          <a:solidFill>
            <a:srgbClr val="FBEDED"/>
          </a:solidFill>
          <a:ln w="12700">
            <a:solidFill>
              <a:srgbClr val="DFA9A9"/>
            </a:solidFill>
            <a:prstDash val="solid"/>
          </a:ln>
        </p:spPr>
      </p:sp>
      <p:sp>
        <p:nvSpPr>
          <p:cNvPr id="12" name="Text 10"/>
          <p:cNvSpPr txBox="1"/>
          <p:nvPr/>
        </p:nvSpPr>
        <p:spPr>
          <a:xfrm>
            <a:off x="6483096" y="2322576"/>
            <a:ext cx="4919472" cy="320040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FDA's 2017 software-modification guidance is the framework.</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Work its logic: could the change significantly affect safety or effectiveness? Is it a change made to address a safety issue? Does it introduce a new risk or modify an existing risk control?</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Document the decision either way.</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 well-reasoned 'no new 510(k) required' memo, retained in the DHF, is exactly what an investigator asks to see. A change with no recorded decision looks like a decision nobody made.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Beware accumulation.</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Ten changes that each individually fall below the threshold can collectively cross it. Assess against the last cleared version, not against last month's build.</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Or pre-authorise the change.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That is what a PCCP is for — next slide.</a:t>
            </a:r>
            <a:endParaRPr lang="en-US" sz="10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PREDETERMINED CHANGE CONTROL PLAN</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PCCP: pre-authorising your own future changes</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24</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Agree the envelope with FDA up front, then change within it without a new submission each time.</a:t>
            </a:r>
            <a:endParaRPr lang="en-US" sz="1400" dirty="0"/>
          </a:p>
        </p:txBody>
      </p:sp>
      <p:sp>
        <p:nvSpPr>
          <p:cNvPr id="7" name="Shape 5"/>
          <p:cNvSpPr/>
          <p:nvPr/>
        </p:nvSpPr>
        <p:spPr>
          <a:xfrm>
            <a:off x="548640" y="1883664"/>
            <a:ext cx="3515258" cy="2651760"/>
          </a:xfrm>
          <a:prstGeom prst="roundRect">
            <a:avLst>
              <a:gd name="adj" fmla="val 2414"/>
            </a:avLst>
          </a:prstGeom>
          <a:solidFill>
            <a:srgbClr val="F1F5F6"/>
          </a:solidFill>
          <a:ln w="12700">
            <a:solidFill>
              <a:srgbClr val="D7E2E5"/>
            </a:solidFill>
            <a:prstDash val="solid"/>
          </a:ln>
        </p:spPr>
      </p:sp>
      <p:sp>
        <p:nvSpPr>
          <p:cNvPr id="8" name="Shape 6"/>
          <p:cNvSpPr/>
          <p:nvPr/>
        </p:nvSpPr>
        <p:spPr>
          <a:xfrm>
            <a:off x="768096" y="2084832"/>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560320"/>
            <a:ext cx="3076346" cy="315976"/>
          </a:xfrm>
          <a:prstGeom prst="rect">
            <a:avLst/>
          </a:prstGeom>
          <a:noFill/>
          <a:ln/>
        </p:spPr>
        <p:txBody>
          <a:bodyPr wrap="square" lIns="0" tIns="0" rIns="0" bIns="0" rtlCol="0" anchor="t"/>
          <a:lstStyle/>
          <a:p>
            <a:pPr indent="0" marL="0">
              <a:buNone/>
            </a:pPr>
            <a:r>
              <a:rPr lang="en-US" sz="1450" b="1" dirty="0">
                <a:solidFill>
                  <a:srgbClr val="1B3A4B"/>
                </a:solidFill>
                <a:latin typeface="Calibri" pitchFamily="34" charset="0"/>
                <a:ea typeface="Calibri" pitchFamily="34" charset="-122"/>
                <a:cs typeface="Calibri" pitchFamily="34" charset="-120"/>
              </a:rPr>
              <a:t>Description of modifications</a:t>
            </a:r>
            <a:endParaRPr lang="en-US" sz="1450" dirty="0"/>
          </a:p>
        </p:txBody>
      </p:sp>
      <p:sp>
        <p:nvSpPr>
          <p:cNvPr id="11" name="Text 9"/>
          <p:cNvSpPr txBox="1"/>
          <p:nvPr/>
        </p:nvSpPr>
        <p:spPr>
          <a:xfrm>
            <a:off x="768096" y="2912872"/>
            <a:ext cx="3076346" cy="1476248"/>
          </a:xfrm>
          <a:prstGeom prst="rect">
            <a:avLst/>
          </a:prstGeom>
          <a:noFill/>
          <a:ln/>
        </p:spPr>
        <p:txBody>
          <a:bodyPr wrap="square" lIns="0" tIns="0" rIns="0" bIns="0" rtlCol="0" anchor="t"/>
          <a:lstStyle/>
          <a:p>
            <a:pPr indent="0" marL="0">
              <a:lnSpc>
                <a:spcPct val="106000"/>
              </a:lnSpc>
              <a:buNone/>
            </a:pPr>
            <a:r>
              <a:rPr lang="en-US" sz="1120" dirty="0">
                <a:solidFill>
                  <a:srgbClr val="22333B"/>
                </a:solidFill>
                <a:latin typeface="Calibri" pitchFamily="34" charset="0"/>
                <a:ea typeface="Calibri" pitchFamily="34" charset="-122"/>
                <a:cs typeface="Calibri" pitchFamily="34" charset="-120"/>
              </a:rPr>
              <a:t>Precisely what you intend to change — specific and bounded. 'We will improve the algorithm' is not a description. Performance thresholds, input types, supported populations, retraining triggers: name them.</a:t>
            </a:r>
            <a:endParaRPr lang="en-US" sz="1120" dirty="0"/>
          </a:p>
        </p:txBody>
      </p:sp>
      <p:sp>
        <p:nvSpPr>
          <p:cNvPr id="12" name="Shape 10"/>
          <p:cNvSpPr/>
          <p:nvPr/>
        </p:nvSpPr>
        <p:spPr>
          <a:xfrm>
            <a:off x="4338218" y="1883664"/>
            <a:ext cx="3515258" cy="2651760"/>
          </a:xfrm>
          <a:prstGeom prst="roundRect">
            <a:avLst>
              <a:gd name="adj" fmla="val 2414"/>
            </a:avLst>
          </a:prstGeom>
          <a:solidFill>
            <a:srgbClr val="F1F5F6"/>
          </a:solidFill>
          <a:ln w="12700">
            <a:solidFill>
              <a:srgbClr val="D7E2E5"/>
            </a:solidFill>
            <a:prstDash val="solid"/>
          </a:ln>
        </p:spPr>
      </p:sp>
      <p:sp>
        <p:nvSpPr>
          <p:cNvPr id="13" name="Shape 11"/>
          <p:cNvSpPr/>
          <p:nvPr/>
        </p:nvSpPr>
        <p:spPr>
          <a:xfrm>
            <a:off x="4557674" y="2084832"/>
            <a:ext cx="365760" cy="365760"/>
          </a:xfrm>
          <a:prstGeom prst="ellipse">
            <a:avLst/>
          </a:prstGeom>
          <a:solidFill>
            <a:srgbClr val="2A9D8F"/>
          </a:solidFill>
          <a:ln w="12700">
            <a:solidFill>
              <a:srgbClr val="2A9D8F"/>
            </a:solidFill>
            <a:prstDash val="solid"/>
          </a:ln>
        </p:spPr>
      </p:sp>
      <p:sp>
        <p:nvSpPr>
          <p:cNvPr id="14" name="Text 12"/>
          <p:cNvSpPr txBox="1"/>
          <p:nvPr/>
        </p:nvSpPr>
        <p:spPr>
          <a:xfrm>
            <a:off x="4557674"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4557674" y="2560320"/>
            <a:ext cx="3076346" cy="315976"/>
          </a:xfrm>
          <a:prstGeom prst="rect">
            <a:avLst/>
          </a:prstGeom>
          <a:noFill/>
          <a:ln/>
        </p:spPr>
        <p:txBody>
          <a:bodyPr wrap="square" lIns="0" tIns="0" rIns="0" bIns="0" rtlCol="0" anchor="t"/>
          <a:lstStyle/>
          <a:p>
            <a:pPr indent="0" marL="0">
              <a:buNone/>
            </a:pPr>
            <a:r>
              <a:rPr lang="en-US" sz="1450" b="1" dirty="0">
                <a:solidFill>
                  <a:srgbClr val="1B3A4B"/>
                </a:solidFill>
                <a:latin typeface="Calibri" pitchFamily="34" charset="0"/>
                <a:ea typeface="Calibri" pitchFamily="34" charset="-122"/>
                <a:cs typeface="Calibri" pitchFamily="34" charset="-120"/>
              </a:rPr>
              <a:t>Modification protocol</a:t>
            </a:r>
            <a:endParaRPr lang="en-US" sz="1450" dirty="0"/>
          </a:p>
        </p:txBody>
      </p:sp>
      <p:sp>
        <p:nvSpPr>
          <p:cNvPr id="16" name="Text 14"/>
          <p:cNvSpPr txBox="1"/>
          <p:nvPr/>
        </p:nvSpPr>
        <p:spPr>
          <a:xfrm>
            <a:off x="4557674" y="2912872"/>
            <a:ext cx="3076346" cy="1476248"/>
          </a:xfrm>
          <a:prstGeom prst="rect">
            <a:avLst/>
          </a:prstGeom>
          <a:noFill/>
          <a:ln/>
        </p:spPr>
        <p:txBody>
          <a:bodyPr wrap="square" lIns="0" tIns="0" rIns="0" bIns="0" rtlCol="0" anchor="t"/>
          <a:lstStyle/>
          <a:p>
            <a:pPr indent="0" marL="0">
              <a:lnSpc>
                <a:spcPct val="106000"/>
              </a:lnSpc>
              <a:buNone/>
            </a:pPr>
            <a:r>
              <a:rPr lang="en-US" sz="1120" dirty="0">
                <a:solidFill>
                  <a:srgbClr val="22333B"/>
                </a:solidFill>
                <a:latin typeface="Calibri" pitchFamily="34" charset="0"/>
                <a:ea typeface="Calibri" pitchFamily="34" charset="-122"/>
                <a:cs typeface="Calibri" pitchFamily="34" charset="-120"/>
              </a:rPr>
              <a:t>How each change will be developed, validated and implemented. Data management, retraining procedure, acceptance criteria, statistical methods, update and rollback procedure.</a:t>
            </a:r>
            <a:endParaRPr lang="en-US" sz="1120" dirty="0"/>
          </a:p>
        </p:txBody>
      </p:sp>
      <p:sp>
        <p:nvSpPr>
          <p:cNvPr id="17" name="Shape 15"/>
          <p:cNvSpPr/>
          <p:nvPr/>
        </p:nvSpPr>
        <p:spPr>
          <a:xfrm>
            <a:off x="8127797" y="1883664"/>
            <a:ext cx="3515258" cy="2651760"/>
          </a:xfrm>
          <a:prstGeom prst="roundRect">
            <a:avLst>
              <a:gd name="adj" fmla="val 2414"/>
            </a:avLst>
          </a:prstGeom>
          <a:solidFill>
            <a:srgbClr val="F1F5F6"/>
          </a:solidFill>
          <a:ln w="12700">
            <a:solidFill>
              <a:srgbClr val="D7E2E5"/>
            </a:solidFill>
            <a:prstDash val="solid"/>
          </a:ln>
        </p:spPr>
      </p:sp>
      <p:sp>
        <p:nvSpPr>
          <p:cNvPr id="18" name="Shape 16"/>
          <p:cNvSpPr/>
          <p:nvPr/>
        </p:nvSpPr>
        <p:spPr>
          <a:xfrm>
            <a:off x="8347253" y="2084832"/>
            <a:ext cx="365760" cy="365760"/>
          </a:xfrm>
          <a:prstGeom prst="ellipse">
            <a:avLst/>
          </a:prstGeom>
          <a:solidFill>
            <a:srgbClr val="C77C1E"/>
          </a:solidFill>
          <a:ln w="12700">
            <a:solidFill>
              <a:srgbClr val="C77C1E"/>
            </a:solidFill>
            <a:prstDash val="solid"/>
          </a:ln>
        </p:spPr>
      </p:sp>
      <p:sp>
        <p:nvSpPr>
          <p:cNvPr id="19" name="Text 17"/>
          <p:cNvSpPr txBox="1"/>
          <p:nvPr/>
        </p:nvSpPr>
        <p:spPr>
          <a:xfrm>
            <a:off x="8347253"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347253" y="2560320"/>
            <a:ext cx="3076346" cy="315976"/>
          </a:xfrm>
          <a:prstGeom prst="rect">
            <a:avLst/>
          </a:prstGeom>
          <a:noFill/>
          <a:ln/>
        </p:spPr>
        <p:txBody>
          <a:bodyPr wrap="square" lIns="0" tIns="0" rIns="0" bIns="0" rtlCol="0" anchor="t"/>
          <a:lstStyle/>
          <a:p>
            <a:pPr indent="0" marL="0">
              <a:buNone/>
            </a:pPr>
            <a:r>
              <a:rPr lang="en-US" sz="1450" b="1" dirty="0">
                <a:solidFill>
                  <a:srgbClr val="1B3A4B"/>
                </a:solidFill>
                <a:latin typeface="Calibri" pitchFamily="34" charset="0"/>
                <a:ea typeface="Calibri" pitchFamily="34" charset="-122"/>
                <a:cs typeface="Calibri" pitchFamily="34" charset="-120"/>
              </a:rPr>
              <a:t>Impact assessment</a:t>
            </a:r>
            <a:endParaRPr lang="en-US" sz="1450" dirty="0"/>
          </a:p>
        </p:txBody>
      </p:sp>
      <p:sp>
        <p:nvSpPr>
          <p:cNvPr id="21" name="Text 19"/>
          <p:cNvSpPr txBox="1"/>
          <p:nvPr/>
        </p:nvSpPr>
        <p:spPr>
          <a:xfrm>
            <a:off x="8347253" y="2912872"/>
            <a:ext cx="3076346" cy="1476248"/>
          </a:xfrm>
          <a:prstGeom prst="rect">
            <a:avLst/>
          </a:prstGeom>
          <a:noFill/>
          <a:ln/>
        </p:spPr>
        <p:txBody>
          <a:bodyPr wrap="square" lIns="0" tIns="0" rIns="0" bIns="0" rtlCol="0" anchor="t"/>
          <a:lstStyle/>
          <a:p>
            <a:pPr indent="0" marL="0">
              <a:lnSpc>
                <a:spcPct val="106000"/>
              </a:lnSpc>
              <a:buNone/>
            </a:pPr>
            <a:r>
              <a:rPr lang="en-US" sz="1120" dirty="0">
                <a:solidFill>
                  <a:srgbClr val="22333B"/>
                </a:solidFill>
                <a:latin typeface="Calibri" pitchFamily="34" charset="0"/>
                <a:ea typeface="Calibri" pitchFamily="34" charset="-122"/>
                <a:cs typeface="Calibri" pitchFamily="34" charset="-120"/>
              </a:rPr>
              <a:t>The benefit-risk analysis of changing within the envelope, including how you verify the change did not degrade performance for any subgroup, and what you do if it did.</a:t>
            </a:r>
            <a:endParaRPr lang="en-US" sz="1120" dirty="0"/>
          </a:p>
        </p:txBody>
      </p:sp>
      <p:sp>
        <p:nvSpPr>
          <p:cNvPr id="22" name="Shape 20"/>
          <p:cNvSpPr/>
          <p:nvPr/>
        </p:nvSpPr>
        <p:spPr>
          <a:xfrm>
            <a:off x="548640" y="4956048"/>
            <a:ext cx="11094415" cy="1170432"/>
          </a:xfrm>
          <a:prstGeom prst="roundRect">
            <a:avLst>
              <a:gd name="adj" fmla="val 5469"/>
            </a:avLst>
          </a:prstGeom>
          <a:solidFill>
            <a:srgbClr val="EAF3F2"/>
          </a:solidFill>
          <a:ln w="12700">
            <a:solidFill>
              <a:srgbClr val="BFD9D6"/>
            </a:solidFill>
            <a:prstDash val="solid"/>
          </a:ln>
        </p:spPr>
      </p:sp>
      <p:sp>
        <p:nvSpPr>
          <p:cNvPr id="23" name="Text 21"/>
          <p:cNvSpPr txBox="1"/>
          <p:nvPr/>
        </p:nvSpPr>
        <p:spPr>
          <a:xfrm>
            <a:off x="786384" y="5084064"/>
            <a:ext cx="10618927" cy="914400"/>
          </a:xfrm>
          <a:prstGeom prst="rect">
            <a:avLst/>
          </a:prstGeom>
          <a:noFill/>
          <a:ln/>
        </p:spPr>
        <p:txBody>
          <a:bodyPr wrap="square" lIns="0" tIns="0" rIns="0" bIns="0" rtlCol="0" anchor="t"/>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The discipline PCCP imposes is the real benefit.  </a:t>
            </a:r>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Writing a modification protocol forces a team to decide, in advance and in writing, what 'better' means, how it will be measured, and what threshold would make them roll back. Most teams have never written that down. FDA finalised the AI-enabled version in December 2024; confirm the scope of any companion guidance before relying on it for a non-AI device.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EMERGING</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AI/ML-enabled devices: what is genuinely different</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4415" cy="914400"/>
        </p:xfrm>
        <a:graphic>
          <a:graphicData uri="http://schemas.openxmlformats.org/drawingml/2006/table">
            <a:tbl>
              <a:tblPr/>
              <a:tblGrid>
                <a:gridCol w="2286000"/>
                <a:gridCol w="4434840"/>
                <a:gridCol w="4370832"/>
              </a:tblGrid>
              <a:tr h="7315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Issue</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 conventional validation does not cover it</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to do</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73152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The data IS the specification</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Behaviour is learned from the training set, not written in requirements. Defects are inherited from data rather than coded.</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Bring training, tuning and test data under configuration management. Document provenance, inclusion criteria, labelling process and inter-rater agreement.</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3152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Independence of test data</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Leakage between training and test sets inflates performance invisibly — same patient, same site, same scanner appearing on both sides.</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Enforce and evidence separation at the patient and site level. Hold out a genuinely independent set, and say how independence was assured.</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3152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Subgroup performance</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Aggregate accuracy can conceal materially worse performance for a subgroup — which is both a safety issue and an equity issue.</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Pre-specify clinically meaningful subgroups and report performance for each. Do not let a headline number stand in for the distribution.</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3152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Drift after deployment</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The population, the equipment and clinical practice all move. The model does not — so real-world performance can decay silently.</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Define monitoring, thresholds and the action you take when they are breached, before launch. This is a postmarket surveillance obligation, not an analytics project.</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731520">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Explaining the output</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Clinicians must be able to calibrate their trust. It also determines whether a CDS carve-out is even available to you.</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0" dirty="0">
                          <a:solidFill>
                            <a:srgbClr val="22333B"/>
                          </a:solidFill>
                          <a:latin typeface="Calibri" pitchFamily="34" charset="0"/>
                          <a:ea typeface="Calibri" pitchFamily="34" charset="-122"/>
                          <a:cs typeface="Calibri" pitchFamily="34" charset="-120"/>
                        </a:rPr>
                        <a:t>Design the output, the confidence representation and the labelling together. Test whether real users interpret them as you intend.</a:t>
                      </a:r>
                      <a:endParaRPr lang="en-US" sz="10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CONTINUOUS COMPLIANCE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Agile, CI/CD and cloud-hosted SaMD</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26</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tension is real, but it is not between speed and compliance. It is between automation and paperwork.</a:t>
            </a:r>
            <a:endParaRPr lang="en-US" sz="1400" dirty="0"/>
          </a:p>
        </p:txBody>
      </p:sp>
      <p:sp>
        <p:nvSpPr>
          <p:cNvPr id="7" name="Shape 5"/>
          <p:cNvSpPr/>
          <p:nvPr/>
        </p:nvSpPr>
        <p:spPr>
          <a:xfrm>
            <a:off x="548640" y="1847088"/>
            <a:ext cx="5410048" cy="1673352"/>
          </a:xfrm>
          <a:prstGeom prst="roundRect">
            <a:avLst>
              <a:gd name="adj" fmla="val 3825"/>
            </a:avLst>
          </a:prstGeom>
          <a:solidFill>
            <a:srgbClr val="F1F5F6"/>
          </a:solidFill>
          <a:ln w="12700">
            <a:solidFill>
              <a:srgbClr val="D7E2E5"/>
            </a:solidFill>
            <a:prstDash val="solid"/>
          </a:ln>
        </p:spPr>
      </p:sp>
      <p:sp>
        <p:nvSpPr>
          <p:cNvPr id="8" name="Text 6"/>
          <p:cNvSpPr txBox="1"/>
          <p:nvPr/>
        </p:nvSpPr>
        <p:spPr>
          <a:xfrm>
            <a:off x="768096" y="2048256"/>
            <a:ext cx="4971136" cy="337312"/>
          </a:xfrm>
          <a:prstGeom prst="rect">
            <a:avLst/>
          </a:prstGeom>
          <a:noFill/>
          <a:ln/>
        </p:spPr>
        <p:txBody>
          <a:bodyPr wrap="square" lIns="0" tIns="0" rIns="0" bIns="0" rtlCol="0" anchor="t"/>
          <a:lstStyle/>
          <a:p>
            <a:pPr indent="0" marL="0">
              <a:buNone/>
            </a:pPr>
            <a:r>
              <a:rPr lang="en-US" sz="1600" b="1" dirty="0">
                <a:solidFill>
                  <a:srgbClr val="0E7C7B"/>
                </a:solidFill>
                <a:latin typeface="Calibri" pitchFamily="34" charset="0"/>
                <a:ea typeface="Calibri" pitchFamily="34" charset="-122"/>
                <a:cs typeface="Calibri" pitchFamily="34" charset="-120"/>
              </a:rPr>
              <a:t>Automate the evidence</a:t>
            </a:r>
            <a:endParaRPr lang="en-US" sz="1600" dirty="0"/>
          </a:p>
        </p:txBody>
      </p:sp>
      <p:sp>
        <p:nvSpPr>
          <p:cNvPr id="9" name="Text 7"/>
          <p:cNvSpPr txBox="1"/>
          <p:nvPr/>
        </p:nvSpPr>
        <p:spPr>
          <a:xfrm>
            <a:off x="768096" y="2422144"/>
            <a:ext cx="4971136" cy="95199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If the pipeline runs the tests, it can produce the records: versions, results, timestamps, approvals, coverage against requirements. Evidence generated by the build is more trustworthy than evidence typed afterwards — and cheaper.</a:t>
            </a:r>
            <a:endParaRPr lang="en-US" sz="1150" dirty="0"/>
          </a:p>
        </p:txBody>
      </p:sp>
      <p:sp>
        <p:nvSpPr>
          <p:cNvPr id="10" name="Shape 8"/>
          <p:cNvSpPr/>
          <p:nvPr/>
        </p:nvSpPr>
        <p:spPr>
          <a:xfrm>
            <a:off x="6233008" y="1847088"/>
            <a:ext cx="5410048" cy="1673352"/>
          </a:xfrm>
          <a:prstGeom prst="roundRect">
            <a:avLst>
              <a:gd name="adj" fmla="val 3825"/>
            </a:avLst>
          </a:prstGeom>
          <a:solidFill>
            <a:srgbClr val="F1F5F6"/>
          </a:solidFill>
          <a:ln w="12700">
            <a:solidFill>
              <a:srgbClr val="D7E2E5"/>
            </a:solidFill>
            <a:prstDash val="solid"/>
          </a:ln>
        </p:spPr>
      </p:sp>
      <p:sp>
        <p:nvSpPr>
          <p:cNvPr id="11" name="Text 9"/>
          <p:cNvSpPr txBox="1"/>
          <p:nvPr/>
        </p:nvSpPr>
        <p:spPr>
          <a:xfrm>
            <a:off x="6452464" y="2048256"/>
            <a:ext cx="4971136" cy="337312"/>
          </a:xfrm>
          <a:prstGeom prst="rect">
            <a:avLst/>
          </a:prstGeom>
          <a:noFill/>
          <a:ln/>
        </p:spPr>
        <p:txBody>
          <a:bodyPr wrap="square" lIns="0" tIns="0" rIns="0" bIns="0" rtlCol="0" anchor="t"/>
          <a:lstStyle/>
          <a:p>
            <a:pPr indent="0" marL="0">
              <a:buNone/>
            </a:pPr>
            <a:r>
              <a:rPr lang="en-US" sz="1600" b="1" dirty="0">
                <a:solidFill>
                  <a:srgbClr val="2A9D8F"/>
                </a:solidFill>
                <a:latin typeface="Calibri" pitchFamily="34" charset="0"/>
                <a:ea typeface="Calibri" pitchFamily="34" charset="-122"/>
                <a:cs typeface="Calibri" pitchFamily="34" charset="-120"/>
              </a:rPr>
              <a:t>Define the release gate</a:t>
            </a:r>
            <a:endParaRPr lang="en-US" sz="1600" dirty="0"/>
          </a:p>
        </p:txBody>
      </p:sp>
      <p:sp>
        <p:nvSpPr>
          <p:cNvPr id="12" name="Text 10"/>
          <p:cNvSpPr txBox="1"/>
          <p:nvPr/>
        </p:nvSpPr>
        <p:spPr>
          <a:xfrm>
            <a:off x="6452464" y="2422144"/>
            <a:ext cx="4971136" cy="95199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Not every commit is a release. Draw the line explicitly: what must be true before a build can reach a patient? Regression suite green, risk file reviewed, anomalies dispositioned, release approved and archived.</a:t>
            </a:r>
            <a:endParaRPr lang="en-US" sz="1150" dirty="0"/>
          </a:p>
        </p:txBody>
      </p:sp>
      <p:sp>
        <p:nvSpPr>
          <p:cNvPr id="13" name="Shape 11"/>
          <p:cNvSpPr/>
          <p:nvPr/>
        </p:nvSpPr>
        <p:spPr>
          <a:xfrm>
            <a:off x="548640" y="3794760"/>
            <a:ext cx="5410048" cy="1673352"/>
          </a:xfrm>
          <a:prstGeom prst="roundRect">
            <a:avLst>
              <a:gd name="adj" fmla="val 3825"/>
            </a:avLst>
          </a:prstGeom>
          <a:solidFill>
            <a:srgbClr val="F1F5F6"/>
          </a:solidFill>
          <a:ln w="12700">
            <a:solidFill>
              <a:srgbClr val="D7E2E5"/>
            </a:solidFill>
            <a:prstDash val="solid"/>
          </a:ln>
        </p:spPr>
      </p:sp>
      <p:sp>
        <p:nvSpPr>
          <p:cNvPr id="14" name="Text 12"/>
          <p:cNvSpPr txBox="1"/>
          <p:nvPr/>
        </p:nvSpPr>
        <p:spPr>
          <a:xfrm>
            <a:off x="768096" y="3995928"/>
            <a:ext cx="4971136" cy="337312"/>
          </a:xfrm>
          <a:prstGeom prst="rect">
            <a:avLst/>
          </a:prstGeom>
          <a:noFill/>
          <a:ln/>
        </p:spPr>
        <p:txBody>
          <a:bodyPr wrap="square" lIns="0" tIns="0" rIns="0" bIns="0" rtlCol="0" anchor="t"/>
          <a:lstStyle/>
          <a:p>
            <a:pPr indent="0" marL="0">
              <a:buNone/>
            </a:pPr>
            <a:r>
              <a:rPr lang="en-US" sz="1600" b="1" dirty="0">
                <a:solidFill>
                  <a:srgbClr val="C77C1E"/>
                </a:solidFill>
                <a:latin typeface="Calibri" pitchFamily="34" charset="0"/>
                <a:ea typeface="Calibri" pitchFamily="34" charset="-122"/>
                <a:cs typeface="Calibri" pitchFamily="34" charset="-120"/>
              </a:rPr>
              <a:t>Own your cloud dependencies</a:t>
            </a:r>
            <a:endParaRPr lang="en-US" sz="1600" dirty="0"/>
          </a:p>
        </p:txBody>
      </p:sp>
      <p:sp>
        <p:nvSpPr>
          <p:cNvPr id="15" name="Text 13"/>
          <p:cNvSpPr txBox="1"/>
          <p:nvPr/>
        </p:nvSpPr>
        <p:spPr>
          <a:xfrm>
            <a:off x="768096" y="4369816"/>
            <a:ext cx="4971136" cy="95199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Your provider's uptime is not your validation. Managed services deprecate versions, change defaults and update runtimes on their schedule. Track those changes as supplier changes, with impact assessment.</a:t>
            </a:r>
            <a:endParaRPr lang="en-US" sz="1150" dirty="0"/>
          </a:p>
        </p:txBody>
      </p:sp>
      <p:sp>
        <p:nvSpPr>
          <p:cNvPr id="16" name="Shape 14"/>
          <p:cNvSpPr/>
          <p:nvPr/>
        </p:nvSpPr>
        <p:spPr>
          <a:xfrm>
            <a:off x="6233008" y="3794760"/>
            <a:ext cx="5410048" cy="1673352"/>
          </a:xfrm>
          <a:prstGeom prst="roundRect">
            <a:avLst>
              <a:gd name="adj" fmla="val 3825"/>
            </a:avLst>
          </a:prstGeom>
          <a:solidFill>
            <a:srgbClr val="F1F5F6"/>
          </a:solidFill>
          <a:ln w="12700">
            <a:solidFill>
              <a:srgbClr val="D7E2E5"/>
            </a:solidFill>
            <a:prstDash val="solid"/>
          </a:ln>
        </p:spPr>
      </p:sp>
      <p:sp>
        <p:nvSpPr>
          <p:cNvPr id="17" name="Text 15"/>
          <p:cNvSpPr txBox="1"/>
          <p:nvPr/>
        </p:nvSpPr>
        <p:spPr>
          <a:xfrm>
            <a:off x="6452464" y="3995928"/>
            <a:ext cx="4971136" cy="337312"/>
          </a:xfrm>
          <a:prstGeom prst="rect">
            <a:avLst/>
          </a:prstGeom>
          <a:noFill/>
          <a:ln/>
        </p:spPr>
        <p:txBody>
          <a:bodyPr wrap="square" lIns="0" tIns="0" rIns="0" bIns="0" rtlCol="0" anchor="t"/>
          <a:lstStyle/>
          <a:p>
            <a:pPr indent="0" marL="0">
              <a:buNone/>
            </a:pPr>
            <a:r>
              <a:rPr lang="en-US" sz="1600" b="1" dirty="0">
                <a:solidFill>
                  <a:srgbClr val="A83A3C"/>
                </a:solidFill>
                <a:latin typeface="Calibri" pitchFamily="34" charset="0"/>
                <a:ea typeface="Calibri" pitchFamily="34" charset="-122"/>
                <a:cs typeface="Calibri" pitchFamily="34" charset="-120"/>
              </a:rPr>
              <a:t>Know what the user is running</a:t>
            </a:r>
            <a:endParaRPr lang="en-US" sz="1600" dirty="0"/>
          </a:p>
        </p:txBody>
      </p:sp>
      <p:sp>
        <p:nvSpPr>
          <p:cNvPr id="18" name="Text 16"/>
          <p:cNvSpPr txBox="1"/>
          <p:nvPr/>
        </p:nvSpPr>
        <p:spPr>
          <a:xfrm>
            <a:off x="6452464" y="4369816"/>
            <a:ext cx="4971136" cy="95199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In a web-delivered SaMD everyone is on the current version — which means a bad deploy reaches every patient at once. Staged rollout, health checks and a rehearsed rollback are risk controls, and should appear in your risk file as such.</a:t>
            </a:r>
            <a:endParaRPr lang="en-US" sz="1150" dirty="0"/>
          </a:p>
        </p:txBody>
      </p:sp>
      <p:sp>
        <p:nvSpPr>
          <p:cNvPr id="19" name="Shape 17"/>
          <p:cNvSpPr/>
          <p:nvPr/>
        </p:nvSpPr>
        <p:spPr>
          <a:xfrm>
            <a:off x="548640" y="5614416"/>
            <a:ext cx="11094415" cy="676656"/>
          </a:xfrm>
          <a:prstGeom prst="roundRect">
            <a:avLst>
              <a:gd name="adj" fmla="val 8108"/>
            </a:avLst>
          </a:prstGeom>
          <a:solidFill>
            <a:srgbClr val="EAF3F2"/>
          </a:solidFill>
          <a:ln w="12700">
            <a:solidFill>
              <a:srgbClr val="BFD9D6"/>
            </a:solidFill>
            <a:prstDash val="solid"/>
          </a:ln>
        </p:spPr>
      </p:sp>
      <p:sp>
        <p:nvSpPr>
          <p:cNvPr id="20" name="Text 18"/>
          <p:cNvSpPr txBox="1"/>
          <p:nvPr/>
        </p:nvSpPr>
        <p:spPr>
          <a:xfrm>
            <a:off x="786384" y="5614416"/>
            <a:ext cx="10618927" cy="676656"/>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Reframe for your engineers: design controls are a specification for your pipeline. Most of what 62304 asks for, a well-built CI/CD system already produces — it is just not being retained as records.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PRODUCTION &amp; QMS SOFTWARE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Computer software assurance</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27</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For production and quality management system software: a different question, a different domain. Final FDA guidance, September 2025.</a:t>
            </a:r>
            <a:endParaRPr lang="en-US" sz="1400" dirty="0"/>
          </a:p>
        </p:txBody>
      </p:sp>
      <p:sp>
        <p:nvSpPr>
          <p:cNvPr id="7" name="Text 5"/>
          <p:cNvSpPr txBox="1"/>
          <p:nvPr/>
        </p:nvSpPr>
        <p:spPr>
          <a:xfrm>
            <a:off x="548640" y="1865376"/>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THE FOUR-STEP LOGIC</a:t>
            </a:r>
            <a:endParaRPr lang="en-US" sz="1100" dirty="0"/>
          </a:p>
        </p:txBody>
      </p:sp>
      <p:sp>
        <p:nvSpPr>
          <p:cNvPr id="8" name="Shape 6"/>
          <p:cNvSpPr/>
          <p:nvPr/>
        </p:nvSpPr>
        <p:spPr>
          <a:xfrm>
            <a:off x="548640" y="2176272"/>
            <a:ext cx="5394960" cy="859536"/>
          </a:xfrm>
          <a:prstGeom prst="roundRect">
            <a:avLst>
              <a:gd name="adj" fmla="val 7447"/>
            </a:avLst>
          </a:prstGeom>
          <a:solidFill>
            <a:srgbClr val="F1F5F6"/>
          </a:solidFill>
          <a:ln w="12700">
            <a:solidFill>
              <a:srgbClr val="D7E2E5"/>
            </a:solidFill>
            <a:prstDash val="solid"/>
          </a:ln>
        </p:spPr>
      </p:sp>
      <p:sp>
        <p:nvSpPr>
          <p:cNvPr id="9" name="Shape 7"/>
          <p:cNvSpPr/>
          <p:nvPr/>
        </p:nvSpPr>
        <p:spPr>
          <a:xfrm>
            <a:off x="786384" y="2404872"/>
            <a:ext cx="402336" cy="402336"/>
          </a:xfrm>
          <a:prstGeom prst="ellipse">
            <a:avLst/>
          </a:prstGeom>
          <a:solidFill>
            <a:srgbClr val="0E7C7B"/>
          </a:solidFill>
          <a:ln w="12700">
            <a:solidFill>
              <a:srgbClr val="0E7C7B"/>
            </a:solidFill>
            <a:prstDash val="solid"/>
          </a:ln>
        </p:spPr>
      </p:sp>
      <p:sp>
        <p:nvSpPr>
          <p:cNvPr id="10" name="Text 8"/>
          <p:cNvSpPr txBox="1"/>
          <p:nvPr/>
        </p:nvSpPr>
        <p:spPr>
          <a:xfrm>
            <a:off x="786384" y="24048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335024" y="2295144"/>
            <a:ext cx="4334256" cy="621792"/>
          </a:xfrm>
          <a:prstGeom prst="rect">
            <a:avLst/>
          </a:prstGeom>
          <a:noFill/>
          <a:ln/>
        </p:spPr>
        <p:txBody>
          <a:bodyPr wrap="square" lIns="0" tIns="0" rIns="0" bIns="0" rtlCol="0" anchor="ctr"/>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Identify intended use</a:t>
            </a:r>
            <a:endParaRPr lang="en-US" sz="1250" dirty="0"/>
          </a:p>
          <a:p>
            <a:pPr indent="0" marL="0">
              <a:lnSpc>
                <a:spcPct val="105000"/>
              </a:lnSpc>
              <a:buNone/>
            </a:pPr>
            <a:r>
              <a:rPr lang="en-US" sz="1050" dirty="0">
                <a:solidFill>
                  <a:srgbClr val="22333B"/>
                </a:solidFill>
                <a:latin typeface="Calibri" pitchFamily="34" charset="0"/>
                <a:ea typeface="Calibri" pitchFamily="34" charset="-122"/>
                <a:cs typeface="Calibri" pitchFamily="34" charset="-120"/>
              </a:rPr>
              <a:t>What does the software do, and what decision does it influence?</a:t>
            </a:r>
            <a:endParaRPr lang="en-US" sz="1250" dirty="0"/>
          </a:p>
        </p:txBody>
      </p:sp>
      <p:sp>
        <p:nvSpPr>
          <p:cNvPr id="12" name="Shape 10"/>
          <p:cNvSpPr/>
          <p:nvPr/>
        </p:nvSpPr>
        <p:spPr>
          <a:xfrm>
            <a:off x="548640" y="3145536"/>
            <a:ext cx="5394960" cy="859536"/>
          </a:xfrm>
          <a:prstGeom prst="roundRect">
            <a:avLst>
              <a:gd name="adj" fmla="val 7447"/>
            </a:avLst>
          </a:prstGeom>
          <a:solidFill>
            <a:srgbClr val="F1F5F6"/>
          </a:solidFill>
          <a:ln w="12700">
            <a:solidFill>
              <a:srgbClr val="D7E2E5"/>
            </a:solidFill>
            <a:prstDash val="solid"/>
          </a:ln>
        </p:spPr>
      </p:sp>
      <p:sp>
        <p:nvSpPr>
          <p:cNvPr id="13" name="Shape 11"/>
          <p:cNvSpPr/>
          <p:nvPr/>
        </p:nvSpPr>
        <p:spPr>
          <a:xfrm>
            <a:off x="786384" y="3374136"/>
            <a:ext cx="402336" cy="402336"/>
          </a:xfrm>
          <a:prstGeom prst="ellipse">
            <a:avLst/>
          </a:prstGeom>
          <a:solidFill>
            <a:srgbClr val="0E7C7B"/>
          </a:solidFill>
          <a:ln w="12700">
            <a:solidFill>
              <a:srgbClr val="0E7C7B"/>
            </a:solidFill>
            <a:prstDash val="solid"/>
          </a:ln>
        </p:spPr>
      </p:sp>
      <p:sp>
        <p:nvSpPr>
          <p:cNvPr id="14" name="Text 12"/>
          <p:cNvSpPr txBox="1"/>
          <p:nvPr/>
        </p:nvSpPr>
        <p:spPr>
          <a:xfrm>
            <a:off x="786384" y="33741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1335024" y="3264408"/>
            <a:ext cx="4334256" cy="621792"/>
          </a:xfrm>
          <a:prstGeom prst="rect">
            <a:avLst/>
          </a:prstGeom>
          <a:noFill/>
          <a:ln/>
        </p:spPr>
        <p:txBody>
          <a:bodyPr wrap="square" lIns="0" tIns="0" rIns="0" bIns="0" rtlCol="0" anchor="ctr"/>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Determine the risk</a:t>
            </a:r>
            <a:endParaRPr lang="en-US" sz="1250" dirty="0"/>
          </a:p>
          <a:p>
            <a:pPr indent="0" marL="0">
              <a:lnSpc>
                <a:spcPct val="105000"/>
              </a:lnSpc>
              <a:buNone/>
            </a:pPr>
            <a:r>
              <a:rPr lang="en-US" sz="1050" dirty="0">
                <a:solidFill>
                  <a:srgbClr val="22333B"/>
                </a:solidFill>
                <a:latin typeface="Calibri" pitchFamily="34" charset="0"/>
                <a:ea typeface="Calibri" pitchFamily="34" charset="-122"/>
                <a:cs typeface="Calibri" pitchFamily="34" charset="-120"/>
              </a:rPr>
              <a:t>Does a failure affect product quality or patient safety — directly or indirectly?</a:t>
            </a:r>
            <a:endParaRPr lang="en-US" sz="1250" dirty="0"/>
          </a:p>
        </p:txBody>
      </p:sp>
      <p:sp>
        <p:nvSpPr>
          <p:cNvPr id="16" name="Shape 14"/>
          <p:cNvSpPr/>
          <p:nvPr/>
        </p:nvSpPr>
        <p:spPr>
          <a:xfrm>
            <a:off x="548640" y="4114800"/>
            <a:ext cx="5394960" cy="859536"/>
          </a:xfrm>
          <a:prstGeom prst="roundRect">
            <a:avLst>
              <a:gd name="adj" fmla="val 7447"/>
            </a:avLst>
          </a:prstGeom>
          <a:solidFill>
            <a:srgbClr val="F1F5F6"/>
          </a:solidFill>
          <a:ln w="12700">
            <a:solidFill>
              <a:srgbClr val="D7E2E5"/>
            </a:solidFill>
            <a:prstDash val="solid"/>
          </a:ln>
        </p:spPr>
      </p:sp>
      <p:sp>
        <p:nvSpPr>
          <p:cNvPr id="17" name="Shape 15"/>
          <p:cNvSpPr/>
          <p:nvPr/>
        </p:nvSpPr>
        <p:spPr>
          <a:xfrm>
            <a:off x="786384" y="4343400"/>
            <a:ext cx="402336" cy="402336"/>
          </a:xfrm>
          <a:prstGeom prst="ellipse">
            <a:avLst/>
          </a:prstGeom>
          <a:solidFill>
            <a:srgbClr val="0E7C7B"/>
          </a:solidFill>
          <a:ln w="12700">
            <a:solidFill>
              <a:srgbClr val="0E7C7B"/>
            </a:solidFill>
            <a:prstDash val="solid"/>
          </a:ln>
        </p:spPr>
      </p:sp>
      <p:sp>
        <p:nvSpPr>
          <p:cNvPr id="18" name="Text 16"/>
          <p:cNvSpPr txBox="1"/>
          <p:nvPr/>
        </p:nvSpPr>
        <p:spPr>
          <a:xfrm>
            <a:off x="786384" y="43434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335024" y="4233672"/>
            <a:ext cx="4334256" cy="621792"/>
          </a:xfrm>
          <a:prstGeom prst="rect">
            <a:avLst/>
          </a:prstGeom>
          <a:noFill/>
          <a:ln/>
        </p:spPr>
        <p:txBody>
          <a:bodyPr wrap="square" lIns="0" tIns="0" rIns="0" bIns="0" rtlCol="0" anchor="ctr"/>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Choose the assurance activity</a:t>
            </a:r>
            <a:endParaRPr lang="en-US" sz="1250" dirty="0"/>
          </a:p>
          <a:p>
            <a:pPr indent="0" marL="0">
              <a:lnSpc>
                <a:spcPct val="105000"/>
              </a:lnSpc>
              <a:buNone/>
            </a:pPr>
            <a:r>
              <a:rPr lang="en-US" sz="1050" dirty="0">
                <a:solidFill>
                  <a:srgbClr val="22333B"/>
                </a:solidFill>
                <a:latin typeface="Calibri" pitchFamily="34" charset="0"/>
                <a:ea typeface="Calibri" pitchFamily="34" charset="-122"/>
                <a:cs typeface="Calibri" pitchFamily="34" charset="-120"/>
              </a:rPr>
              <a:t>Unscripted testing, ad-hoc testing, error-guessing, or scripted testing — proportionate to risk.</a:t>
            </a:r>
            <a:endParaRPr lang="en-US" sz="1250" dirty="0"/>
          </a:p>
        </p:txBody>
      </p:sp>
      <p:sp>
        <p:nvSpPr>
          <p:cNvPr id="20" name="Shape 18"/>
          <p:cNvSpPr/>
          <p:nvPr/>
        </p:nvSpPr>
        <p:spPr>
          <a:xfrm>
            <a:off x="548640" y="5084064"/>
            <a:ext cx="5394960" cy="859536"/>
          </a:xfrm>
          <a:prstGeom prst="roundRect">
            <a:avLst>
              <a:gd name="adj" fmla="val 7447"/>
            </a:avLst>
          </a:prstGeom>
          <a:solidFill>
            <a:srgbClr val="F1F5F6"/>
          </a:solidFill>
          <a:ln w="12700">
            <a:solidFill>
              <a:srgbClr val="D7E2E5"/>
            </a:solidFill>
            <a:prstDash val="solid"/>
          </a:ln>
        </p:spPr>
      </p:sp>
      <p:sp>
        <p:nvSpPr>
          <p:cNvPr id="21" name="Shape 19"/>
          <p:cNvSpPr/>
          <p:nvPr/>
        </p:nvSpPr>
        <p:spPr>
          <a:xfrm>
            <a:off x="786384" y="5312664"/>
            <a:ext cx="402336" cy="402336"/>
          </a:xfrm>
          <a:prstGeom prst="ellipse">
            <a:avLst/>
          </a:prstGeom>
          <a:solidFill>
            <a:srgbClr val="0E7C7B"/>
          </a:solidFill>
          <a:ln w="12700">
            <a:solidFill>
              <a:srgbClr val="0E7C7B"/>
            </a:solidFill>
            <a:prstDash val="solid"/>
          </a:ln>
        </p:spPr>
      </p:sp>
      <p:sp>
        <p:nvSpPr>
          <p:cNvPr id="22" name="Text 20"/>
          <p:cNvSpPr txBox="1"/>
          <p:nvPr/>
        </p:nvSpPr>
        <p:spPr>
          <a:xfrm>
            <a:off x="786384" y="53126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335024" y="5202936"/>
            <a:ext cx="4334256" cy="621792"/>
          </a:xfrm>
          <a:prstGeom prst="rect">
            <a:avLst/>
          </a:prstGeom>
          <a:noFill/>
          <a:ln/>
        </p:spPr>
        <p:txBody>
          <a:bodyPr wrap="square" lIns="0" tIns="0" rIns="0" bIns="0" rtlCol="0" anchor="ctr"/>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Record the result</a:t>
            </a:r>
            <a:endParaRPr lang="en-US" sz="1250" dirty="0"/>
          </a:p>
          <a:p>
            <a:pPr indent="0" marL="0">
              <a:lnSpc>
                <a:spcPct val="105000"/>
              </a:lnSpc>
              <a:buNone/>
            </a:pPr>
            <a:r>
              <a:rPr lang="en-US" sz="1050" dirty="0">
                <a:solidFill>
                  <a:srgbClr val="22333B"/>
                </a:solidFill>
                <a:latin typeface="Calibri" pitchFamily="34" charset="0"/>
                <a:ea typeface="Calibri" pitchFamily="34" charset="-122"/>
                <a:cs typeface="Calibri" pitchFamily="34" charset="-120"/>
              </a:rPr>
              <a:t>Keep evidence appropriate to the activity. A screenshot is not the only acceptable record.</a:t>
            </a:r>
            <a:endParaRPr lang="en-US" sz="1250" dirty="0"/>
          </a:p>
        </p:txBody>
      </p:sp>
      <p:sp>
        <p:nvSpPr>
          <p:cNvPr id="24" name="Text 22"/>
          <p:cNvSpPr txBox="1"/>
          <p:nvPr/>
        </p:nvSpPr>
        <p:spPr>
          <a:xfrm>
            <a:off x="6245352" y="1865376"/>
            <a:ext cx="5394960" cy="256032"/>
          </a:xfrm>
          <a:prstGeom prst="rect">
            <a:avLst/>
          </a:prstGeom>
          <a:noFill/>
          <a:ln/>
        </p:spPr>
        <p:txBody>
          <a:bodyPr wrap="square" lIns="0" tIns="0" rIns="0" bIns="0" rtlCol="0" anchor="ctr"/>
          <a:lstStyle/>
          <a:p>
            <a:pPr indent="0" marL="0">
              <a:buNone/>
            </a:pPr>
            <a:r>
              <a:rPr lang="en-US" sz="1100" b="1" spc="120" kern="0" dirty="0">
                <a:solidFill>
                  <a:srgbClr val="C77C1E"/>
                </a:solidFill>
                <a:latin typeface="Calibri" pitchFamily="34" charset="0"/>
                <a:ea typeface="Calibri" pitchFamily="34" charset="-122"/>
                <a:cs typeface="Calibri" pitchFamily="34" charset="-120"/>
              </a:rPr>
              <a:t>WHAT THIS CHANGES IN PRACTICE</a:t>
            </a:r>
            <a:endParaRPr lang="en-US" sz="1100" dirty="0"/>
          </a:p>
        </p:txBody>
      </p:sp>
      <p:sp>
        <p:nvSpPr>
          <p:cNvPr id="25" name="Shape 23"/>
          <p:cNvSpPr/>
          <p:nvPr/>
        </p:nvSpPr>
        <p:spPr>
          <a:xfrm>
            <a:off x="6245352" y="2176272"/>
            <a:ext cx="5394960" cy="3785616"/>
          </a:xfrm>
          <a:prstGeom prst="roundRect">
            <a:avLst>
              <a:gd name="adj" fmla="val 1691"/>
            </a:avLst>
          </a:prstGeom>
          <a:solidFill>
            <a:srgbClr val="FBF0E2"/>
          </a:solidFill>
          <a:ln w="12700">
            <a:solidFill>
              <a:srgbClr val="E3C893"/>
            </a:solidFill>
            <a:prstDash val="solid"/>
          </a:ln>
        </p:spPr>
      </p:sp>
      <p:sp>
        <p:nvSpPr>
          <p:cNvPr id="26" name="Text 24"/>
          <p:cNvSpPr txBox="1"/>
          <p:nvPr/>
        </p:nvSpPr>
        <p:spPr>
          <a:xfrm>
            <a:off x="6483096" y="2359152"/>
            <a:ext cx="4919472" cy="3419856"/>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High risk stays rigorous.</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Software that directly controls a process parameter affecting product safety still gets scripted, documented testing. Nothing here lowers that bar.</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Low risk gets proportionate treatment.</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A document-management tool or a label printer does not warrant a hundred-page protocol. Unscripted testing by a competent user, recorded, is a legitimate assurance activity.</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Leverage what the vendor already did.</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You do not have to re-test a commercial platform's core functionality. Assess the vendor, then validate YOUR configuration and YOUR intended use.</a:t>
            </a:r>
            <a:endParaRPr lang="en-US" sz="1080" dirty="0"/>
          </a:p>
          <a:p>
            <a:pPr marL="203200" indent="-203200">
              <a:lnSpc>
                <a:spcPct val="108000"/>
              </a:lnSpc>
              <a:spcAft>
                <a:spcPts val="500"/>
              </a:spcAft>
              <a:buSzPct val="100000"/>
              <a:buChar char="•"/>
            </a:pPr>
            <a:r>
              <a:rPr lang="en-US" sz="1080" b="1" dirty="0">
                <a:solidFill>
                  <a:srgbClr val="22333B"/>
                </a:solidFill>
                <a:latin typeface="Calibri" pitchFamily="34" charset="0"/>
                <a:ea typeface="Calibri" pitchFamily="34" charset="-122"/>
                <a:cs typeface="Calibri" pitchFamily="34" charset="-120"/>
              </a:rPr>
              <a:t>Do not import this into device software.</a:t>
            </a:r>
            <a:endParaRPr lang="en-US" sz="1080" dirty="0"/>
          </a:p>
          <a:p>
            <a:pPr marL="203200" indent="-203200">
              <a:lnSpc>
                <a:spcPct val="108000"/>
              </a:lnSpc>
              <a:spcAft>
                <a:spcPts val="500"/>
              </a:spcAft>
              <a:buSzPct val="100000"/>
              <a:buChar char="•"/>
            </a:pPr>
            <a:r>
              <a:rPr lang="en-US" sz="1080" dirty="0">
                <a:solidFill>
                  <a:srgbClr val="22333B"/>
                </a:solidFill>
                <a:latin typeface="Calibri" pitchFamily="34" charset="0"/>
                <a:ea typeface="Calibri" pitchFamily="34" charset="-122"/>
                <a:cs typeface="Calibri" pitchFamily="34" charset="-120"/>
              </a:rPr>
              <a:t>CSA addresses production and quality management system software. Device software you ship remains governed by design controls and 62304. Teams that blur this line get into real trouble.</a:t>
            </a:r>
            <a:endParaRPr lang="en-US" sz="10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COMMON FINDINGS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What actually gets written up</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28</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Recurring themes in software-related observations. None of these are exotic — they are all process discipline.</a:t>
            </a:r>
            <a:endParaRPr lang="en-US" sz="1400" dirty="0"/>
          </a:p>
        </p:txBody>
      </p:sp>
      <p:sp>
        <p:nvSpPr>
          <p:cNvPr id="7" name="Shape 5"/>
          <p:cNvSpPr/>
          <p:nvPr/>
        </p:nvSpPr>
        <p:spPr>
          <a:xfrm>
            <a:off x="548640" y="1883664"/>
            <a:ext cx="2567864" cy="1655064"/>
          </a:xfrm>
          <a:prstGeom prst="roundRect">
            <a:avLst>
              <a:gd name="adj" fmla="val 3867"/>
            </a:avLst>
          </a:prstGeom>
          <a:solidFill>
            <a:srgbClr val="F1F5F6"/>
          </a:solidFill>
          <a:ln w="12700">
            <a:solidFill>
              <a:srgbClr val="D7E2E5"/>
            </a:solidFill>
            <a:prstDash val="solid"/>
          </a:ln>
        </p:spPr>
      </p:sp>
      <p:sp>
        <p:nvSpPr>
          <p:cNvPr id="8" name="Shape 6"/>
          <p:cNvSpPr/>
          <p:nvPr/>
        </p:nvSpPr>
        <p:spPr>
          <a:xfrm>
            <a:off x="768096" y="2084832"/>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560320"/>
            <a:ext cx="2128952" cy="6431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Validation not completed before release</a:t>
            </a:r>
            <a:endParaRPr lang="en-US" sz="1250" dirty="0"/>
          </a:p>
        </p:txBody>
      </p:sp>
      <p:sp>
        <p:nvSpPr>
          <p:cNvPr id="11" name="Text 9"/>
          <p:cNvSpPr txBox="1"/>
          <p:nvPr/>
        </p:nvSpPr>
        <p:spPr>
          <a:xfrm>
            <a:off x="768096" y="3240024"/>
            <a:ext cx="2128952" cy="152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Software in use, or shipped, with validation still open or performed retrospectively.</a:t>
            </a:r>
            <a:endParaRPr lang="en-US" sz="850" dirty="0"/>
          </a:p>
        </p:txBody>
      </p:sp>
      <p:sp>
        <p:nvSpPr>
          <p:cNvPr id="12" name="Shape 10"/>
          <p:cNvSpPr/>
          <p:nvPr/>
        </p:nvSpPr>
        <p:spPr>
          <a:xfrm>
            <a:off x="3390824" y="1883664"/>
            <a:ext cx="2567864" cy="1655064"/>
          </a:xfrm>
          <a:prstGeom prst="roundRect">
            <a:avLst>
              <a:gd name="adj" fmla="val 3867"/>
            </a:avLst>
          </a:prstGeom>
          <a:solidFill>
            <a:srgbClr val="F1F5F6"/>
          </a:solidFill>
          <a:ln w="12700">
            <a:solidFill>
              <a:srgbClr val="D7E2E5"/>
            </a:solidFill>
            <a:prstDash val="solid"/>
          </a:ln>
        </p:spPr>
      </p:sp>
      <p:sp>
        <p:nvSpPr>
          <p:cNvPr id="13" name="Shape 11"/>
          <p:cNvSpPr/>
          <p:nvPr/>
        </p:nvSpPr>
        <p:spPr>
          <a:xfrm>
            <a:off x="3610280" y="2084832"/>
            <a:ext cx="365760" cy="365760"/>
          </a:xfrm>
          <a:prstGeom prst="ellipse">
            <a:avLst/>
          </a:prstGeom>
          <a:solidFill>
            <a:srgbClr val="0E7C7B"/>
          </a:solidFill>
          <a:ln w="12700">
            <a:solidFill>
              <a:srgbClr val="0E7C7B"/>
            </a:solidFill>
            <a:prstDash val="solid"/>
          </a:ln>
        </p:spPr>
      </p:sp>
      <p:sp>
        <p:nvSpPr>
          <p:cNvPr id="14" name="Text 12"/>
          <p:cNvSpPr txBox="1"/>
          <p:nvPr/>
        </p:nvSpPr>
        <p:spPr>
          <a:xfrm>
            <a:off x="3610280"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3610280" y="2560320"/>
            <a:ext cx="2128952" cy="6431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Requirements not testable</a:t>
            </a:r>
            <a:endParaRPr lang="en-US" sz="1250" dirty="0"/>
          </a:p>
        </p:txBody>
      </p:sp>
      <p:sp>
        <p:nvSpPr>
          <p:cNvPr id="16" name="Text 14"/>
          <p:cNvSpPr txBox="1"/>
          <p:nvPr/>
        </p:nvSpPr>
        <p:spPr>
          <a:xfrm>
            <a:off x="3610280" y="3240024"/>
            <a:ext cx="2128952" cy="152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Specifications too vague to verify, so verification proves nothing about clinical intent.</a:t>
            </a:r>
            <a:endParaRPr lang="en-US" sz="850" dirty="0"/>
          </a:p>
        </p:txBody>
      </p:sp>
      <p:sp>
        <p:nvSpPr>
          <p:cNvPr id="17" name="Shape 15"/>
          <p:cNvSpPr/>
          <p:nvPr/>
        </p:nvSpPr>
        <p:spPr>
          <a:xfrm>
            <a:off x="6233008" y="1883664"/>
            <a:ext cx="2567864" cy="1655064"/>
          </a:xfrm>
          <a:prstGeom prst="roundRect">
            <a:avLst>
              <a:gd name="adj" fmla="val 3867"/>
            </a:avLst>
          </a:prstGeom>
          <a:solidFill>
            <a:srgbClr val="F1F5F6"/>
          </a:solidFill>
          <a:ln w="12700">
            <a:solidFill>
              <a:srgbClr val="D7E2E5"/>
            </a:solidFill>
            <a:prstDash val="solid"/>
          </a:ln>
        </p:spPr>
      </p:sp>
      <p:sp>
        <p:nvSpPr>
          <p:cNvPr id="18" name="Shape 16"/>
          <p:cNvSpPr/>
          <p:nvPr/>
        </p:nvSpPr>
        <p:spPr>
          <a:xfrm>
            <a:off x="6452464" y="2084832"/>
            <a:ext cx="365760" cy="365760"/>
          </a:xfrm>
          <a:prstGeom prst="ellipse">
            <a:avLst/>
          </a:prstGeom>
          <a:solidFill>
            <a:srgbClr val="0E7C7B"/>
          </a:solidFill>
          <a:ln w="12700">
            <a:solidFill>
              <a:srgbClr val="0E7C7B"/>
            </a:solidFill>
            <a:prstDash val="solid"/>
          </a:ln>
        </p:spPr>
      </p:sp>
      <p:sp>
        <p:nvSpPr>
          <p:cNvPr id="19" name="Text 17"/>
          <p:cNvSpPr txBox="1"/>
          <p:nvPr/>
        </p:nvSpPr>
        <p:spPr>
          <a:xfrm>
            <a:off x="6452464"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6452464" y="2560320"/>
            <a:ext cx="2128952" cy="6431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Traceability gaps</a:t>
            </a:r>
            <a:endParaRPr lang="en-US" sz="1250" dirty="0"/>
          </a:p>
        </p:txBody>
      </p:sp>
      <p:sp>
        <p:nvSpPr>
          <p:cNvPr id="21" name="Text 19"/>
          <p:cNvSpPr txBox="1"/>
          <p:nvPr/>
        </p:nvSpPr>
        <p:spPr>
          <a:xfrm>
            <a:off x="6452464" y="3240024"/>
            <a:ext cx="2128952" cy="152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Requirements with no test, tests with no requirement, risk controls with no verification of effectiveness.</a:t>
            </a:r>
            <a:endParaRPr lang="en-US" sz="850" dirty="0"/>
          </a:p>
        </p:txBody>
      </p:sp>
      <p:sp>
        <p:nvSpPr>
          <p:cNvPr id="22" name="Shape 20"/>
          <p:cNvSpPr/>
          <p:nvPr/>
        </p:nvSpPr>
        <p:spPr>
          <a:xfrm>
            <a:off x="9075191" y="1883664"/>
            <a:ext cx="2567864" cy="1655064"/>
          </a:xfrm>
          <a:prstGeom prst="roundRect">
            <a:avLst>
              <a:gd name="adj" fmla="val 3867"/>
            </a:avLst>
          </a:prstGeom>
          <a:solidFill>
            <a:srgbClr val="F1F5F6"/>
          </a:solidFill>
          <a:ln w="12700">
            <a:solidFill>
              <a:srgbClr val="D7E2E5"/>
            </a:solidFill>
            <a:prstDash val="solid"/>
          </a:ln>
        </p:spPr>
      </p:sp>
      <p:sp>
        <p:nvSpPr>
          <p:cNvPr id="23" name="Shape 21"/>
          <p:cNvSpPr/>
          <p:nvPr/>
        </p:nvSpPr>
        <p:spPr>
          <a:xfrm>
            <a:off x="9294647" y="2084832"/>
            <a:ext cx="365760" cy="365760"/>
          </a:xfrm>
          <a:prstGeom prst="ellipse">
            <a:avLst/>
          </a:prstGeom>
          <a:solidFill>
            <a:srgbClr val="0E7C7B"/>
          </a:solidFill>
          <a:ln w="12700">
            <a:solidFill>
              <a:srgbClr val="0E7C7B"/>
            </a:solidFill>
            <a:prstDash val="solid"/>
          </a:ln>
        </p:spPr>
      </p:sp>
      <p:sp>
        <p:nvSpPr>
          <p:cNvPr id="24" name="Text 22"/>
          <p:cNvSpPr txBox="1"/>
          <p:nvPr/>
        </p:nvSpPr>
        <p:spPr>
          <a:xfrm>
            <a:off x="9294647"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9294647" y="2560320"/>
            <a:ext cx="2128952" cy="6431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Changes without impact assessment</a:t>
            </a:r>
            <a:endParaRPr lang="en-US" sz="1250" dirty="0"/>
          </a:p>
        </p:txBody>
      </p:sp>
      <p:sp>
        <p:nvSpPr>
          <p:cNvPr id="26" name="Text 24"/>
          <p:cNvSpPr txBox="1"/>
          <p:nvPr/>
        </p:nvSpPr>
        <p:spPr>
          <a:xfrm>
            <a:off x="9294647" y="3240024"/>
            <a:ext cx="2128952" cy="152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Modifications made and released with no documented analysis of what they affect or whether re-validation was needed.</a:t>
            </a:r>
            <a:endParaRPr lang="en-US" sz="850" dirty="0"/>
          </a:p>
        </p:txBody>
      </p:sp>
      <p:sp>
        <p:nvSpPr>
          <p:cNvPr id="27" name="Shape 25"/>
          <p:cNvSpPr/>
          <p:nvPr/>
        </p:nvSpPr>
        <p:spPr>
          <a:xfrm>
            <a:off x="548640" y="3813048"/>
            <a:ext cx="2567864" cy="1655064"/>
          </a:xfrm>
          <a:prstGeom prst="roundRect">
            <a:avLst>
              <a:gd name="adj" fmla="val 3867"/>
            </a:avLst>
          </a:prstGeom>
          <a:solidFill>
            <a:srgbClr val="F1F5F6"/>
          </a:solidFill>
          <a:ln w="12700">
            <a:solidFill>
              <a:srgbClr val="D7E2E5"/>
            </a:solidFill>
            <a:prstDash val="solid"/>
          </a:ln>
        </p:spPr>
      </p:sp>
      <p:sp>
        <p:nvSpPr>
          <p:cNvPr id="28" name="Shape 26"/>
          <p:cNvSpPr/>
          <p:nvPr/>
        </p:nvSpPr>
        <p:spPr>
          <a:xfrm>
            <a:off x="768096" y="4014216"/>
            <a:ext cx="365760" cy="365760"/>
          </a:xfrm>
          <a:prstGeom prst="ellipse">
            <a:avLst/>
          </a:prstGeom>
          <a:solidFill>
            <a:srgbClr val="0E7C7B"/>
          </a:solidFill>
          <a:ln w="12700">
            <a:solidFill>
              <a:srgbClr val="0E7C7B"/>
            </a:solidFill>
            <a:prstDash val="solid"/>
          </a:ln>
        </p:spPr>
      </p:sp>
      <p:sp>
        <p:nvSpPr>
          <p:cNvPr id="29" name="Text 27"/>
          <p:cNvSpPr txBox="1"/>
          <p:nvPr/>
        </p:nvSpPr>
        <p:spPr>
          <a:xfrm>
            <a:off x="768096" y="40142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768096" y="4489704"/>
            <a:ext cx="2128952" cy="6431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Anomalies not dispositioned</a:t>
            </a:r>
            <a:endParaRPr lang="en-US" sz="1250" dirty="0"/>
          </a:p>
        </p:txBody>
      </p:sp>
      <p:sp>
        <p:nvSpPr>
          <p:cNvPr id="31" name="Text 29"/>
          <p:cNvSpPr txBox="1"/>
          <p:nvPr/>
        </p:nvSpPr>
        <p:spPr>
          <a:xfrm>
            <a:off x="768096" y="5169408"/>
            <a:ext cx="2128952" cy="152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Known defects carried forward with no evaluation of clinical impact, or no rationale for accepting them.</a:t>
            </a:r>
            <a:endParaRPr lang="en-US" sz="850" dirty="0"/>
          </a:p>
        </p:txBody>
      </p:sp>
      <p:sp>
        <p:nvSpPr>
          <p:cNvPr id="32" name="Shape 30"/>
          <p:cNvSpPr/>
          <p:nvPr/>
        </p:nvSpPr>
        <p:spPr>
          <a:xfrm>
            <a:off x="3390824" y="3813048"/>
            <a:ext cx="2567864" cy="1655064"/>
          </a:xfrm>
          <a:prstGeom prst="roundRect">
            <a:avLst>
              <a:gd name="adj" fmla="val 3867"/>
            </a:avLst>
          </a:prstGeom>
          <a:solidFill>
            <a:srgbClr val="F1F5F6"/>
          </a:solidFill>
          <a:ln w="12700">
            <a:solidFill>
              <a:srgbClr val="D7E2E5"/>
            </a:solidFill>
            <a:prstDash val="solid"/>
          </a:ln>
        </p:spPr>
      </p:sp>
      <p:sp>
        <p:nvSpPr>
          <p:cNvPr id="33" name="Shape 31"/>
          <p:cNvSpPr/>
          <p:nvPr/>
        </p:nvSpPr>
        <p:spPr>
          <a:xfrm>
            <a:off x="3610280" y="4014216"/>
            <a:ext cx="365760" cy="365760"/>
          </a:xfrm>
          <a:prstGeom prst="ellipse">
            <a:avLst/>
          </a:prstGeom>
          <a:solidFill>
            <a:srgbClr val="0E7C7B"/>
          </a:solidFill>
          <a:ln w="12700">
            <a:solidFill>
              <a:srgbClr val="0E7C7B"/>
            </a:solidFill>
            <a:prstDash val="solid"/>
          </a:ln>
        </p:spPr>
      </p:sp>
      <p:sp>
        <p:nvSpPr>
          <p:cNvPr id="34" name="Text 32"/>
          <p:cNvSpPr txBox="1"/>
          <p:nvPr/>
        </p:nvSpPr>
        <p:spPr>
          <a:xfrm>
            <a:off x="3610280" y="40142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Text 33"/>
          <p:cNvSpPr txBox="1"/>
          <p:nvPr/>
        </p:nvSpPr>
        <p:spPr>
          <a:xfrm>
            <a:off x="3610280" y="4489704"/>
            <a:ext cx="2128952" cy="6431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Production software never validated</a:t>
            </a:r>
            <a:endParaRPr lang="en-US" sz="1250" dirty="0"/>
          </a:p>
        </p:txBody>
      </p:sp>
      <p:sp>
        <p:nvSpPr>
          <p:cNvPr id="36" name="Text 34"/>
          <p:cNvSpPr txBox="1"/>
          <p:nvPr/>
        </p:nvSpPr>
        <p:spPr>
          <a:xfrm>
            <a:off x="3610280" y="5169408"/>
            <a:ext cx="2128952" cy="152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Test rigs, spreadsheets and quality system tools relied upon for release decisions with no validation at all.</a:t>
            </a:r>
            <a:endParaRPr lang="en-US" sz="850" dirty="0"/>
          </a:p>
        </p:txBody>
      </p:sp>
      <p:sp>
        <p:nvSpPr>
          <p:cNvPr id="37" name="Shape 35"/>
          <p:cNvSpPr/>
          <p:nvPr/>
        </p:nvSpPr>
        <p:spPr>
          <a:xfrm>
            <a:off x="6233008" y="3813048"/>
            <a:ext cx="2567864" cy="1655064"/>
          </a:xfrm>
          <a:prstGeom prst="roundRect">
            <a:avLst>
              <a:gd name="adj" fmla="val 3867"/>
            </a:avLst>
          </a:prstGeom>
          <a:solidFill>
            <a:srgbClr val="F1F5F6"/>
          </a:solidFill>
          <a:ln w="12700">
            <a:solidFill>
              <a:srgbClr val="D7E2E5"/>
            </a:solidFill>
            <a:prstDash val="solid"/>
          </a:ln>
        </p:spPr>
      </p:sp>
      <p:sp>
        <p:nvSpPr>
          <p:cNvPr id="38" name="Shape 36"/>
          <p:cNvSpPr/>
          <p:nvPr/>
        </p:nvSpPr>
        <p:spPr>
          <a:xfrm>
            <a:off x="6452464" y="4014216"/>
            <a:ext cx="365760" cy="365760"/>
          </a:xfrm>
          <a:prstGeom prst="ellipse">
            <a:avLst/>
          </a:prstGeom>
          <a:solidFill>
            <a:srgbClr val="0E7C7B"/>
          </a:solidFill>
          <a:ln w="12700">
            <a:solidFill>
              <a:srgbClr val="0E7C7B"/>
            </a:solidFill>
            <a:prstDash val="solid"/>
          </a:ln>
        </p:spPr>
      </p:sp>
      <p:sp>
        <p:nvSpPr>
          <p:cNvPr id="39" name="Text 37"/>
          <p:cNvSpPr txBox="1"/>
          <p:nvPr/>
        </p:nvSpPr>
        <p:spPr>
          <a:xfrm>
            <a:off x="6452464" y="40142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0" name="Text 38"/>
          <p:cNvSpPr txBox="1"/>
          <p:nvPr/>
        </p:nvSpPr>
        <p:spPr>
          <a:xfrm>
            <a:off x="6452464" y="4489704"/>
            <a:ext cx="2128952" cy="6431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SOUP unmanaged</a:t>
            </a:r>
            <a:endParaRPr lang="en-US" sz="1250" dirty="0"/>
          </a:p>
        </p:txBody>
      </p:sp>
      <p:sp>
        <p:nvSpPr>
          <p:cNvPr id="41" name="Text 39"/>
          <p:cNvSpPr txBox="1"/>
          <p:nvPr/>
        </p:nvSpPr>
        <p:spPr>
          <a:xfrm>
            <a:off x="6452464" y="5169408"/>
            <a:ext cx="2128952" cy="152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No inventory, no version control, no monitoring of upstream defects or vulnerabilities.</a:t>
            </a:r>
            <a:endParaRPr lang="en-US" sz="850" dirty="0"/>
          </a:p>
        </p:txBody>
      </p:sp>
      <p:sp>
        <p:nvSpPr>
          <p:cNvPr id="42" name="Shape 40"/>
          <p:cNvSpPr/>
          <p:nvPr/>
        </p:nvSpPr>
        <p:spPr>
          <a:xfrm>
            <a:off x="9075191" y="3813048"/>
            <a:ext cx="2567864" cy="1655064"/>
          </a:xfrm>
          <a:prstGeom prst="roundRect">
            <a:avLst>
              <a:gd name="adj" fmla="val 3867"/>
            </a:avLst>
          </a:prstGeom>
          <a:solidFill>
            <a:srgbClr val="F1F5F6"/>
          </a:solidFill>
          <a:ln w="12700">
            <a:solidFill>
              <a:srgbClr val="D7E2E5"/>
            </a:solidFill>
            <a:prstDash val="solid"/>
          </a:ln>
        </p:spPr>
      </p:sp>
      <p:sp>
        <p:nvSpPr>
          <p:cNvPr id="43" name="Shape 41"/>
          <p:cNvSpPr/>
          <p:nvPr/>
        </p:nvSpPr>
        <p:spPr>
          <a:xfrm>
            <a:off x="9294647" y="4014216"/>
            <a:ext cx="365760" cy="365760"/>
          </a:xfrm>
          <a:prstGeom prst="ellipse">
            <a:avLst/>
          </a:prstGeom>
          <a:solidFill>
            <a:srgbClr val="0E7C7B"/>
          </a:solidFill>
          <a:ln w="12700">
            <a:solidFill>
              <a:srgbClr val="0E7C7B"/>
            </a:solidFill>
            <a:prstDash val="solid"/>
          </a:ln>
        </p:spPr>
      </p:sp>
      <p:sp>
        <p:nvSpPr>
          <p:cNvPr id="44" name="Text 42"/>
          <p:cNvSpPr txBox="1"/>
          <p:nvPr/>
        </p:nvSpPr>
        <p:spPr>
          <a:xfrm>
            <a:off x="9294647" y="40142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5" name="Text 43"/>
          <p:cNvSpPr txBox="1"/>
          <p:nvPr/>
        </p:nvSpPr>
        <p:spPr>
          <a:xfrm>
            <a:off x="9294647" y="4489704"/>
            <a:ext cx="2128952" cy="643128"/>
          </a:xfrm>
          <a:prstGeom prst="rect">
            <a:avLst/>
          </a:prstGeom>
          <a:noFill/>
          <a:ln/>
        </p:spPr>
        <p:txBody>
          <a:bodyPr wrap="square" lIns="0" tIns="0" rIns="0" bIns="0" rtlCol="0" anchor="t"/>
          <a:lstStyle/>
          <a:p>
            <a:pPr indent="0" marL="0">
              <a:buNone/>
            </a:pPr>
            <a:r>
              <a:rPr lang="en-US" sz="1250" b="1" dirty="0">
                <a:solidFill>
                  <a:srgbClr val="1B3A4B"/>
                </a:solidFill>
                <a:latin typeface="Calibri" pitchFamily="34" charset="0"/>
                <a:ea typeface="Calibri" pitchFamily="34" charset="-122"/>
                <a:cs typeface="Calibri" pitchFamily="34" charset="-120"/>
              </a:rPr>
              <a:t>Risk file frozen at design</a:t>
            </a:r>
            <a:endParaRPr lang="en-US" sz="1250" dirty="0"/>
          </a:p>
        </p:txBody>
      </p:sp>
      <p:sp>
        <p:nvSpPr>
          <p:cNvPr id="46" name="Text 44"/>
          <p:cNvSpPr txBox="1"/>
          <p:nvPr/>
        </p:nvSpPr>
        <p:spPr>
          <a:xfrm>
            <a:off x="9294647" y="5169408"/>
            <a:ext cx="2128952" cy="152400"/>
          </a:xfrm>
          <a:prstGeom prst="rect">
            <a:avLst/>
          </a:prstGeom>
          <a:noFill/>
          <a:ln/>
        </p:spPr>
        <p:txBody>
          <a:bodyPr wrap="square" lIns="0" tIns="0" rIns="0" bIns="0" rtlCol="0" anchor="t"/>
          <a:lstStyle/>
          <a:p>
            <a:pPr indent="0" marL="0">
              <a:lnSpc>
                <a:spcPct val="106000"/>
              </a:lnSpc>
              <a:buNone/>
            </a:pPr>
            <a:r>
              <a:rPr lang="en-US" sz="850" dirty="0">
                <a:solidFill>
                  <a:srgbClr val="22333B"/>
                </a:solidFill>
                <a:latin typeface="Calibri" pitchFamily="34" charset="0"/>
                <a:ea typeface="Calibri" pitchFamily="34" charset="-122"/>
                <a:cs typeface="Calibri" pitchFamily="34" charset="-120"/>
              </a:rPr>
              <a:t>ISO 14971 treated as a one-time deliverable rather than a process maintained through the product's life.</a:t>
            </a:r>
            <a:endParaRPr lang="en-US" sz="850" dirty="0"/>
          </a:p>
        </p:txBody>
      </p:sp>
      <p:sp>
        <p:nvSpPr>
          <p:cNvPr id="47" name="Shape 45"/>
          <p:cNvSpPr/>
          <p:nvPr/>
        </p:nvSpPr>
        <p:spPr>
          <a:xfrm>
            <a:off x="548640" y="5614416"/>
            <a:ext cx="11094415" cy="676656"/>
          </a:xfrm>
          <a:prstGeom prst="roundRect">
            <a:avLst>
              <a:gd name="adj" fmla="val 8108"/>
            </a:avLst>
          </a:prstGeom>
          <a:solidFill>
            <a:srgbClr val="EAF3F2"/>
          </a:solidFill>
          <a:ln w="12700">
            <a:solidFill>
              <a:srgbClr val="BFD9D6"/>
            </a:solidFill>
            <a:prstDash val="solid"/>
          </a:ln>
        </p:spPr>
      </p:sp>
      <p:sp>
        <p:nvSpPr>
          <p:cNvPr id="48" name="Text 46"/>
          <p:cNvSpPr txBox="1"/>
          <p:nvPr/>
        </p:nvSpPr>
        <p:spPr>
          <a:xfrm>
            <a:off x="786384" y="5614416"/>
            <a:ext cx="10618927" cy="676656"/>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The pattern: almost every one of these is a failure to maintain something, not a failure to create it. The initial build is usually fine. The lifecycle is where programmes erode.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3A4B"/>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310896"/>
          </a:xfrm>
          <a:prstGeom prst="rect">
            <a:avLst/>
          </a:prstGeom>
          <a:noFill/>
          <a:ln/>
        </p:spPr>
        <p:txBody>
          <a:bodyPr wrap="square" lIns="0" tIns="0" rIns="0" bIns="0" rtlCol="0" anchor="ctr"/>
          <a:lstStyle/>
          <a:p>
            <a:pPr indent="0" marL="0">
              <a:buNone/>
            </a:pPr>
            <a:r>
              <a:rPr lang="en-US" sz="1250" b="1" spc="200" kern="0" dirty="0">
                <a:solidFill>
                  <a:srgbClr val="C77C1E"/>
                </a:solidFill>
                <a:latin typeface="Calibri" pitchFamily="34" charset="0"/>
                <a:ea typeface="Calibri" pitchFamily="34" charset="-122"/>
                <a:cs typeface="Calibri" pitchFamily="34" charset="-120"/>
              </a:rPr>
              <a:t>WORKING SESSION ONE  ·  12 MINUTES</a:t>
            </a:r>
            <a:endParaRPr lang="en-US" sz="1250" dirty="0"/>
          </a:p>
        </p:txBody>
      </p:sp>
      <p:sp>
        <p:nvSpPr>
          <p:cNvPr id="3" name="Text 1"/>
          <p:cNvSpPr txBox="1"/>
          <p:nvPr/>
        </p:nvSpPr>
        <p:spPr>
          <a:xfrm>
            <a:off x="548640" y="804672"/>
            <a:ext cx="11094415" cy="603504"/>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Classify and scope</a:t>
            </a:r>
            <a:endParaRPr lang="en-US" sz="3200" dirty="0"/>
          </a:p>
        </p:txBody>
      </p:sp>
      <p:sp>
        <p:nvSpPr>
          <p:cNvPr id="4" name="Shape 2"/>
          <p:cNvSpPr/>
          <p:nvPr/>
        </p:nvSpPr>
        <p:spPr>
          <a:xfrm>
            <a:off x="548640" y="1536192"/>
            <a:ext cx="5394960" cy="4059936"/>
          </a:xfrm>
          <a:prstGeom prst="roundRect">
            <a:avLst>
              <a:gd name="adj" fmla="val 1577"/>
            </a:avLst>
          </a:prstGeom>
          <a:solidFill>
            <a:srgbClr val="24505F"/>
          </a:solidFill>
          <a:ln w="12700">
            <a:solidFill>
              <a:srgbClr val="3A6A7A"/>
            </a:solidFill>
            <a:prstDash val="solid"/>
          </a:ln>
        </p:spPr>
      </p:sp>
      <p:sp>
        <p:nvSpPr>
          <p:cNvPr id="5" name="Text 3"/>
          <p:cNvSpPr txBox="1"/>
          <p:nvPr/>
        </p:nvSpPr>
        <p:spPr>
          <a:xfrm>
            <a:off x="804672" y="1700784"/>
            <a:ext cx="4882896" cy="274320"/>
          </a:xfrm>
          <a:prstGeom prst="rect">
            <a:avLst/>
          </a:prstGeom>
          <a:noFill/>
          <a:ln/>
        </p:spPr>
        <p:txBody>
          <a:bodyPr wrap="square" lIns="0" tIns="0" rIns="0" bIns="0" rtlCol="0" anchor="ctr"/>
          <a:lstStyle/>
          <a:p>
            <a:pPr indent="0" marL="0">
              <a:buNone/>
            </a:pPr>
            <a:r>
              <a:rPr lang="en-US" sz="1100" b="1" spc="140" kern="0" dirty="0">
                <a:solidFill>
                  <a:srgbClr val="9EDDD3"/>
                </a:solidFill>
                <a:latin typeface="Calibri" pitchFamily="34" charset="0"/>
                <a:ea typeface="Calibri" pitchFamily="34" charset="-122"/>
                <a:cs typeface="Calibri" pitchFamily="34" charset="-120"/>
              </a:rPr>
              <a:t>THE PRODUCT</a:t>
            </a:r>
            <a:endParaRPr lang="en-US" sz="1100" dirty="0"/>
          </a:p>
        </p:txBody>
      </p:sp>
      <p:sp>
        <p:nvSpPr>
          <p:cNvPr id="6" name="Text 4"/>
          <p:cNvSpPr txBox="1"/>
          <p:nvPr/>
        </p:nvSpPr>
        <p:spPr>
          <a:xfrm>
            <a:off x="804672" y="2029968"/>
            <a:ext cx="4882896" cy="3419856"/>
          </a:xfrm>
          <a:prstGeom prst="rect">
            <a:avLst/>
          </a:prstGeom>
          <a:noFill/>
          <a:ln/>
        </p:spPr>
        <p:txBody>
          <a:bodyPr wrap="square" lIns="0" tIns="0" rIns="0" bIns="0" rtlCol="0" anchor="t"/>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A remote cardiac monitoring system, intended for ambulatory patients after a cardiac event.
</a:t>
            </a:r>
            <a:pPr indent="0" marL="0">
              <a:lnSpc>
                <a:spcPct val="100000"/>
              </a:lnSpc>
              <a:buNone/>
            </a:pPr>
            <a:r>
              <a:rPr lang="en-US" sz="1150" dirty="0">
                <a:solidFill>
                  <a:srgbClr val="D3E2E6"/>
                </a:solidFill>
                <a:latin typeface="Calibri" pitchFamily="34" charset="0"/>
                <a:ea typeface="Calibri" pitchFamily="34" charset="-122"/>
                <a:cs typeface="Calibri" pitchFamily="34" charset="-120"/>
              </a:rPr>
              <a:t>· An adhesive wearable patch records single-lead ECG continuously for up to 14 days.</a:t>
            </a:r>
            <a:endParaRPr lang="en-US" sz="1250" dirty="0"/>
          </a:p>
          <a:p>
            <a:pPr indent="0" marL="0">
              <a:lnSpc>
                <a:spcPct val="100000"/>
              </a:lnSpc>
              <a:buNone/>
            </a:pPr>
            <a:endParaRPr lang="en-US" sz="1250" dirty="0"/>
          </a:p>
          <a:p>
            <a:pPr indent="0" marL="0">
              <a:lnSpc>
                <a:spcPct val="100000"/>
              </a:lnSpc>
              <a:buNone/>
            </a:pPr>
            <a:r>
              <a:rPr lang="en-US" sz="1150" dirty="0">
                <a:solidFill>
                  <a:srgbClr val="D3E2E6"/>
                </a:solidFill>
                <a:latin typeface="Calibri" pitchFamily="34" charset="0"/>
                <a:ea typeface="Calibri" pitchFamily="34" charset="-122"/>
                <a:cs typeface="Calibri" pitchFamily="34" charset="-120"/>
              </a:rPr>
              <a:t>· The patch streams over Bluetooth Low Energy to a patient smartphone app, which forwards data to the manufacturer's cloud.</a:t>
            </a:r>
            <a:endParaRPr lang="en-US" sz="1250" dirty="0"/>
          </a:p>
          <a:p>
            <a:pPr indent="0" marL="0">
              <a:lnSpc>
                <a:spcPct val="100000"/>
              </a:lnSpc>
              <a:buNone/>
            </a:pPr>
            <a:endParaRPr lang="en-US" sz="1250" dirty="0"/>
          </a:p>
          <a:p>
            <a:pPr indent="0" marL="0">
              <a:lnSpc>
                <a:spcPct val="100000"/>
              </a:lnSpc>
              <a:buNone/>
            </a:pPr>
            <a:r>
              <a:rPr lang="en-US" sz="1150" dirty="0">
                <a:solidFill>
                  <a:srgbClr val="D3E2E6"/>
                </a:solidFill>
                <a:latin typeface="Calibri" pitchFamily="34" charset="0"/>
                <a:ea typeface="Calibri" pitchFamily="34" charset="-122"/>
                <a:cs typeface="Calibri" pitchFamily="34" charset="-120"/>
              </a:rPr>
              <a:t>· A cloud service runs a machine-learning algorithm that detects and classifies arrhythmias, and flags events for review.</a:t>
            </a:r>
            <a:endParaRPr lang="en-US" sz="1250" dirty="0"/>
          </a:p>
          <a:p>
            <a:pPr indent="0" marL="0">
              <a:lnSpc>
                <a:spcPct val="100000"/>
              </a:lnSpc>
              <a:buNone/>
            </a:pPr>
            <a:endParaRPr lang="en-US" sz="1250" dirty="0"/>
          </a:p>
          <a:p>
            <a:pPr indent="0" marL="0">
              <a:lnSpc>
                <a:spcPct val="100000"/>
              </a:lnSpc>
              <a:buNone/>
            </a:pPr>
            <a:r>
              <a:rPr lang="en-US" sz="1150" dirty="0">
                <a:solidFill>
                  <a:srgbClr val="D3E2E6"/>
                </a:solidFill>
                <a:latin typeface="Calibri" pitchFamily="34" charset="0"/>
                <a:ea typeface="Calibri" pitchFamily="34" charset="-122"/>
                <a:cs typeface="Calibri" pitchFamily="34" charset="-120"/>
              </a:rPr>
              <a:t>· A clinician web portal presents flagged events with the supporting ECG strip for confirmation and diagnosis.</a:t>
            </a:r>
            <a:endParaRPr lang="en-US" sz="1250" dirty="0"/>
          </a:p>
          <a:p>
            <a:pPr indent="0" marL="0">
              <a:lnSpc>
                <a:spcPct val="100000"/>
              </a:lnSpc>
              <a:buNone/>
            </a:pPr>
            <a:endParaRPr lang="en-US" sz="1250" dirty="0"/>
          </a:p>
          <a:p>
            <a:pPr indent="0" marL="0">
              <a:lnSpc>
                <a:spcPct val="100000"/>
              </a:lnSpc>
              <a:buNone/>
            </a:pPr>
            <a:r>
              <a:rPr lang="en-US" sz="1150" dirty="0">
                <a:solidFill>
                  <a:srgbClr val="D3E2E6"/>
                </a:solidFill>
                <a:latin typeface="Calibri" pitchFamily="34" charset="0"/>
                <a:ea typeface="Calibri" pitchFamily="34" charset="-122"/>
                <a:cs typeface="Calibri" pitchFamily="34" charset="-120"/>
              </a:rPr>
              <a:t>· The portal also contains a scheduling and billing module.</a:t>
            </a:r>
            <a:endParaRPr lang="en-US" sz="1250" dirty="0"/>
          </a:p>
          <a:p>
            <a:pPr indent="0" marL="0">
              <a:lnSpc>
                <a:spcPct val="100000"/>
              </a:lnSpc>
              <a:buNone/>
            </a:pPr>
            <a:endParaRPr lang="en-US" sz="1250" dirty="0"/>
          </a:p>
          <a:p>
            <a:pPr indent="0" marL="0">
              <a:lnSpc>
                <a:spcPct val="100000"/>
              </a:lnSpc>
              <a:buNone/>
            </a:pPr>
            <a:r>
              <a:rPr lang="en-US" sz="1150" dirty="0">
                <a:solidFill>
                  <a:srgbClr val="D3E2E6"/>
                </a:solidFill>
                <a:latin typeface="Calibri" pitchFamily="34" charset="0"/>
                <a:ea typeface="Calibri" pitchFamily="34" charset="-122"/>
                <a:cs typeface="Calibri" pitchFamily="34" charset="-120"/>
              </a:rPr>
              <a:t>· Patch firmware can be updated over the air via the app.</a:t>
            </a:r>
            <a:endParaRPr lang="en-US" sz="1250" dirty="0"/>
          </a:p>
        </p:txBody>
      </p:sp>
      <p:sp>
        <p:nvSpPr>
          <p:cNvPr id="7" name="Shape 5"/>
          <p:cNvSpPr/>
          <p:nvPr/>
        </p:nvSpPr>
        <p:spPr>
          <a:xfrm>
            <a:off x="6245352" y="1536192"/>
            <a:ext cx="5394960" cy="4059936"/>
          </a:xfrm>
          <a:prstGeom prst="roundRect">
            <a:avLst>
              <a:gd name="adj" fmla="val 1577"/>
            </a:avLst>
          </a:prstGeom>
          <a:solidFill>
            <a:srgbClr val="24505F"/>
          </a:solidFill>
          <a:ln w="12700">
            <a:solidFill>
              <a:srgbClr val="3A6A7A"/>
            </a:solidFill>
            <a:prstDash val="solid"/>
          </a:ln>
        </p:spPr>
      </p:sp>
      <p:sp>
        <p:nvSpPr>
          <p:cNvPr id="8" name="Text 6"/>
          <p:cNvSpPr txBox="1"/>
          <p:nvPr/>
        </p:nvSpPr>
        <p:spPr>
          <a:xfrm>
            <a:off x="6501384" y="1700784"/>
            <a:ext cx="4882896" cy="274320"/>
          </a:xfrm>
          <a:prstGeom prst="rect">
            <a:avLst/>
          </a:prstGeom>
          <a:noFill/>
          <a:ln/>
        </p:spPr>
        <p:txBody>
          <a:bodyPr wrap="square" lIns="0" tIns="0" rIns="0" bIns="0" rtlCol="0" anchor="ctr"/>
          <a:lstStyle/>
          <a:p>
            <a:pPr indent="0" marL="0">
              <a:buNone/>
            </a:pPr>
            <a:r>
              <a:rPr lang="en-US" sz="1100" b="1" spc="140" kern="0" dirty="0">
                <a:solidFill>
                  <a:srgbClr val="9EDDD3"/>
                </a:solidFill>
                <a:latin typeface="Calibri" pitchFamily="34" charset="0"/>
                <a:ea typeface="Calibri" pitchFamily="34" charset="-122"/>
                <a:cs typeface="Calibri" pitchFamily="34" charset="-120"/>
              </a:rPr>
              <a:t>YOUR TASK  —  WORKBOOK PAGE 5</a:t>
            </a:r>
            <a:endParaRPr lang="en-US" sz="1100" dirty="0"/>
          </a:p>
        </p:txBody>
      </p:sp>
      <p:sp>
        <p:nvSpPr>
          <p:cNvPr id="9" name="Shape 7"/>
          <p:cNvSpPr/>
          <p:nvPr/>
        </p:nvSpPr>
        <p:spPr>
          <a:xfrm>
            <a:off x="6501384" y="2176272"/>
            <a:ext cx="347472" cy="347472"/>
          </a:xfrm>
          <a:prstGeom prst="ellipse">
            <a:avLst/>
          </a:prstGeom>
          <a:solidFill>
            <a:srgbClr val="2A9D8F"/>
          </a:solidFill>
          <a:ln w="12700">
            <a:solidFill>
              <a:srgbClr val="333333"/>
            </a:solidFill>
            <a:prstDash val="solid"/>
          </a:ln>
        </p:spPr>
      </p:sp>
      <p:sp>
        <p:nvSpPr>
          <p:cNvPr id="10" name="Text 8"/>
          <p:cNvSpPr txBox="1"/>
          <p:nvPr/>
        </p:nvSpPr>
        <p:spPr>
          <a:xfrm>
            <a:off x="6501384" y="2176272"/>
            <a:ext cx="347472" cy="347472"/>
          </a:xfrm>
          <a:prstGeom prst="rect">
            <a:avLst/>
          </a:prstGeom>
          <a:noFill/>
          <a:ln/>
        </p:spPr>
        <p:txBody>
          <a:bodyPr wrap="square" lIns="0" tIns="0" rIns="0" bIns="0" rtlCol="0" anchor="ctr"/>
          <a:lstStyle/>
          <a:p>
            <a:pPr algn="ctr" indent="0" marL="0">
              <a:buNone/>
            </a:pPr>
            <a:r>
              <a:rPr lang="en-US" sz="1200" b="1" dirty="0">
                <a:solidFill>
                  <a:srgbClr val="12232E"/>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6986016" y="2048256"/>
            <a:ext cx="4389120" cy="640080"/>
          </a:xfrm>
          <a:prstGeom prst="rect">
            <a:avLst/>
          </a:prstGeom>
          <a:noFill/>
          <a:ln/>
        </p:spPr>
        <p:txBody>
          <a:bodyPr wrap="square" lIns="0" tIns="0" rIns="0" bIns="0" rtlCol="0" anchor="ctr"/>
          <a:lstStyle/>
          <a:p>
            <a:pPr indent="0" marL="0">
              <a:lnSpc>
                <a:spcPct val="102000"/>
              </a:lnSpc>
              <a:buNone/>
            </a:pPr>
            <a:r>
              <a:rPr lang="en-US" sz="1120" dirty="0">
                <a:solidFill>
                  <a:srgbClr val="E4EEF1"/>
                </a:solidFill>
                <a:latin typeface="Calibri" pitchFamily="34" charset="0"/>
                <a:ea typeface="Calibri" pitchFamily="34" charset="-122"/>
                <a:cs typeface="Calibri" pitchFamily="34" charset="-120"/>
              </a:rPr>
              <a:t>Break the product into software functions. For each, decide: SaMD, software in a device, or not a device at all?</a:t>
            </a:r>
            <a:endParaRPr lang="en-US" sz="1120" dirty="0"/>
          </a:p>
        </p:txBody>
      </p:sp>
      <p:sp>
        <p:nvSpPr>
          <p:cNvPr id="12" name="Shape 10"/>
          <p:cNvSpPr/>
          <p:nvPr/>
        </p:nvSpPr>
        <p:spPr>
          <a:xfrm>
            <a:off x="6501384" y="2889504"/>
            <a:ext cx="347472" cy="347472"/>
          </a:xfrm>
          <a:prstGeom prst="ellipse">
            <a:avLst/>
          </a:prstGeom>
          <a:solidFill>
            <a:srgbClr val="2A9D8F"/>
          </a:solidFill>
          <a:ln w="12700">
            <a:solidFill>
              <a:srgbClr val="333333"/>
            </a:solidFill>
            <a:prstDash val="solid"/>
          </a:ln>
        </p:spPr>
      </p:sp>
      <p:sp>
        <p:nvSpPr>
          <p:cNvPr id="13" name="Text 11"/>
          <p:cNvSpPr txBox="1"/>
          <p:nvPr/>
        </p:nvSpPr>
        <p:spPr>
          <a:xfrm>
            <a:off x="6501384" y="2889504"/>
            <a:ext cx="347472" cy="347472"/>
          </a:xfrm>
          <a:prstGeom prst="rect">
            <a:avLst/>
          </a:prstGeom>
          <a:noFill/>
          <a:ln/>
        </p:spPr>
        <p:txBody>
          <a:bodyPr wrap="square" lIns="0" tIns="0" rIns="0" bIns="0" rtlCol="0" anchor="ctr"/>
          <a:lstStyle/>
          <a:p>
            <a:pPr algn="ctr" indent="0" marL="0">
              <a:buNone/>
            </a:pPr>
            <a:r>
              <a:rPr lang="en-US" sz="1200" b="1" dirty="0">
                <a:solidFill>
                  <a:srgbClr val="12232E"/>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6986016" y="2761488"/>
            <a:ext cx="4389120" cy="640080"/>
          </a:xfrm>
          <a:prstGeom prst="rect">
            <a:avLst/>
          </a:prstGeom>
          <a:noFill/>
          <a:ln/>
        </p:spPr>
        <p:txBody>
          <a:bodyPr wrap="square" lIns="0" tIns="0" rIns="0" bIns="0" rtlCol="0" anchor="ctr"/>
          <a:lstStyle/>
          <a:p>
            <a:pPr indent="0" marL="0">
              <a:lnSpc>
                <a:spcPct val="102000"/>
              </a:lnSpc>
              <a:buNone/>
            </a:pPr>
            <a:r>
              <a:rPr lang="en-US" sz="1120" dirty="0">
                <a:solidFill>
                  <a:srgbClr val="E4EEF1"/>
                </a:solidFill>
                <a:latin typeface="Calibri" pitchFamily="34" charset="0"/>
                <a:ea typeface="Calibri" pitchFamily="34" charset="-122"/>
                <a:cs typeface="Calibri" pitchFamily="34" charset="-120"/>
              </a:rPr>
              <a:t>Assign an IEC 62304 safety class to each software item, and write one sentence of justification you would defend.</a:t>
            </a:r>
            <a:endParaRPr lang="en-US" sz="1120" dirty="0"/>
          </a:p>
        </p:txBody>
      </p:sp>
      <p:sp>
        <p:nvSpPr>
          <p:cNvPr id="15" name="Shape 13"/>
          <p:cNvSpPr/>
          <p:nvPr/>
        </p:nvSpPr>
        <p:spPr>
          <a:xfrm>
            <a:off x="6501384" y="3602736"/>
            <a:ext cx="347472" cy="347472"/>
          </a:xfrm>
          <a:prstGeom prst="ellipse">
            <a:avLst/>
          </a:prstGeom>
          <a:solidFill>
            <a:srgbClr val="2A9D8F"/>
          </a:solidFill>
          <a:ln w="12700">
            <a:solidFill>
              <a:srgbClr val="333333"/>
            </a:solidFill>
            <a:prstDash val="solid"/>
          </a:ln>
        </p:spPr>
      </p:sp>
      <p:sp>
        <p:nvSpPr>
          <p:cNvPr id="16" name="Text 14"/>
          <p:cNvSpPr txBox="1"/>
          <p:nvPr/>
        </p:nvSpPr>
        <p:spPr>
          <a:xfrm>
            <a:off x="6501384" y="3602736"/>
            <a:ext cx="347472" cy="347472"/>
          </a:xfrm>
          <a:prstGeom prst="rect">
            <a:avLst/>
          </a:prstGeom>
          <a:noFill/>
          <a:ln/>
        </p:spPr>
        <p:txBody>
          <a:bodyPr wrap="square" lIns="0" tIns="0" rIns="0" bIns="0" rtlCol="0" anchor="ctr"/>
          <a:lstStyle/>
          <a:p>
            <a:pPr algn="ctr" indent="0" marL="0">
              <a:buNone/>
            </a:pPr>
            <a:r>
              <a:rPr lang="en-US" sz="1200" b="1" dirty="0">
                <a:solidFill>
                  <a:srgbClr val="12232E"/>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986016" y="3474720"/>
            <a:ext cx="4389120" cy="640080"/>
          </a:xfrm>
          <a:prstGeom prst="rect">
            <a:avLst/>
          </a:prstGeom>
          <a:noFill/>
          <a:ln/>
        </p:spPr>
        <p:txBody>
          <a:bodyPr wrap="square" lIns="0" tIns="0" rIns="0" bIns="0" rtlCol="0" anchor="ctr"/>
          <a:lstStyle/>
          <a:p>
            <a:pPr indent="0" marL="0">
              <a:lnSpc>
                <a:spcPct val="102000"/>
              </a:lnSpc>
              <a:buNone/>
            </a:pPr>
            <a:r>
              <a:rPr lang="en-US" sz="1120" dirty="0">
                <a:solidFill>
                  <a:srgbClr val="E4EEF1"/>
                </a:solidFill>
                <a:latin typeface="Calibri" pitchFamily="34" charset="0"/>
                <a:ea typeface="Calibri" pitchFamily="34" charset="-122"/>
                <a:cs typeface="Calibri" pitchFamily="34" charset="-120"/>
              </a:rPr>
              <a:t>Basic or Enhanced documentation level? State which criterion drives your answer.</a:t>
            </a:r>
            <a:endParaRPr lang="en-US" sz="1120" dirty="0"/>
          </a:p>
        </p:txBody>
      </p:sp>
      <p:sp>
        <p:nvSpPr>
          <p:cNvPr id="18" name="Shape 16"/>
          <p:cNvSpPr/>
          <p:nvPr/>
        </p:nvSpPr>
        <p:spPr>
          <a:xfrm>
            <a:off x="6501384" y="4315968"/>
            <a:ext cx="347472" cy="347472"/>
          </a:xfrm>
          <a:prstGeom prst="ellipse">
            <a:avLst/>
          </a:prstGeom>
          <a:solidFill>
            <a:srgbClr val="2A9D8F"/>
          </a:solidFill>
          <a:ln w="12700">
            <a:solidFill>
              <a:srgbClr val="333333"/>
            </a:solidFill>
            <a:prstDash val="solid"/>
          </a:ln>
        </p:spPr>
      </p:sp>
      <p:sp>
        <p:nvSpPr>
          <p:cNvPr id="19" name="Text 17"/>
          <p:cNvSpPr txBox="1"/>
          <p:nvPr/>
        </p:nvSpPr>
        <p:spPr>
          <a:xfrm>
            <a:off x="6501384" y="4315968"/>
            <a:ext cx="347472" cy="347472"/>
          </a:xfrm>
          <a:prstGeom prst="rect">
            <a:avLst/>
          </a:prstGeom>
          <a:noFill/>
          <a:ln/>
        </p:spPr>
        <p:txBody>
          <a:bodyPr wrap="square" lIns="0" tIns="0" rIns="0" bIns="0" rtlCol="0" anchor="ctr"/>
          <a:lstStyle/>
          <a:p>
            <a:pPr algn="ctr" indent="0" marL="0">
              <a:buNone/>
            </a:pPr>
            <a:r>
              <a:rPr lang="en-US" sz="1200" b="1" dirty="0">
                <a:solidFill>
                  <a:srgbClr val="12232E"/>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6986016" y="4187952"/>
            <a:ext cx="4389120" cy="640080"/>
          </a:xfrm>
          <a:prstGeom prst="rect">
            <a:avLst/>
          </a:prstGeom>
          <a:noFill/>
          <a:ln/>
        </p:spPr>
        <p:txBody>
          <a:bodyPr wrap="square" lIns="0" tIns="0" rIns="0" bIns="0" rtlCol="0" anchor="ctr"/>
          <a:lstStyle/>
          <a:p>
            <a:pPr indent="0" marL="0">
              <a:lnSpc>
                <a:spcPct val="102000"/>
              </a:lnSpc>
              <a:buNone/>
            </a:pPr>
            <a:r>
              <a:rPr lang="en-US" sz="1120" dirty="0">
                <a:solidFill>
                  <a:srgbClr val="E4EEF1"/>
                </a:solidFill>
                <a:latin typeface="Calibri" pitchFamily="34" charset="0"/>
                <a:ea typeface="Calibri" pitchFamily="34" charset="-122"/>
                <a:cs typeface="Calibri" pitchFamily="34" charset="-120"/>
              </a:rPr>
              <a:t>Is this a cyber device under section 524B? Why?</a:t>
            </a:r>
            <a:endParaRPr lang="en-US" sz="1120" dirty="0"/>
          </a:p>
        </p:txBody>
      </p:sp>
      <p:sp>
        <p:nvSpPr>
          <p:cNvPr id="21" name="Shape 19"/>
          <p:cNvSpPr/>
          <p:nvPr/>
        </p:nvSpPr>
        <p:spPr>
          <a:xfrm>
            <a:off x="6501384" y="5029200"/>
            <a:ext cx="347472" cy="347472"/>
          </a:xfrm>
          <a:prstGeom prst="ellipse">
            <a:avLst/>
          </a:prstGeom>
          <a:solidFill>
            <a:srgbClr val="2A9D8F"/>
          </a:solidFill>
          <a:ln w="12700">
            <a:solidFill>
              <a:srgbClr val="333333"/>
            </a:solidFill>
            <a:prstDash val="solid"/>
          </a:ln>
        </p:spPr>
      </p:sp>
      <p:sp>
        <p:nvSpPr>
          <p:cNvPr id="22" name="Text 20"/>
          <p:cNvSpPr txBox="1"/>
          <p:nvPr/>
        </p:nvSpPr>
        <p:spPr>
          <a:xfrm>
            <a:off x="6501384" y="5029200"/>
            <a:ext cx="347472" cy="347472"/>
          </a:xfrm>
          <a:prstGeom prst="rect">
            <a:avLst/>
          </a:prstGeom>
          <a:noFill/>
          <a:ln/>
        </p:spPr>
        <p:txBody>
          <a:bodyPr wrap="square" lIns="0" tIns="0" rIns="0" bIns="0" rtlCol="0" anchor="ctr"/>
          <a:lstStyle/>
          <a:p>
            <a:pPr algn="ctr" indent="0" marL="0">
              <a:buNone/>
            </a:pPr>
            <a:r>
              <a:rPr lang="en-US" sz="1200" b="1" dirty="0">
                <a:solidFill>
                  <a:srgbClr val="12232E"/>
                </a:solidFill>
                <a:latin typeface="Calibri" pitchFamily="34" charset="0"/>
                <a:ea typeface="Calibri" pitchFamily="34" charset="-122"/>
                <a:cs typeface="Calibri" pitchFamily="34" charset="-120"/>
              </a:rPr>
              <a:t>5</a:t>
            </a:r>
            <a:endParaRPr lang="en-US" sz="1200" dirty="0"/>
          </a:p>
        </p:txBody>
      </p:sp>
      <p:sp>
        <p:nvSpPr>
          <p:cNvPr id="23" name="Text 21"/>
          <p:cNvSpPr txBox="1"/>
          <p:nvPr/>
        </p:nvSpPr>
        <p:spPr>
          <a:xfrm>
            <a:off x="6986016" y="4901184"/>
            <a:ext cx="4389120" cy="640080"/>
          </a:xfrm>
          <a:prstGeom prst="rect">
            <a:avLst/>
          </a:prstGeom>
          <a:noFill/>
          <a:ln/>
        </p:spPr>
        <p:txBody>
          <a:bodyPr wrap="square" lIns="0" tIns="0" rIns="0" bIns="0" rtlCol="0" anchor="ctr"/>
          <a:lstStyle/>
          <a:p>
            <a:pPr indent="0" marL="0">
              <a:lnSpc>
                <a:spcPct val="102000"/>
              </a:lnSpc>
              <a:buNone/>
            </a:pPr>
            <a:r>
              <a:rPr lang="en-US" sz="1120" dirty="0">
                <a:solidFill>
                  <a:srgbClr val="E4EEF1"/>
                </a:solidFill>
                <a:latin typeface="Calibri" pitchFamily="34" charset="0"/>
                <a:ea typeface="Calibri" pitchFamily="34" charset="-122"/>
                <a:cs typeface="Calibri" pitchFamily="34" charset="-120"/>
              </a:rPr>
              <a:t>Name three SOUP items you would expect to find, and what you must document for each.</a:t>
            </a:r>
            <a:endParaRPr lang="en-US" sz="1120" dirty="0"/>
          </a:p>
        </p:txBody>
      </p:sp>
      <p:sp>
        <p:nvSpPr>
          <p:cNvPr id="24" name="Text 22"/>
          <p:cNvSpPr txBox="1"/>
          <p:nvPr/>
        </p:nvSpPr>
        <p:spPr>
          <a:xfrm>
            <a:off x="548640" y="5797296"/>
            <a:ext cx="11094415" cy="329184"/>
          </a:xfrm>
          <a:prstGeom prst="rect">
            <a:avLst/>
          </a:prstGeom>
          <a:noFill/>
          <a:ln/>
        </p:spPr>
        <p:txBody>
          <a:bodyPr wrap="square" lIns="0" tIns="0" rIns="0" bIns="0" rtlCol="0" anchor="ctr"/>
          <a:lstStyle/>
          <a:p>
            <a:pPr indent="0" marL="0">
              <a:buNone/>
            </a:pPr>
            <a:r>
              <a:rPr lang="en-US" sz="1200" i="1" dirty="0">
                <a:solidFill>
                  <a:srgbClr val="9DB6BE"/>
                </a:solidFill>
                <a:latin typeface="Calibri" pitchFamily="34" charset="0"/>
                <a:ea typeface="Calibri" pitchFamily="34" charset="-122"/>
                <a:cs typeface="Calibri" pitchFamily="34" charset="-120"/>
              </a:rPr>
              <a:t>8 minutes at your table  ·  4 minutes reporting back  ·  There is no single right answer — I want your reasoning</a:t>
            </a:r>
            <a:endParaRPr lang="en-US" sz="1200" dirty="0"/>
          </a:p>
        </p:txBody>
      </p:sp>
      <p:sp>
        <p:nvSpPr>
          <p:cNvPr id="25" name="Text 2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2057400"/>
            <a:ext cx="11094415" cy="292608"/>
          </a:xfrm>
          <a:prstGeom prst="rect">
            <a:avLst/>
          </a:prstGeom>
          <a:noFill/>
          <a:ln/>
        </p:spPr>
        <p:txBody>
          <a:bodyPr wrap="square" lIns="0" tIns="0" rIns="0" bIns="0" rtlCol="0" anchor="ctr"/>
          <a:lstStyle/>
          <a:p>
            <a:pPr indent="0" marL="0">
              <a:buNone/>
            </a:pPr>
            <a:r>
              <a:rPr lang="en-US" sz="1300" b="1" spc="220" kern="0" dirty="0">
                <a:solidFill>
                  <a:srgbClr val="2A9D8F"/>
                </a:solidFill>
                <a:latin typeface="Calibri" pitchFamily="34" charset="0"/>
                <a:ea typeface="Calibri" pitchFamily="34" charset="-122"/>
                <a:cs typeface="Calibri" pitchFamily="34" charset="-120"/>
              </a:rPr>
              <a:t>PART THREE</a:t>
            </a:r>
            <a:endParaRPr lang="en-US" sz="1300" dirty="0"/>
          </a:p>
        </p:txBody>
      </p:sp>
      <p:sp>
        <p:nvSpPr>
          <p:cNvPr id="3" name="Text 1"/>
          <p:cNvSpPr txBox="1"/>
          <p:nvPr/>
        </p:nvSpPr>
        <p:spPr>
          <a:xfrm>
            <a:off x="548640" y="2450592"/>
            <a:ext cx="9692640" cy="11430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Cybersecurity</a:t>
            </a:r>
            <a:endParaRPr lang="en-US" sz="4000" dirty="0"/>
          </a:p>
        </p:txBody>
      </p:sp>
      <p:sp>
        <p:nvSpPr>
          <p:cNvPr id="4" name="Text 2"/>
          <p:cNvSpPr txBox="1"/>
          <p:nvPr/>
        </p:nvSpPr>
        <p:spPr>
          <a:xfrm>
            <a:off x="548640" y="3657600"/>
            <a:ext cx="8961120" cy="822960"/>
          </a:xfrm>
          <a:prstGeom prst="rect">
            <a:avLst/>
          </a:prstGeom>
          <a:noFill/>
          <a:ln/>
        </p:spPr>
        <p:txBody>
          <a:bodyPr wrap="square" lIns="0" tIns="0" rIns="0" bIns="0" rtlCol="0" anchor="ctr"/>
          <a:lstStyle/>
          <a:p>
            <a:pPr indent="0" marL="0">
              <a:buNone/>
            </a:pPr>
            <a:r>
              <a:rPr lang="en-US" sz="1500" dirty="0">
                <a:solidFill>
                  <a:srgbClr val="BCCCD2"/>
                </a:solidFill>
                <a:latin typeface="Calibri" pitchFamily="34" charset="0"/>
                <a:ea typeface="Calibri" pitchFamily="34" charset="-122"/>
                <a:cs typeface="Calibri" pitchFamily="34" charset="-120"/>
              </a:rPr>
              <a:t>Security is a safety property of a connected device — and now a statutory one.</a:t>
            </a:r>
            <a:endParaRPr lang="en-US" sz="1500" dirty="0"/>
          </a:p>
        </p:txBody>
      </p:sp>
      <p:sp>
        <p:nvSpPr>
          <p:cNvPr id="5" name="Text 3"/>
          <p:cNvSpPr txBox="1"/>
          <p:nvPr/>
        </p:nvSpPr>
        <p:spPr>
          <a:xfrm>
            <a:off x="548640" y="4617720"/>
            <a:ext cx="5486400" cy="320040"/>
          </a:xfrm>
          <a:prstGeom prst="rect">
            <a:avLst/>
          </a:prstGeom>
          <a:noFill/>
          <a:ln/>
        </p:spPr>
        <p:txBody>
          <a:bodyPr wrap="square" lIns="0" tIns="0" rIns="0" bIns="0" rtlCol="0" anchor="ctr"/>
          <a:lstStyle/>
          <a:p>
            <a:pPr indent="0" marL="0">
              <a:buNone/>
            </a:pPr>
            <a:r>
              <a:rPr lang="en-US" sz="1200" b="1" spc="100" kern="0" dirty="0">
                <a:solidFill>
                  <a:srgbClr val="C77C1E"/>
                </a:solidFill>
                <a:latin typeface="Calibri" pitchFamily="34" charset="0"/>
                <a:ea typeface="Calibri" pitchFamily="34" charset="-122"/>
                <a:cs typeface="Calibri" pitchFamily="34" charset="-120"/>
              </a:rPr>
              <a:t>30 minutes</a:t>
            </a:r>
            <a:endParaRPr lang="en-US" sz="1200" dirty="0"/>
          </a:p>
        </p:txBody>
      </p:sp>
      <p:sp>
        <p:nvSpPr>
          <p:cNvPr id="6" name="Text 4"/>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LANDSCAPE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The threat picture, honestly stated</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548640" y="1627632"/>
            <a:ext cx="5410048" cy="1764792"/>
          </a:xfrm>
          <a:prstGeom prst="roundRect">
            <a:avLst>
              <a:gd name="adj" fmla="val 3627"/>
            </a:avLst>
          </a:prstGeom>
          <a:solidFill>
            <a:srgbClr val="F1F5F6"/>
          </a:solidFill>
          <a:ln w="12700">
            <a:solidFill>
              <a:srgbClr val="D7E2E5"/>
            </a:solidFill>
            <a:prstDash val="solid"/>
          </a:ln>
        </p:spPr>
      </p:sp>
      <p:sp>
        <p:nvSpPr>
          <p:cNvPr id="7" name="Text 5"/>
          <p:cNvSpPr txBox="1"/>
          <p:nvPr/>
        </p:nvSpPr>
        <p:spPr>
          <a:xfrm>
            <a:off x="768096" y="1828800"/>
            <a:ext cx="4971136" cy="344424"/>
          </a:xfrm>
          <a:prstGeom prst="rect">
            <a:avLst/>
          </a:prstGeom>
          <a:noFill/>
          <a:ln/>
        </p:spPr>
        <p:txBody>
          <a:bodyPr wrap="square" lIns="0" tIns="0" rIns="0" bIns="0" rtlCol="0" anchor="t"/>
          <a:lstStyle/>
          <a:p>
            <a:pPr indent="0" marL="0">
              <a:buNone/>
            </a:pPr>
            <a:r>
              <a:rPr lang="en-US" sz="1650" b="1" dirty="0">
                <a:solidFill>
                  <a:srgbClr val="0E7C7B"/>
                </a:solidFill>
                <a:latin typeface="Calibri" pitchFamily="34" charset="0"/>
                <a:ea typeface="Calibri" pitchFamily="34" charset="-122"/>
                <a:cs typeface="Calibri" pitchFamily="34" charset="-120"/>
              </a:rPr>
              <a:t>Most device impact is collateral</a:t>
            </a:r>
            <a:endParaRPr lang="en-US" sz="1650" dirty="0"/>
          </a:p>
        </p:txBody>
      </p:sp>
      <p:sp>
        <p:nvSpPr>
          <p:cNvPr id="8" name="Text 6"/>
          <p:cNvSpPr txBox="1"/>
          <p:nvPr/>
        </p:nvSpPr>
        <p:spPr>
          <a:xfrm>
            <a:off x="768096" y="2209800"/>
            <a:ext cx="4971136" cy="1036320"/>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Devices are rarely the target. The hospital is. Ransomware that encrypts a network takes down every device that depends on it, and every unsupported operating system on it, without anyone intending to attack a medical device at all.</a:t>
            </a:r>
            <a:endParaRPr lang="en-US" sz="1150" dirty="0"/>
          </a:p>
        </p:txBody>
      </p:sp>
      <p:sp>
        <p:nvSpPr>
          <p:cNvPr id="9" name="Shape 7"/>
          <p:cNvSpPr/>
          <p:nvPr/>
        </p:nvSpPr>
        <p:spPr>
          <a:xfrm>
            <a:off x="6233008" y="1627632"/>
            <a:ext cx="5410048" cy="1764792"/>
          </a:xfrm>
          <a:prstGeom prst="roundRect">
            <a:avLst>
              <a:gd name="adj" fmla="val 3627"/>
            </a:avLst>
          </a:prstGeom>
          <a:solidFill>
            <a:srgbClr val="F1F5F6"/>
          </a:solidFill>
          <a:ln w="12700">
            <a:solidFill>
              <a:srgbClr val="D7E2E5"/>
            </a:solidFill>
            <a:prstDash val="solid"/>
          </a:ln>
        </p:spPr>
      </p:sp>
      <p:sp>
        <p:nvSpPr>
          <p:cNvPr id="10" name="Text 8"/>
          <p:cNvSpPr txBox="1"/>
          <p:nvPr/>
        </p:nvSpPr>
        <p:spPr>
          <a:xfrm>
            <a:off x="6452464" y="1828800"/>
            <a:ext cx="4971136" cy="344424"/>
          </a:xfrm>
          <a:prstGeom prst="rect">
            <a:avLst/>
          </a:prstGeom>
          <a:noFill/>
          <a:ln/>
        </p:spPr>
        <p:txBody>
          <a:bodyPr wrap="square" lIns="0" tIns="0" rIns="0" bIns="0" rtlCol="0" anchor="t"/>
          <a:lstStyle/>
          <a:p>
            <a:pPr indent="0" marL="0">
              <a:buNone/>
            </a:pPr>
            <a:r>
              <a:rPr lang="en-US" sz="1650" b="1" dirty="0">
                <a:solidFill>
                  <a:srgbClr val="2A9D8F"/>
                </a:solidFill>
                <a:latin typeface="Calibri" pitchFamily="34" charset="0"/>
                <a:ea typeface="Calibri" pitchFamily="34" charset="-122"/>
                <a:cs typeface="Calibri" pitchFamily="34" charset="-120"/>
              </a:rPr>
              <a:t>The perimeter is not yours</a:t>
            </a:r>
            <a:endParaRPr lang="en-US" sz="1650" dirty="0"/>
          </a:p>
        </p:txBody>
      </p:sp>
      <p:sp>
        <p:nvSpPr>
          <p:cNvPr id="11" name="Text 9"/>
          <p:cNvSpPr txBox="1"/>
          <p:nvPr/>
        </p:nvSpPr>
        <p:spPr>
          <a:xfrm>
            <a:off x="6452464" y="2209800"/>
            <a:ext cx="4971136" cy="1036320"/>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Your device lives on a network you do not control, administered by people you do not employ, alongside equipment you have never seen. Design as if the network is already hostile, because from your position it is indistinguishable from one that is.</a:t>
            </a:r>
            <a:endParaRPr lang="en-US" sz="1150" dirty="0"/>
          </a:p>
        </p:txBody>
      </p:sp>
      <p:sp>
        <p:nvSpPr>
          <p:cNvPr id="12" name="Shape 10"/>
          <p:cNvSpPr/>
          <p:nvPr/>
        </p:nvSpPr>
        <p:spPr>
          <a:xfrm>
            <a:off x="548640" y="3666744"/>
            <a:ext cx="5410048" cy="1764792"/>
          </a:xfrm>
          <a:prstGeom prst="roundRect">
            <a:avLst>
              <a:gd name="adj" fmla="val 3627"/>
            </a:avLst>
          </a:prstGeom>
          <a:solidFill>
            <a:srgbClr val="F1F5F6"/>
          </a:solidFill>
          <a:ln w="12700">
            <a:solidFill>
              <a:srgbClr val="D7E2E5"/>
            </a:solidFill>
            <a:prstDash val="solid"/>
          </a:ln>
        </p:spPr>
      </p:sp>
      <p:sp>
        <p:nvSpPr>
          <p:cNvPr id="13" name="Text 11"/>
          <p:cNvSpPr txBox="1"/>
          <p:nvPr/>
        </p:nvSpPr>
        <p:spPr>
          <a:xfrm>
            <a:off x="768096" y="3867912"/>
            <a:ext cx="4971136" cy="344424"/>
          </a:xfrm>
          <a:prstGeom prst="rect">
            <a:avLst/>
          </a:prstGeom>
          <a:noFill/>
          <a:ln/>
        </p:spPr>
        <p:txBody>
          <a:bodyPr wrap="square" lIns="0" tIns="0" rIns="0" bIns="0" rtlCol="0" anchor="t"/>
          <a:lstStyle/>
          <a:p>
            <a:pPr indent="0" marL="0">
              <a:buNone/>
            </a:pPr>
            <a:r>
              <a:rPr lang="en-US" sz="1650" b="1" dirty="0">
                <a:solidFill>
                  <a:srgbClr val="C77C1E"/>
                </a:solidFill>
                <a:latin typeface="Calibri" pitchFamily="34" charset="0"/>
                <a:ea typeface="Calibri" pitchFamily="34" charset="-122"/>
                <a:cs typeface="Calibri" pitchFamily="34" charset="-120"/>
              </a:rPr>
              <a:t>Availability is a clinical risk</a:t>
            </a:r>
            <a:endParaRPr lang="en-US" sz="1650" dirty="0"/>
          </a:p>
        </p:txBody>
      </p:sp>
      <p:sp>
        <p:nvSpPr>
          <p:cNvPr id="14" name="Text 12"/>
          <p:cNvSpPr txBox="1"/>
          <p:nvPr/>
        </p:nvSpPr>
        <p:spPr>
          <a:xfrm>
            <a:off x="768096" y="4248912"/>
            <a:ext cx="4971136" cy="1036320"/>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In most industries confidentiality dominates. In healthcare delivery, a device that will not turn on during a procedure is the more immediate patient risk. Weight your analysis accordingly — this inverts a lot of generic security advice.</a:t>
            </a:r>
            <a:endParaRPr lang="en-US" sz="1150" dirty="0"/>
          </a:p>
        </p:txBody>
      </p:sp>
      <p:sp>
        <p:nvSpPr>
          <p:cNvPr id="15" name="Shape 13"/>
          <p:cNvSpPr/>
          <p:nvPr/>
        </p:nvSpPr>
        <p:spPr>
          <a:xfrm>
            <a:off x="6233008" y="3666744"/>
            <a:ext cx="5410048" cy="1764792"/>
          </a:xfrm>
          <a:prstGeom prst="roundRect">
            <a:avLst>
              <a:gd name="adj" fmla="val 3627"/>
            </a:avLst>
          </a:prstGeom>
          <a:solidFill>
            <a:srgbClr val="F1F5F6"/>
          </a:solidFill>
          <a:ln w="12700">
            <a:solidFill>
              <a:srgbClr val="D7E2E5"/>
            </a:solidFill>
            <a:prstDash val="solid"/>
          </a:ln>
        </p:spPr>
      </p:sp>
      <p:sp>
        <p:nvSpPr>
          <p:cNvPr id="16" name="Text 14"/>
          <p:cNvSpPr txBox="1"/>
          <p:nvPr/>
        </p:nvSpPr>
        <p:spPr>
          <a:xfrm>
            <a:off x="6452464" y="3867912"/>
            <a:ext cx="4971136" cy="344424"/>
          </a:xfrm>
          <a:prstGeom prst="rect">
            <a:avLst/>
          </a:prstGeom>
          <a:noFill/>
          <a:ln/>
        </p:spPr>
        <p:txBody>
          <a:bodyPr wrap="square" lIns="0" tIns="0" rIns="0" bIns="0" rtlCol="0" anchor="t"/>
          <a:lstStyle/>
          <a:p>
            <a:pPr indent="0" marL="0">
              <a:buNone/>
            </a:pPr>
            <a:r>
              <a:rPr lang="en-US" sz="1650" b="1" dirty="0">
                <a:solidFill>
                  <a:srgbClr val="A83A3C"/>
                </a:solidFill>
                <a:latin typeface="Calibri" pitchFamily="34" charset="0"/>
                <a:ea typeface="Calibri" pitchFamily="34" charset="-122"/>
                <a:cs typeface="Calibri" pitchFamily="34" charset="-120"/>
              </a:rPr>
              <a:t>The researcher is not the adversary</a:t>
            </a:r>
            <a:endParaRPr lang="en-US" sz="1650" dirty="0"/>
          </a:p>
        </p:txBody>
      </p:sp>
      <p:sp>
        <p:nvSpPr>
          <p:cNvPr id="17" name="Text 15"/>
          <p:cNvSpPr txBox="1"/>
          <p:nvPr/>
        </p:nvSpPr>
        <p:spPr>
          <a:xfrm>
            <a:off x="6452464" y="4248912"/>
            <a:ext cx="4971136" cy="1036320"/>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Most vulnerabilities reach manufacturers through security researchers acting in good faith. How you receive that contact determines whether you get a coordinated 90-day window or a conference talk. This is a process you choose to have.</a:t>
            </a:r>
            <a:endParaRPr lang="en-US" sz="1150" dirty="0"/>
          </a:p>
        </p:txBody>
      </p:sp>
      <p:sp>
        <p:nvSpPr>
          <p:cNvPr id="18" name="Shape 16"/>
          <p:cNvSpPr/>
          <p:nvPr/>
        </p:nvSpPr>
        <p:spPr>
          <a:xfrm>
            <a:off x="548640" y="5577840"/>
            <a:ext cx="11094415" cy="694944"/>
          </a:xfrm>
          <a:prstGeom prst="roundRect">
            <a:avLst>
              <a:gd name="adj" fmla="val 7895"/>
            </a:avLst>
          </a:prstGeom>
          <a:solidFill>
            <a:srgbClr val="EAF3F2"/>
          </a:solidFill>
          <a:ln w="12700">
            <a:solidFill>
              <a:srgbClr val="BFD9D6"/>
            </a:solidFill>
            <a:prstDash val="solid"/>
          </a:ln>
        </p:spPr>
      </p:sp>
      <p:sp>
        <p:nvSpPr>
          <p:cNvPr id="19" name="Text 17"/>
          <p:cNvSpPr txBox="1"/>
          <p:nvPr/>
        </p:nvSpPr>
        <p:spPr>
          <a:xfrm>
            <a:off x="786384" y="5577840"/>
            <a:ext cx="10618927" cy="694944"/>
          </a:xfrm>
          <a:prstGeom prst="rect">
            <a:avLst/>
          </a:prstGeom>
          <a:noFill/>
          <a:ln/>
        </p:spPr>
        <p:txBody>
          <a:bodyPr wrap="square" lIns="0" tIns="0" rIns="0" bIns="0" rtlCol="0" anchor="ctr"/>
          <a:lstStyle/>
          <a:p>
            <a:pPr indent="0" marL="0">
              <a:buNone/>
            </a:pPr>
            <a:r>
              <a:rPr lang="en-US" sz="1300" b="1" dirty="0">
                <a:solidFill>
                  <a:srgbClr val="1B3A4B"/>
                </a:solidFill>
                <a:latin typeface="Calibri" pitchFamily="34" charset="0"/>
                <a:ea typeface="Calibri" pitchFamily="34" charset="-122"/>
                <a:cs typeface="Calibri" pitchFamily="34" charset="-120"/>
              </a:rPr>
              <a:t>The useful question is not 'would anyone bother to attack our device?' It is 'what happens to our device when the hospital around it is attacked?'</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CASE FILES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Three that shaped the expectations</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48640" y="1572768"/>
            <a:ext cx="3515258" cy="3657600"/>
          </a:xfrm>
          <a:prstGeom prst="roundRect">
            <a:avLst>
              <a:gd name="adj" fmla="val 1821"/>
            </a:avLst>
          </a:prstGeom>
          <a:solidFill>
            <a:srgbClr val="F1F5F6"/>
          </a:solidFill>
          <a:ln w="12700">
            <a:solidFill>
              <a:srgbClr val="D7E2E5"/>
            </a:solidFill>
            <a:prstDash val="solid"/>
          </a:ln>
        </p:spPr>
      </p:sp>
      <p:sp>
        <p:nvSpPr>
          <p:cNvPr id="7" name="Shape 5"/>
          <p:cNvSpPr/>
          <p:nvPr/>
        </p:nvSpPr>
        <p:spPr>
          <a:xfrm>
            <a:off x="768096" y="1755648"/>
            <a:ext cx="841248" cy="384048"/>
          </a:xfrm>
          <a:prstGeom prst="roundRect">
            <a:avLst>
              <a:gd name="adj" fmla="val 14286"/>
            </a:avLst>
          </a:prstGeom>
          <a:solidFill>
            <a:srgbClr val="0E7C7B"/>
          </a:solidFill>
          <a:ln w="12700">
            <a:solidFill>
              <a:srgbClr val="333333"/>
            </a:solidFill>
            <a:prstDash val="solid"/>
          </a:ln>
        </p:spPr>
      </p:sp>
      <p:sp>
        <p:nvSpPr>
          <p:cNvPr id="8" name="Text 6"/>
          <p:cNvSpPr txBox="1"/>
          <p:nvPr/>
        </p:nvSpPr>
        <p:spPr>
          <a:xfrm>
            <a:off x="768096" y="1755648"/>
            <a:ext cx="8412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2017</a:t>
            </a:r>
            <a:endParaRPr lang="en-US" sz="1200" dirty="0"/>
          </a:p>
        </p:txBody>
      </p:sp>
      <p:sp>
        <p:nvSpPr>
          <p:cNvPr id="9" name="Text 7"/>
          <p:cNvSpPr txBox="1"/>
          <p:nvPr/>
        </p:nvSpPr>
        <p:spPr>
          <a:xfrm>
            <a:off x="768096" y="2249424"/>
            <a:ext cx="3076346" cy="475488"/>
          </a:xfrm>
          <a:prstGeom prst="rect">
            <a:avLst/>
          </a:prstGeom>
          <a:noFill/>
          <a:ln/>
        </p:spPr>
        <p:txBody>
          <a:bodyPr wrap="square" lIns="0" tIns="0" rIns="0" bIns="0" rtlCol="0" anchor="t"/>
          <a:lstStyle/>
          <a:p>
            <a:pPr indent="0" marL="0">
              <a:buNone/>
            </a:pPr>
            <a:r>
              <a:rPr lang="en-US" sz="1450" b="1" dirty="0">
                <a:solidFill>
                  <a:srgbClr val="1B3A4B"/>
                </a:solidFill>
                <a:latin typeface="Calibri" pitchFamily="34" charset="0"/>
                <a:ea typeface="Calibri" pitchFamily="34" charset="-122"/>
                <a:cs typeface="Calibri" pitchFamily="34" charset="-120"/>
              </a:rPr>
              <a:t>Pacemaker firmware update</a:t>
            </a:r>
            <a:endParaRPr lang="en-US" sz="1450" dirty="0"/>
          </a:p>
        </p:txBody>
      </p:sp>
      <p:sp>
        <p:nvSpPr>
          <p:cNvPr id="10" name="Text 8"/>
          <p:cNvSpPr txBox="1"/>
          <p:nvPr/>
        </p:nvSpPr>
        <p:spPr>
          <a:xfrm>
            <a:off x="768096" y="2743200"/>
            <a:ext cx="3076346" cy="1207008"/>
          </a:xfrm>
          <a:prstGeom prst="rect">
            <a:avLst/>
          </a:prstGeom>
          <a:noFill/>
          <a:ln/>
        </p:spPr>
        <p:txBody>
          <a:bodyPr wrap="square" lIns="0" tIns="0" rIns="0" bIns="0" rtlCol="0" anchor="t"/>
          <a:lstStyle/>
          <a:p>
            <a:pPr indent="0" marL="0">
              <a:lnSpc>
                <a:spcPct val="104000"/>
              </a:lnSpc>
              <a:buNone/>
            </a:pPr>
            <a:r>
              <a:rPr lang="en-US" sz="1080" dirty="0">
                <a:solidFill>
                  <a:srgbClr val="22333B"/>
                </a:solidFill>
                <a:latin typeface="Calibri" pitchFamily="34" charset="0"/>
                <a:ea typeface="Calibri" pitchFamily="34" charset="-122"/>
                <a:cs typeface="Calibri" pitchFamily="34" charset="-120"/>
              </a:rPr>
              <a:t>FDA issued a safety communication about vulnerabilities in certain implantable cardiac devices, addressed by a firmware update applied at a clinical visit. Hundreds of thousands of implanted devices were affected.</a:t>
            </a:r>
            <a:endParaRPr lang="en-US" sz="1080" dirty="0"/>
          </a:p>
        </p:txBody>
      </p:sp>
      <p:sp>
        <p:nvSpPr>
          <p:cNvPr id="11" name="Shape 9"/>
          <p:cNvSpPr/>
          <p:nvPr/>
        </p:nvSpPr>
        <p:spPr>
          <a:xfrm>
            <a:off x="768096" y="3986784"/>
            <a:ext cx="3076346" cy="1133856"/>
          </a:xfrm>
          <a:prstGeom prst="roundRect">
            <a:avLst>
              <a:gd name="adj" fmla="val 4032"/>
            </a:avLst>
          </a:prstGeom>
          <a:solidFill>
            <a:srgbClr val="EAF3F2"/>
          </a:solidFill>
          <a:ln w="12700">
            <a:solidFill>
              <a:srgbClr val="BFD9D6"/>
            </a:solidFill>
            <a:prstDash val="solid"/>
          </a:ln>
        </p:spPr>
      </p:sp>
      <p:sp>
        <p:nvSpPr>
          <p:cNvPr id="12" name="Text 10"/>
          <p:cNvSpPr txBox="1"/>
          <p:nvPr/>
        </p:nvSpPr>
        <p:spPr>
          <a:xfrm>
            <a:off x="914400" y="4078224"/>
            <a:ext cx="2783738" cy="969264"/>
          </a:xfrm>
          <a:prstGeom prst="rect">
            <a:avLst/>
          </a:prstGeom>
          <a:noFill/>
          <a:ln/>
        </p:spPr>
        <p:txBody>
          <a:bodyPr wrap="square" lIns="0" tIns="0" rIns="0" bIns="0" rtlCol="0" anchor="t"/>
          <a:lstStyle/>
          <a:p>
            <a:pPr indent="0" marL="0">
              <a:lnSpc>
                <a:spcPct val="102000"/>
              </a:lnSpc>
              <a:buNone/>
            </a:pPr>
            <a:r>
              <a:rPr lang="en-US" sz="900" b="1" spc="100" kern="0" dirty="0">
                <a:solidFill>
                  <a:srgbClr val="0E7C7B"/>
                </a:solidFill>
                <a:latin typeface="Calibri" pitchFamily="34" charset="0"/>
                <a:ea typeface="Calibri" pitchFamily="34" charset="-122"/>
                <a:cs typeface="Calibri" pitchFamily="34" charset="-120"/>
              </a:rPr>
              <a:t>THE LESSON
</a:t>
            </a:r>
            <a:pPr indent="0" marL="0">
              <a:lnSpc>
                <a:spcPct val="102000"/>
              </a:lnSpc>
              <a:buNone/>
            </a:pPr>
            <a:r>
              <a:rPr lang="en-US" sz="850" dirty="0">
                <a:solidFill>
                  <a:srgbClr val="22333B"/>
                </a:solidFill>
                <a:latin typeface="Calibri" pitchFamily="34" charset="0"/>
                <a:ea typeface="Calibri" pitchFamily="34" charset="-122"/>
                <a:cs typeface="Calibri" pitchFamily="34" charset="-120"/>
              </a:rPr>
              <a:t>A vulnerability in an implanted device turns into a clinical logistics problem. 'Patch' means clinic visits, patient anxiety, and clinician time — the design decision that made remote update impossible was made years earlier.</a:t>
            </a:r>
            <a:endParaRPr lang="en-US" sz="900" dirty="0"/>
          </a:p>
        </p:txBody>
      </p:sp>
      <p:sp>
        <p:nvSpPr>
          <p:cNvPr id="13" name="Shape 11"/>
          <p:cNvSpPr/>
          <p:nvPr/>
        </p:nvSpPr>
        <p:spPr>
          <a:xfrm>
            <a:off x="4338218" y="1572768"/>
            <a:ext cx="3515258" cy="3657600"/>
          </a:xfrm>
          <a:prstGeom prst="roundRect">
            <a:avLst>
              <a:gd name="adj" fmla="val 1821"/>
            </a:avLst>
          </a:prstGeom>
          <a:solidFill>
            <a:srgbClr val="F1F5F6"/>
          </a:solidFill>
          <a:ln w="12700">
            <a:solidFill>
              <a:srgbClr val="D7E2E5"/>
            </a:solidFill>
            <a:prstDash val="solid"/>
          </a:ln>
        </p:spPr>
      </p:sp>
      <p:sp>
        <p:nvSpPr>
          <p:cNvPr id="14" name="Shape 12"/>
          <p:cNvSpPr/>
          <p:nvPr/>
        </p:nvSpPr>
        <p:spPr>
          <a:xfrm>
            <a:off x="4557674" y="1755648"/>
            <a:ext cx="841248" cy="384048"/>
          </a:xfrm>
          <a:prstGeom prst="roundRect">
            <a:avLst>
              <a:gd name="adj" fmla="val 14286"/>
            </a:avLst>
          </a:prstGeom>
          <a:solidFill>
            <a:srgbClr val="C77C1E"/>
          </a:solidFill>
          <a:ln w="12700">
            <a:solidFill>
              <a:srgbClr val="333333"/>
            </a:solidFill>
            <a:prstDash val="solid"/>
          </a:ln>
        </p:spPr>
      </p:sp>
      <p:sp>
        <p:nvSpPr>
          <p:cNvPr id="15" name="Text 13"/>
          <p:cNvSpPr txBox="1"/>
          <p:nvPr/>
        </p:nvSpPr>
        <p:spPr>
          <a:xfrm>
            <a:off x="4557674" y="1755648"/>
            <a:ext cx="8412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2019</a:t>
            </a:r>
            <a:endParaRPr lang="en-US" sz="1200" dirty="0"/>
          </a:p>
        </p:txBody>
      </p:sp>
      <p:sp>
        <p:nvSpPr>
          <p:cNvPr id="16" name="Text 14"/>
          <p:cNvSpPr txBox="1"/>
          <p:nvPr/>
        </p:nvSpPr>
        <p:spPr>
          <a:xfrm>
            <a:off x="4557674" y="2249424"/>
            <a:ext cx="3076346" cy="475488"/>
          </a:xfrm>
          <a:prstGeom prst="rect">
            <a:avLst/>
          </a:prstGeom>
          <a:noFill/>
          <a:ln/>
        </p:spPr>
        <p:txBody>
          <a:bodyPr wrap="square" lIns="0" tIns="0" rIns="0" bIns="0" rtlCol="0" anchor="t"/>
          <a:lstStyle/>
          <a:p>
            <a:pPr indent="0" marL="0">
              <a:buNone/>
            </a:pPr>
            <a:r>
              <a:rPr lang="en-US" sz="1450" b="1" dirty="0">
                <a:solidFill>
                  <a:srgbClr val="1B3A4B"/>
                </a:solidFill>
                <a:latin typeface="Calibri" pitchFamily="34" charset="0"/>
                <a:ea typeface="Calibri" pitchFamily="34" charset="-122"/>
                <a:cs typeface="Calibri" pitchFamily="34" charset="-120"/>
              </a:rPr>
              <a:t>URGENT/11</a:t>
            </a:r>
            <a:endParaRPr lang="en-US" sz="1450" dirty="0"/>
          </a:p>
        </p:txBody>
      </p:sp>
      <p:sp>
        <p:nvSpPr>
          <p:cNvPr id="17" name="Text 15"/>
          <p:cNvSpPr txBox="1"/>
          <p:nvPr/>
        </p:nvSpPr>
        <p:spPr>
          <a:xfrm>
            <a:off x="4557674" y="2743200"/>
            <a:ext cx="3076346" cy="1207008"/>
          </a:xfrm>
          <a:prstGeom prst="rect">
            <a:avLst/>
          </a:prstGeom>
          <a:noFill/>
          <a:ln/>
        </p:spPr>
        <p:txBody>
          <a:bodyPr wrap="square" lIns="0" tIns="0" rIns="0" bIns="0" rtlCol="0" anchor="t"/>
          <a:lstStyle/>
          <a:p>
            <a:pPr indent="0" marL="0">
              <a:lnSpc>
                <a:spcPct val="104000"/>
              </a:lnSpc>
              <a:buNone/>
            </a:pPr>
            <a:r>
              <a:rPr lang="en-US" sz="1080" dirty="0">
                <a:solidFill>
                  <a:srgbClr val="22333B"/>
                </a:solidFill>
                <a:latin typeface="Calibri" pitchFamily="34" charset="0"/>
                <a:ea typeface="Calibri" pitchFamily="34" charset="-122"/>
                <a:cs typeface="Calibri" pitchFamily="34" charset="-120"/>
              </a:rPr>
              <a:t>Eleven vulnerabilities were disclosed in a widely used TCP/IP stack embedded in a real-time operating system, reaching many products across industries — including medical devices — through deeply nested third-party dependencies.</a:t>
            </a:r>
            <a:endParaRPr lang="en-US" sz="1080" dirty="0"/>
          </a:p>
        </p:txBody>
      </p:sp>
      <p:sp>
        <p:nvSpPr>
          <p:cNvPr id="18" name="Shape 16"/>
          <p:cNvSpPr/>
          <p:nvPr/>
        </p:nvSpPr>
        <p:spPr>
          <a:xfrm>
            <a:off x="4557674" y="3986784"/>
            <a:ext cx="3076346" cy="1133856"/>
          </a:xfrm>
          <a:prstGeom prst="roundRect">
            <a:avLst>
              <a:gd name="adj" fmla="val 4032"/>
            </a:avLst>
          </a:prstGeom>
          <a:solidFill>
            <a:srgbClr val="EAF3F2"/>
          </a:solidFill>
          <a:ln w="12700">
            <a:solidFill>
              <a:srgbClr val="BFD9D6"/>
            </a:solidFill>
            <a:prstDash val="solid"/>
          </a:ln>
        </p:spPr>
      </p:sp>
      <p:sp>
        <p:nvSpPr>
          <p:cNvPr id="19" name="Text 17"/>
          <p:cNvSpPr txBox="1"/>
          <p:nvPr/>
        </p:nvSpPr>
        <p:spPr>
          <a:xfrm>
            <a:off x="4703978" y="4078224"/>
            <a:ext cx="2783738" cy="969264"/>
          </a:xfrm>
          <a:prstGeom prst="rect">
            <a:avLst/>
          </a:prstGeom>
          <a:noFill/>
          <a:ln/>
        </p:spPr>
        <p:txBody>
          <a:bodyPr wrap="square" lIns="0" tIns="0" rIns="0" bIns="0" rtlCol="0" anchor="t"/>
          <a:lstStyle/>
          <a:p>
            <a:pPr indent="0" marL="0">
              <a:lnSpc>
                <a:spcPct val="102000"/>
              </a:lnSpc>
              <a:buNone/>
            </a:pPr>
            <a:r>
              <a:rPr lang="en-US" sz="900" b="1" spc="100" kern="0" dirty="0">
                <a:solidFill>
                  <a:srgbClr val="0E7C7B"/>
                </a:solidFill>
                <a:latin typeface="Calibri" pitchFamily="34" charset="0"/>
                <a:ea typeface="Calibri" pitchFamily="34" charset="-122"/>
                <a:cs typeface="Calibri" pitchFamily="34" charset="-120"/>
              </a:rPr>
              <a:t>THE LESSON
</a:t>
            </a:r>
            <a:pPr indent="0" marL="0">
              <a:lnSpc>
                <a:spcPct val="102000"/>
              </a:lnSpc>
              <a:buNone/>
            </a:pPr>
            <a:r>
              <a:rPr lang="en-US" sz="850" dirty="0">
                <a:solidFill>
                  <a:srgbClr val="22333B"/>
                </a:solidFill>
                <a:latin typeface="Calibri" pitchFamily="34" charset="0"/>
                <a:ea typeface="Calibri" pitchFamily="34" charset="-122"/>
                <a:cs typeface="Calibri" pitchFamily="34" charset="-120"/>
              </a:rPr>
              <a:t>Many manufacturers could not quickly answer the only question that mattered: are we affected? That is a software inventory problem. This is the clearest argument for SBOM there is.</a:t>
            </a:r>
            <a:endParaRPr lang="en-US" sz="900" dirty="0"/>
          </a:p>
        </p:txBody>
      </p:sp>
      <p:sp>
        <p:nvSpPr>
          <p:cNvPr id="20" name="Shape 18"/>
          <p:cNvSpPr/>
          <p:nvPr/>
        </p:nvSpPr>
        <p:spPr>
          <a:xfrm>
            <a:off x="8127797" y="1572768"/>
            <a:ext cx="3515258" cy="3657600"/>
          </a:xfrm>
          <a:prstGeom prst="roundRect">
            <a:avLst>
              <a:gd name="adj" fmla="val 1821"/>
            </a:avLst>
          </a:prstGeom>
          <a:solidFill>
            <a:srgbClr val="F1F5F6"/>
          </a:solidFill>
          <a:ln w="12700">
            <a:solidFill>
              <a:srgbClr val="D7E2E5"/>
            </a:solidFill>
            <a:prstDash val="solid"/>
          </a:ln>
        </p:spPr>
      </p:sp>
      <p:sp>
        <p:nvSpPr>
          <p:cNvPr id="21" name="Shape 19"/>
          <p:cNvSpPr/>
          <p:nvPr/>
        </p:nvSpPr>
        <p:spPr>
          <a:xfrm>
            <a:off x="8347253" y="1755648"/>
            <a:ext cx="841248" cy="384048"/>
          </a:xfrm>
          <a:prstGeom prst="roundRect">
            <a:avLst>
              <a:gd name="adj" fmla="val 14286"/>
            </a:avLst>
          </a:prstGeom>
          <a:solidFill>
            <a:srgbClr val="A83A3C"/>
          </a:solidFill>
          <a:ln w="12700">
            <a:solidFill>
              <a:srgbClr val="333333"/>
            </a:solidFill>
            <a:prstDash val="solid"/>
          </a:ln>
        </p:spPr>
      </p:sp>
      <p:sp>
        <p:nvSpPr>
          <p:cNvPr id="22" name="Text 20"/>
          <p:cNvSpPr txBox="1"/>
          <p:nvPr/>
        </p:nvSpPr>
        <p:spPr>
          <a:xfrm>
            <a:off x="8347253" y="1755648"/>
            <a:ext cx="8412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2019</a:t>
            </a:r>
            <a:endParaRPr lang="en-US" sz="1200" dirty="0"/>
          </a:p>
        </p:txBody>
      </p:sp>
      <p:sp>
        <p:nvSpPr>
          <p:cNvPr id="23" name="Text 21"/>
          <p:cNvSpPr txBox="1"/>
          <p:nvPr/>
        </p:nvSpPr>
        <p:spPr>
          <a:xfrm>
            <a:off x="8347253" y="2249424"/>
            <a:ext cx="3076346" cy="475488"/>
          </a:xfrm>
          <a:prstGeom prst="rect">
            <a:avLst/>
          </a:prstGeom>
          <a:noFill/>
          <a:ln/>
        </p:spPr>
        <p:txBody>
          <a:bodyPr wrap="square" lIns="0" tIns="0" rIns="0" bIns="0" rtlCol="0" anchor="t"/>
          <a:lstStyle/>
          <a:p>
            <a:pPr indent="0" marL="0">
              <a:buNone/>
            </a:pPr>
            <a:r>
              <a:rPr lang="en-US" sz="1450" b="1" dirty="0">
                <a:solidFill>
                  <a:srgbClr val="1B3A4B"/>
                </a:solidFill>
                <a:latin typeface="Calibri" pitchFamily="34" charset="0"/>
                <a:ea typeface="Calibri" pitchFamily="34" charset="-122"/>
                <a:cs typeface="Calibri" pitchFamily="34" charset="-120"/>
              </a:rPr>
              <a:t>Insulin pump recall</a:t>
            </a:r>
            <a:endParaRPr lang="en-US" sz="1450" dirty="0"/>
          </a:p>
        </p:txBody>
      </p:sp>
      <p:sp>
        <p:nvSpPr>
          <p:cNvPr id="24" name="Text 22"/>
          <p:cNvSpPr txBox="1"/>
          <p:nvPr/>
        </p:nvSpPr>
        <p:spPr>
          <a:xfrm>
            <a:off x="8347253" y="2743200"/>
            <a:ext cx="3076346" cy="1207008"/>
          </a:xfrm>
          <a:prstGeom prst="rect">
            <a:avLst/>
          </a:prstGeom>
          <a:noFill/>
          <a:ln/>
        </p:spPr>
        <p:txBody>
          <a:bodyPr wrap="square" lIns="0" tIns="0" rIns="0" bIns="0" rtlCol="0" anchor="t"/>
          <a:lstStyle/>
          <a:p>
            <a:pPr indent="0" marL="0">
              <a:lnSpc>
                <a:spcPct val="104000"/>
              </a:lnSpc>
              <a:buNone/>
            </a:pPr>
            <a:r>
              <a:rPr lang="en-US" sz="1080" dirty="0">
                <a:solidFill>
                  <a:srgbClr val="22333B"/>
                </a:solidFill>
                <a:latin typeface="Calibri" pitchFamily="34" charset="0"/>
                <a:ea typeface="Calibri" pitchFamily="34" charset="-122"/>
                <a:cs typeface="Calibri" pitchFamily="34" charset="-120"/>
              </a:rPr>
              <a:t>Certain insulin pump models were recalled over a wireless communication vulnerability that could allow an unauthorised party to alter pump settings. The affected devices could not be updated to remediate the issue.</a:t>
            </a:r>
            <a:endParaRPr lang="en-US" sz="1080" dirty="0"/>
          </a:p>
        </p:txBody>
      </p:sp>
      <p:sp>
        <p:nvSpPr>
          <p:cNvPr id="25" name="Shape 23"/>
          <p:cNvSpPr/>
          <p:nvPr/>
        </p:nvSpPr>
        <p:spPr>
          <a:xfrm>
            <a:off x="8347253" y="3986784"/>
            <a:ext cx="3076346" cy="1133856"/>
          </a:xfrm>
          <a:prstGeom prst="roundRect">
            <a:avLst>
              <a:gd name="adj" fmla="val 4032"/>
            </a:avLst>
          </a:prstGeom>
          <a:solidFill>
            <a:srgbClr val="EAF3F2"/>
          </a:solidFill>
          <a:ln w="12700">
            <a:solidFill>
              <a:srgbClr val="BFD9D6"/>
            </a:solidFill>
            <a:prstDash val="solid"/>
          </a:ln>
        </p:spPr>
      </p:sp>
      <p:sp>
        <p:nvSpPr>
          <p:cNvPr id="26" name="Text 24"/>
          <p:cNvSpPr txBox="1"/>
          <p:nvPr/>
        </p:nvSpPr>
        <p:spPr>
          <a:xfrm>
            <a:off x="8493557" y="4078224"/>
            <a:ext cx="2783738" cy="969264"/>
          </a:xfrm>
          <a:prstGeom prst="rect">
            <a:avLst/>
          </a:prstGeom>
          <a:noFill/>
          <a:ln/>
        </p:spPr>
        <p:txBody>
          <a:bodyPr wrap="square" lIns="0" tIns="0" rIns="0" bIns="0" rtlCol="0" anchor="t"/>
          <a:lstStyle/>
          <a:p>
            <a:pPr indent="0" marL="0">
              <a:lnSpc>
                <a:spcPct val="102000"/>
              </a:lnSpc>
              <a:buNone/>
            </a:pPr>
            <a:r>
              <a:rPr lang="en-US" sz="900" b="1" spc="100" kern="0" dirty="0">
                <a:solidFill>
                  <a:srgbClr val="0E7C7B"/>
                </a:solidFill>
                <a:latin typeface="Calibri" pitchFamily="34" charset="0"/>
                <a:ea typeface="Calibri" pitchFamily="34" charset="-122"/>
                <a:cs typeface="Calibri" pitchFamily="34" charset="-120"/>
              </a:rPr>
              <a:t>THE LESSON
</a:t>
            </a:r>
            <a:pPr indent="0" marL="0">
              <a:lnSpc>
                <a:spcPct val="102000"/>
              </a:lnSpc>
              <a:buNone/>
            </a:pPr>
            <a:r>
              <a:rPr lang="en-US" sz="850" dirty="0">
                <a:solidFill>
                  <a:srgbClr val="22333B"/>
                </a:solidFill>
                <a:latin typeface="Calibri" pitchFamily="34" charset="0"/>
                <a:ea typeface="Calibri" pitchFamily="34" charset="-122"/>
                <a:cs typeface="Calibri" pitchFamily="34" charset="-120"/>
              </a:rPr>
              <a:t>When a device cannot be patched, the only remaining remedy is replacement. Updateability is not a feature request — it is the difference between a patch and a recall.</a:t>
            </a:r>
            <a:endParaRPr lang="en-US" sz="900" dirty="0"/>
          </a:p>
        </p:txBody>
      </p:sp>
      <p:sp>
        <p:nvSpPr>
          <p:cNvPr id="27" name="Shape 25"/>
          <p:cNvSpPr/>
          <p:nvPr/>
        </p:nvSpPr>
        <p:spPr>
          <a:xfrm>
            <a:off x="548640" y="5486400"/>
            <a:ext cx="11094415" cy="786384"/>
          </a:xfrm>
          <a:prstGeom prst="roundRect">
            <a:avLst>
              <a:gd name="adj" fmla="val 6977"/>
            </a:avLst>
          </a:prstGeom>
          <a:solidFill>
            <a:srgbClr val="EAF3F2"/>
          </a:solidFill>
          <a:ln w="12700">
            <a:solidFill>
              <a:srgbClr val="BFD9D6"/>
            </a:solidFill>
            <a:prstDash val="solid"/>
          </a:ln>
        </p:spPr>
      </p:sp>
      <p:sp>
        <p:nvSpPr>
          <p:cNvPr id="28" name="Text 26"/>
          <p:cNvSpPr txBox="1"/>
          <p:nvPr/>
        </p:nvSpPr>
        <p:spPr>
          <a:xfrm>
            <a:off x="786384" y="5486400"/>
            <a:ext cx="10618927" cy="786384"/>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Common thread: in all three, the cost was set by a design decision taken years before the vulnerability was found — whether the device could be updated, and whether anyone knew what was inside it.</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LEGAL REQUIREMENT</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Section 524B: the statutory floor</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33</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Added to the FD&amp;C Act in 2023. Not guidance — a condition of a valid submission for a 'cyber device'.</a:t>
            </a:r>
            <a:endParaRPr lang="en-US" sz="1400" dirty="0"/>
          </a:p>
        </p:txBody>
      </p:sp>
      <p:sp>
        <p:nvSpPr>
          <p:cNvPr id="7" name="Shape 5"/>
          <p:cNvSpPr/>
          <p:nvPr/>
        </p:nvSpPr>
        <p:spPr>
          <a:xfrm>
            <a:off x="548640" y="1847088"/>
            <a:ext cx="11094415" cy="795528"/>
          </a:xfrm>
          <a:prstGeom prst="roundRect">
            <a:avLst>
              <a:gd name="adj" fmla="val 8046"/>
            </a:avLst>
          </a:prstGeom>
          <a:solidFill>
            <a:srgbClr val="F1F5F6"/>
          </a:solidFill>
          <a:ln w="12700">
            <a:solidFill>
              <a:srgbClr val="D7E2E5"/>
            </a:solidFill>
            <a:prstDash val="solid"/>
          </a:ln>
        </p:spPr>
      </p:sp>
      <p:sp>
        <p:nvSpPr>
          <p:cNvPr id="8" name="Shape 6"/>
          <p:cNvSpPr/>
          <p:nvPr/>
        </p:nvSpPr>
        <p:spPr>
          <a:xfrm>
            <a:off x="786384" y="2043684"/>
            <a:ext cx="402336" cy="402336"/>
          </a:xfrm>
          <a:prstGeom prst="ellipse">
            <a:avLst/>
          </a:prstGeom>
          <a:solidFill>
            <a:srgbClr val="A83A3C"/>
          </a:solidFill>
          <a:ln w="12700">
            <a:solidFill>
              <a:srgbClr val="A83A3C"/>
            </a:solidFill>
            <a:prstDash val="solid"/>
          </a:ln>
        </p:spPr>
      </p:sp>
      <p:sp>
        <p:nvSpPr>
          <p:cNvPr id="9" name="Text 7"/>
          <p:cNvSpPr txBox="1"/>
          <p:nvPr/>
        </p:nvSpPr>
        <p:spPr>
          <a:xfrm>
            <a:off x="786384" y="20436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335024" y="1965960"/>
            <a:ext cx="10033711" cy="557784"/>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Have a plan to monitor, identify and address postmarket vulnerabilities and exploits</a:t>
            </a:r>
            <a:endParaRPr lang="en-US" sz="1350" dirty="0"/>
          </a:p>
          <a:p>
            <a:pPr indent="0" marL="0">
              <a:lnSpc>
                <a:spcPct val="105000"/>
              </a:lnSpc>
              <a:buNone/>
            </a:pPr>
            <a:r>
              <a:rPr lang="en-US" sz="1020" dirty="0">
                <a:solidFill>
                  <a:srgbClr val="22333B"/>
                </a:solidFill>
                <a:latin typeface="Calibri" pitchFamily="34" charset="0"/>
                <a:ea typeface="Calibri" pitchFamily="34" charset="-122"/>
                <a:cs typeface="Calibri" pitchFamily="34" charset="-120"/>
              </a:rPr>
              <a:t>Including a coordinated vulnerability disclosure process and related procedures. A plan you submit and then must actually operate.</a:t>
            </a:r>
            <a:endParaRPr lang="en-US" sz="1350" dirty="0"/>
          </a:p>
        </p:txBody>
      </p:sp>
      <p:sp>
        <p:nvSpPr>
          <p:cNvPr id="11" name="Shape 9"/>
          <p:cNvSpPr/>
          <p:nvPr/>
        </p:nvSpPr>
        <p:spPr>
          <a:xfrm>
            <a:off x="548640" y="2770632"/>
            <a:ext cx="11094415" cy="795528"/>
          </a:xfrm>
          <a:prstGeom prst="roundRect">
            <a:avLst>
              <a:gd name="adj" fmla="val 8046"/>
            </a:avLst>
          </a:prstGeom>
          <a:solidFill>
            <a:srgbClr val="F1F5F6"/>
          </a:solidFill>
          <a:ln w="12700">
            <a:solidFill>
              <a:srgbClr val="D7E2E5"/>
            </a:solidFill>
            <a:prstDash val="solid"/>
          </a:ln>
        </p:spPr>
      </p:sp>
      <p:sp>
        <p:nvSpPr>
          <p:cNvPr id="12" name="Shape 10"/>
          <p:cNvSpPr/>
          <p:nvPr/>
        </p:nvSpPr>
        <p:spPr>
          <a:xfrm>
            <a:off x="786384" y="2967228"/>
            <a:ext cx="402336" cy="402336"/>
          </a:xfrm>
          <a:prstGeom prst="ellipse">
            <a:avLst/>
          </a:prstGeom>
          <a:solidFill>
            <a:srgbClr val="A83A3C"/>
          </a:solidFill>
          <a:ln w="12700">
            <a:solidFill>
              <a:srgbClr val="A83A3C"/>
            </a:solidFill>
            <a:prstDash val="solid"/>
          </a:ln>
        </p:spPr>
      </p:sp>
      <p:sp>
        <p:nvSpPr>
          <p:cNvPr id="13" name="Text 11"/>
          <p:cNvSpPr txBox="1"/>
          <p:nvPr/>
        </p:nvSpPr>
        <p:spPr>
          <a:xfrm>
            <a:off x="786384" y="29672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335024" y="2889504"/>
            <a:ext cx="10033711" cy="557784"/>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Design, develop and maintain processes that provide reasonable assurance the device and related systems are cybersecure</a:t>
            </a:r>
            <a:endParaRPr lang="en-US" sz="1350" dirty="0"/>
          </a:p>
          <a:p>
            <a:pPr indent="0" marL="0">
              <a:lnSpc>
                <a:spcPct val="105000"/>
              </a:lnSpc>
              <a:buNone/>
            </a:pPr>
            <a:r>
              <a:rPr lang="en-US" sz="1020" dirty="0">
                <a:solidFill>
                  <a:srgbClr val="22333B"/>
                </a:solidFill>
                <a:latin typeface="Calibri" pitchFamily="34" charset="0"/>
                <a:ea typeface="Calibri" pitchFamily="34" charset="-122"/>
                <a:cs typeface="Calibri" pitchFamily="34" charset="-120"/>
              </a:rPr>
              <a:t>And make available postmarket updates and patches — on a reasonably justified regular cycle, and out-of-cycle for critical vulnerabilities.</a:t>
            </a:r>
            <a:endParaRPr lang="en-US" sz="1350" dirty="0"/>
          </a:p>
        </p:txBody>
      </p:sp>
      <p:sp>
        <p:nvSpPr>
          <p:cNvPr id="15" name="Shape 13"/>
          <p:cNvSpPr/>
          <p:nvPr/>
        </p:nvSpPr>
        <p:spPr>
          <a:xfrm>
            <a:off x="548640" y="3694176"/>
            <a:ext cx="11094415" cy="795528"/>
          </a:xfrm>
          <a:prstGeom prst="roundRect">
            <a:avLst>
              <a:gd name="adj" fmla="val 8046"/>
            </a:avLst>
          </a:prstGeom>
          <a:solidFill>
            <a:srgbClr val="F1F5F6"/>
          </a:solidFill>
          <a:ln w="12700">
            <a:solidFill>
              <a:srgbClr val="D7E2E5"/>
            </a:solidFill>
            <a:prstDash val="solid"/>
          </a:ln>
        </p:spPr>
      </p:sp>
      <p:sp>
        <p:nvSpPr>
          <p:cNvPr id="16" name="Shape 14"/>
          <p:cNvSpPr/>
          <p:nvPr/>
        </p:nvSpPr>
        <p:spPr>
          <a:xfrm>
            <a:off x="786384" y="3890772"/>
            <a:ext cx="402336" cy="402336"/>
          </a:xfrm>
          <a:prstGeom prst="ellipse">
            <a:avLst/>
          </a:prstGeom>
          <a:solidFill>
            <a:srgbClr val="A83A3C"/>
          </a:solidFill>
          <a:ln w="12700">
            <a:solidFill>
              <a:srgbClr val="A83A3C"/>
            </a:solidFill>
            <a:prstDash val="solid"/>
          </a:ln>
        </p:spPr>
      </p:sp>
      <p:sp>
        <p:nvSpPr>
          <p:cNvPr id="17" name="Text 15"/>
          <p:cNvSpPr txBox="1"/>
          <p:nvPr/>
        </p:nvSpPr>
        <p:spPr>
          <a:xfrm>
            <a:off x="786384" y="38907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35024" y="3813048"/>
            <a:ext cx="10033711" cy="557784"/>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Provide a software bill of materials</a:t>
            </a:r>
            <a:endParaRPr lang="en-US" sz="1350" dirty="0"/>
          </a:p>
          <a:p>
            <a:pPr indent="0" marL="0">
              <a:lnSpc>
                <a:spcPct val="105000"/>
              </a:lnSpc>
              <a:buNone/>
            </a:pPr>
            <a:r>
              <a:rPr lang="en-US" sz="1020" dirty="0">
                <a:solidFill>
                  <a:srgbClr val="22333B"/>
                </a:solidFill>
                <a:latin typeface="Calibri" pitchFamily="34" charset="0"/>
                <a:ea typeface="Calibri" pitchFamily="34" charset="-122"/>
                <a:cs typeface="Calibri" pitchFamily="34" charset="-120"/>
              </a:rPr>
              <a:t>Covering commercial, open-source and off-the-shelf software components.</a:t>
            </a:r>
            <a:endParaRPr lang="en-US" sz="1350" dirty="0"/>
          </a:p>
        </p:txBody>
      </p:sp>
      <p:sp>
        <p:nvSpPr>
          <p:cNvPr id="19" name="Shape 17"/>
          <p:cNvSpPr/>
          <p:nvPr/>
        </p:nvSpPr>
        <p:spPr>
          <a:xfrm>
            <a:off x="548640" y="4617720"/>
            <a:ext cx="11094415" cy="795528"/>
          </a:xfrm>
          <a:prstGeom prst="roundRect">
            <a:avLst>
              <a:gd name="adj" fmla="val 8046"/>
            </a:avLst>
          </a:prstGeom>
          <a:solidFill>
            <a:srgbClr val="F1F5F6"/>
          </a:solidFill>
          <a:ln w="12700">
            <a:solidFill>
              <a:srgbClr val="D7E2E5"/>
            </a:solidFill>
            <a:prstDash val="solid"/>
          </a:ln>
        </p:spPr>
      </p:sp>
      <p:sp>
        <p:nvSpPr>
          <p:cNvPr id="20" name="Shape 18"/>
          <p:cNvSpPr/>
          <p:nvPr/>
        </p:nvSpPr>
        <p:spPr>
          <a:xfrm>
            <a:off x="786384" y="4814316"/>
            <a:ext cx="402336" cy="402336"/>
          </a:xfrm>
          <a:prstGeom prst="ellipse">
            <a:avLst/>
          </a:prstGeom>
          <a:solidFill>
            <a:srgbClr val="A83A3C"/>
          </a:solidFill>
          <a:ln w="12700">
            <a:solidFill>
              <a:srgbClr val="A83A3C"/>
            </a:solidFill>
            <a:prstDash val="solid"/>
          </a:ln>
        </p:spPr>
      </p:sp>
      <p:sp>
        <p:nvSpPr>
          <p:cNvPr id="21" name="Text 19"/>
          <p:cNvSpPr txBox="1"/>
          <p:nvPr/>
        </p:nvSpPr>
        <p:spPr>
          <a:xfrm>
            <a:off x="786384" y="48143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335024" y="4736592"/>
            <a:ext cx="10033711" cy="557784"/>
          </a:xfrm>
          <a:prstGeom prst="rect">
            <a:avLst/>
          </a:prstGeom>
          <a:noFill/>
          <a:ln/>
        </p:spPr>
        <p:txBody>
          <a:bodyPr wrap="square" lIns="0" tIns="0" rIns="0" bIns="0" rtlCol="0" anchor="ctr"/>
          <a:lstStyle/>
          <a:p>
            <a:pPr indent="0" marL="0">
              <a:lnSpc>
                <a:spcPct val="105000"/>
              </a:lnSpc>
              <a:buNone/>
            </a:pPr>
            <a:r>
              <a:rPr lang="en-US" sz="1350" b="1" dirty="0">
                <a:solidFill>
                  <a:srgbClr val="1B3A4B"/>
                </a:solidFill>
                <a:latin typeface="Calibri" pitchFamily="34" charset="0"/>
                <a:ea typeface="Calibri" pitchFamily="34" charset="-122"/>
                <a:cs typeface="Calibri" pitchFamily="34" charset="-120"/>
              </a:rPr>
              <a:t>Comply with such other requirements as FDA may establish by regulation</a:t>
            </a:r>
            <a:endParaRPr lang="en-US" sz="1350" dirty="0"/>
          </a:p>
          <a:p>
            <a:pPr indent="0" marL="0">
              <a:lnSpc>
                <a:spcPct val="105000"/>
              </a:lnSpc>
              <a:buNone/>
            </a:pPr>
            <a:r>
              <a:rPr lang="en-US" sz="1020" dirty="0">
                <a:solidFill>
                  <a:srgbClr val="22333B"/>
                </a:solidFill>
                <a:latin typeface="Calibri" pitchFamily="34" charset="0"/>
                <a:ea typeface="Calibri" pitchFamily="34" charset="-122"/>
                <a:cs typeface="Calibri" pitchFamily="34" charset="-120"/>
              </a:rPr>
              <a:t>The obligation is designed to grow. Build for the principle, not for today's checklist.</a:t>
            </a:r>
            <a:endParaRPr lang="en-US" sz="1350" dirty="0"/>
          </a:p>
        </p:txBody>
      </p:sp>
      <p:sp>
        <p:nvSpPr>
          <p:cNvPr id="23" name="Shape 21"/>
          <p:cNvSpPr/>
          <p:nvPr/>
        </p:nvSpPr>
        <p:spPr>
          <a:xfrm>
            <a:off x="548640" y="5541264"/>
            <a:ext cx="11094415" cy="749808"/>
          </a:xfrm>
          <a:prstGeom prst="roundRect">
            <a:avLst>
              <a:gd name="adj" fmla="val 8537"/>
            </a:avLst>
          </a:prstGeom>
          <a:solidFill>
            <a:srgbClr val="FBEDED"/>
          </a:solidFill>
          <a:ln w="12700">
            <a:solidFill>
              <a:srgbClr val="DFA9A9"/>
            </a:solidFill>
            <a:prstDash val="solid"/>
          </a:ln>
        </p:spPr>
      </p:sp>
      <p:sp>
        <p:nvSpPr>
          <p:cNvPr id="24" name="Text 22"/>
          <p:cNvSpPr txBox="1"/>
          <p:nvPr/>
        </p:nvSpPr>
        <p:spPr>
          <a:xfrm>
            <a:off x="786384" y="5541264"/>
            <a:ext cx="10618927" cy="749808"/>
          </a:xfrm>
          <a:prstGeom prst="rect">
            <a:avLst/>
          </a:prstGeom>
          <a:noFill/>
          <a:ln/>
        </p:spPr>
        <p:txBody>
          <a:bodyPr wrap="square" lIns="0" tIns="0" rIns="0" bIns="0" rtlCol="0" anchor="ctr"/>
          <a:lstStyle/>
          <a:p>
            <a:pPr indent="0" marL="0">
              <a:lnSpc>
                <a:spcPct val="103000"/>
              </a:lnSpc>
              <a:buNone/>
            </a:pPr>
            <a:r>
              <a:rPr lang="en-US" sz="1200" b="1" dirty="0">
                <a:solidFill>
                  <a:srgbClr val="A83A3C"/>
                </a:solidFill>
                <a:latin typeface="Calibri" pitchFamily="34" charset="0"/>
                <a:ea typeface="Calibri" pitchFamily="34" charset="-122"/>
                <a:cs typeface="Calibri" pitchFamily="34" charset="-120"/>
              </a:rPr>
              <a:t>A 'cyber device' is, broadly:  </a:t>
            </a:r>
            <a:pPr indent="0" marL="0">
              <a:lnSpc>
                <a:spcPct val="103000"/>
              </a:lnSpc>
              <a:buNone/>
            </a:pPr>
            <a:r>
              <a:rPr lang="en-US" sz="1150" dirty="0">
                <a:solidFill>
                  <a:srgbClr val="22333B"/>
                </a:solidFill>
                <a:latin typeface="Calibri" pitchFamily="34" charset="0"/>
                <a:ea typeface="Calibri" pitchFamily="34" charset="-122"/>
                <a:cs typeface="Calibri" pitchFamily="34" charset="-120"/>
              </a:rPr>
              <a:t>one that includes software validated, installed or authorised by the sponsor; has the ability to connect to the internet; and contains technological characteristics that could be vulnerable to cybersecurity threats. Note the ability to connect — not the intention to.</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SPDF</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200" b="1" dirty="0">
                <a:solidFill>
                  <a:srgbClr val="1B3A4B"/>
                </a:solidFill>
                <a:latin typeface="Cambria" pitchFamily="34" charset="0"/>
                <a:ea typeface="Cambria" pitchFamily="34" charset="-122"/>
                <a:cs typeface="Cambria" pitchFamily="34" charset="-120"/>
              </a:rPr>
              <a:t>The Secure Product Development Framework</a:t>
            </a:r>
            <a:endParaRPr lang="en-US" sz="32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34</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FDA's organising concept: security is produced by the development lifecycle, not inspected in at the end.</a:t>
            </a:r>
            <a:endParaRPr lang="en-US" sz="1400" dirty="0"/>
          </a:p>
        </p:txBody>
      </p:sp>
      <p:sp>
        <p:nvSpPr>
          <p:cNvPr id="7" name="Shape 5"/>
          <p:cNvSpPr/>
          <p:nvPr/>
        </p:nvSpPr>
        <p:spPr>
          <a:xfrm>
            <a:off x="548640" y="1883664"/>
            <a:ext cx="3515258" cy="2743200"/>
          </a:xfrm>
          <a:prstGeom prst="roundRect">
            <a:avLst>
              <a:gd name="adj" fmla="val 2333"/>
            </a:avLst>
          </a:prstGeom>
          <a:solidFill>
            <a:srgbClr val="F1F5F6"/>
          </a:solidFill>
          <a:ln w="12700">
            <a:solidFill>
              <a:srgbClr val="D7E2E5"/>
            </a:solidFill>
            <a:prstDash val="solid"/>
          </a:ln>
        </p:spPr>
      </p:sp>
      <p:sp>
        <p:nvSpPr>
          <p:cNvPr id="8" name="Shape 6"/>
          <p:cNvSpPr/>
          <p:nvPr/>
        </p:nvSpPr>
        <p:spPr>
          <a:xfrm>
            <a:off x="768096" y="2084832"/>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560320"/>
            <a:ext cx="3076346" cy="337312"/>
          </a:xfrm>
          <a:prstGeom prst="rect">
            <a:avLst/>
          </a:prstGeom>
          <a:noFill/>
          <a:ln/>
        </p:spPr>
        <p:txBody>
          <a:bodyPr wrap="square" lIns="0" tIns="0" rIns="0" bIns="0" rtlCol="0" anchor="t"/>
          <a:lstStyle/>
          <a:p>
            <a:pPr indent="0" marL="0">
              <a:buNone/>
            </a:pPr>
            <a:r>
              <a:rPr lang="en-US" sz="1600" b="1" dirty="0">
                <a:solidFill>
                  <a:srgbClr val="1B3A4B"/>
                </a:solidFill>
                <a:latin typeface="Calibri" pitchFamily="34" charset="0"/>
                <a:ea typeface="Calibri" pitchFamily="34" charset="-122"/>
                <a:cs typeface="Calibri" pitchFamily="34" charset="-120"/>
              </a:rPr>
              <a:t>Security risk management</a:t>
            </a:r>
            <a:endParaRPr lang="en-US" sz="1600" dirty="0"/>
          </a:p>
        </p:txBody>
      </p:sp>
      <p:sp>
        <p:nvSpPr>
          <p:cNvPr id="11" name="Text 9"/>
          <p:cNvSpPr txBox="1"/>
          <p:nvPr/>
        </p:nvSpPr>
        <p:spPr>
          <a:xfrm>
            <a:off x="768096" y="2934208"/>
            <a:ext cx="3076346" cy="154635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A process distinct from — but interfaced with — your safety risk management. Identify assets, threats and vulnerabilities; assess exploitability; define and verify controls; carry the results into the ISO 14971 file where patient harm is possible.</a:t>
            </a:r>
            <a:endParaRPr lang="en-US" sz="1150" dirty="0"/>
          </a:p>
        </p:txBody>
      </p:sp>
      <p:sp>
        <p:nvSpPr>
          <p:cNvPr id="12" name="Shape 10"/>
          <p:cNvSpPr/>
          <p:nvPr/>
        </p:nvSpPr>
        <p:spPr>
          <a:xfrm>
            <a:off x="4338218" y="1883664"/>
            <a:ext cx="3515258" cy="2743200"/>
          </a:xfrm>
          <a:prstGeom prst="roundRect">
            <a:avLst>
              <a:gd name="adj" fmla="val 2333"/>
            </a:avLst>
          </a:prstGeom>
          <a:solidFill>
            <a:srgbClr val="F1F5F6"/>
          </a:solidFill>
          <a:ln w="12700">
            <a:solidFill>
              <a:srgbClr val="D7E2E5"/>
            </a:solidFill>
            <a:prstDash val="solid"/>
          </a:ln>
        </p:spPr>
      </p:sp>
      <p:sp>
        <p:nvSpPr>
          <p:cNvPr id="13" name="Shape 11"/>
          <p:cNvSpPr/>
          <p:nvPr/>
        </p:nvSpPr>
        <p:spPr>
          <a:xfrm>
            <a:off x="4557674" y="2084832"/>
            <a:ext cx="365760" cy="365760"/>
          </a:xfrm>
          <a:prstGeom prst="ellipse">
            <a:avLst/>
          </a:prstGeom>
          <a:solidFill>
            <a:srgbClr val="2A9D8F"/>
          </a:solidFill>
          <a:ln w="12700">
            <a:solidFill>
              <a:srgbClr val="2A9D8F"/>
            </a:solidFill>
            <a:prstDash val="solid"/>
          </a:ln>
        </p:spPr>
      </p:sp>
      <p:sp>
        <p:nvSpPr>
          <p:cNvPr id="14" name="Text 12"/>
          <p:cNvSpPr txBox="1"/>
          <p:nvPr/>
        </p:nvSpPr>
        <p:spPr>
          <a:xfrm>
            <a:off x="4557674"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4557674" y="2560320"/>
            <a:ext cx="3076346" cy="337312"/>
          </a:xfrm>
          <a:prstGeom prst="rect">
            <a:avLst/>
          </a:prstGeom>
          <a:noFill/>
          <a:ln/>
        </p:spPr>
        <p:txBody>
          <a:bodyPr wrap="square" lIns="0" tIns="0" rIns="0" bIns="0" rtlCol="0" anchor="t"/>
          <a:lstStyle/>
          <a:p>
            <a:pPr indent="0" marL="0">
              <a:buNone/>
            </a:pPr>
            <a:r>
              <a:rPr lang="en-US" sz="1600" b="1" dirty="0">
                <a:solidFill>
                  <a:srgbClr val="1B3A4B"/>
                </a:solidFill>
                <a:latin typeface="Calibri" pitchFamily="34" charset="0"/>
                <a:ea typeface="Calibri" pitchFamily="34" charset="-122"/>
                <a:cs typeface="Calibri" pitchFamily="34" charset="-120"/>
              </a:rPr>
              <a:t>Security architecture</a:t>
            </a:r>
            <a:endParaRPr lang="en-US" sz="1600" dirty="0"/>
          </a:p>
        </p:txBody>
      </p:sp>
      <p:sp>
        <p:nvSpPr>
          <p:cNvPr id="16" name="Text 14"/>
          <p:cNvSpPr txBox="1"/>
          <p:nvPr/>
        </p:nvSpPr>
        <p:spPr>
          <a:xfrm>
            <a:off x="4557674" y="2934208"/>
            <a:ext cx="3076346" cy="154635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Documented views of the system that show where trust boundaries sit, how the device is updated, how a compromise could propagate across patients, and how each security use case is handled.</a:t>
            </a:r>
            <a:endParaRPr lang="en-US" sz="1150" dirty="0"/>
          </a:p>
        </p:txBody>
      </p:sp>
      <p:sp>
        <p:nvSpPr>
          <p:cNvPr id="17" name="Shape 15"/>
          <p:cNvSpPr/>
          <p:nvPr/>
        </p:nvSpPr>
        <p:spPr>
          <a:xfrm>
            <a:off x="8127797" y="1883664"/>
            <a:ext cx="3515258" cy="2743200"/>
          </a:xfrm>
          <a:prstGeom prst="roundRect">
            <a:avLst>
              <a:gd name="adj" fmla="val 2333"/>
            </a:avLst>
          </a:prstGeom>
          <a:solidFill>
            <a:srgbClr val="F1F5F6"/>
          </a:solidFill>
          <a:ln w="12700">
            <a:solidFill>
              <a:srgbClr val="D7E2E5"/>
            </a:solidFill>
            <a:prstDash val="solid"/>
          </a:ln>
        </p:spPr>
      </p:sp>
      <p:sp>
        <p:nvSpPr>
          <p:cNvPr id="18" name="Shape 16"/>
          <p:cNvSpPr/>
          <p:nvPr/>
        </p:nvSpPr>
        <p:spPr>
          <a:xfrm>
            <a:off x="8347253" y="2084832"/>
            <a:ext cx="365760" cy="365760"/>
          </a:xfrm>
          <a:prstGeom prst="ellipse">
            <a:avLst/>
          </a:prstGeom>
          <a:solidFill>
            <a:srgbClr val="C77C1E"/>
          </a:solidFill>
          <a:ln w="12700">
            <a:solidFill>
              <a:srgbClr val="C77C1E"/>
            </a:solidFill>
            <a:prstDash val="solid"/>
          </a:ln>
        </p:spPr>
      </p:sp>
      <p:sp>
        <p:nvSpPr>
          <p:cNvPr id="19" name="Text 17"/>
          <p:cNvSpPr txBox="1"/>
          <p:nvPr/>
        </p:nvSpPr>
        <p:spPr>
          <a:xfrm>
            <a:off x="8347253"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347253" y="2560320"/>
            <a:ext cx="3076346" cy="337312"/>
          </a:xfrm>
          <a:prstGeom prst="rect">
            <a:avLst/>
          </a:prstGeom>
          <a:noFill/>
          <a:ln/>
        </p:spPr>
        <p:txBody>
          <a:bodyPr wrap="square" lIns="0" tIns="0" rIns="0" bIns="0" rtlCol="0" anchor="t"/>
          <a:lstStyle/>
          <a:p>
            <a:pPr indent="0" marL="0">
              <a:buNone/>
            </a:pPr>
            <a:r>
              <a:rPr lang="en-US" sz="1600" b="1" dirty="0">
                <a:solidFill>
                  <a:srgbClr val="1B3A4B"/>
                </a:solidFill>
                <a:latin typeface="Calibri" pitchFamily="34" charset="0"/>
                <a:ea typeface="Calibri" pitchFamily="34" charset="-122"/>
                <a:cs typeface="Calibri" pitchFamily="34" charset="-120"/>
              </a:rPr>
              <a:t>Cybersecurity testing</a:t>
            </a:r>
            <a:endParaRPr lang="en-US" sz="1600" dirty="0"/>
          </a:p>
        </p:txBody>
      </p:sp>
      <p:sp>
        <p:nvSpPr>
          <p:cNvPr id="21" name="Text 19"/>
          <p:cNvSpPr txBox="1"/>
          <p:nvPr/>
        </p:nvSpPr>
        <p:spPr>
          <a:xfrm>
            <a:off x="8347253" y="2934208"/>
            <a:ext cx="3076346" cy="1546352"/>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Evidence that the controls work: requirements testing, threat mitigation testing, vulnerability testing and penetration testing. Four distinct categories answering four distinct questions.</a:t>
            </a:r>
            <a:endParaRPr lang="en-US" sz="1150" dirty="0"/>
          </a:p>
        </p:txBody>
      </p:sp>
      <p:sp>
        <p:nvSpPr>
          <p:cNvPr id="22" name="Shape 20"/>
          <p:cNvSpPr/>
          <p:nvPr/>
        </p:nvSpPr>
        <p:spPr>
          <a:xfrm>
            <a:off x="548640" y="5047488"/>
            <a:ext cx="11094415" cy="1078992"/>
          </a:xfrm>
          <a:prstGeom prst="roundRect">
            <a:avLst>
              <a:gd name="adj" fmla="val 5932"/>
            </a:avLst>
          </a:prstGeom>
          <a:solidFill>
            <a:srgbClr val="EAF3F2"/>
          </a:solidFill>
          <a:ln w="12700">
            <a:solidFill>
              <a:srgbClr val="BFD9D6"/>
            </a:solidFill>
            <a:prstDash val="solid"/>
          </a:ln>
        </p:spPr>
      </p:sp>
      <p:sp>
        <p:nvSpPr>
          <p:cNvPr id="23" name="Text 21"/>
          <p:cNvSpPr txBox="1"/>
          <p:nvPr/>
        </p:nvSpPr>
        <p:spPr>
          <a:xfrm>
            <a:off x="786384" y="5175504"/>
            <a:ext cx="10618927" cy="822960"/>
          </a:xfrm>
          <a:prstGeom prst="rect">
            <a:avLst/>
          </a:prstGeom>
          <a:noFill/>
          <a:ln/>
        </p:spPr>
        <p:txBody>
          <a:bodyPr wrap="square" lIns="0" tIns="0" rIns="0" bIns="0" rtlCol="0" anchor="t"/>
          <a:lstStyle/>
          <a:p>
            <a:pPr indent="0" marL="0">
              <a:lnSpc>
                <a:spcPct val="105000"/>
              </a:lnSpc>
              <a:buNone/>
            </a:pPr>
            <a:r>
              <a:rPr lang="en-US" sz="1250" b="1" dirty="0">
                <a:solidFill>
                  <a:srgbClr val="1B3A4B"/>
                </a:solidFill>
                <a:latin typeface="Calibri" pitchFamily="34" charset="0"/>
                <a:ea typeface="Calibri" pitchFamily="34" charset="-122"/>
                <a:cs typeface="Calibri" pitchFamily="34" charset="-120"/>
              </a:rPr>
              <a:t>Why a framework rather than a control list:  </a:t>
            </a:r>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a list of required controls ages badly and invites box-ticking. A development framework asks you to reason about your specific device, in its specific clinical and network context, and to show your reasoning. It also means a security programme is auditable in the same way a design control system is — by its process outputs.</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THE TWO-PROCESS MODEL</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Security risk management, done properly</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35</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4415" cy="914400"/>
        </p:xfrm>
        <a:graphic>
          <a:graphicData uri="http://schemas.openxmlformats.org/drawingml/2006/table">
            <a:tbl>
              <a:tblPr/>
              <a:tblGrid>
                <a:gridCol w="2011680"/>
                <a:gridCol w="4343400"/>
                <a:gridCol w="4736592"/>
              </a:tblGrid>
              <a:tr h="614477">
                <a:tc>
                  <a:txBody>
                    <a:bodyPr/>
                    <a:lstStyle/>
                    <a:p>
                      <a:pPr algn="l" indent="0" marL="0">
                        <a:buNone/>
                      </a:pP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04" b="1" dirty="0">
                          <a:solidFill>
                            <a:srgbClr val="FFFFFF"/>
                          </a:solidFill>
                          <a:latin typeface="Calibri" pitchFamily="34" charset="0"/>
                          <a:ea typeface="Calibri" pitchFamily="34" charset="-122"/>
                          <a:cs typeface="Calibri" pitchFamily="34" charset="-120"/>
                        </a:rPr>
                        <a:t>Safety risk (ISO 14971)</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04" b="1" dirty="0">
                          <a:solidFill>
                            <a:srgbClr val="FFFFFF"/>
                          </a:solidFill>
                          <a:latin typeface="Calibri" pitchFamily="34" charset="0"/>
                          <a:ea typeface="Calibri" pitchFamily="34" charset="-122"/>
                          <a:cs typeface="Calibri" pitchFamily="34" charset="-120"/>
                        </a:rPr>
                        <a:t>Security risk (AAMI SW96 · IEC 81001-5-1)</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614477">
                <a:tc>
                  <a:txBody>
                    <a:bodyPr/>
                    <a:lstStyle/>
                    <a:p>
                      <a:pPr indent="0" marL="0">
                        <a:buNone/>
                      </a:pPr>
                      <a:r>
                        <a:rPr lang="en-US" sz="1104" b="1" dirty="0">
                          <a:solidFill>
                            <a:srgbClr val="1B3A4B"/>
                          </a:solidFill>
                          <a:latin typeface="Calibri" pitchFamily="34" charset="0"/>
                          <a:ea typeface="Calibri" pitchFamily="34" charset="-122"/>
                          <a:cs typeface="Calibri" pitchFamily="34" charset="-120"/>
                        </a:rPr>
                        <a:t>Question</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Could the device harm a patient through failure or use error?</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Could an actor cause the device to harm a patient, or deny its use?</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14477">
                <a:tc>
                  <a:txBody>
                    <a:bodyPr/>
                    <a:lstStyle/>
                    <a:p>
                      <a:pPr indent="0" marL="0">
                        <a:buNone/>
                      </a:pPr>
                      <a:r>
                        <a:rPr lang="en-US" sz="1104" b="1" dirty="0">
                          <a:solidFill>
                            <a:srgbClr val="1B3A4B"/>
                          </a:solidFill>
                          <a:latin typeface="Calibri" pitchFamily="34" charset="0"/>
                          <a:ea typeface="Calibri" pitchFamily="34" charset="-122"/>
                          <a:cs typeface="Calibri" pitchFamily="34" charset="-120"/>
                        </a:rPr>
                        <a:t>Likelihood</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Probability — estimable from failure rates, field data and clinical experience</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6" b="1" dirty="0">
                          <a:solidFill>
                            <a:srgbClr val="A83A3C"/>
                          </a:solidFill>
                          <a:latin typeface="Calibri" pitchFamily="34" charset="0"/>
                          <a:ea typeface="Calibri" pitchFamily="34" charset="-122"/>
                          <a:cs typeface="Calibri" pitchFamily="34" charset="-120"/>
                        </a:rPr>
                        <a:t>Exploitability — feasibility given required access, skill, equipment and window. Not a frequency.</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14477">
                <a:tc>
                  <a:txBody>
                    <a:bodyPr/>
                    <a:lstStyle/>
                    <a:p>
                      <a:pPr indent="0" marL="0">
                        <a:buNone/>
                      </a:pPr>
                      <a:r>
                        <a:rPr lang="en-US" sz="1104" b="1" dirty="0">
                          <a:solidFill>
                            <a:srgbClr val="1B3A4B"/>
                          </a:solidFill>
                          <a:latin typeface="Calibri" pitchFamily="34" charset="0"/>
                          <a:ea typeface="Calibri" pitchFamily="34" charset="-122"/>
                          <a:cs typeface="Calibri" pitchFamily="34" charset="-120"/>
                        </a:rPr>
                        <a:t>The adversary</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None. A component does not adapt to your mitigation.</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Intelligent and adaptive. Adding a control redirects the attacker rather than reducing a rate.</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14477">
                <a:tc>
                  <a:txBody>
                    <a:bodyPr/>
                    <a:lstStyle/>
                    <a:p>
                      <a:pPr indent="0" marL="0">
                        <a:buNone/>
                      </a:pPr>
                      <a:r>
                        <a:rPr lang="en-US" sz="1104" b="1" dirty="0">
                          <a:solidFill>
                            <a:srgbClr val="1B3A4B"/>
                          </a:solidFill>
                          <a:latin typeface="Calibri" pitchFamily="34" charset="0"/>
                          <a:ea typeface="Calibri" pitchFamily="34" charset="-122"/>
                          <a:cs typeface="Calibri" pitchFamily="34" charset="-120"/>
                        </a:rPr>
                        <a:t>Acceptability</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Residual risk weighed against clinical benefit</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Controlled vs uncontrolled risk — and uncontrolled risk must be remediated, not accepted</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14477">
                <a:tc>
                  <a:txBody>
                    <a:bodyPr/>
                    <a:lstStyle/>
                    <a:p>
                      <a:pPr indent="0" marL="0">
                        <a:buNone/>
                      </a:pPr>
                      <a:r>
                        <a:rPr lang="en-US" sz="1104" b="1" dirty="0">
                          <a:solidFill>
                            <a:srgbClr val="1B3A4B"/>
                          </a:solidFill>
                          <a:latin typeface="Calibri" pitchFamily="34" charset="0"/>
                          <a:ea typeface="Calibri" pitchFamily="34" charset="-122"/>
                          <a:cs typeface="Calibri" pitchFamily="34" charset="-120"/>
                        </a:rPr>
                        <a:t>Changes over time?</a:t>
                      </a:r>
                      <a:endParaRPr lang="en-US" sz="1104"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Slowly — as field data accumulates</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56" dirty="0">
                          <a:solidFill>
                            <a:srgbClr val="22333B"/>
                          </a:solidFill>
                          <a:latin typeface="Calibri" pitchFamily="34" charset="0"/>
                          <a:ea typeface="Calibri" pitchFamily="34" charset="-122"/>
                          <a:cs typeface="Calibri" pitchFamily="34" charset="-120"/>
                        </a:rPr>
                        <a:t>Constantly. Today's acceptable residual risk becomes tomorrow's published exploit.</a:t>
                      </a:r>
                      <a:endParaRPr lang="en-US" sz="1056"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
        <p:nvSpPr>
          <p:cNvPr id="7" name="Shape 4"/>
          <p:cNvSpPr/>
          <p:nvPr/>
        </p:nvSpPr>
        <p:spPr>
          <a:xfrm>
            <a:off x="548640" y="5541264"/>
            <a:ext cx="11094415" cy="731520"/>
          </a:xfrm>
          <a:prstGeom prst="roundRect">
            <a:avLst>
              <a:gd name="adj" fmla="val 7500"/>
            </a:avLst>
          </a:prstGeom>
          <a:solidFill>
            <a:srgbClr val="EAF3F2"/>
          </a:solidFill>
          <a:ln w="12700">
            <a:solidFill>
              <a:srgbClr val="BFD9D6"/>
            </a:solidFill>
            <a:prstDash val="solid"/>
          </a:ln>
        </p:spPr>
      </p:sp>
      <p:sp>
        <p:nvSpPr>
          <p:cNvPr id="8" name="Text 5"/>
          <p:cNvSpPr txBox="1"/>
          <p:nvPr/>
        </p:nvSpPr>
        <p:spPr>
          <a:xfrm>
            <a:off x="786384" y="5541264"/>
            <a:ext cx="10618927" cy="731520"/>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The bridge: when security analysis finds an exploit path that could lead to patient harm, that harm becomes a hazardous situation in your ISO 14971 file. Two processes, one place where they must meet.</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PRACTICE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Threat modelling: how to actually run one</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36</a:t>
            </a:r>
            <a:endParaRPr lang="en-US" sz="900" dirty="0"/>
          </a:p>
        </p:txBody>
      </p:sp>
      <p:sp>
        <p:nvSpPr>
          <p:cNvPr id="6" name="Text 4"/>
          <p:cNvSpPr txBox="1"/>
          <p:nvPr/>
        </p:nvSpPr>
        <p:spPr>
          <a:xfrm>
            <a:off x="548640" y="148132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THE FOUR QUESTIONS</a:t>
            </a:r>
            <a:endParaRPr lang="en-US" sz="1100" dirty="0"/>
          </a:p>
        </p:txBody>
      </p:sp>
      <p:sp>
        <p:nvSpPr>
          <p:cNvPr id="7" name="Shape 5"/>
          <p:cNvSpPr/>
          <p:nvPr/>
        </p:nvSpPr>
        <p:spPr>
          <a:xfrm>
            <a:off x="548640" y="1792224"/>
            <a:ext cx="5394960" cy="754380"/>
          </a:xfrm>
          <a:prstGeom prst="roundRect">
            <a:avLst>
              <a:gd name="adj" fmla="val 8485"/>
            </a:avLst>
          </a:prstGeom>
          <a:solidFill>
            <a:srgbClr val="F1F5F6"/>
          </a:solidFill>
          <a:ln w="12700">
            <a:solidFill>
              <a:srgbClr val="D7E2E5"/>
            </a:solidFill>
            <a:prstDash val="solid"/>
          </a:ln>
        </p:spPr>
      </p:sp>
      <p:sp>
        <p:nvSpPr>
          <p:cNvPr id="8" name="Shape 6"/>
          <p:cNvSpPr/>
          <p:nvPr/>
        </p:nvSpPr>
        <p:spPr>
          <a:xfrm>
            <a:off x="786384" y="1968246"/>
            <a:ext cx="402336" cy="402336"/>
          </a:xfrm>
          <a:prstGeom prst="ellipse">
            <a:avLst/>
          </a:prstGeom>
          <a:solidFill>
            <a:srgbClr val="0E7C7B"/>
          </a:solidFill>
          <a:ln w="12700">
            <a:solidFill>
              <a:srgbClr val="0E7C7B"/>
            </a:solidFill>
            <a:prstDash val="solid"/>
          </a:ln>
        </p:spPr>
      </p:sp>
      <p:sp>
        <p:nvSpPr>
          <p:cNvPr id="9" name="Text 7"/>
          <p:cNvSpPr txBox="1"/>
          <p:nvPr/>
        </p:nvSpPr>
        <p:spPr>
          <a:xfrm>
            <a:off x="786384" y="196824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335024" y="1911096"/>
            <a:ext cx="4334256" cy="516636"/>
          </a:xfrm>
          <a:prstGeom prst="rect">
            <a:avLst/>
          </a:prstGeom>
          <a:noFill/>
          <a:ln/>
        </p:spPr>
        <p:txBody>
          <a:bodyPr wrap="square" lIns="0" tIns="0" rIns="0" bIns="0" rtlCol="0" anchor="ctr"/>
          <a:lstStyle/>
          <a:p>
            <a:pPr indent="0" marL="0">
              <a:lnSpc>
                <a:spcPct val="105000"/>
              </a:lnSpc>
              <a:buNone/>
            </a:pPr>
            <a:r>
              <a:rPr lang="en-US" sz="1300" b="1" dirty="0">
                <a:solidFill>
                  <a:srgbClr val="1B3A4B"/>
                </a:solidFill>
                <a:latin typeface="Calibri" pitchFamily="34" charset="0"/>
                <a:ea typeface="Calibri" pitchFamily="34" charset="-122"/>
                <a:cs typeface="Calibri" pitchFamily="34" charset="-120"/>
              </a:rPr>
              <a:t>What are we building?</a:t>
            </a:r>
            <a:endParaRPr lang="en-US" sz="1300" dirty="0"/>
          </a:p>
          <a:p>
            <a:pPr indent="0" marL="0">
              <a:lnSpc>
                <a:spcPct val="105000"/>
              </a:lnSpc>
              <a:buNone/>
            </a:pPr>
            <a:r>
              <a:rPr lang="en-US" sz="1050" dirty="0">
                <a:solidFill>
                  <a:srgbClr val="22333B"/>
                </a:solidFill>
                <a:latin typeface="Calibri" pitchFamily="34" charset="0"/>
                <a:ea typeface="Calibri" pitchFamily="34" charset="-122"/>
                <a:cs typeface="Calibri" pitchFamily="34" charset="-120"/>
              </a:rPr>
              <a:t>Data flow diagram with trust boundaries drawn explicitly.</a:t>
            </a:r>
            <a:endParaRPr lang="en-US" sz="1300" dirty="0"/>
          </a:p>
        </p:txBody>
      </p:sp>
      <p:sp>
        <p:nvSpPr>
          <p:cNvPr id="11" name="Shape 9"/>
          <p:cNvSpPr/>
          <p:nvPr/>
        </p:nvSpPr>
        <p:spPr>
          <a:xfrm>
            <a:off x="548640" y="2656332"/>
            <a:ext cx="5394960" cy="754380"/>
          </a:xfrm>
          <a:prstGeom prst="roundRect">
            <a:avLst>
              <a:gd name="adj" fmla="val 8485"/>
            </a:avLst>
          </a:prstGeom>
          <a:solidFill>
            <a:srgbClr val="F1F5F6"/>
          </a:solidFill>
          <a:ln w="12700">
            <a:solidFill>
              <a:srgbClr val="D7E2E5"/>
            </a:solidFill>
            <a:prstDash val="solid"/>
          </a:ln>
        </p:spPr>
      </p:sp>
      <p:sp>
        <p:nvSpPr>
          <p:cNvPr id="12" name="Shape 10"/>
          <p:cNvSpPr/>
          <p:nvPr/>
        </p:nvSpPr>
        <p:spPr>
          <a:xfrm>
            <a:off x="786384" y="2832354"/>
            <a:ext cx="402336" cy="402336"/>
          </a:xfrm>
          <a:prstGeom prst="ellipse">
            <a:avLst/>
          </a:prstGeom>
          <a:solidFill>
            <a:srgbClr val="0E7C7B"/>
          </a:solidFill>
          <a:ln w="12700">
            <a:solidFill>
              <a:srgbClr val="0E7C7B"/>
            </a:solidFill>
            <a:prstDash val="solid"/>
          </a:ln>
        </p:spPr>
      </p:sp>
      <p:sp>
        <p:nvSpPr>
          <p:cNvPr id="13" name="Text 11"/>
          <p:cNvSpPr txBox="1"/>
          <p:nvPr/>
        </p:nvSpPr>
        <p:spPr>
          <a:xfrm>
            <a:off x="786384" y="283235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335024" y="2775204"/>
            <a:ext cx="4334256" cy="516636"/>
          </a:xfrm>
          <a:prstGeom prst="rect">
            <a:avLst/>
          </a:prstGeom>
          <a:noFill/>
          <a:ln/>
        </p:spPr>
        <p:txBody>
          <a:bodyPr wrap="square" lIns="0" tIns="0" rIns="0" bIns="0" rtlCol="0" anchor="ctr"/>
          <a:lstStyle/>
          <a:p>
            <a:pPr indent="0" marL="0">
              <a:lnSpc>
                <a:spcPct val="105000"/>
              </a:lnSpc>
              <a:buNone/>
            </a:pPr>
            <a:r>
              <a:rPr lang="en-US" sz="1300" b="1" dirty="0">
                <a:solidFill>
                  <a:srgbClr val="1B3A4B"/>
                </a:solidFill>
                <a:latin typeface="Calibri" pitchFamily="34" charset="0"/>
                <a:ea typeface="Calibri" pitchFamily="34" charset="-122"/>
                <a:cs typeface="Calibri" pitchFamily="34" charset="-120"/>
              </a:rPr>
              <a:t>What can go wrong?</a:t>
            </a:r>
            <a:endParaRPr lang="en-US" sz="1300" dirty="0"/>
          </a:p>
          <a:p>
            <a:pPr indent="0" marL="0">
              <a:lnSpc>
                <a:spcPct val="105000"/>
              </a:lnSpc>
              <a:buNone/>
            </a:pPr>
            <a:r>
              <a:rPr lang="en-US" sz="1050" dirty="0">
                <a:solidFill>
                  <a:srgbClr val="22333B"/>
                </a:solidFill>
                <a:latin typeface="Calibri" pitchFamily="34" charset="0"/>
                <a:ea typeface="Calibri" pitchFamily="34" charset="-122"/>
                <a:cs typeface="Calibri" pitchFamily="34" charset="-120"/>
              </a:rPr>
              <a:t>Walk STRIDE across every element and every boundary crossing.</a:t>
            </a:r>
            <a:endParaRPr lang="en-US" sz="1300" dirty="0"/>
          </a:p>
        </p:txBody>
      </p:sp>
      <p:sp>
        <p:nvSpPr>
          <p:cNvPr id="15" name="Shape 13"/>
          <p:cNvSpPr/>
          <p:nvPr/>
        </p:nvSpPr>
        <p:spPr>
          <a:xfrm>
            <a:off x="548640" y="3520440"/>
            <a:ext cx="5394960" cy="754380"/>
          </a:xfrm>
          <a:prstGeom prst="roundRect">
            <a:avLst>
              <a:gd name="adj" fmla="val 8485"/>
            </a:avLst>
          </a:prstGeom>
          <a:solidFill>
            <a:srgbClr val="F1F5F6"/>
          </a:solidFill>
          <a:ln w="12700">
            <a:solidFill>
              <a:srgbClr val="D7E2E5"/>
            </a:solidFill>
            <a:prstDash val="solid"/>
          </a:ln>
        </p:spPr>
      </p:sp>
      <p:sp>
        <p:nvSpPr>
          <p:cNvPr id="16" name="Shape 14"/>
          <p:cNvSpPr/>
          <p:nvPr/>
        </p:nvSpPr>
        <p:spPr>
          <a:xfrm>
            <a:off x="786384" y="3696462"/>
            <a:ext cx="402336" cy="402336"/>
          </a:xfrm>
          <a:prstGeom prst="ellipse">
            <a:avLst/>
          </a:prstGeom>
          <a:solidFill>
            <a:srgbClr val="0E7C7B"/>
          </a:solidFill>
          <a:ln w="12700">
            <a:solidFill>
              <a:srgbClr val="0E7C7B"/>
            </a:solidFill>
            <a:prstDash val="solid"/>
          </a:ln>
        </p:spPr>
      </p:sp>
      <p:sp>
        <p:nvSpPr>
          <p:cNvPr id="17" name="Text 15"/>
          <p:cNvSpPr txBox="1"/>
          <p:nvPr/>
        </p:nvSpPr>
        <p:spPr>
          <a:xfrm>
            <a:off x="786384" y="369646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35024" y="3639312"/>
            <a:ext cx="4334256" cy="516636"/>
          </a:xfrm>
          <a:prstGeom prst="rect">
            <a:avLst/>
          </a:prstGeom>
          <a:noFill/>
          <a:ln/>
        </p:spPr>
        <p:txBody>
          <a:bodyPr wrap="square" lIns="0" tIns="0" rIns="0" bIns="0" rtlCol="0" anchor="ctr"/>
          <a:lstStyle/>
          <a:p>
            <a:pPr indent="0" marL="0">
              <a:lnSpc>
                <a:spcPct val="105000"/>
              </a:lnSpc>
              <a:buNone/>
            </a:pPr>
            <a:r>
              <a:rPr lang="en-US" sz="1300" b="1" dirty="0">
                <a:solidFill>
                  <a:srgbClr val="1B3A4B"/>
                </a:solidFill>
                <a:latin typeface="Calibri" pitchFamily="34" charset="0"/>
                <a:ea typeface="Calibri" pitchFamily="34" charset="-122"/>
                <a:cs typeface="Calibri" pitchFamily="34" charset="-120"/>
              </a:rPr>
              <a:t>What are we doing about it?</a:t>
            </a:r>
            <a:endParaRPr lang="en-US" sz="1300" dirty="0"/>
          </a:p>
          <a:p>
            <a:pPr indent="0" marL="0">
              <a:lnSpc>
                <a:spcPct val="105000"/>
              </a:lnSpc>
              <a:buNone/>
            </a:pPr>
            <a:r>
              <a:rPr lang="en-US" sz="1050" dirty="0">
                <a:solidFill>
                  <a:srgbClr val="22333B"/>
                </a:solidFill>
                <a:latin typeface="Calibri" pitchFamily="34" charset="0"/>
                <a:ea typeface="Calibri" pitchFamily="34" charset="-122"/>
                <a:cs typeface="Calibri" pitchFamily="34" charset="-120"/>
              </a:rPr>
              <a:t>Controls, traced to requirements and to tests.</a:t>
            </a:r>
            <a:endParaRPr lang="en-US" sz="1300" dirty="0"/>
          </a:p>
        </p:txBody>
      </p:sp>
      <p:sp>
        <p:nvSpPr>
          <p:cNvPr id="19" name="Shape 17"/>
          <p:cNvSpPr/>
          <p:nvPr/>
        </p:nvSpPr>
        <p:spPr>
          <a:xfrm>
            <a:off x="548640" y="4384548"/>
            <a:ext cx="5394960" cy="754380"/>
          </a:xfrm>
          <a:prstGeom prst="roundRect">
            <a:avLst>
              <a:gd name="adj" fmla="val 8485"/>
            </a:avLst>
          </a:prstGeom>
          <a:solidFill>
            <a:srgbClr val="F1F5F6"/>
          </a:solidFill>
          <a:ln w="12700">
            <a:solidFill>
              <a:srgbClr val="D7E2E5"/>
            </a:solidFill>
            <a:prstDash val="solid"/>
          </a:ln>
        </p:spPr>
      </p:sp>
      <p:sp>
        <p:nvSpPr>
          <p:cNvPr id="20" name="Shape 18"/>
          <p:cNvSpPr/>
          <p:nvPr/>
        </p:nvSpPr>
        <p:spPr>
          <a:xfrm>
            <a:off x="786384" y="4560570"/>
            <a:ext cx="402336" cy="402336"/>
          </a:xfrm>
          <a:prstGeom prst="ellipse">
            <a:avLst/>
          </a:prstGeom>
          <a:solidFill>
            <a:srgbClr val="0E7C7B"/>
          </a:solidFill>
          <a:ln w="12700">
            <a:solidFill>
              <a:srgbClr val="0E7C7B"/>
            </a:solidFill>
            <a:prstDash val="solid"/>
          </a:ln>
        </p:spPr>
      </p:sp>
      <p:sp>
        <p:nvSpPr>
          <p:cNvPr id="21" name="Text 19"/>
          <p:cNvSpPr txBox="1"/>
          <p:nvPr/>
        </p:nvSpPr>
        <p:spPr>
          <a:xfrm>
            <a:off x="786384" y="456057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335024" y="4503420"/>
            <a:ext cx="4334256" cy="516636"/>
          </a:xfrm>
          <a:prstGeom prst="rect">
            <a:avLst/>
          </a:prstGeom>
          <a:noFill/>
          <a:ln/>
        </p:spPr>
        <p:txBody>
          <a:bodyPr wrap="square" lIns="0" tIns="0" rIns="0" bIns="0" rtlCol="0" anchor="ctr"/>
          <a:lstStyle/>
          <a:p>
            <a:pPr indent="0" marL="0">
              <a:lnSpc>
                <a:spcPct val="105000"/>
              </a:lnSpc>
              <a:buNone/>
            </a:pPr>
            <a:r>
              <a:rPr lang="en-US" sz="1300" b="1" dirty="0">
                <a:solidFill>
                  <a:srgbClr val="1B3A4B"/>
                </a:solidFill>
                <a:latin typeface="Calibri" pitchFamily="34" charset="0"/>
                <a:ea typeface="Calibri" pitchFamily="34" charset="-122"/>
                <a:cs typeface="Calibri" pitchFamily="34" charset="-120"/>
              </a:rPr>
              <a:t>Did we do a good enough job?</a:t>
            </a:r>
            <a:endParaRPr lang="en-US" sz="1300" dirty="0"/>
          </a:p>
          <a:p>
            <a:pPr indent="0" marL="0">
              <a:lnSpc>
                <a:spcPct val="105000"/>
              </a:lnSpc>
              <a:buNone/>
            </a:pPr>
            <a:r>
              <a:rPr lang="en-US" sz="1050" dirty="0">
                <a:solidFill>
                  <a:srgbClr val="22333B"/>
                </a:solidFill>
                <a:latin typeface="Calibri" pitchFamily="34" charset="0"/>
                <a:ea typeface="Calibri" pitchFamily="34" charset="-122"/>
                <a:cs typeface="Calibri" pitchFamily="34" charset="-120"/>
              </a:rPr>
              <a:t>Review, and revisit whenever the architecture changes.</a:t>
            </a:r>
            <a:endParaRPr lang="en-US" sz="1300" dirty="0"/>
          </a:p>
        </p:txBody>
      </p:sp>
      <p:sp>
        <p:nvSpPr>
          <p:cNvPr id="23" name="Shape 21"/>
          <p:cNvSpPr/>
          <p:nvPr/>
        </p:nvSpPr>
        <p:spPr>
          <a:xfrm>
            <a:off x="548640" y="5285232"/>
            <a:ext cx="5394960" cy="969264"/>
          </a:xfrm>
          <a:prstGeom prst="roundRect">
            <a:avLst>
              <a:gd name="adj" fmla="val 6604"/>
            </a:avLst>
          </a:prstGeom>
          <a:solidFill>
            <a:srgbClr val="FBF0E2"/>
          </a:solidFill>
          <a:ln w="12700">
            <a:solidFill>
              <a:srgbClr val="E3C893"/>
            </a:solidFill>
            <a:prstDash val="solid"/>
          </a:ln>
        </p:spPr>
      </p:sp>
      <p:sp>
        <p:nvSpPr>
          <p:cNvPr id="24" name="Text 22"/>
          <p:cNvSpPr txBox="1"/>
          <p:nvPr/>
        </p:nvSpPr>
        <p:spPr>
          <a:xfrm>
            <a:off x="786384" y="5413248"/>
            <a:ext cx="4919472" cy="731520"/>
          </a:xfrm>
          <a:prstGeom prst="rect">
            <a:avLst/>
          </a:prstGeom>
          <a:noFill/>
          <a:ln/>
        </p:spPr>
        <p:txBody>
          <a:bodyPr wrap="square" lIns="0" tIns="0" rIns="0" bIns="0" rtlCol="0" anchor="t"/>
          <a:lstStyle/>
          <a:p>
            <a:pPr indent="0" marL="0">
              <a:lnSpc>
                <a:spcPct val="104000"/>
              </a:lnSpc>
              <a:buNone/>
            </a:pPr>
            <a:r>
              <a:rPr lang="en-US" sz="1150" b="1" dirty="0">
                <a:solidFill>
                  <a:srgbClr val="7A4E12"/>
                </a:solidFill>
                <a:latin typeface="Calibri" pitchFamily="34" charset="0"/>
                <a:ea typeface="Calibri" pitchFamily="34" charset="-122"/>
                <a:cs typeface="Calibri" pitchFamily="34" charset="-120"/>
              </a:rPr>
              <a:t>Do it at architecture time.  </a:t>
            </a:r>
            <a:pPr indent="0" marL="0">
              <a:lnSpc>
                <a:spcPct val="104000"/>
              </a:lnSpc>
              <a:buNone/>
            </a:pPr>
            <a:r>
              <a:rPr lang="en-US" sz="1100" dirty="0">
                <a:solidFill>
                  <a:srgbClr val="22333B"/>
                </a:solidFill>
                <a:latin typeface="Calibri" pitchFamily="34" charset="0"/>
                <a:ea typeface="Calibri" pitchFamily="34" charset="-122"/>
                <a:cs typeface="Calibri" pitchFamily="34" charset="-120"/>
              </a:rPr>
              <a:t>A threat model produced after the design is frozen documents your problems. One produced during design prevents them.</a:t>
            </a:r>
            <a:endParaRPr lang="en-US" sz="1150" dirty="0"/>
          </a:p>
        </p:txBody>
      </p:sp>
      <p:sp>
        <p:nvSpPr>
          <p:cNvPr id="25" name="Text 23"/>
          <p:cNvSpPr txBox="1"/>
          <p:nvPr/>
        </p:nvSpPr>
        <p:spPr>
          <a:xfrm>
            <a:off x="6245352" y="1481328"/>
            <a:ext cx="5394960" cy="256032"/>
          </a:xfrm>
          <a:prstGeom prst="rect">
            <a:avLst/>
          </a:prstGeom>
          <a:noFill/>
          <a:ln/>
        </p:spPr>
        <p:txBody>
          <a:bodyPr wrap="square" lIns="0" tIns="0" rIns="0" bIns="0" rtlCol="0" anchor="ctr"/>
          <a:lstStyle/>
          <a:p>
            <a:pPr indent="0" marL="0">
              <a:buNone/>
            </a:pPr>
            <a:r>
              <a:rPr lang="en-US" sz="1100" b="1" spc="120" kern="0" dirty="0">
                <a:solidFill>
                  <a:srgbClr val="A83A3C"/>
                </a:solidFill>
                <a:latin typeface="Calibri" pitchFamily="34" charset="0"/>
                <a:ea typeface="Calibri" pitchFamily="34" charset="-122"/>
                <a:cs typeface="Calibri" pitchFamily="34" charset="-120"/>
              </a:rPr>
              <a:t>STRIDE, IN MEDICAL DEVICE TERMS</a:t>
            </a:r>
            <a:endParaRPr lang="en-US" sz="1100" dirty="0"/>
          </a:p>
        </p:txBody>
      </p:sp>
      <p:sp>
        <p:nvSpPr>
          <p:cNvPr id="26" name="Shape 24"/>
          <p:cNvSpPr/>
          <p:nvPr/>
        </p:nvSpPr>
        <p:spPr>
          <a:xfrm>
            <a:off x="6245352" y="1792224"/>
            <a:ext cx="5394960" cy="672084"/>
          </a:xfrm>
          <a:prstGeom prst="roundRect">
            <a:avLst>
              <a:gd name="adj" fmla="val 9524"/>
            </a:avLst>
          </a:prstGeom>
          <a:solidFill>
            <a:srgbClr val="F1F5F6"/>
          </a:solidFill>
          <a:ln w="12700">
            <a:solidFill>
              <a:srgbClr val="D7E2E5"/>
            </a:solidFill>
            <a:prstDash val="solid"/>
          </a:ln>
        </p:spPr>
      </p:sp>
      <p:sp>
        <p:nvSpPr>
          <p:cNvPr id="27" name="Shape 25"/>
          <p:cNvSpPr/>
          <p:nvPr/>
        </p:nvSpPr>
        <p:spPr>
          <a:xfrm>
            <a:off x="6446520" y="1965960"/>
            <a:ext cx="420624" cy="420624"/>
          </a:xfrm>
          <a:prstGeom prst="roundRect">
            <a:avLst>
              <a:gd name="adj" fmla="val 10870"/>
            </a:avLst>
          </a:prstGeom>
          <a:solidFill>
            <a:srgbClr val="A83A3C"/>
          </a:solidFill>
          <a:ln w="12700">
            <a:solidFill>
              <a:srgbClr val="333333"/>
            </a:solidFill>
            <a:prstDash val="solid"/>
          </a:ln>
        </p:spPr>
      </p:sp>
      <p:sp>
        <p:nvSpPr>
          <p:cNvPr id="28" name="Text 26"/>
          <p:cNvSpPr txBox="1"/>
          <p:nvPr/>
        </p:nvSpPr>
        <p:spPr>
          <a:xfrm>
            <a:off x="6446520" y="1965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a:t>
            </a:r>
            <a:endParaRPr lang="en-US" sz="1500" dirty="0"/>
          </a:p>
        </p:txBody>
      </p:sp>
      <p:sp>
        <p:nvSpPr>
          <p:cNvPr id="29" name="Text 27"/>
          <p:cNvSpPr txBox="1"/>
          <p:nvPr/>
        </p:nvSpPr>
        <p:spPr>
          <a:xfrm>
            <a:off x="7022592" y="1847088"/>
            <a:ext cx="4553712" cy="562356"/>
          </a:xfrm>
          <a:prstGeom prst="rect">
            <a:avLst/>
          </a:prstGeom>
          <a:noFill/>
          <a:ln/>
        </p:spPr>
        <p:txBody>
          <a:bodyPr wrap="square" lIns="0" tIns="0" rIns="0" bIns="0" rtlCol="0" anchor="ctr"/>
          <a:lstStyle/>
          <a:p>
            <a:pPr indent="0" marL="0">
              <a:lnSpc>
                <a:spcPct val="100000"/>
              </a:lnSpc>
              <a:buNone/>
            </a:pPr>
            <a:r>
              <a:rPr lang="en-US" sz="1080" b="1" dirty="0">
                <a:solidFill>
                  <a:srgbClr val="1B3A4B"/>
                </a:solidFill>
                <a:latin typeface="Calibri" pitchFamily="34" charset="0"/>
                <a:ea typeface="Calibri" pitchFamily="34" charset="-122"/>
                <a:cs typeface="Calibri" pitchFamily="34" charset="-120"/>
              </a:rPr>
              <a:t>Spoofing — </a:t>
            </a:r>
            <a:pPr indent="0" marL="0">
              <a:lnSpc>
                <a:spcPct val="100000"/>
              </a:lnSpc>
              <a:buNone/>
            </a:pPr>
            <a:r>
              <a:rPr lang="en-US" sz="1030" dirty="0">
                <a:solidFill>
                  <a:srgbClr val="22333B"/>
                </a:solidFill>
                <a:latin typeface="Calibri" pitchFamily="34" charset="0"/>
                <a:ea typeface="Calibri" pitchFamily="34" charset="-122"/>
                <a:cs typeface="Calibri" pitchFamily="34" charset="-120"/>
              </a:rPr>
              <a:t>Can something impersonate a legitimate device, clinician, server or update source?</a:t>
            </a:r>
            <a:endParaRPr lang="en-US" sz="1080" dirty="0"/>
          </a:p>
        </p:txBody>
      </p:sp>
      <p:sp>
        <p:nvSpPr>
          <p:cNvPr id="30" name="Shape 28"/>
          <p:cNvSpPr/>
          <p:nvPr/>
        </p:nvSpPr>
        <p:spPr>
          <a:xfrm>
            <a:off x="6245352" y="2546604"/>
            <a:ext cx="5394960" cy="672084"/>
          </a:xfrm>
          <a:prstGeom prst="roundRect">
            <a:avLst>
              <a:gd name="adj" fmla="val 9524"/>
            </a:avLst>
          </a:prstGeom>
          <a:solidFill>
            <a:srgbClr val="F1F5F6"/>
          </a:solidFill>
          <a:ln w="12700">
            <a:solidFill>
              <a:srgbClr val="D7E2E5"/>
            </a:solidFill>
            <a:prstDash val="solid"/>
          </a:ln>
        </p:spPr>
      </p:sp>
      <p:sp>
        <p:nvSpPr>
          <p:cNvPr id="31" name="Shape 29"/>
          <p:cNvSpPr/>
          <p:nvPr/>
        </p:nvSpPr>
        <p:spPr>
          <a:xfrm>
            <a:off x="6446520" y="2720340"/>
            <a:ext cx="420624" cy="420624"/>
          </a:xfrm>
          <a:prstGeom prst="roundRect">
            <a:avLst>
              <a:gd name="adj" fmla="val 10870"/>
            </a:avLst>
          </a:prstGeom>
          <a:solidFill>
            <a:srgbClr val="A83A3C"/>
          </a:solidFill>
          <a:ln w="12700">
            <a:solidFill>
              <a:srgbClr val="333333"/>
            </a:solidFill>
            <a:prstDash val="solid"/>
          </a:ln>
        </p:spPr>
      </p:sp>
      <p:sp>
        <p:nvSpPr>
          <p:cNvPr id="32" name="Text 30"/>
          <p:cNvSpPr txBox="1"/>
          <p:nvPr/>
        </p:nvSpPr>
        <p:spPr>
          <a:xfrm>
            <a:off x="6446520" y="27203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a:t>
            </a:r>
            <a:endParaRPr lang="en-US" sz="1500" dirty="0"/>
          </a:p>
        </p:txBody>
      </p:sp>
      <p:sp>
        <p:nvSpPr>
          <p:cNvPr id="33" name="Text 31"/>
          <p:cNvSpPr txBox="1"/>
          <p:nvPr/>
        </p:nvSpPr>
        <p:spPr>
          <a:xfrm>
            <a:off x="7022592" y="2601468"/>
            <a:ext cx="4553712" cy="562356"/>
          </a:xfrm>
          <a:prstGeom prst="rect">
            <a:avLst/>
          </a:prstGeom>
          <a:noFill/>
          <a:ln/>
        </p:spPr>
        <p:txBody>
          <a:bodyPr wrap="square" lIns="0" tIns="0" rIns="0" bIns="0" rtlCol="0" anchor="ctr"/>
          <a:lstStyle/>
          <a:p>
            <a:pPr indent="0" marL="0">
              <a:lnSpc>
                <a:spcPct val="100000"/>
              </a:lnSpc>
              <a:buNone/>
            </a:pPr>
            <a:r>
              <a:rPr lang="en-US" sz="1080" b="1" dirty="0">
                <a:solidFill>
                  <a:srgbClr val="1B3A4B"/>
                </a:solidFill>
                <a:latin typeface="Calibri" pitchFamily="34" charset="0"/>
                <a:ea typeface="Calibri" pitchFamily="34" charset="-122"/>
                <a:cs typeface="Calibri" pitchFamily="34" charset="-120"/>
              </a:rPr>
              <a:t>Tampering — </a:t>
            </a:r>
            <a:pPr indent="0" marL="0">
              <a:lnSpc>
                <a:spcPct val="100000"/>
              </a:lnSpc>
              <a:buNone/>
            </a:pPr>
            <a:r>
              <a:rPr lang="en-US" sz="1030" dirty="0">
                <a:solidFill>
                  <a:srgbClr val="22333B"/>
                </a:solidFill>
                <a:latin typeface="Calibri" pitchFamily="34" charset="0"/>
                <a:ea typeface="Calibri" pitchFamily="34" charset="-122"/>
                <a:cs typeface="Calibri" pitchFamily="34" charset="-120"/>
              </a:rPr>
              <a:t>Can data, settings, firmware or a clinical result be altered in transit, at rest or in memory?</a:t>
            </a:r>
            <a:endParaRPr lang="en-US" sz="1080" dirty="0"/>
          </a:p>
        </p:txBody>
      </p:sp>
      <p:sp>
        <p:nvSpPr>
          <p:cNvPr id="34" name="Shape 32"/>
          <p:cNvSpPr/>
          <p:nvPr/>
        </p:nvSpPr>
        <p:spPr>
          <a:xfrm>
            <a:off x="6245352" y="3300984"/>
            <a:ext cx="5394960" cy="672084"/>
          </a:xfrm>
          <a:prstGeom prst="roundRect">
            <a:avLst>
              <a:gd name="adj" fmla="val 9524"/>
            </a:avLst>
          </a:prstGeom>
          <a:solidFill>
            <a:srgbClr val="F1F5F6"/>
          </a:solidFill>
          <a:ln w="12700">
            <a:solidFill>
              <a:srgbClr val="D7E2E5"/>
            </a:solidFill>
            <a:prstDash val="solid"/>
          </a:ln>
        </p:spPr>
      </p:sp>
      <p:sp>
        <p:nvSpPr>
          <p:cNvPr id="35" name="Shape 33"/>
          <p:cNvSpPr/>
          <p:nvPr/>
        </p:nvSpPr>
        <p:spPr>
          <a:xfrm>
            <a:off x="6446520" y="3474720"/>
            <a:ext cx="420624" cy="420624"/>
          </a:xfrm>
          <a:prstGeom prst="roundRect">
            <a:avLst>
              <a:gd name="adj" fmla="val 10870"/>
            </a:avLst>
          </a:prstGeom>
          <a:solidFill>
            <a:srgbClr val="A83A3C"/>
          </a:solidFill>
          <a:ln w="12700">
            <a:solidFill>
              <a:srgbClr val="333333"/>
            </a:solidFill>
            <a:prstDash val="solid"/>
          </a:ln>
        </p:spPr>
      </p:sp>
      <p:sp>
        <p:nvSpPr>
          <p:cNvPr id="36" name="Text 34"/>
          <p:cNvSpPr txBox="1"/>
          <p:nvPr/>
        </p:nvSpPr>
        <p:spPr>
          <a:xfrm>
            <a:off x="6446520" y="3474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t>
            </a:r>
            <a:endParaRPr lang="en-US" sz="1500" dirty="0"/>
          </a:p>
        </p:txBody>
      </p:sp>
      <p:sp>
        <p:nvSpPr>
          <p:cNvPr id="37" name="Text 35"/>
          <p:cNvSpPr txBox="1"/>
          <p:nvPr/>
        </p:nvSpPr>
        <p:spPr>
          <a:xfrm>
            <a:off x="7022592" y="3355848"/>
            <a:ext cx="4553712" cy="562356"/>
          </a:xfrm>
          <a:prstGeom prst="rect">
            <a:avLst/>
          </a:prstGeom>
          <a:noFill/>
          <a:ln/>
        </p:spPr>
        <p:txBody>
          <a:bodyPr wrap="square" lIns="0" tIns="0" rIns="0" bIns="0" rtlCol="0" anchor="ctr"/>
          <a:lstStyle/>
          <a:p>
            <a:pPr indent="0" marL="0">
              <a:lnSpc>
                <a:spcPct val="100000"/>
              </a:lnSpc>
              <a:buNone/>
            </a:pPr>
            <a:r>
              <a:rPr lang="en-US" sz="1080" b="1" dirty="0">
                <a:solidFill>
                  <a:srgbClr val="1B3A4B"/>
                </a:solidFill>
                <a:latin typeface="Calibri" pitchFamily="34" charset="0"/>
                <a:ea typeface="Calibri" pitchFamily="34" charset="-122"/>
                <a:cs typeface="Calibri" pitchFamily="34" charset="-120"/>
              </a:rPr>
              <a:t>Repudiation — </a:t>
            </a:r>
            <a:pPr indent="0" marL="0">
              <a:lnSpc>
                <a:spcPct val="100000"/>
              </a:lnSpc>
              <a:buNone/>
            </a:pPr>
            <a:r>
              <a:rPr lang="en-US" sz="1030" dirty="0">
                <a:solidFill>
                  <a:srgbClr val="22333B"/>
                </a:solidFill>
                <a:latin typeface="Calibri" pitchFamily="34" charset="0"/>
                <a:ea typeface="Calibri" pitchFamily="34" charset="-122"/>
                <a:cs typeface="Calibri" pitchFamily="34" charset="-120"/>
              </a:rPr>
              <a:t>Can an action be taken with no reliable record of who took it?</a:t>
            </a:r>
            <a:endParaRPr lang="en-US" sz="1080" dirty="0"/>
          </a:p>
        </p:txBody>
      </p:sp>
      <p:sp>
        <p:nvSpPr>
          <p:cNvPr id="38" name="Shape 36"/>
          <p:cNvSpPr/>
          <p:nvPr/>
        </p:nvSpPr>
        <p:spPr>
          <a:xfrm>
            <a:off x="6245352" y="4055364"/>
            <a:ext cx="5394960" cy="672084"/>
          </a:xfrm>
          <a:prstGeom prst="roundRect">
            <a:avLst>
              <a:gd name="adj" fmla="val 9524"/>
            </a:avLst>
          </a:prstGeom>
          <a:solidFill>
            <a:srgbClr val="F1F5F6"/>
          </a:solidFill>
          <a:ln w="12700">
            <a:solidFill>
              <a:srgbClr val="D7E2E5"/>
            </a:solidFill>
            <a:prstDash val="solid"/>
          </a:ln>
        </p:spPr>
      </p:sp>
      <p:sp>
        <p:nvSpPr>
          <p:cNvPr id="39" name="Shape 37"/>
          <p:cNvSpPr/>
          <p:nvPr/>
        </p:nvSpPr>
        <p:spPr>
          <a:xfrm>
            <a:off x="6446520" y="4229100"/>
            <a:ext cx="420624" cy="420624"/>
          </a:xfrm>
          <a:prstGeom prst="roundRect">
            <a:avLst>
              <a:gd name="adj" fmla="val 10870"/>
            </a:avLst>
          </a:prstGeom>
          <a:solidFill>
            <a:srgbClr val="A83A3C"/>
          </a:solidFill>
          <a:ln w="12700">
            <a:solidFill>
              <a:srgbClr val="333333"/>
            </a:solidFill>
            <a:prstDash val="solid"/>
          </a:ln>
        </p:spPr>
      </p:sp>
      <p:sp>
        <p:nvSpPr>
          <p:cNvPr id="40" name="Text 38"/>
          <p:cNvSpPr txBox="1"/>
          <p:nvPr/>
        </p:nvSpPr>
        <p:spPr>
          <a:xfrm>
            <a:off x="6446520" y="42291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p>
        </p:txBody>
      </p:sp>
      <p:sp>
        <p:nvSpPr>
          <p:cNvPr id="41" name="Text 39"/>
          <p:cNvSpPr txBox="1"/>
          <p:nvPr/>
        </p:nvSpPr>
        <p:spPr>
          <a:xfrm>
            <a:off x="7022592" y="4110228"/>
            <a:ext cx="4553712" cy="562356"/>
          </a:xfrm>
          <a:prstGeom prst="rect">
            <a:avLst/>
          </a:prstGeom>
          <a:noFill/>
          <a:ln/>
        </p:spPr>
        <p:txBody>
          <a:bodyPr wrap="square" lIns="0" tIns="0" rIns="0" bIns="0" rtlCol="0" anchor="ctr"/>
          <a:lstStyle/>
          <a:p>
            <a:pPr indent="0" marL="0">
              <a:lnSpc>
                <a:spcPct val="100000"/>
              </a:lnSpc>
              <a:buNone/>
            </a:pPr>
            <a:r>
              <a:rPr lang="en-US" sz="1080" b="1" dirty="0">
                <a:solidFill>
                  <a:srgbClr val="1B3A4B"/>
                </a:solidFill>
                <a:latin typeface="Calibri" pitchFamily="34" charset="0"/>
                <a:ea typeface="Calibri" pitchFamily="34" charset="-122"/>
                <a:cs typeface="Calibri" pitchFamily="34" charset="-120"/>
              </a:rPr>
              <a:t>Information disclosure — </a:t>
            </a:r>
            <a:pPr indent="0" marL="0">
              <a:lnSpc>
                <a:spcPct val="100000"/>
              </a:lnSpc>
              <a:buNone/>
            </a:pPr>
            <a:r>
              <a:rPr lang="en-US" sz="1030" dirty="0">
                <a:solidFill>
                  <a:srgbClr val="22333B"/>
                </a:solidFill>
                <a:latin typeface="Calibri" pitchFamily="34" charset="0"/>
                <a:ea typeface="Calibri" pitchFamily="34" charset="-122"/>
                <a:cs typeface="Calibri" pitchFamily="34" charset="-120"/>
              </a:rPr>
              <a:t>Can patient data, credentials or keys be extracted — including from a discarded device?</a:t>
            </a:r>
            <a:endParaRPr lang="en-US" sz="1080" dirty="0"/>
          </a:p>
        </p:txBody>
      </p:sp>
      <p:sp>
        <p:nvSpPr>
          <p:cNvPr id="42" name="Shape 40"/>
          <p:cNvSpPr/>
          <p:nvPr/>
        </p:nvSpPr>
        <p:spPr>
          <a:xfrm>
            <a:off x="6245352" y="4809744"/>
            <a:ext cx="5394960" cy="672084"/>
          </a:xfrm>
          <a:prstGeom prst="roundRect">
            <a:avLst>
              <a:gd name="adj" fmla="val 9524"/>
            </a:avLst>
          </a:prstGeom>
          <a:solidFill>
            <a:srgbClr val="F1F5F6"/>
          </a:solidFill>
          <a:ln w="12700">
            <a:solidFill>
              <a:srgbClr val="D7E2E5"/>
            </a:solidFill>
            <a:prstDash val="solid"/>
          </a:ln>
        </p:spPr>
      </p:sp>
      <p:sp>
        <p:nvSpPr>
          <p:cNvPr id="43" name="Shape 41"/>
          <p:cNvSpPr/>
          <p:nvPr/>
        </p:nvSpPr>
        <p:spPr>
          <a:xfrm>
            <a:off x="6446520" y="4983480"/>
            <a:ext cx="420624" cy="420624"/>
          </a:xfrm>
          <a:prstGeom prst="roundRect">
            <a:avLst>
              <a:gd name="adj" fmla="val 10870"/>
            </a:avLst>
          </a:prstGeom>
          <a:solidFill>
            <a:srgbClr val="A83A3C"/>
          </a:solidFill>
          <a:ln w="12700">
            <a:solidFill>
              <a:srgbClr val="333333"/>
            </a:solidFill>
            <a:prstDash val="solid"/>
          </a:ln>
        </p:spPr>
      </p:sp>
      <p:sp>
        <p:nvSpPr>
          <p:cNvPr id="44" name="Text 42"/>
          <p:cNvSpPr txBox="1"/>
          <p:nvPr/>
        </p:nvSpPr>
        <p:spPr>
          <a:xfrm>
            <a:off x="6446520" y="49834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45" name="Text 43"/>
          <p:cNvSpPr txBox="1"/>
          <p:nvPr/>
        </p:nvSpPr>
        <p:spPr>
          <a:xfrm>
            <a:off x="7022592" y="4864608"/>
            <a:ext cx="4553712" cy="562356"/>
          </a:xfrm>
          <a:prstGeom prst="rect">
            <a:avLst/>
          </a:prstGeom>
          <a:noFill/>
          <a:ln/>
        </p:spPr>
        <p:txBody>
          <a:bodyPr wrap="square" lIns="0" tIns="0" rIns="0" bIns="0" rtlCol="0" anchor="ctr"/>
          <a:lstStyle/>
          <a:p>
            <a:pPr indent="0" marL="0">
              <a:lnSpc>
                <a:spcPct val="100000"/>
              </a:lnSpc>
              <a:buNone/>
            </a:pPr>
            <a:r>
              <a:rPr lang="en-US" sz="1080" b="1" dirty="0">
                <a:solidFill>
                  <a:srgbClr val="1B3A4B"/>
                </a:solidFill>
                <a:latin typeface="Calibri" pitchFamily="34" charset="0"/>
                <a:ea typeface="Calibri" pitchFamily="34" charset="-122"/>
                <a:cs typeface="Calibri" pitchFamily="34" charset="-120"/>
              </a:rPr>
              <a:t>Denial of service — </a:t>
            </a:r>
            <a:pPr indent="0" marL="0">
              <a:lnSpc>
                <a:spcPct val="100000"/>
              </a:lnSpc>
              <a:buNone/>
            </a:pPr>
            <a:r>
              <a:rPr lang="en-US" sz="1030" dirty="0">
                <a:solidFill>
                  <a:srgbClr val="22333B"/>
                </a:solidFill>
                <a:latin typeface="Calibri" pitchFamily="34" charset="0"/>
                <a:ea typeface="Calibri" pitchFamily="34" charset="-122"/>
                <a:cs typeface="Calibri" pitchFamily="34" charset="-120"/>
              </a:rPr>
              <a:t>Can the device be made unavailable during care? Often the highest clinical risk.</a:t>
            </a:r>
            <a:endParaRPr lang="en-US" sz="1080" dirty="0"/>
          </a:p>
        </p:txBody>
      </p:sp>
      <p:sp>
        <p:nvSpPr>
          <p:cNvPr id="46" name="Shape 44"/>
          <p:cNvSpPr/>
          <p:nvPr/>
        </p:nvSpPr>
        <p:spPr>
          <a:xfrm>
            <a:off x="6245352" y="5564124"/>
            <a:ext cx="5394960" cy="672084"/>
          </a:xfrm>
          <a:prstGeom prst="roundRect">
            <a:avLst>
              <a:gd name="adj" fmla="val 9524"/>
            </a:avLst>
          </a:prstGeom>
          <a:solidFill>
            <a:srgbClr val="F1F5F6"/>
          </a:solidFill>
          <a:ln w="12700">
            <a:solidFill>
              <a:srgbClr val="D7E2E5"/>
            </a:solidFill>
            <a:prstDash val="solid"/>
          </a:ln>
        </p:spPr>
      </p:sp>
      <p:sp>
        <p:nvSpPr>
          <p:cNvPr id="47" name="Shape 45"/>
          <p:cNvSpPr/>
          <p:nvPr/>
        </p:nvSpPr>
        <p:spPr>
          <a:xfrm>
            <a:off x="6446520" y="5737860"/>
            <a:ext cx="420624" cy="420624"/>
          </a:xfrm>
          <a:prstGeom prst="roundRect">
            <a:avLst>
              <a:gd name="adj" fmla="val 10870"/>
            </a:avLst>
          </a:prstGeom>
          <a:solidFill>
            <a:srgbClr val="A83A3C"/>
          </a:solidFill>
          <a:ln w="12700">
            <a:solidFill>
              <a:srgbClr val="333333"/>
            </a:solidFill>
            <a:prstDash val="solid"/>
          </a:ln>
        </p:spPr>
      </p:sp>
      <p:sp>
        <p:nvSpPr>
          <p:cNvPr id="48" name="Text 46"/>
          <p:cNvSpPr txBox="1"/>
          <p:nvPr/>
        </p:nvSpPr>
        <p:spPr>
          <a:xfrm>
            <a:off x="6446520" y="57378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a:t>
            </a:r>
            <a:endParaRPr lang="en-US" sz="1500" dirty="0"/>
          </a:p>
        </p:txBody>
      </p:sp>
      <p:sp>
        <p:nvSpPr>
          <p:cNvPr id="49" name="Text 47"/>
          <p:cNvSpPr txBox="1"/>
          <p:nvPr/>
        </p:nvSpPr>
        <p:spPr>
          <a:xfrm>
            <a:off x="7022592" y="5618988"/>
            <a:ext cx="4553712" cy="562356"/>
          </a:xfrm>
          <a:prstGeom prst="rect">
            <a:avLst/>
          </a:prstGeom>
          <a:noFill/>
          <a:ln/>
        </p:spPr>
        <p:txBody>
          <a:bodyPr wrap="square" lIns="0" tIns="0" rIns="0" bIns="0" rtlCol="0" anchor="ctr"/>
          <a:lstStyle/>
          <a:p>
            <a:pPr indent="0" marL="0">
              <a:lnSpc>
                <a:spcPct val="100000"/>
              </a:lnSpc>
              <a:buNone/>
            </a:pPr>
            <a:r>
              <a:rPr lang="en-US" sz="1080" b="1" dirty="0">
                <a:solidFill>
                  <a:srgbClr val="1B3A4B"/>
                </a:solidFill>
                <a:latin typeface="Calibri" pitchFamily="34" charset="0"/>
                <a:ea typeface="Calibri" pitchFamily="34" charset="-122"/>
                <a:cs typeface="Calibri" pitchFamily="34" charset="-120"/>
              </a:rPr>
              <a:t>Elevation of privilege — </a:t>
            </a:r>
            <a:pPr indent="0" marL="0">
              <a:lnSpc>
                <a:spcPct val="100000"/>
              </a:lnSpc>
              <a:buNone/>
            </a:pPr>
            <a:r>
              <a:rPr lang="en-US" sz="1030" dirty="0">
                <a:solidFill>
                  <a:srgbClr val="22333B"/>
                </a:solidFill>
                <a:latin typeface="Calibri" pitchFamily="34" charset="0"/>
                <a:ea typeface="Calibri" pitchFamily="34" charset="-122"/>
                <a:cs typeface="Calibri" pitchFamily="34" charset="-120"/>
              </a:rPr>
              <a:t>Can a user or process gain rights it should not have — service menus, debug ports, default accounts?</a:t>
            </a:r>
            <a:endParaRPr lang="en-US" sz="10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DOCUMENTATION</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200" b="1" dirty="0">
                <a:solidFill>
                  <a:srgbClr val="1B3A4B"/>
                </a:solidFill>
                <a:latin typeface="Cambria" pitchFamily="34" charset="0"/>
                <a:ea typeface="Cambria" pitchFamily="34" charset="-122"/>
                <a:cs typeface="Cambria" pitchFamily="34" charset="-120"/>
              </a:rPr>
              <a:t>The security architecture views</a:t>
            </a:r>
            <a:endParaRPr lang="en-US" sz="32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37</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FDA asks for the system documented from four angles. Each answers a question the others cannot.</a:t>
            </a:r>
            <a:endParaRPr lang="en-US" sz="1400" dirty="0"/>
          </a:p>
        </p:txBody>
      </p:sp>
      <p:sp>
        <p:nvSpPr>
          <p:cNvPr id="7" name="Shape 5"/>
          <p:cNvSpPr/>
          <p:nvPr/>
        </p:nvSpPr>
        <p:spPr>
          <a:xfrm>
            <a:off x="548640" y="1847088"/>
            <a:ext cx="5410048" cy="1655064"/>
          </a:xfrm>
          <a:prstGeom prst="roundRect">
            <a:avLst>
              <a:gd name="adj" fmla="val 3867"/>
            </a:avLst>
          </a:prstGeom>
          <a:solidFill>
            <a:srgbClr val="F1F5F6"/>
          </a:solidFill>
          <a:ln w="12700">
            <a:solidFill>
              <a:srgbClr val="D7E2E5"/>
            </a:solidFill>
            <a:prstDash val="solid"/>
          </a:ln>
        </p:spPr>
      </p:sp>
      <p:sp>
        <p:nvSpPr>
          <p:cNvPr id="8" name="Shape 6"/>
          <p:cNvSpPr/>
          <p:nvPr/>
        </p:nvSpPr>
        <p:spPr>
          <a:xfrm>
            <a:off x="768096" y="2048256"/>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048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523744"/>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Global system view</a:t>
            </a:r>
            <a:endParaRPr lang="en-US" sz="1550" dirty="0"/>
          </a:p>
        </p:txBody>
      </p:sp>
      <p:sp>
        <p:nvSpPr>
          <p:cNvPr id="11" name="Text 9"/>
          <p:cNvSpPr txBox="1"/>
          <p:nvPr/>
        </p:nvSpPr>
        <p:spPr>
          <a:xfrm>
            <a:off x="768096" y="2890520"/>
            <a:ext cx="4971136" cy="465328"/>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The whole picture: the device, everything it connects to, every interface and every data flow — including cloud services, mobile apps, service tools and update infrastructure. If it is not on this diagram, it was not assessed.</a:t>
            </a:r>
            <a:endParaRPr lang="en-US" sz="920" dirty="0"/>
          </a:p>
        </p:txBody>
      </p:sp>
      <p:sp>
        <p:nvSpPr>
          <p:cNvPr id="12" name="Shape 10"/>
          <p:cNvSpPr/>
          <p:nvPr/>
        </p:nvSpPr>
        <p:spPr>
          <a:xfrm>
            <a:off x="6233008" y="1847088"/>
            <a:ext cx="5410048" cy="1655064"/>
          </a:xfrm>
          <a:prstGeom prst="roundRect">
            <a:avLst>
              <a:gd name="adj" fmla="val 3867"/>
            </a:avLst>
          </a:prstGeom>
          <a:solidFill>
            <a:srgbClr val="F1F5F6"/>
          </a:solidFill>
          <a:ln w="12700">
            <a:solidFill>
              <a:srgbClr val="D7E2E5"/>
            </a:solidFill>
            <a:prstDash val="solid"/>
          </a:ln>
        </p:spPr>
      </p:sp>
      <p:sp>
        <p:nvSpPr>
          <p:cNvPr id="13" name="Shape 11"/>
          <p:cNvSpPr/>
          <p:nvPr/>
        </p:nvSpPr>
        <p:spPr>
          <a:xfrm>
            <a:off x="6452464" y="2048256"/>
            <a:ext cx="365760" cy="365760"/>
          </a:xfrm>
          <a:prstGeom prst="ellipse">
            <a:avLst/>
          </a:prstGeom>
          <a:solidFill>
            <a:srgbClr val="A83A3C"/>
          </a:solidFill>
          <a:ln w="12700">
            <a:solidFill>
              <a:srgbClr val="A83A3C"/>
            </a:solidFill>
            <a:prstDash val="solid"/>
          </a:ln>
        </p:spPr>
      </p:sp>
      <p:sp>
        <p:nvSpPr>
          <p:cNvPr id="14" name="Text 12"/>
          <p:cNvSpPr txBox="1"/>
          <p:nvPr/>
        </p:nvSpPr>
        <p:spPr>
          <a:xfrm>
            <a:off x="6452464" y="2048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6452464" y="2523744"/>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Multi-patient harm view</a:t>
            </a:r>
            <a:endParaRPr lang="en-US" sz="1550" dirty="0"/>
          </a:p>
        </p:txBody>
      </p:sp>
      <p:sp>
        <p:nvSpPr>
          <p:cNvPr id="16" name="Text 14"/>
          <p:cNvSpPr txBox="1"/>
          <p:nvPr/>
        </p:nvSpPr>
        <p:spPr>
          <a:xfrm>
            <a:off x="6452464" y="2890520"/>
            <a:ext cx="4971136" cy="465328"/>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How a compromise propagates beyond one device. Can one attacker reach many patients through a server, a shared credential, a fleet-wide key, or the update channel? This is the view that turns an incident into a systemic event.</a:t>
            </a:r>
            <a:endParaRPr lang="en-US" sz="920" dirty="0"/>
          </a:p>
        </p:txBody>
      </p:sp>
      <p:sp>
        <p:nvSpPr>
          <p:cNvPr id="17" name="Shape 15"/>
          <p:cNvSpPr/>
          <p:nvPr/>
        </p:nvSpPr>
        <p:spPr>
          <a:xfrm>
            <a:off x="548640" y="3776472"/>
            <a:ext cx="5410048" cy="1655064"/>
          </a:xfrm>
          <a:prstGeom prst="roundRect">
            <a:avLst>
              <a:gd name="adj" fmla="val 3867"/>
            </a:avLst>
          </a:prstGeom>
          <a:solidFill>
            <a:srgbClr val="F1F5F6"/>
          </a:solidFill>
          <a:ln w="12700">
            <a:solidFill>
              <a:srgbClr val="D7E2E5"/>
            </a:solidFill>
            <a:prstDash val="solid"/>
          </a:ln>
        </p:spPr>
      </p:sp>
      <p:sp>
        <p:nvSpPr>
          <p:cNvPr id="18" name="Shape 16"/>
          <p:cNvSpPr/>
          <p:nvPr/>
        </p:nvSpPr>
        <p:spPr>
          <a:xfrm>
            <a:off x="768096" y="3977640"/>
            <a:ext cx="365760" cy="365760"/>
          </a:xfrm>
          <a:prstGeom prst="ellipse">
            <a:avLst/>
          </a:prstGeom>
          <a:solidFill>
            <a:srgbClr val="C77C1E"/>
          </a:solidFill>
          <a:ln w="12700">
            <a:solidFill>
              <a:srgbClr val="C77C1E"/>
            </a:solidFill>
            <a:prstDash val="solid"/>
          </a:ln>
        </p:spPr>
      </p:sp>
      <p:sp>
        <p:nvSpPr>
          <p:cNvPr id="19" name="Text 17"/>
          <p:cNvSpPr txBox="1"/>
          <p:nvPr/>
        </p:nvSpPr>
        <p:spPr>
          <a:xfrm>
            <a:off x="768096" y="3977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768096" y="4453128"/>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Updateability and patchability view</a:t>
            </a:r>
            <a:endParaRPr lang="en-US" sz="1550" dirty="0"/>
          </a:p>
        </p:txBody>
      </p:sp>
      <p:sp>
        <p:nvSpPr>
          <p:cNvPr id="21" name="Text 19"/>
          <p:cNvSpPr txBox="1"/>
          <p:nvPr/>
        </p:nvSpPr>
        <p:spPr>
          <a:xfrm>
            <a:off x="768096" y="4819904"/>
            <a:ext cx="4971136" cy="465328"/>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How software gets into the device, and how you would deploy an emergency fix. Authentication of the update, integrity verification, rollback, and what happens if an update is interrupted.</a:t>
            </a:r>
            <a:endParaRPr lang="en-US" sz="920" dirty="0"/>
          </a:p>
        </p:txBody>
      </p:sp>
      <p:sp>
        <p:nvSpPr>
          <p:cNvPr id="22" name="Shape 20"/>
          <p:cNvSpPr/>
          <p:nvPr/>
        </p:nvSpPr>
        <p:spPr>
          <a:xfrm>
            <a:off x="6233008" y="3776472"/>
            <a:ext cx="5410048" cy="1655064"/>
          </a:xfrm>
          <a:prstGeom prst="roundRect">
            <a:avLst>
              <a:gd name="adj" fmla="val 3867"/>
            </a:avLst>
          </a:prstGeom>
          <a:solidFill>
            <a:srgbClr val="F1F5F6"/>
          </a:solidFill>
          <a:ln w="12700">
            <a:solidFill>
              <a:srgbClr val="D7E2E5"/>
            </a:solidFill>
            <a:prstDash val="solid"/>
          </a:ln>
        </p:spPr>
      </p:sp>
      <p:sp>
        <p:nvSpPr>
          <p:cNvPr id="23" name="Shape 21"/>
          <p:cNvSpPr/>
          <p:nvPr/>
        </p:nvSpPr>
        <p:spPr>
          <a:xfrm>
            <a:off x="6452464" y="3977640"/>
            <a:ext cx="365760" cy="365760"/>
          </a:xfrm>
          <a:prstGeom prst="ellipse">
            <a:avLst/>
          </a:prstGeom>
          <a:solidFill>
            <a:srgbClr val="2A9D8F"/>
          </a:solidFill>
          <a:ln w="12700">
            <a:solidFill>
              <a:srgbClr val="2A9D8F"/>
            </a:solidFill>
            <a:prstDash val="solid"/>
          </a:ln>
        </p:spPr>
      </p:sp>
      <p:sp>
        <p:nvSpPr>
          <p:cNvPr id="24" name="Text 22"/>
          <p:cNvSpPr txBox="1"/>
          <p:nvPr/>
        </p:nvSpPr>
        <p:spPr>
          <a:xfrm>
            <a:off x="6452464" y="3977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6452464" y="4453128"/>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Security use case views</a:t>
            </a:r>
            <a:endParaRPr lang="en-US" sz="1550" dirty="0"/>
          </a:p>
        </p:txBody>
      </p:sp>
      <p:sp>
        <p:nvSpPr>
          <p:cNvPr id="26" name="Text 24"/>
          <p:cNvSpPr txBox="1"/>
          <p:nvPr/>
        </p:nvSpPr>
        <p:spPr>
          <a:xfrm>
            <a:off x="6452464" y="4819904"/>
            <a:ext cx="4971136" cy="465328"/>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Walk specific scenarios end to end — a clinician logging in, a firmware update, a service engineer connecting, remote support, decommissioning a device. Show the controls operating in sequence.</a:t>
            </a:r>
            <a:endParaRPr lang="en-US" sz="920" dirty="0"/>
          </a:p>
        </p:txBody>
      </p:sp>
      <p:sp>
        <p:nvSpPr>
          <p:cNvPr id="27" name="Shape 25"/>
          <p:cNvSpPr/>
          <p:nvPr/>
        </p:nvSpPr>
        <p:spPr>
          <a:xfrm>
            <a:off x="548640" y="5577840"/>
            <a:ext cx="11094415" cy="694944"/>
          </a:xfrm>
          <a:prstGeom prst="roundRect">
            <a:avLst>
              <a:gd name="adj" fmla="val 7895"/>
            </a:avLst>
          </a:prstGeom>
          <a:solidFill>
            <a:srgbClr val="EAF3F2"/>
          </a:solidFill>
          <a:ln w="12700">
            <a:solidFill>
              <a:srgbClr val="BFD9D6"/>
            </a:solidFill>
            <a:prstDash val="solid"/>
          </a:ln>
        </p:spPr>
      </p:sp>
      <p:sp>
        <p:nvSpPr>
          <p:cNvPr id="28" name="Text 26"/>
          <p:cNvSpPr txBox="1"/>
          <p:nvPr/>
        </p:nvSpPr>
        <p:spPr>
          <a:xfrm>
            <a:off x="786384" y="5577840"/>
            <a:ext cx="10618927" cy="694944"/>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View 2 is the one most often missing — and the one that distinguishes a device problem from a public health problem. Ask it directly: what is the largest number of patients one successful attack could affect?</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BASELINE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The control categories to design against</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548640" y="1627632"/>
            <a:ext cx="2567864" cy="1764792"/>
          </a:xfrm>
          <a:prstGeom prst="roundRect">
            <a:avLst>
              <a:gd name="adj" fmla="val 3627"/>
            </a:avLst>
          </a:prstGeom>
          <a:solidFill>
            <a:srgbClr val="F1F5F6"/>
          </a:solidFill>
          <a:ln w="12700">
            <a:solidFill>
              <a:srgbClr val="D7E2E5"/>
            </a:solidFill>
            <a:prstDash val="solid"/>
          </a:ln>
        </p:spPr>
      </p:sp>
      <p:sp>
        <p:nvSpPr>
          <p:cNvPr id="7" name="Text 5"/>
          <p:cNvSpPr txBox="1"/>
          <p:nvPr/>
        </p:nvSpPr>
        <p:spPr>
          <a:xfrm>
            <a:off x="768096" y="1828800"/>
            <a:ext cx="2128952" cy="479552"/>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Authentication</a:t>
            </a:r>
            <a:endParaRPr lang="en-US" sz="1300" dirty="0"/>
          </a:p>
        </p:txBody>
      </p:sp>
      <p:sp>
        <p:nvSpPr>
          <p:cNvPr id="8" name="Text 6"/>
          <p:cNvSpPr txBox="1"/>
          <p:nvPr/>
        </p:nvSpPr>
        <p:spPr>
          <a:xfrm>
            <a:off x="768096" y="2344928"/>
            <a:ext cx="2128952" cy="901192"/>
          </a:xfrm>
          <a:prstGeom prst="rect">
            <a:avLst/>
          </a:prstGeom>
          <a:noFill/>
          <a:ln/>
        </p:spPr>
        <p:txBody>
          <a:bodyPr wrap="square" lIns="0" tIns="0" rIns="0" bIns="0" rtlCol="0" anchor="t"/>
          <a:lstStyle/>
          <a:p>
            <a:pPr indent="0" marL="0">
              <a:lnSpc>
                <a:spcPct val="106000"/>
              </a:lnSpc>
              <a:buNone/>
            </a:pPr>
            <a:r>
              <a:rPr lang="en-US" sz="930" dirty="0">
                <a:solidFill>
                  <a:srgbClr val="22333B"/>
                </a:solidFill>
                <a:latin typeface="Calibri" pitchFamily="34" charset="0"/>
                <a:ea typeface="Calibri" pitchFamily="34" charset="-122"/>
                <a:cs typeface="Calibri" pitchFamily="34" charset="-120"/>
              </a:rPr>
              <a:t>Establish identity for users, services and connected components. No shared or default credentials; no hardcoded secrets.</a:t>
            </a:r>
            <a:endParaRPr lang="en-US" sz="930" dirty="0"/>
          </a:p>
        </p:txBody>
      </p:sp>
      <p:sp>
        <p:nvSpPr>
          <p:cNvPr id="9" name="Shape 7"/>
          <p:cNvSpPr/>
          <p:nvPr/>
        </p:nvSpPr>
        <p:spPr>
          <a:xfrm>
            <a:off x="3390824" y="1627632"/>
            <a:ext cx="2567864" cy="1764792"/>
          </a:xfrm>
          <a:prstGeom prst="roundRect">
            <a:avLst>
              <a:gd name="adj" fmla="val 3627"/>
            </a:avLst>
          </a:prstGeom>
          <a:solidFill>
            <a:srgbClr val="F1F5F6"/>
          </a:solidFill>
          <a:ln w="12700">
            <a:solidFill>
              <a:srgbClr val="D7E2E5"/>
            </a:solidFill>
            <a:prstDash val="solid"/>
          </a:ln>
        </p:spPr>
      </p:sp>
      <p:sp>
        <p:nvSpPr>
          <p:cNvPr id="10" name="Text 8"/>
          <p:cNvSpPr txBox="1"/>
          <p:nvPr/>
        </p:nvSpPr>
        <p:spPr>
          <a:xfrm>
            <a:off x="3610280" y="1828800"/>
            <a:ext cx="2128952" cy="479552"/>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Authorisation</a:t>
            </a:r>
            <a:endParaRPr lang="en-US" sz="1300" dirty="0"/>
          </a:p>
        </p:txBody>
      </p:sp>
      <p:sp>
        <p:nvSpPr>
          <p:cNvPr id="11" name="Text 9"/>
          <p:cNvSpPr txBox="1"/>
          <p:nvPr/>
        </p:nvSpPr>
        <p:spPr>
          <a:xfrm>
            <a:off x="3610280" y="2344928"/>
            <a:ext cx="2128952" cy="901192"/>
          </a:xfrm>
          <a:prstGeom prst="rect">
            <a:avLst/>
          </a:prstGeom>
          <a:noFill/>
          <a:ln/>
        </p:spPr>
        <p:txBody>
          <a:bodyPr wrap="square" lIns="0" tIns="0" rIns="0" bIns="0" rtlCol="0" anchor="t"/>
          <a:lstStyle/>
          <a:p>
            <a:pPr indent="0" marL="0">
              <a:lnSpc>
                <a:spcPct val="106000"/>
              </a:lnSpc>
              <a:buNone/>
            </a:pPr>
            <a:r>
              <a:rPr lang="en-US" sz="930" dirty="0">
                <a:solidFill>
                  <a:srgbClr val="22333B"/>
                </a:solidFill>
                <a:latin typeface="Calibri" pitchFamily="34" charset="0"/>
                <a:ea typeface="Calibri" pitchFamily="34" charset="-122"/>
                <a:cs typeface="Calibri" pitchFamily="34" charset="-120"/>
              </a:rPr>
              <a:t>Least privilege, enforced. Separate clinical, administrative and service roles — and enforce them server-side, not in the UI.</a:t>
            </a:r>
            <a:endParaRPr lang="en-US" sz="930" dirty="0"/>
          </a:p>
        </p:txBody>
      </p:sp>
      <p:sp>
        <p:nvSpPr>
          <p:cNvPr id="12" name="Shape 10"/>
          <p:cNvSpPr/>
          <p:nvPr/>
        </p:nvSpPr>
        <p:spPr>
          <a:xfrm>
            <a:off x="6233008" y="1627632"/>
            <a:ext cx="2567864" cy="1764792"/>
          </a:xfrm>
          <a:prstGeom prst="roundRect">
            <a:avLst>
              <a:gd name="adj" fmla="val 3627"/>
            </a:avLst>
          </a:prstGeom>
          <a:solidFill>
            <a:srgbClr val="F1F5F6"/>
          </a:solidFill>
          <a:ln w="12700">
            <a:solidFill>
              <a:srgbClr val="D7E2E5"/>
            </a:solidFill>
            <a:prstDash val="solid"/>
          </a:ln>
        </p:spPr>
      </p:sp>
      <p:sp>
        <p:nvSpPr>
          <p:cNvPr id="13" name="Text 11"/>
          <p:cNvSpPr txBox="1"/>
          <p:nvPr/>
        </p:nvSpPr>
        <p:spPr>
          <a:xfrm>
            <a:off x="6452464" y="1828800"/>
            <a:ext cx="2128952" cy="479552"/>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Cryptography</a:t>
            </a:r>
            <a:endParaRPr lang="en-US" sz="1300" dirty="0"/>
          </a:p>
        </p:txBody>
      </p:sp>
      <p:sp>
        <p:nvSpPr>
          <p:cNvPr id="14" name="Text 12"/>
          <p:cNvSpPr txBox="1"/>
          <p:nvPr/>
        </p:nvSpPr>
        <p:spPr>
          <a:xfrm>
            <a:off x="6452464" y="2344928"/>
            <a:ext cx="2128952" cy="901192"/>
          </a:xfrm>
          <a:prstGeom prst="rect">
            <a:avLst/>
          </a:prstGeom>
          <a:noFill/>
          <a:ln/>
        </p:spPr>
        <p:txBody>
          <a:bodyPr wrap="square" lIns="0" tIns="0" rIns="0" bIns="0" rtlCol="0" anchor="t"/>
          <a:lstStyle/>
          <a:p>
            <a:pPr indent="0" marL="0">
              <a:lnSpc>
                <a:spcPct val="106000"/>
              </a:lnSpc>
              <a:buNone/>
            </a:pPr>
            <a:r>
              <a:rPr lang="en-US" sz="930" dirty="0">
                <a:solidFill>
                  <a:srgbClr val="22333B"/>
                </a:solidFill>
                <a:latin typeface="Calibri" pitchFamily="34" charset="0"/>
                <a:ea typeface="Calibri" pitchFamily="34" charset="-122"/>
                <a:cs typeface="Calibri" pitchFamily="34" charset="-120"/>
              </a:rPr>
              <a:t>Current algorithms, correct implementations, real key management. Plan for the key lifecycle across the device's service life.</a:t>
            </a:r>
            <a:endParaRPr lang="en-US" sz="930" dirty="0"/>
          </a:p>
        </p:txBody>
      </p:sp>
      <p:sp>
        <p:nvSpPr>
          <p:cNvPr id="15" name="Shape 13"/>
          <p:cNvSpPr/>
          <p:nvPr/>
        </p:nvSpPr>
        <p:spPr>
          <a:xfrm>
            <a:off x="9075191" y="1627632"/>
            <a:ext cx="2567864" cy="1764792"/>
          </a:xfrm>
          <a:prstGeom prst="roundRect">
            <a:avLst>
              <a:gd name="adj" fmla="val 3627"/>
            </a:avLst>
          </a:prstGeom>
          <a:solidFill>
            <a:srgbClr val="F1F5F6"/>
          </a:solidFill>
          <a:ln w="12700">
            <a:solidFill>
              <a:srgbClr val="D7E2E5"/>
            </a:solidFill>
            <a:prstDash val="solid"/>
          </a:ln>
        </p:spPr>
      </p:sp>
      <p:sp>
        <p:nvSpPr>
          <p:cNvPr id="16" name="Text 14"/>
          <p:cNvSpPr txBox="1"/>
          <p:nvPr/>
        </p:nvSpPr>
        <p:spPr>
          <a:xfrm>
            <a:off x="9294647" y="1828800"/>
            <a:ext cx="2128952" cy="479552"/>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Code &amp; data integrity</a:t>
            </a:r>
            <a:endParaRPr lang="en-US" sz="1300" dirty="0"/>
          </a:p>
        </p:txBody>
      </p:sp>
      <p:sp>
        <p:nvSpPr>
          <p:cNvPr id="17" name="Text 15"/>
          <p:cNvSpPr txBox="1"/>
          <p:nvPr/>
        </p:nvSpPr>
        <p:spPr>
          <a:xfrm>
            <a:off x="9294647" y="2344928"/>
            <a:ext cx="2128952" cy="901192"/>
          </a:xfrm>
          <a:prstGeom prst="rect">
            <a:avLst/>
          </a:prstGeom>
          <a:noFill/>
          <a:ln/>
        </p:spPr>
        <p:txBody>
          <a:bodyPr wrap="square" lIns="0" tIns="0" rIns="0" bIns="0" rtlCol="0" anchor="t"/>
          <a:lstStyle/>
          <a:p>
            <a:pPr indent="0" marL="0">
              <a:lnSpc>
                <a:spcPct val="106000"/>
              </a:lnSpc>
              <a:buNone/>
            </a:pPr>
            <a:r>
              <a:rPr lang="en-US" sz="930" dirty="0">
                <a:solidFill>
                  <a:srgbClr val="22333B"/>
                </a:solidFill>
                <a:latin typeface="Calibri" pitchFamily="34" charset="0"/>
                <a:ea typeface="Calibri" pitchFamily="34" charset="-122"/>
                <a:cs typeface="Calibri" pitchFamily="34" charset="-120"/>
              </a:rPr>
              <a:t>Signed firmware, verified boot, protected configuration and calibration data. The device should refuse to run code it cannot authenticate.</a:t>
            </a:r>
            <a:endParaRPr lang="en-US" sz="930" dirty="0"/>
          </a:p>
        </p:txBody>
      </p:sp>
      <p:sp>
        <p:nvSpPr>
          <p:cNvPr id="18" name="Shape 16"/>
          <p:cNvSpPr/>
          <p:nvPr/>
        </p:nvSpPr>
        <p:spPr>
          <a:xfrm>
            <a:off x="548640" y="3666744"/>
            <a:ext cx="2567864" cy="1764792"/>
          </a:xfrm>
          <a:prstGeom prst="roundRect">
            <a:avLst>
              <a:gd name="adj" fmla="val 3627"/>
            </a:avLst>
          </a:prstGeom>
          <a:solidFill>
            <a:srgbClr val="F1F5F6"/>
          </a:solidFill>
          <a:ln w="12700">
            <a:solidFill>
              <a:srgbClr val="D7E2E5"/>
            </a:solidFill>
            <a:prstDash val="solid"/>
          </a:ln>
        </p:spPr>
      </p:sp>
      <p:sp>
        <p:nvSpPr>
          <p:cNvPr id="19" name="Text 17"/>
          <p:cNvSpPr txBox="1"/>
          <p:nvPr/>
        </p:nvSpPr>
        <p:spPr>
          <a:xfrm>
            <a:off x="768096" y="3867912"/>
            <a:ext cx="2128952" cy="479552"/>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Confidentiality</a:t>
            </a:r>
            <a:endParaRPr lang="en-US" sz="1300" dirty="0"/>
          </a:p>
        </p:txBody>
      </p:sp>
      <p:sp>
        <p:nvSpPr>
          <p:cNvPr id="20" name="Text 18"/>
          <p:cNvSpPr txBox="1"/>
          <p:nvPr/>
        </p:nvSpPr>
        <p:spPr>
          <a:xfrm>
            <a:off x="768096" y="4384040"/>
            <a:ext cx="2128952" cy="901192"/>
          </a:xfrm>
          <a:prstGeom prst="rect">
            <a:avLst/>
          </a:prstGeom>
          <a:noFill/>
          <a:ln/>
        </p:spPr>
        <p:txBody>
          <a:bodyPr wrap="square" lIns="0" tIns="0" rIns="0" bIns="0" rtlCol="0" anchor="t"/>
          <a:lstStyle/>
          <a:p>
            <a:pPr indent="0" marL="0">
              <a:lnSpc>
                <a:spcPct val="106000"/>
              </a:lnSpc>
              <a:buNone/>
            </a:pPr>
            <a:r>
              <a:rPr lang="en-US" sz="930" dirty="0">
                <a:solidFill>
                  <a:srgbClr val="22333B"/>
                </a:solidFill>
                <a:latin typeface="Calibri" pitchFamily="34" charset="0"/>
                <a:ea typeface="Calibri" pitchFamily="34" charset="-122"/>
                <a:cs typeface="Calibri" pitchFamily="34" charset="-120"/>
              </a:rPr>
              <a:t>Protect data in transit, at rest and at end of life. Include diagnostic logs and memory — they hold more than people assume.</a:t>
            </a:r>
            <a:endParaRPr lang="en-US" sz="930" dirty="0"/>
          </a:p>
        </p:txBody>
      </p:sp>
      <p:sp>
        <p:nvSpPr>
          <p:cNvPr id="21" name="Shape 19"/>
          <p:cNvSpPr/>
          <p:nvPr/>
        </p:nvSpPr>
        <p:spPr>
          <a:xfrm>
            <a:off x="3390824" y="3666744"/>
            <a:ext cx="2567864" cy="1764792"/>
          </a:xfrm>
          <a:prstGeom prst="roundRect">
            <a:avLst>
              <a:gd name="adj" fmla="val 3627"/>
            </a:avLst>
          </a:prstGeom>
          <a:solidFill>
            <a:srgbClr val="F1F5F6"/>
          </a:solidFill>
          <a:ln w="12700">
            <a:solidFill>
              <a:srgbClr val="D7E2E5"/>
            </a:solidFill>
            <a:prstDash val="solid"/>
          </a:ln>
        </p:spPr>
      </p:sp>
      <p:sp>
        <p:nvSpPr>
          <p:cNvPr id="22" name="Text 20"/>
          <p:cNvSpPr txBox="1"/>
          <p:nvPr/>
        </p:nvSpPr>
        <p:spPr>
          <a:xfrm>
            <a:off x="3610280" y="3867912"/>
            <a:ext cx="2128952" cy="479552"/>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Event detection &amp; logging</a:t>
            </a:r>
            <a:endParaRPr lang="en-US" sz="1300" dirty="0"/>
          </a:p>
        </p:txBody>
      </p:sp>
      <p:sp>
        <p:nvSpPr>
          <p:cNvPr id="23" name="Text 21"/>
          <p:cNvSpPr txBox="1"/>
          <p:nvPr/>
        </p:nvSpPr>
        <p:spPr>
          <a:xfrm>
            <a:off x="3610280" y="4384040"/>
            <a:ext cx="2128952" cy="901192"/>
          </a:xfrm>
          <a:prstGeom prst="rect">
            <a:avLst/>
          </a:prstGeom>
          <a:noFill/>
          <a:ln/>
        </p:spPr>
        <p:txBody>
          <a:bodyPr wrap="square" lIns="0" tIns="0" rIns="0" bIns="0" rtlCol="0" anchor="t"/>
          <a:lstStyle/>
          <a:p>
            <a:pPr indent="0" marL="0">
              <a:lnSpc>
                <a:spcPct val="106000"/>
              </a:lnSpc>
              <a:buNone/>
            </a:pPr>
            <a:r>
              <a:rPr lang="en-US" sz="930" dirty="0">
                <a:solidFill>
                  <a:srgbClr val="22333B"/>
                </a:solidFill>
                <a:latin typeface="Calibri" pitchFamily="34" charset="0"/>
                <a:ea typeface="Calibri" pitchFamily="34" charset="-122"/>
                <a:cs typeface="Calibri" pitchFamily="34" charset="-120"/>
              </a:rPr>
              <a:t>Security-relevant events recorded, retained and retrievable. If you cannot reconstruct an incident, you cannot respond to one.</a:t>
            </a:r>
            <a:endParaRPr lang="en-US" sz="930" dirty="0"/>
          </a:p>
        </p:txBody>
      </p:sp>
      <p:sp>
        <p:nvSpPr>
          <p:cNvPr id="24" name="Shape 22"/>
          <p:cNvSpPr/>
          <p:nvPr/>
        </p:nvSpPr>
        <p:spPr>
          <a:xfrm>
            <a:off x="6233008" y="3666744"/>
            <a:ext cx="2567864" cy="1764792"/>
          </a:xfrm>
          <a:prstGeom prst="roundRect">
            <a:avLst>
              <a:gd name="adj" fmla="val 3627"/>
            </a:avLst>
          </a:prstGeom>
          <a:solidFill>
            <a:srgbClr val="F1F5F6"/>
          </a:solidFill>
          <a:ln w="12700">
            <a:solidFill>
              <a:srgbClr val="D7E2E5"/>
            </a:solidFill>
            <a:prstDash val="solid"/>
          </a:ln>
        </p:spPr>
      </p:sp>
      <p:sp>
        <p:nvSpPr>
          <p:cNvPr id="25" name="Text 23"/>
          <p:cNvSpPr txBox="1"/>
          <p:nvPr/>
        </p:nvSpPr>
        <p:spPr>
          <a:xfrm>
            <a:off x="6452464" y="3867912"/>
            <a:ext cx="2128952" cy="479552"/>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Resiliency &amp; recovery</a:t>
            </a:r>
            <a:endParaRPr lang="en-US" sz="1300" dirty="0"/>
          </a:p>
        </p:txBody>
      </p:sp>
      <p:sp>
        <p:nvSpPr>
          <p:cNvPr id="26" name="Text 24"/>
          <p:cNvSpPr txBox="1"/>
          <p:nvPr/>
        </p:nvSpPr>
        <p:spPr>
          <a:xfrm>
            <a:off x="6452464" y="4384040"/>
            <a:ext cx="2128952" cy="901192"/>
          </a:xfrm>
          <a:prstGeom prst="rect">
            <a:avLst/>
          </a:prstGeom>
          <a:noFill/>
          <a:ln/>
        </p:spPr>
        <p:txBody>
          <a:bodyPr wrap="square" lIns="0" tIns="0" rIns="0" bIns="0" rtlCol="0" anchor="t"/>
          <a:lstStyle/>
          <a:p>
            <a:pPr indent="0" marL="0">
              <a:lnSpc>
                <a:spcPct val="106000"/>
              </a:lnSpc>
              <a:buNone/>
            </a:pPr>
            <a:r>
              <a:rPr lang="en-US" sz="930" dirty="0">
                <a:solidFill>
                  <a:srgbClr val="22333B"/>
                </a:solidFill>
                <a:latin typeface="Calibri" pitchFamily="34" charset="0"/>
                <a:ea typeface="Calibri" pitchFamily="34" charset="-122"/>
                <a:cs typeface="Calibri" pitchFamily="34" charset="-120"/>
              </a:rPr>
              <a:t>Maintain or safely degrade clinical function under attack, and recover to a known-good state. Availability is a patient safety property.</a:t>
            </a:r>
            <a:endParaRPr lang="en-US" sz="930" dirty="0"/>
          </a:p>
        </p:txBody>
      </p:sp>
      <p:sp>
        <p:nvSpPr>
          <p:cNvPr id="27" name="Shape 25"/>
          <p:cNvSpPr/>
          <p:nvPr/>
        </p:nvSpPr>
        <p:spPr>
          <a:xfrm>
            <a:off x="9075191" y="3666744"/>
            <a:ext cx="2567864" cy="1764792"/>
          </a:xfrm>
          <a:prstGeom prst="roundRect">
            <a:avLst>
              <a:gd name="adj" fmla="val 3627"/>
            </a:avLst>
          </a:prstGeom>
          <a:solidFill>
            <a:srgbClr val="F1F5F6"/>
          </a:solidFill>
          <a:ln w="12700">
            <a:solidFill>
              <a:srgbClr val="D7E2E5"/>
            </a:solidFill>
            <a:prstDash val="solid"/>
          </a:ln>
        </p:spPr>
      </p:sp>
      <p:sp>
        <p:nvSpPr>
          <p:cNvPr id="28" name="Text 26"/>
          <p:cNvSpPr txBox="1"/>
          <p:nvPr/>
        </p:nvSpPr>
        <p:spPr>
          <a:xfrm>
            <a:off x="9294647" y="3867912"/>
            <a:ext cx="2128952" cy="479552"/>
          </a:xfrm>
          <a:prstGeom prst="rect">
            <a:avLst/>
          </a:prstGeom>
          <a:noFill/>
          <a:ln/>
        </p:spPr>
        <p:txBody>
          <a:bodyPr wrap="square" lIns="0" tIns="0" rIns="0" bIns="0" rtlCol="0" anchor="t"/>
          <a:lstStyle/>
          <a:p>
            <a:pPr indent="0" marL="0">
              <a:buNone/>
            </a:pPr>
            <a:r>
              <a:rPr lang="en-US" sz="1300" b="1" dirty="0">
                <a:solidFill>
                  <a:srgbClr val="1B3A4B"/>
                </a:solidFill>
                <a:latin typeface="Calibri" pitchFamily="34" charset="0"/>
                <a:ea typeface="Calibri" pitchFamily="34" charset="-122"/>
                <a:cs typeface="Calibri" pitchFamily="34" charset="-120"/>
              </a:rPr>
              <a:t>Secure updates</a:t>
            </a:r>
            <a:endParaRPr lang="en-US" sz="1300" dirty="0"/>
          </a:p>
        </p:txBody>
      </p:sp>
      <p:sp>
        <p:nvSpPr>
          <p:cNvPr id="29" name="Text 27"/>
          <p:cNvSpPr txBox="1"/>
          <p:nvPr/>
        </p:nvSpPr>
        <p:spPr>
          <a:xfrm>
            <a:off x="9294647" y="4384040"/>
            <a:ext cx="2128952" cy="901192"/>
          </a:xfrm>
          <a:prstGeom prst="rect">
            <a:avLst/>
          </a:prstGeom>
          <a:noFill/>
          <a:ln/>
        </p:spPr>
        <p:txBody>
          <a:bodyPr wrap="square" lIns="0" tIns="0" rIns="0" bIns="0" rtlCol="0" anchor="t"/>
          <a:lstStyle/>
          <a:p>
            <a:pPr indent="0" marL="0">
              <a:lnSpc>
                <a:spcPct val="106000"/>
              </a:lnSpc>
              <a:buNone/>
            </a:pPr>
            <a:r>
              <a:rPr lang="en-US" sz="930" dirty="0">
                <a:solidFill>
                  <a:srgbClr val="22333B"/>
                </a:solidFill>
                <a:latin typeface="Calibri" pitchFamily="34" charset="0"/>
                <a:ea typeface="Calibri" pitchFamily="34" charset="-122"/>
                <a:cs typeface="Calibri" pitchFamily="34" charset="-120"/>
              </a:rPr>
              <a:t>Authenticated, integrity-checked, rollback-capable. This control is what converts a future vulnerability into a patch rather than a recall.</a:t>
            </a:r>
            <a:endParaRPr lang="en-US" sz="930" dirty="0"/>
          </a:p>
        </p:txBody>
      </p:sp>
      <p:sp>
        <p:nvSpPr>
          <p:cNvPr id="30" name="Shape 28"/>
          <p:cNvSpPr/>
          <p:nvPr/>
        </p:nvSpPr>
        <p:spPr>
          <a:xfrm>
            <a:off x="548640" y="5577840"/>
            <a:ext cx="11094415" cy="694944"/>
          </a:xfrm>
          <a:prstGeom prst="roundRect">
            <a:avLst>
              <a:gd name="adj" fmla="val 7895"/>
            </a:avLst>
          </a:prstGeom>
          <a:solidFill>
            <a:srgbClr val="EAF3F2"/>
          </a:solidFill>
          <a:ln w="12700">
            <a:solidFill>
              <a:srgbClr val="BFD9D6"/>
            </a:solidFill>
            <a:prstDash val="solid"/>
          </a:ln>
        </p:spPr>
      </p:sp>
      <p:sp>
        <p:nvSpPr>
          <p:cNvPr id="31" name="Text 29"/>
          <p:cNvSpPr txBox="1"/>
          <p:nvPr/>
        </p:nvSpPr>
        <p:spPr>
          <a:xfrm>
            <a:off x="786384" y="5577840"/>
            <a:ext cx="10618927" cy="694944"/>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Design each against your threat model, not against this list. A control you cannot justify from a specific threat is cost without security — and a threat with no control is the finding.</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524B(B)(3)</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SBOM: an inventory that answers one question fast</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39</a:t>
            </a:r>
            <a:endParaRPr lang="en-US" sz="900" dirty="0"/>
          </a:p>
        </p:txBody>
      </p:sp>
      <p:sp>
        <p:nvSpPr>
          <p:cNvPr id="6" name="Text 4"/>
          <p:cNvSpPr txBox="1"/>
          <p:nvPr/>
        </p:nvSpPr>
        <p:spPr>
          <a:xfrm>
            <a:off x="548640" y="1481328"/>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WHAT IT MUST CONTAIN</a:t>
            </a:r>
            <a:endParaRPr lang="en-US" sz="1100" dirty="0"/>
          </a:p>
        </p:txBody>
      </p:sp>
      <p:sp>
        <p:nvSpPr>
          <p:cNvPr id="7" name="Shape 5"/>
          <p:cNvSpPr/>
          <p:nvPr/>
        </p:nvSpPr>
        <p:spPr>
          <a:xfrm>
            <a:off x="548640" y="1792224"/>
            <a:ext cx="5394960" cy="3712464"/>
          </a:xfrm>
          <a:prstGeom prst="roundRect">
            <a:avLst>
              <a:gd name="adj" fmla="val 1724"/>
            </a:avLst>
          </a:prstGeom>
          <a:solidFill>
            <a:srgbClr val="F1F5F6"/>
          </a:solidFill>
          <a:ln w="12700">
            <a:solidFill>
              <a:srgbClr val="D7E2E5"/>
            </a:solidFill>
            <a:prstDash val="solid"/>
          </a:ln>
        </p:spPr>
      </p:sp>
      <p:sp>
        <p:nvSpPr>
          <p:cNvPr id="8" name="Text 6"/>
          <p:cNvSpPr txBox="1"/>
          <p:nvPr/>
        </p:nvSpPr>
        <p:spPr>
          <a:xfrm>
            <a:off x="786384" y="1956816"/>
            <a:ext cx="4919472" cy="3383280"/>
          </a:xfrm>
          <a:prstGeom prst="rect">
            <a:avLst/>
          </a:prstGeom>
          <a:noFill/>
          <a:ln/>
        </p:spPr>
        <p:txBody>
          <a:bodyPr wrap="square" lIns="0" tIns="0" rIns="0" bIns="0" rtlCol="0" anchor="t"/>
          <a:lstStyle/>
          <a:p>
            <a:pPr marL="203200" indent="-203200">
              <a:lnSpc>
                <a:spcPct val="108000"/>
              </a:lnSpc>
              <a:spcAft>
                <a:spcPts val="600"/>
              </a:spcAft>
              <a:buSzPct val="100000"/>
              <a:buChar char="•"/>
            </a:pPr>
            <a:r>
              <a:rPr lang="en-US" sz="1100" b="1" dirty="0">
                <a:solidFill>
                  <a:srgbClr val="22333B"/>
                </a:solidFill>
                <a:latin typeface="Calibri" pitchFamily="34" charset="0"/>
                <a:ea typeface="Calibri" pitchFamily="34" charset="-122"/>
                <a:cs typeface="Calibri" pitchFamily="34" charset="-120"/>
              </a:rPr>
              <a:t>The baseline fields</a:t>
            </a:r>
            <a:endParaRPr lang="en-US" sz="1100" dirty="0"/>
          </a:p>
          <a:p>
            <a:pPr marL="203200" indent="-203200">
              <a:lnSpc>
                <a:spcPct val="108000"/>
              </a:lnSpc>
              <a:spcAft>
                <a:spcPts val="600"/>
              </a:spcAft>
              <a:buSzPct val="100000"/>
              <a:buChar char="•"/>
            </a:pPr>
            <a:r>
              <a:rPr lang="en-US" sz="1100" dirty="0">
                <a:solidFill>
                  <a:srgbClr val="22333B"/>
                </a:solidFill>
                <a:latin typeface="Calibri" pitchFamily="34" charset="0"/>
                <a:ea typeface="Calibri" pitchFamily="34" charset="-122"/>
                <a:cs typeface="Calibri" pitchFamily="34" charset="-120"/>
              </a:rPr>
              <a:t>Supplier name · component name · version · unique identifiers · dependency relationships · author of the SBOM data · timestamp</a:t>
            </a:r>
            <a:endParaRPr lang="en-US" sz="1100" dirty="0"/>
          </a:p>
          <a:p>
            <a:pPr marL="203200" indent="-203200">
              <a:lnSpc>
                <a:spcPct val="108000"/>
              </a:lnSpc>
              <a:spcAft>
                <a:spcPts val="600"/>
              </a:spcAft>
              <a:buSzPct val="100000"/>
              <a:buChar char="•"/>
            </a:pPr>
            <a:r>
              <a:rPr lang="en-US" sz="1100" b="1" dirty="0">
                <a:solidFill>
                  <a:srgbClr val="22333B"/>
                </a:solidFill>
                <a:latin typeface="Calibri" pitchFamily="34" charset="0"/>
                <a:ea typeface="Calibri" pitchFamily="34" charset="-122"/>
                <a:cs typeface="Calibri" pitchFamily="34" charset="-120"/>
              </a:rPr>
              <a:t>What FDA expects on top</a:t>
            </a:r>
            <a:endParaRPr lang="en-US" sz="1100" dirty="0"/>
          </a:p>
          <a:p>
            <a:pPr marL="203200" indent="-203200">
              <a:lnSpc>
                <a:spcPct val="108000"/>
              </a:lnSpc>
              <a:spcAft>
                <a:spcPts val="600"/>
              </a:spcAft>
              <a:buSzPct val="100000"/>
              <a:buChar char="•"/>
            </a:pPr>
            <a:r>
              <a:rPr lang="en-US" sz="1100" dirty="0">
                <a:solidFill>
                  <a:srgbClr val="22333B"/>
                </a:solidFill>
                <a:latin typeface="Calibri" pitchFamily="34" charset="0"/>
                <a:ea typeface="Calibri" pitchFamily="34" charset="-122"/>
                <a:cs typeface="Calibri" pitchFamily="34" charset="-120"/>
              </a:rPr>
              <a:t>For each component: the level of support provided by its supplier, and its end-of-support and end-of-life dates.</a:t>
            </a:r>
            <a:endParaRPr lang="en-US" sz="1100" dirty="0"/>
          </a:p>
          <a:p>
            <a:pPr marL="203200" indent="-203200">
              <a:lnSpc>
                <a:spcPct val="108000"/>
              </a:lnSpc>
              <a:spcAft>
                <a:spcPts val="600"/>
              </a:spcAft>
              <a:buSzPct val="100000"/>
              <a:buChar char="•"/>
            </a:pPr>
            <a:r>
              <a:rPr lang="en-US" sz="1100" b="1" dirty="0">
                <a:solidFill>
                  <a:srgbClr val="22333B"/>
                </a:solidFill>
                <a:latin typeface="Calibri" pitchFamily="34" charset="0"/>
                <a:ea typeface="Calibri" pitchFamily="34" charset="-122"/>
                <a:cs typeface="Calibri" pitchFamily="34" charset="-120"/>
              </a:rPr>
              <a:t>Machine-readable</a:t>
            </a:r>
            <a:endParaRPr lang="en-US" sz="1100" dirty="0"/>
          </a:p>
          <a:p>
            <a:pPr marL="203200" indent="-203200">
              <a:lnSpc>
                <a:spcPct val="108000"/>
              </a:lnSpc>
              <a:spcAft>
                <a:spcPts val="600"/>
              </a:spcAft>
              <a:buSzPct val="100000"/>
              <a:buChar char="•"/>
            </a:pPr>
            <a:r>
              <a:rPr lang="en-US" sz="1100" dirty="0">
                <a:solidFill>
                  <a:srgbClr val="22333B"/>
                </a:solidFill>
                <a:latin typeface="Calibri" pitchFamily="34" charset="0"/>
                <a:ea typeface="Calibri" pitchFamily="34" charset="-122"/>
                <a:cs typeface="Calibri" pitchFamily="34" charset="-120"/>
              </a:rPr>
              <a:t>SPDX or CycloneDX. A PDF of a table is not an SBOM — the entire value is automated matching against vulnerability feeds.</a:t>
            </a:r>
            <a:endParaRPr lang="en-US" sz="1100" dirty="0"/>
          </a:p>
          <a:p>
            <a:pPr marL="203200" indent="-203200">
              <a:lnSpc>
                <a:spcPct val="108000"/>
              </a:lnSpc>
              <a:spcAft>
                <a:spcPts val="600"/>
              </a:spcAft>
              <a:buSzPct val="100000"/>
              <a:buChar char="•"/>
            </a:pPr>
            <a:r>
              <a:rPr lang="en-US" sz="1100" b="1" dirty="0">
                <a:solidFill>
                  <a:srgbClr val="22333B"/>
                </a:solidFill>
                <a:latin typeface="Calibri" pitchFamily="34" charset="0"/>
                <a:ea typeface="Calibri" pitchFamily="34" charset="-122"/>
                <a:cs typeface="Calibri" pitchFamily="34" charset="-120"/>
              </a:rPr>
              <a:t>Complete, including transitive dependencies</a:t>
            </a:r>
            <a:endParaRPr lang="en-US" sz="1100" dirty="0"/>
          </a:p>
          <a:p>
            <a:pPr marL="203200" indent="-203200">
              <a:lnSpc>
                <a:spcPct val="108000"/>
              </a:lnSpc>
              <a:spcAft>
                <a:spcPts val="600"/>
              </a:spcAft>
              <a:buSzPct val="100000"/>
              <a:buChar char="•"/>
            </a:pPr>
            <a:r>
              <a:rPr lang="en-US" sz="1100" dirty="0">
                <a:solidFill>
                  <a:srgbClr val="22333B"/>
                </a:solidFill>
                <a:latin typeface="Calibri" pitchFamily="34" charset="0"/>
                <a:ea typeface="Calibri" pitchFamily="34" charset="-122"/>
                <a:cs typeface="Calibri" pitchFamily="34" charset="-120"/>
              </a:rPr>
              <a:t>Generate it from the build, not from a spreadsheet someone maintains. If a human curates it, it is wrong within a sprint.</a:t>
            </a:r>
            <a:endParaRPr lang="en-US" sz="1100" dirty="0"/>
          </a:p>
        </p:txBody>
      </p:sp>
      <p:sp>
        <p:nvSpPr>
          <p:cNvPr id="9" name="Text 7"/>
          <p:cNvSpPr txBox="1"/>
          <p:nvPr/>
        </p:nvSpPr>
        <p:spPr>
          <a:xfrm>
            <a:off x="6245352" y="1481328"/>
            <a:ext cx="5394960" cy="256032"/>
          </a:xfrm>
          <a:prstGeom prst="rect">
            <a:avLst/>
          </a:prstGeom>
          <a:noFill/>
          <a:ln/>
        </p:spPr>
        <p:txBody>
          <a:bodyPr wrap="square" lIns="0" tIns="0" rIns="0" bIns="0" rtlCol="0" anchor="ctr"/>
          <a:lstStyle/>
          <a:p>
            <a:pPr indent="0" marL="0">
              <a:buNone/>
            </a:pPr>
            <a:r>
              <a:rPr lang="en-US" sz="1100" b="1" spc="120" kern="0" dirty="0">
                <a:solidFill>
                  <a:srgbClr val="C77C1E"/>
                </a:solidFill>
                <a:latin typeface="Calibri" pitchFamily="34" charset="0"/>
                <a:ea typeface="Calibri" pitchFamily="34" charset="-122"/>
                <a:cs typeface="Calibri" pitchFamily="34" charset="-120"/>
              </a:rPr>
              <a:t>WHAT IT IS ACTUALLY FOR</a:t>
            </a:r>
            <a:endParaRPr lang="en-US" sz="1100" dirty="0"/>
          </a:p>
        </p:txBody>
      </p:sp>
      <p:sp>
        <p:nvSpPr>
          <p:cNvPr id="10" name="Shape 8"/>
          <p:cNvSpPr/>
          <p:nvPr/>
        </p:nvSpPr>
        <p:spPr>
          <a:xfrm>
            <a:off x="6245352" y="1792224"/>
            <a:ext cx="5394960" cy="3712464"/>
          </a:xfrm>
          <a:prstGeom prst="roundRect">
            <a:avLst>
              <a:gd name="adj" fmla="val 1724"/>
            </a:avLst>
          </a:prstGeom>
          <a:solidFill>
            <a:srgbClr val="FBF0E2"/>
          </a:solidFill>
          <a:ln w="12700">
            <a:solidFill>
              <a:srgbClr val="E3C893"/>
            </a:solidFill>
            <a:prstDash val="solid"/>
          </a:ln>
        </p:spPr>
      </p:sp>
      <p:sp>
        <p:nvSpPr>
          <p:cNvPr id="11" name="Text 9"/>
          <p:cNvSpPr txBox="1"/>
          <p:nvPr/>
        </p:nvSpPr>
        <p:spPr>
          <a:xfrm>
            <a:off x="6483096" y="1956816"/>
            <a:ext cx="4919472" cy="3383280"/>
          </a:xfrm>
          <a:prstGeom prst="rect">
            <a:avLst/>
          </a:prstGeom>
          <a:noFill/>
          <a:ln/>
        </p:spPr>
        <p:txBody>
          <a:bodyPr wrap="square" lIns="0" tIns="0" rIns="0" bIns="0" rtlCol="0" anchor="t"/>
          <a:lstStyle/>
          <a:p>
            <a:pPr indent="0" marL="0">
              <a:lnSpc>
                <a:spcPct val="105000"/>
              </a:lnSpc>
              <a:buNone/>
            </a:pPr>
            <a:r>
              <a:rPr lang="en-US" sz="1300" b="1" dirty="0">
                <a:solidFill>
                  <a:srgbClr val="7A4E12"/>
                </a:solidFill>
                <a:latin typeface="Calibri" pitchFamily="34" charset="0"/>
                <a:ea typeface="Calibri" pitchFamily="34" charset="-122"/>
                <a:cs typeface="Calibri" pitchFamily="34" charset="-120"/>
              </a:rPr>
              <a:t>The URGENT/11 question.
</a:t>
            </a:r>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A serious vulnerability is announced in a widely used component on a Friday afternoon. Your customers' security teams will ask the same question within hours: are we affected?
</a:t>
            </a:r>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Without an SBOM, that is weeks of engineering archaeology across product lines, during which you cannot advise customers and cannot plan remediation.
</a:t>
            </a:r>
            <a:pPr indent="0" marL="0">
              <a:lnSpc>
                <a:spcPct val="105000"/>
              </a:lnSpc>
              <a:buNone/>
            </a:pPr>
            <a:r>
              <a:rPr lang="en-US" sz="1150" b="1" dirty="0">
                <a:solidFill>
                  <a:srgbClr val="22333B"/>
                </a:solidFill>
                <a:latin typeface="Calibri" pitchFamily="34" charset="0"/>
                <a:ea typeface="Calibri" pitchFamily="34" charset="-122"/>
                <a:cs typeface="Calibri" pitchFamily="34" charset="-120"/>
              </a:rPr>
              <a:t>With a machine-readable SBOM, it is a query.
</a:t>
            </a:r>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Treat it as an operational capability that also satisfies a statutory requirement — not as a document you produce for a submission. The compliance artefact is a by-product of the capability, and teams that build it the other way round get a file nobody can use.</a:t>
            </a:r>
            <a:endParaRPr lang="en-US" sz="1300" dirty="0"/>
          </a:p>
        </p:txBody>
      </p:sp>
      <p:sp>
        <p:nvSpPr>
          <p:cNvPr id="12" name="Shape 10"/>
          <p:cNvSpPr/>
          <p:nvPr/>
        </p:nvSpPr>
        <p:spPr>
          <a:xfrm>
            <a:off x="548640" y="5705856"/>
            <a:ext cx="11094415" cy="566928"/>
          </a:xfrm>
          <a:prstGeom prst="roundRect">
            <a:avLst>
              <a:gd name="adj" fmla="val 9677"/>
            </a:avLst>
          </a:prstGeom>
          <a:solidFill>
            <a:srgbClr val="EAF3F2"/>
          </a:solidFill>
          <a:ln w="12700">
            <a:solidFill>
              <a:srgbClr val="BFD9D6"/>
            </a:solidFill>
            <a:prstDash val="solid"/>
          </a:ln>
        </p:spPr>
      </p:sp>
      <p:sp>
        <p:nvSpPr>
          <p:cNvPr id="13" name="Text 11"/>
          <p:cNvSpPr txBox="1"/>
          <p:nvPr/>
        </p:nvSpPr>
        <p:spPr>
          <a:xfrm>
            <a:off x="786384" y="5705856"/>
            <a:ext cx="10618927" cy="566928"/>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Also plan how you will share it — with FDA, with hospital security teams, and with the people who have to act on it at three in the morning.</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POSTMARKET OPERATIONS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The vulnerability management loop</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548640" y="1664208"/>
            <a:ext cx="1999427" cy="2395728"/>
          </a:xfrm>
          <a:prstGeom prst="roundRect">
            <a:avLst>
              <a:gd name="adj" fmla="val 3201"/>
            </a:avLst>
          </a:prstGeom>
          <a:solidFill>
            <a:srgbClr val="F1F5F6"/>
          </a:solidFill>
          <a:ln w="12700">
            <a:solidFill>
              <a:srgbClr val="D7E2E5"/>
            </a:solidFill>
            <a:prstDash val="solid"/>
          </a:ln>
        </p:spPr>
      </p:sp>
      <p:sp>
        <p:nvSpPr>
          <p:cNvPr id="7" name="Shape 5"/>
          <p:cNvSpPr/>
          <p:nvPr/>
        </p:nvSpPr>
        <p:spPr>
          <a:xfrm>
            <a:off x="768096" y="1865376"/>
            <a:ext cx="365760" cy="365760"/>
          </a:xfrm>
          <a:prstGeom prst="ellipse">
            <a:avLst/>
          </a:prstGeom>
          <a:solidFill>
            <a:srgbClr val="0E7C7B"/>
          </a:solidFill>
          <a:ln w="12700">
            <a:solidFill>
              <a:srgbClr val="0E7C7B"/>
            </a:solidFill>
            <a:prstDash val="solid"/>
          </a:ln>
        </p:spPr>
      </p:sp>
      <p:sp>
        <p:nvSpPr>
          <p:cNvPr id="8" name="Text 6"/>
          <p:cNvSpPr txBox="1"/>
          <p:nvPr/>
        </p:nvSpPr>
        <p:spPr>
          <a:xfrm>
            <a:off x="768096" y="1865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768096" y="2340864"/>
            <a:ext cx="1560515" cy="451104"/>
          </a:xfrm>
          <a:prstGeom prst="rect">
            <a:avLst/>
          </a:prstGeom>
          <a:noFill/>
          <a:ln/>
        </p:spPr>
        <p:txBody>
          <a:bodyPr wrap="square" lIns="0" tIns="0" rIns="0" bIns="0" rtlCol="0" anchor="t"/>
          <a:lstStyle/>
          <a:p>
            <a:pPr indent="0" marL="0">
              <a:buNone/>
            </a:pPr>
            <a:r>
              <a:rPr lang="en-US" sz="1200" b="1" dirty="0">
                <a:solidFill>
                  <a:srgbClr val="1B3A4B"/>
                </a:solidFill>
                <a:latin typeface="Calibri" pitchFamily="34" charset="0"/>
                <a:ea typeface="Calibri" pitchFamily="34" charset="-122"/>
                <a:cs typeface="Calibri" pitchFamily="34" charset="-120"/>
              </a:rPr>
              <a:t>Monitor</a:t>
            </a:r>
            <a:endParaRPr lang="en-US" sz="1200" dirty="0"/>
          </a:p>
        </p:txBody>
      </p:sp>
      <p:sp>
        <p:nvSpPr>
          <p:cNvPr id="10" name="Text 8"/>
          <p:cNvSpPr txBox="1"/>
          <p:nvPr/>
        </p:nvSpPr>
        <p:spPr>
          <a:xfrm>
            <a:off x="768096" y="2828544"/>
            <a:ext cx="1560515" cy="1085088"/>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Vulnerability feeds, supplier advisories, CISA advisories, your disclosure inbox, and customer reports — matched automatically against the SBOM.</a:t>
            </a:r>
            <a:endParaRPr lang="en-US" sz="920" dirty="0"/>
          </a:p>
        </p:txBody>
      </p:sp>
      <p:sp>
        <p:nvSpPr>
          <p:cNvPr id="11" name="Shape 9"/>
          <p:cNvSpPr/>
          <p:nvPr/>
        </p:nvSpPr>
        <p:spPr>
          <a:xfrm>
            <a:off x="2822387" y="1664208"/>
            <a:ext cx="1999427" cy="2395728"/>
          </a:xfrm>
          <a:prstGeom prst="roundRect">
            <a:avLst>
              <a:gd name="adj" fmla="val 3201"/>
            </a:avLst>
          </a:prstGeom>
          <a:solidFill>
            <a:srgbClr val="F1F5F6"/>
          </a:solidFill>
          <a:ln w="12700">
            <a:solidFill>
              <a:srgbClr val="D7E2E5"/>
            </a:solidFill>
            <a:prstDash val="solid"/>
          </a:ln>
        </p:spPr>
      </p:sp>
      <p:sp>
        <p:nvSpPr>
          <p:cNvPr id="12" name="Shape 10"/>
          <p:cNvSpPr/>
          <p:nvPr/>
        </p:nvSpPr>
        <p:spPr>
          <a:xfrm>
            <a:off x="3041843" y="1865376"/>
            <a:ext cx="365760" cy="365760"/>
          </a:xfrm>
          <a:prstGeom prst="ellipse">
            <a:avLst/>
          </a:prstGeom>
          <a:solidFill>
            <a:srgbClr val="0E7C7B"/>
          </a:solidFill>
          <a:ln w="12700">
            <a:solidFill>
              <a:srgbClr val="0E7C7B"/>
            </a:solidFill>
            <a:prstDash val="solid"/>
          </a:ln>
        </p:spPr>
      </p:sp>
      <p:sp>
        <p:nvSpPr>
          <p:cNvPr id="13" name="Text 11"/>
          <p:cNvSpPr txBox="1"/>
          <p:nvPr/>
        </p:nvSpPr>
        <p:spPr>
          <a:xfrm>
            <a:off x="3041843" y="1865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041843" y="2340864"/>
            <a:ext cx="1560515" cy="451104"/>
          </a:xfrm>
          <a:prstGeom prst="rect">
            <a:avLst/>
          </a:prstGeom>
          <a:noFill/>
          <a:ln/>
        </p:spPr>
        <p:txBody>
          <a:bodyPr wrap="square" lIns="0" tIns="0" rIns="0" bIns="0" rtlCol="0" anchor="t"/>
          <a:lstStyle/>
          <a:p>
            <a:pPr indent="0" marL="0">
              <a:buNone/>
            </a:pPr>
            <a:r>
              <a:rPr lang="en-US" sz="1200" b="1" dirty="0">
                <a:solidFill>
                  <a:srgbClr val="1B3A4B"/>
                </a:solidFill>
                <a:latin typeface="Calibri" pitchFamily="34" charset="0"/>
                <a:ea typeface="Calibri" pitchFamily="34" charset="-122"/>
                <a:cs typeface="Calibri" pitchFamily="34" charset="-120"/>
              </a:rPr>
              <a:t>Triage</a:t>
            </a:r>
            <a:endParaRPr lang="en-US" sz="1200" dirty="0"/>
          </a:p>
        </p:txBody>
      </p:sp>
      <p:sp>
        <p:nvSpPr>
          <p:cNvPr id="15" name="Text 13"/>
          <p:cNvSpPr txBox="1"/>
          <p:nvPr/>
        </p:nvSpPr>
        <p:spPr>
          <a:xfrm>
            <a:off x="3041843" y="2828544"/>
            <a:ext cx="1560515" cy="1085088"/>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Is the component present, reachable and exploitable in YOUR product? Most matches are not exploitable in context — but you must be able to show why.</a:t>
            </a:r>
            <a:endParaRPr lang="en-US" sz="920" dirty="0"/>
          </a:p>
        </p:txBody>
      </p:sp>
      <p:sp>
        <p:nvSpPr>
          <p:cNvPr id="16" name="Shape 14"/>
          <p:cNvSpPr/>
          <p:nvPr/>
        </p:nvSpPr>
        <p:spPr>
          <a:xfrm>
            <a:off x="5096134" y="1664208"/>
            <a:ext cx="1999427" cy="2395728"/>
          </a:xfrm>
          <a:prstGeom prst="roundRect">
            <a:avLst>
              <a:gd name="adj" fmla="val 3201"/>
            </a:avLst>
          </a:prstGeom>
          <a:solidFill>
            <a:srgbClr val="F1F5F6"/>
          </a:solidFill>
          <a:ln w="12700">
            <a:solidFill>
              <a:srgbClr val="D7E2E5"/>
            </a:solidFill>
            <a:prstDash val="solid"/>
          </a:ln>
        </p:spPr>
      </p:sp>
      <p:sp>
        <p:nvSpPr>
          <p:cNvPr id="17" name="Shape 15"/>
          <p:cNvSpPr/>
          <p:nvPr/>
        </p:nvSpPr>
        <p:spPr>
          <a:xfrm>
            <a:off x="5315590" y="1865376"/>
            <a:ext cx="365760" cy="365760"/>
          </a:xfrm>
          <a:prstGeom prst="ellipse">
            <a:avLst/>
          </a:prstGeom>
          <a:solidFill>
            <a:srgbClr val="0E7C7B"/>
          </a:solidFill>
          <a:ln w="12700">
            <a:solidFill>
              <a:srgbClr val="0E7C7B"/>
            </a:solidFill>
            <a:prstDash val="solid"/>
          </a:ln>
        </p:spPr>
      </p:sp>
      <p:sp>
        <p:nvSpPr>
          <p:cNvPr id="18" name="Text 16"/>
          <p:cNvSpPr txBox="1"/>
          <p:nvPr/>
        </p:nvSpPr>
        <p:spPr>
          <a:xfrm>
            <a:off x="5315590" y="1865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5315590" y="2340864"/>
            <a:ext cx="1560515" cy="451104"/>
          </a:xfrm>
          <a:prstGeom prst="rect">
            <a:avLst/>
          </a:prstGeom>
          <a:noFill/>
          <a:ln/>
        </p:spPr>
        <p:txBody>
          <a:bodyPr wrap="square" lIns="0" tIns="0" rIns="0" bIns="0" rtlCol="0" anchor="t"/>
          <a:lstStyle/>
          <a:p>
            <a:pPr indent="0" marL="0">
              <a:buNone/>
            </a:pPr>
            <a:r>
              <a:rPr lang="en-US" sz="1200" b="1" dirty="0">
                <a:solidFill>
                  <a:srgbClr val="1B3A4B"/>
                </a:solidFill>
                <a:latin typeface="Calibri" pitchFamily="34" charset="0"/>
                <a:ea typeface="Calibri" pitchFamily="34" charset="-122"/>
                <a:cs typeface="Calibri" pitchFamily="34" charset="-120"/>
              </a:rPr>
              <a:t>Assess</a:t>
            </a:r>
            <a:endParaRPr lang="en-US" sz="1200" dirty="0"/>
          </a:p>
        </p:txBody>
      </p:sp>
      <p:sp>
        <p:nvSpPr>
          <p:cNvPr id="20" name="Text 18"/>
          <p:cNvSpPr txBox="1"/>
          <p:nvPr/>
        </p:nvSpPr>
        <p:spPr>
          <a:xfrm>
            <a:off x="5315590" y="2828544"/>
            <a:ext cx="1560515" cy="1085088"/>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Score severity, then assess the clinical consequence. Use CVSS as an input, adjusted for the medical context; the output that matters is patient impact.</a:t>
            </a:r>
            <a:endParaRPr lang="en-US" sz="920" dirty="0"/>
          </a:p>
        </p:txBody>
      </p:sp>
      <p:sp>
        <p:nvSpPr>
          <p:cNvPr id="21" name="Shape 19"/>
          <p:cNvSpPr/>
          <p:nvPr/>
        </p:nvSpPr>
        <p:spPr>
          <a:xfrm>
            <a:off x="7369881" y="1664208"/>
            <a:ext cx="1999427" cy="2395728"/>
          </a:xfrm>
          <a:prstGeom prst="roundRect">
            <a:avLst>
              <a:gd name="adj" fmla="val 3201"/>
            </a:avLst>
          </a:prstGeom>
          <a:solidFill>
            <a:srgbClr val="F1F5F6"/>
          </a:solidFill>
          <a:ln w="12700">
            <a:solidFill>
              <a:srgbClr val="D7E2E5"/>
            </a:solidFill>
            <a:prstDash val="solid"/>
          </a:ln>
        </p:spPr>
      </p:sp>
      <p:sp>
        <p:nvSpPr>
          <p:cNvPr id="22" name="Shape 20"/>
          <p:cNvSpPr/>
          <p:nvPr/>
        </p:nvSpPr>
        <p:spPr>
          <a:xfrm>
            <a:off x="7589337" y="1865376"/>
            <a:ext cx="365760" cy="365760"/>
          </a:xfrm>
          <a:prstGeom prst="ellipse">
            <a:avLst/>
          </a:prstGeom>
          <a:solidFill>
            <a:srgbClr val="0E7C7B"/>
          </a:solidFill>
          <a:ln w="12700">
            <a:solidFill>
              <a:srgbClr val="0E7C7B"/>
            </a:solidFill>
            <a:prstDash val="solid"/>
          </a:ln>
        </p:spPr>
      </p:sp>
      <p:sp>
        <p:nvSpPr>
          <p:cNvPr id="23" name="Text 21"/>
          <p:cNvSpPr txBox="1"/>
          <p:nvPr/>
        </p:nvSpPr>
        <p:spPr>
          <a:xfrm>
            <a:off x="7589337" y="1865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589337" y="2340864"/>
            <a:ext cx="1560515" cy="451104"/>
          </a:xfrm>
          <a:prstGeom prst="rect">
            <a:avLst/>
          </a:prstGeom>
          <a:noFill/>
          <a:ln/>
        </p:spPr>
        <p:txBody>
          <a:bodyPr wrap="square" lIns="0" tIns="0" rIns="0" bIns="0" rtlCol="0" anchor="t"/>
          <a:lstStyle/>
          <a:p>
            <a:pPr indent="0" marL="0">
              <a:buNone/>
            </a:pPr>
            <a:r>
              <a:rPr lang="en-US" sz="1200" b="1" dirty="0">
                <a:solidFill>
                  <a:srgbClr val="1B3A4B"/>
                </a:solidFill>
                <a:latin typeface="Calibri" pitchFamily="34" charset="0"/>
                <a:ea typeface="Calibri" pitchFamily="34" charset="-122"/>
                <a:cs typeface="Calibri" pitchFamily="34" charset="-120"/>
              </a:rPr>
              <a:t>Decide</a:t>
            </a:r>
            <a:endParaRPr lang="en-US" sz="1200" dirty="0"/>
          </a:p>
        </p:txBody>
      </p:sp>
      <p:sp>
        <p:nvSpPr>
          <p:cNvPr id="25" name="Text 23"/>
          <p:cNvSpPr txBox="1"/>
          <p:nvPr/>
        </p:nvSpPr>
        <p:spPr>
          <a:xfrm>
            <a:off x="7589337" y="2828544"/>
            <a:ext cx="1560515" cy="1085088"/>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Controlled or uncontrolled risk? Patch now, patch on cycle, mitigate by compensating control, or document why no action is needed.</a:t>
            </a:r>
            <a:endParaRPr lang="en-US" sz="920" dirty="0"/>
          </a:p>
        </p:txBody>
      </p:sp>
      <p:sp>
        <p:nvSpPr>
          <p:cNvPr id="26" name="Shape 24"/>
          <p:cNvSpPr/>
          <p:nvPr/>
        </p:nvSpPr>
        <p:spPr>
          <a:xfrm>
            <a:off x="9643628" y="1664208"/>
            <a:ext cx="1999427" cy="2395728"/>
          </a:xfrm>
          <a:prstGeom prst="roundRect">
            <a:avLst>
              <a:gd name="adj" fmla="val 3201"/>
            </a:avLst>
          </a:prstGeom>
          <a:solidFill>
            <a:srgbClr val="F1F5F6"/>
          </a:solidFill>
          <a:ln w="12700">
            <a:solidFill>
              <a:srgbClr val="D7E2E5"/>
            </a:solidFill>
            <a:prstDash val="solid"/>
          </a:ln>
        </p:spPr>
      </p:sp>
      <p:sp>
        <p:nvSpPr>
          <p:cNvPr id="27" name="Shape 25"/>
          <p:cNvSpPr/>
          <p:nvPr/>
        </p:nvSpPr>
        <p:spPr>
          <a:xfrm>
            <a:off x="9863084" y="1865376"/>
            <a:ext cx="365760" cy="365760"/>
          </a:xfrm>
          <a:prstGeom prst="ellipse">
            <a:avLst/>
          </a:prstGeom>
          <a:solidFill>
            <a:srgbClr val="0E7C7B"/>
          </a:solidFill>
          <a:ln w="12700">
            <a:solidFill>
              <a:srgbClr val="0E7C7B"/>
            </a:solidFill>
            <a:prstDash val="solid"/>
          </a:ln>
        </p:spPr>
      </p:sp>
      <p:sp>
        <p:nvSpPr>
          <p:cNvPr id="28" name="Text 26"/>
          <p:cNvSpPr txBox="1"/>
          <p:nvPr/>
        </p:nvSpPr>
        <p:spPr>
          <a:xfrm>
            <a:off x="9863084" y="1865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9863084" y="2340864"/>
            <a:ext cx="1560515" cy="451104"/>
          </a:xfrm>
          <a:prstGeom prst="rect">
            <a:avLst/>
          </a:prstGeom>
          <a:noFill/>
          <a:ln/>
        </p:spPr>
        <p:txBody>
          <a:bodyPr wrap="square" lIns="0" tIns="0" rIns="0" bIns="0" rtlCol="0" anchor="t"/>
          <a:lstStyle/>
          <a:p>
            <a:pPr indent="0" marL="0">
              <a:buNone/>
            </a:pPr>
            <a:r>
              <a:rPr lang="en-US" sz="1200" b="1" dirty="0">
                <a:solidFill>
                  <a:srgbClr val="1B3A4B"/>
                </a:solidFill>
                <a:latin typeface="Calibri" pitchFamily="34" charset="0"/>
                <a:ea typeface="Calibri" pitchFamily="34" charset="-122"/>
                <a:cs typeface="Calibri" pitchFamily="34" charset="-120"/>
              </a:rPr>
              <a:t>Act &amp; communicate</a:t>
            </a:r>
            <a:endParaRPr lang="en-US" sz="1200" dirty="0"/>
          </a:p>
        </p:txBody>
      </p:sp>
      <p:sp>
        <p:nvSpPr>
          <p:cNvPr id="30" name="Text 28"/>
          <p:cNvSpPr txBox="1"/>
          <p:nvPr/>
        </p:nvSpPr>
        <p:spPr>
          <a:xfrm>
            <a:off x="9863084" y="2828544"/>
            <a:ext cx="1560515" cy="1085088"/>
          </a:xfrm>
          <a:prstGeom prst="rect">
            <a:avLst/>
          </a:prstGeom>
          <a:noFill/>
          <a:ln/>
        </p:spPr>
        <p:txBody>
          <a:bodyPr wrap="square" lIns="0" tIns="0" rIns="0" bIns="0" rtlCol="0" anchor="t"/>
          <a:lstStyle/>
          <a:p>
            <a:pPr indent="0" marL="0">
              <a:lnSpc>
                <a:spcPct val="106000"/>
              </a:lnSpc>
              <a:buNone/>
            </a:pPr>
            <a:r>
              <a:rPr lang="en-US" sz="920" dirty="0">
                <a:solidFill>
                  <a:srgbClr val="22333B"/>
                </a:solidFill>
                <a:latin typeface="Calibri" pitchFamily="34" charset="0"/>
                <a:ea typeface="Calibri" pitchFamily="34" charset="-122"/>
                <a:cs typeface="Calibri" pitchFamily="34" charset="-120"/>
              </a:rPr>
              <a:t>Deploy the fix, tell customers what they need to know, and publish a VEX statement so downstream users can act on accurate information.</a:t>
            </a:r>
            <a:endParaRPr lang="en-US" sz="920" dirty="0"/>
          </a:p>
        </p:txBody>
      </p:sp>
      <p:sp>
        <p:nvSpPr>
          <p:cNvPr id="31" name="Shape 29"/>
          <p:cNvSpPr/>
          <p:nvPr/>
        </p:nvSpPr>
        <p:spPr>
          <a:xfrm>
            <a:off x="548640" y="4169664"/>
            <a:ext cx="5394960" cy="1737360"/>
          </a:xfrm>
          <a:prstGeom prst="roundRect">
            <a:avLst>
              <a:gd name="adj" fmla="val 3684"/>
            </a:avLst>
          </a:prstGeom>
          <a:solidFill>
            <a:srgbClr val="EAF3F2"/>
          </a:solidFill>
          <a:ln w="12700">
            <a:solidFill>
              <a:srgbClr val="BFD9D6"/>
            </a:solidFill>
            <a:prstDash val="solid"/>
          </a:ln>
        </p:spPr>
      </p:sp>
      <p:sp>
        <p:nvSpPr>
          <p:cNvPr id="32" name="Text 30"/>
          <p:cNvSpPr txBox="1"/>
          <p:nvPr/>
        </p:nvSpPr>
        <p:spPr>
          <a:xfrm>
            <a:off x="786384" y="4315968"/>
            <a:ext cx="4919472" cy="1463040"/>
          </a:xfrm>
          <a:prstGeom prst="rect">
            <a:avLst/>
          </a:prstGeom>
          <a:noFill/>
          <a:ln/>
        </p:spPr>
        <p:txBody>
          <a:bodyPr wrap="square" lIns="0" tIns="0" rIns="0" bIns="0" rtlCol="0" anchor="t"/>
          <a:lstStyle/>
          <a:p>
            <a:pPr indent="0" marL="0">
              <a:lnSpc>
                <a:spcPct val="104000"/>
              </a:lnSpc>
              <a:buNone/>
            </a:pPr>
            <a:r>
              <a:rPr lang="en-US" sz="1250" b="1" dirty="0">
                <a:solidFill>
                  <a:srgbClr val="0E7C7B"/>
                </a:solidFill>
                <a:latin typeface="Calibri" pitchFamily="34" charset="0"/>
                <a:ea typeface="Calibri" pitchFamily="34" charset="-122"/>
                <a:cs typeface="Calibri" pitchFamily="34" charset="-120"/>
              </a:rPr>
              <a:t>CVSS is an input, not an answer
</a:t>
            </a:r>
            <a:pPr indent="0" marL="0">
              <a:lnSpc>
                <a:spcPct val="104000"/>
              </a:lnSpc>
              <a:buNone/>
            </a:pPr>
            <a:r>
              <a:rPr lang="en-US" sz="1080" dirty="0">
                <a:solidFill>
                  <a:srgbClr val="22333B"/>
                </a:solidFill>
                <a:latin typeface="Calibri" pitchFamily="34" charset="0"/>
                <a:ea typeface="Calibri" pitchFamily="34" charset="-122"/>
                <a:cs typeface="Calibri" pitchFamily="34" charset="-120"/>
              </a:rPr>
              <a:t>A base score describes a vulnerability in the abstract. It knows nothing about your architecture, your compensating controls, or what happens clinically if the device stops. A CVSS 9.8 that requires physical access to an implanted device and a CVSS 6.5 reachable from the hospital network may rank in the opposite order for patient risk. MITRE and MDIC published a rubric specifically for applying CVSS in a medical device context — use it.</a:t>
            </a:r>
            <a:endParaRPr lang="en-US" sz="1250" dirty="0"/>
          </a:p>
        </p:txBody>
      </p:sp>
      <p:sp>
        <p:nvSpPr>
          <p:cNvPr id="33" name="Shape 31"/>
          <p:cNvSpPr/>
          <p:nvPr/>
        </p:nvSpPr>
        <p:spPr>
          <a:xfrm>
            <a:off x="6245352" y="4169664"/>
            <a:ext cx="5394960" cy="1737360"/>
          </a:xfrm>
          <a:prstGeom prst="roundRect">
            <a:avLst>
              <a:gd name="adj" fmla="val 3684"/>
            </a:avLst>
          </a:prstGeom>
          <a:solidFill>
            <a:srgbClr val="FBF0E2"/>
          </a:solidFill>
          <a:ln w="12700">
            <a:solidFill>
              <a:srgbClr val="E3C893"/>
            </a:solidFill>
            <a:prstDash val="solid"/>
          </a:ln>
        </p:spPr>
      </p:sp>
      <p:sp>
        <p:nvSpPr>
          <p:cNvPr id="34" name="Text 32"/>
          <p:cNvSpPr txBox="1"/>
          <p:nvPr/>
        </p:nvSpPr>
        <p:spPr>
          <a:xfrm>
            <a:off x="6483096" y="4315968"/>
            <a:ext cx="4919472" cy="1463040"/>
          </a:xfrm>
          <a:prstGeom prst="rect">
            <a:avLst/>
          </a:prstGeom>
          <a:noFill/>
          <a:ln/>
        </p:spPr>
        <p:txBody>
          <a:bodyPr wrap="square" lIns="0" tIns="0" rIns="0" bIns="0" rtlCol="0" anchor="t"/>
          <a:lstStyle/>
          <a:p>
            <a:pPr indent="0" marL="0">
              <a:lnSpc>
                <a:spcPct val="104000"/>
              </a:lnSpc>
              <a:buNone/>
            </a:pPr>
            <a:r>
              <a:rPr lang="en-US" sz="1250" b="1" dirty="0">
                <a:solidFill>
                  <a:srgbClr val="7A4E12"/>
                </a:solidFill>
                <a:latin typeface="Calibri" pitchFamily="34" charset="0"/>
                <a:ea typeface="Calibri" pitchFamily="34" charset="-122"/>
                <a:cs typeface="Calibri" pitchFamily="34" charset="-120"/>
              </a:rPr>
              <a:t>VEX: saying "present but not exploitable", credibly
</a:t>
            </a:r>
            <a:pPr indent="0" marL="0">
              <a:lnSpc>
                <a:spcPct val="104000"/>
              </a:lnSpc>
              <a:buNone/>
            </a:pPr>
            <a:r>
              <a:rPr lang="en-US" sz="1080" dirty="0">
                <a:solidFill>
                  <a:srgbClr val="22333B"/>
                </a:solidFill>
                <a:latin typeface="Calibri" pitchFamily="34" charset="0"/>
                <a:ea typeface="Calibri" pitchFamily="34" charset="-122"/>
                <a:cs typeface="Calibri" pitchFamily="34" charset="-120"/>
              </a:rPr>
              <a:t>An SBOM tells the world which components you ship, so customers will match it against feeds and raise alarms about vulnerabilities that do not affect you. A Vulnerability Exploitability eXchange statement lets you say — in a machine-readable form — that a component is present but the vulnerability is not exploitable in your product, and why. Without it, transparency generates noise that exhausts both you and your customers.</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EVIDENCE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200" b="1" dirty="0">
                <a:solidFill>
                  <a:srgbClr val="1B3A4B"/>
                </a:solidFill>
                <a:latin typeface="Cambria" pitchFamily="34" charset="0"/>
                <a:ea typeface="Cambria" pitchFamily="34" charset="-122"/>
                <a:cs typeface="Cambria" pitchFamily="34" charset="-120"/>
              </a:rPr>
              <a:t>Four kinds of security testing</a:t>
            </a:r>
            <a:endParaRPr lang="en-US" sz="32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41</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They answer different questions. Doing one well does not substitute for the others.</a:t>
            </a:r>
            <a:endParaRPr lang="en-US" sz="1400" dirty="0"/>
          </a:p>
        </p:txBody>
      </p:sp>
      <p:sp>
        <p:nvSpPr>
          <p:cNvPr id="7" name="Shape 5"/>
          <p:cNvSpPr/>
          <p:nvPr/>
        </p:nvSpPr>
        <p:spPr>
          <a:xfrm>
            <a:off x="548640" y="1847088"/>
            <a:ext cx="5410048" cy="1655064"/>
          </a:xfrm>
          <a:prstGeom prst="roundRect">
            <a:avLst>
              <a:gd name="adj" fmla="val 3867"/>
            </a:avLst>
          </a:prstGeom>
          <a:solidFill>
            <a:srgbClr val="F1F5F6"/>
          </a:solidFill>
          <a:ln w="12700">
            <a:solidFill>
              <a:srgbClr val="D7E2E5"/>
            </a:solidFill>
            <a:prstDash val="solid"/>
          </a:ln>
        </p:spPr>
      </p:sp>
      <p:sp>
        <p:nvSpPr>
          <p:cNvPr id="8" name="Shape 6"/>
          <p:cNvSpPr/>
          <p:nvPr/>
        </p:nvSpPr>
        <p:spPr>
          <a:xfrm>
            <a:off x="768096" y="2048256"/>
            <a:ext cx="365760" cy="365760"/>
          </a:xfrm>
          <a:prstGeom prst="ellipse">
            <a:avLst/>
          </a:prstGeom>
          <a:solidFill>
            <a:srgbClr val="0E7C7B"/>
          </a:solidFill>
          <a:ln w="12700">
            <a:solidFill>
              <a:srgbClr val="0E7C7B"/>
            </a:solidFill>
            <a:prstDash val="solid"/>
          </a:ln>
        </p:spPr>
      </p:sp>
      <p:sp>
        <p:nvSpPr>
          <p:cNvPr id="9" name="Text 7"/>
          <p:cNvSpPr txBox="1"/>
          <p:nvPr/>
        </p:nvSpPr>
        <p:spPr>
          <a:xfrm>
            <a:off x="768096" y="2048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68096" y="2523744"/>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Security requirements testing</a:t>
            </a:r>
            <a:endParaRPr lang="en-US" sz="1550" dirty="0"/>
          </a:p>
        </p:txBody>
      </p:sp>
      <p:sp>
        <p:nvSpPr>
          <p:cNvPr id="11" name="Text 9"/>
          <p:cNvSpPr txBox="1"/>
          <p:nvPr/>
        </p:nvSpPr>
        <p:spPr>
          <a:xfrm>
            <a:off x="768096" y="2890520"/>
            <a:ext cx="4971136" cy="465328"/>
          </a:xfrm>
          <a:prstGeom prst="rect">
            <a:avLst/>
          </a:prstGeom>
          <a:noFill/>
          <a:ln/>
        </p:spPr>
        <p:txBody>
          <a:bodyPr wrap="square" lIns="0" tIns="0" rIns="0" bIns="0" rtlCol="0" anchor="t"/>
          <a:lstStyle/>
          <a:p>
            <a:pPr indent="0" marL="0">
              <a:lnSpc>
                <a:spcPct val="106000"/>
              </a:lnSpc>
              <a:buNone/>
            </a:pPr>
            <a:r>
              <a:rPr lang="en-US" sz="970" dirty="0">
                <a:solidFill>
                  <a:srgbClr val="22333B"/>
                </a:solidFill>
                <a:latin typeface="Calibri" pitchFamily="34" charset="0"/>
                <a:ea typeface="Calibri" pitchFamily="34" charset="-122"/>
                <a:cs typeface="Calibri" pitchFamily="34" charset="-120"/>
              </a:rPr>
              <a:t>Does each security requirement behave as specified? Same discipline as any other requirement: written, traced, tested, evidenced. Include the negative cases — the control must also correctly refuse.</a:t>
            </a:r>
            <a:endParaRPr lang="en-US" sz="970" dirty="0"/>
          </a:p>
        </p:txBody>
      </p:sp>
      <p:sp>
        <p:nvSpPr>
          <p:cNvPr id="12" name="Shape 10"/>
          <p:cNvSpPr/>
          <p:nvPr/>
        </p:nvSpPr>
        <p:spPr>
          <a:xfrm>
            <a:off x="6233008" y="1847088"/>
            <a:ext cx="5410048" cy="1655064"/>
          </a:xfrm>
          <a:prstGeom prst="roundRect">
            <a:avLst>
              <a:gd name="adj" fmla="val 3867"/>
            </a:avLst>
          </a:prstGeom>
          <a:solidFill>
            <a:srgbClr val="F1F5F6"/>
          </a:solidFill>
          <a:ln w="12700">
            <a:solidFill>
              <a:srgbClr val="D7E2E5"/>
            </a:solidFill>
            <a:prstDash val="solid"/>
          </a:ln>
        </p:spPr>
      </p:sp>
      <p:sp>
        <p:nvSpPr>
          <p:cNvPr id="13" name="Shape 11"/>
          <p:cNvSpPr/>
          <p:nvPr/>
        </p:nvSpPr>
        <p:spPr>
          <a:xfrm>
            <a:off x="6452464" y="2048256"/>
            <a:ext cx="365760" cy="365760"/>
          </a:xfrm>
          <a:prstGeom prst="ellipse">
            <a:avLst/>
          </a:prstGeom>
          <a:solidFill>
            <a:srgbClr val="0E7C7B"/>
          </a:solidFill>
          <a:ln w="12700">
            <a:solidFill>
              <a:srgbClr val="0E7C7B"/>
            </a:solidFill>
            <a:prstDash val="solid"/>
          </a:ln>
        </p:spPr>
      </p:sp>
      <p:sp>
        <p:nvSpPr>
          <p:cNvPr id="14" name="Text 12"/>
          <p:cNvSpPr txBox="1"/>
          <p:nvPr/>
        </p:nvSpPr>
        <p:spPr>
          <a:xfrm>
            <a:off x="6452464" y="2048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6452464" y="2523744"/>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Threat mitigation testing</a:t>
            </a:r>
            <a:endParaRPr lang="en-US" sz="1550" dirty="0"/>
          </a:p>
        </p:txBody>
      </p:sp>
      <p:sp>
        <p:nvSpPr>
          <p:cNvPr id="16" name="Text 14"/>
          <p:cNvSpPr txBox="1"/>
          <p:nvPr/>
        </p:nvSpPr>
        <p:spPr>
          <a:xfrm>
            <a:off x="6452464" y="2890520"/>
            <a:ext cx="4971136" cy="465328"/>
          </a:xfrm>
          <a:prstGeom prst="rect">
            <a:avLst/>
          </a:prstGeom>
          <a:noFill/>
          <a:ln/>
        </p:spPr>
        <p:txBody>
          <a:bodyPr wrap="square" lIns="0" tIns="0" rIns="0" bIns="0" rtlCol="0" anchor="t"/>
          <a:lstStyle/>
          <a:p>
            <a:pPr indent="0" marL="0">
              <a:lnSpc>
                <a:spcPct val="106000"/>
              </a:lnSpc>
              <a:buNone/>
            </a:pPr>
            <a:r>
              <a:rPr lang="en-US" sz="970" dirty="0">
                <a:solidFill>
                  <a:srgbClr val="22333B"/>
                </a:solidFill>
                <a:latin typeface="Calibri" pitchFamily="34" charset="0"/>
                <a:ea typeface="Calibri" pitchFamily="34" charset="-122"/>
                <a:cs typeface="Calibri" pitchFamily="34" charset="-120"/>
              </a:rPr>
              <a:t>Do the controls actually mitigate the threats in your model, in the assembled system? Not 'is encryption enabled' but 'does this defeat the attack we identified?'</a:t>
            </a:r>
            <a:endParaRPr lang="en-US" sz="970" dirty="0"/>
          </a:p>
        </p:txBody>
      </p:sp>
      <p:sp>
        <p:nvSpPr>
          <p:cNvPr id="17" name="Shape 15"/>
          <p:cNvSpPr/>
          <p:nvPr/>
        </p:nvSpPr>
        <p:spPr>
          <a:xfrm>
            <a:off x="548640" y="3776472"/>
            <a:ext cx="5410048" cy="1655064"/>
          </a:xfrm>
          <a:prstGeom prst="roundRect">
            <a:avLst>
              <a:gd name="adj" fmla="val 3867"/>
            </a:avLst>
          </a:prstGeom>
          <a:solidFill>
            <a:srgbClr val="F1F5F6"/>
          </a:solidFill>
          <a:ln w="12700">
            <a:solidFill>
              <a:srgbClr val="D7E2E5"/>
            </a:solidFill>
            <a:prstDash val="solid"/>
          </a:ln>
        </p:spPr>
      </p:sp>
      <p:sp>
        <p:nvSpPr>
          <p:cNvPr id="18" name="Shape 16"/>
          <p:cNvSpPr/>
          <p:nvPr/>
        </p:nvSpPr>
        <p:spPr>
          <a:xfrm>
            <a:off x="768096" y="3977640"/>
            <a:ext cx="365760" cy="365760"/>
          </a:xfrm>
          <a:prstGeom prst="ellipse">
            <a:avLst/>
          </a:prstGeom>
          <a:solidFill>
            <a:srgbClr val="0E7C7B"/>
          </a:solidFill>
          <a:ln w="12700">
            <a:solidFill>
              <a:srgbClr val="0E7C7B"/>
            </a:solidFill>
            <a:prstDash val="solid"/>
          </a:ln>
        </p:spPr>
      </p:sp>
      <p:sp>
        <p:nvSpPr>
          <p:cNvPr id="19" name="Text 17"/>
          <p:cNvSpPr txBox="1"/>
          <p:nvPr/>
        </p:nvSpPr>
        <p:spPr>
          <a:xfrm>
            <a:off x="768096" y="3977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768096" y="4453128"/>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Vulnerability testing</a:t>
            </a:r>
            <a:endParaRPr lang="en-US" sz="1550" dirty="0"/>
          </a:p>
        </p:txBody>
      </p:sp>
      <p:sp>
        <p:nvSpPr>
          <p:cNvPr id="21" name="Text 19"/>
          <p:cNvSpPr txBox="1"/>
          <p:nvPr/>
        </p:nvSpPr>
        <p:spPr>
          <a:xfrm>
            <a:off x="768096" y="4819904"/>
            <a:ext cx="4971136" cy="465328"/>
          </a:xfrm>
          <a:prstGeom prst="rect">
            <a:avLst/>
          </a:prstGeom>
          <a:noFill/>
          <a:ln/>
        </p:spPr>
        <p:txBody>
          <a:bodyPr wrap="square" lIns="0" tIns="0" rIns="0" bIns="0" rtlCol="0" anchor="t"/>
          <a:lstStyle/>
          <a:p>
            <a:pPr indent="0" marL="0">
              <a:lnSpc>
                <a:spcPct val="106000"/>
              </a:lnSpc>
              <a:buNone/>
            </a:pPr>
            <a:r>
              <a:rPr lang="en-US" sz="970" dirty="0">
                <a:solidFill>
                  <a:srgbClr val="22333B"/>
                </a:solidFill>
                <a:latin typeface="Calibri" pitchFamily="34" charset="0"/>
                <a:ea typeface="Calibri" pitchFamily="34" charset="-122"/>
                <a:cs typeface="Calibri" pitchFamily="34" charset="-120"/>
              </a:rPr>
              <a:t>Abuse-case and malformed-input testing, robustness and fuzzing, attack surface analysis, vulnerability chaining, known-vulnerability scanning, static and dynamic analysis.</a:t>
            </a:r>
            <a:endParaRPr lang="en-US" sz="970" dirty="0"/>
          </a:p>
        </p:txBody>
      </p:sp>
      <p:sp>
        <p:nvSpPr>
          <p:cNvPr id="22" name="Shape 20"/>
          <p:cNvSpPr/>
          <p:nvPr/>
        </p:nvSpPr>
        <p:spPr>
          <a:xfrm>
            <a:off x="6233008" y="3776472"/>
            <a:ext cx="5410048" cy="1655064"/>
          </a:xfrm>
          <a:prstGeom prst="roundRect">
            <a:avLst>
              <a:gd name="adj" fmla="val 3867"/>
            </a:avLst>
          </a:prstGeom>
          <a:solidFill>
            <a:srgbClr val="F1F5F6"/>
          </a:solidFill>
          <a:ln w="12700">
            <a:solidFill>
              <a:srgbClr val="D7E2E5"/>
            </a:solidFill>
            <a:prstDash val="solid"/>
          </a:ln>
        </p:spPr>
      </p:sp>
      <p:sp>
        <p:nvSpPr>
          <p:cNvPr id="23" name="Shape 21"/>
          <p:cNvSpPr/>
          <p:nvPr/>
        </p:nvSpPr>
        <p:spPr>
          <a:xfrm>
            <a:off x="6452464" y="3977640"/>
            <a:ext cx="365760" cy="365760"/>
          </a:xfrm>
          <a:prstGeom prst="ellipse">
            <a:avLst/>
          </a:prstGeom>
          <a:solidFill>
            <a:srgbClr val="0E7C7B"/>
          </a:solidFill>
          <a:ln w="12700">
            <a:solidFill>
              <a:srgbClr val="0E7C7B"/>
            </a:solidFill>
            <a:prstDash val="solid"/>
          </a:ln>
        </p:spPr>
      </p:sp>
      <p:sp>
        <p:nvSpPr>
          <p:cNvPr id="24" name="Text 22"/>
          <p:cNvSpPr txBox="1"/>
          <p:nvPr/>
        </p:nvSpPr>
        <p:spPr>
          <a:xfrm>
            <a:off x="6452464" y="3977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6452464" y="4453128"/>
            <a:ext cx="4971136" cy="330200"/>
          </a:xfrm>
          <a:prstGeom prst="rect">
            <a:avLst/>
          </a:prstGeom>
          <a:noFill/>
          <a:ln/>
        </p:spPr>
        <p:txBody>
          <a:bodyPr wrap="square" lIns="0" tIns="0" rIns="0" bIns="0" rtlCol="0" anchor="t"/>
          <a:lstStyle/>
          <a:p>
            <a:pPr indent="0" marL="0">
              <a:buNone/>
            </a:pPr>
            <a:r>
              <a:rPr lang="en-US" sz="1550" b="1" dirty="0">
                <a:solidFill>
                  <a:srgbClr val="1B3A4B"/>
                </a:solidFill>
                <a:latin typeface="Calibri" pitchFamily="34" charset="0"/>
                <a:ea typeface="Calibri" pitchFamily="34" charset="-122"/>
                <a:cs typeface="Calibri" pitchFamily="34" charset="-120"/>
              </a:rPr>
              <a:t>Penetration testing</a:t>
            </a:r>
            <a:endParaRPr lang="en-US" sz="1550" dirty="0"/>
          </a:p>
        </p:txBody>
      </p:sp>
      <p:sp>
        <p:nvSpPr>
          <p:cNvPr id="26" name="Text 24"/>
          <p:cNvSpPr txBox="1"/>
          <p:nvPr/>
        </p:nvSpPr>
        <p:spPr>
          <a:xfrm>
            <a:off x="6452464" y="4819904"/>
            <a:ext cx="4971136" cy="465328"/>
          </a:xfrm>
          <a:prstGeom prst="rect">
            <a:avLst/>
          </a:prstGeom>
          <a:noFill/>
          <a:ln/>
        </p:spPr>
        <p:txBody>
          <a:bodyPr wrap="square" lIns="0" tIns="0" rIns="0" bIns="0" rtlCol="0" anchor="t"/>
          <a:lstStyle/>
          <a:p>
            <a:pPr indent="0" marL="0">
              <a:lnSpc>
                <a:spcPct val="106000"/>
              </a:lnSpc>
              <a:buNone/>
            </a:pPr>
            <a:r>
              <a:rPr lang="en-US" sz="970" dirty="0">
                <a:solidFill>
                  <a:srgbClr val="22333B"/>
                </a:solidFill>
                <a:latin typeface="Calibri" pitchFamily="34" charset="0"/>
                <a:ea typeface="Calibri" pitchFamily="34" charset="-122"/>
                <a:cs typeface="Calibri" pitchFamily="34" charset="-120"/>
              </a:rPr>
              <a:t>Skilled adversarial testing of the real system, with defined scope, methodology, findings and — critically — evidence of what you did about them.</a:t>
            </a:r>
            <a:endParaRPr lang="en-US" sz="970" dirty="0"/>
          </a:p>
        </p:txBody>
      </p:sp>
      <p:sp>
        <p:nvSpPr>
          <p:cNvPr id="27" name="Shape 25"/>
          <p:cNvSpPr/>
          <p:nvPr/>
        </p:nvSpPr>
        <p:spPr>
          <a:xfrm>
            <a:off x="548640" y="5577840"/>
            <a:ext cx="11094415" cy="694944"/>
          </a:xfrm>
          <a:prstGeom prst="roundRect">
            <a:avLst>
              <a:gd name="adj" fmla="val 7895"/>
            </a:avLst>
          </a:prstGeom>
          <a:solidFill>
            <a:srgbClr val="FBEDED"/>
          </a:solidFill>
          <a:ln w="12700">
            <a:solidFill>
              <a:srgbClr val="DFA9A9"/>
            </a:solidFill>
            <a:prstDash val="solid"/>
          </a:ln>
        </p:spPr>
      </p:sp>
      <p:sp>
        <p:nvSpPr>
          <p:cNvPr id="28" name="Text 26"/>
          <p:cNvSpPr txBox="1"/>
          <p:nvPr/>
        </p:nvSpPr>
        <p:spPr>
          <a:xfrm>
            <a:off x="786384" y="5577840"/>
            <a:ext cx="10618927" cy="694944"/>
          </a:xfrm>
          <a:prstGeom prst="rect">
            <a:avLst/>
          </a:prstGeom>
          <a:noFill/>
          <a:ln/>
        </p:spPr>
        <p:txBody>
          <a:bodyPr wrap="square" lIns="0" tIns="0" rIns="0" bIns="0" rtlCol="0" anchor="ctr"/>
          <a:lstStyle/>
          <a:p>
            <a:pPr indent="0" marL="0">
              <a:buNone/>
            </a:pPr>
            <a:r>
              <a:rPr lang="en-US" sz="1250" b="1" dirty="0">
                <a:solidFill>
                  <a:srgbClr val="7A2A2B"/>
                </a:solidFill>
                <a:latin typeface="Calibri" pitchFamily="34" charset="0"/>
                <a:ea typeface="Calibri" pitchFamily="34" charset="-122"/>
                <a:cs typeface="Calibri" pitchFamily="34" charset="-120"/>
              </a:rPr>
              <a:t>A penetration test report with no remediation record is worse than no test: you have documented that you knew. Findings must be dispositioned like any other anomaly.</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LABELLING &amp; TRANSPARENCY</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Telling customers what they need to run it safely</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42</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Hospital security and biomedical engineering teams are now part of your user population. Label for them.</a:t>
            </a:r>
            <a:endParaRPr lang="en-US" sz="1400" dirty="0"/>
          </a:p>
        </p:txBody>
      </p:sp>
      <p:sp>
        <p:nvSpPr>
          <p:cNvPr id="7" name="Text 5"/>
          <p:cNvSpPr txBox="1"/>
          <p:nvPr/>
        </p:nvSpPr>
        <p:spPr>
          <a:xfrm>
            <a:off x="548640" y="1828800"/>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WHAT BELONGS IN SECURITY-RELEVANT LABELLING</a:t>
            </a:r>
            <a:endParaRPr lang="en-US" sz="1100" dirty="0"/>
          </a:p>
        </p:txBody>
      </p:sp>
      <p:sp>
        <p:nvSpPr>
          <p:cNvPr id="8" name="Shape 6"/>
          <p:cNvSpPr/>
          <p:nvPr/>
        </p:nvSpPr>
        <p:spPr>
          <a:xfrm>
            <a:off x="548640" y="2139696"/>
            <a:ext cx="5394960" cy="3566160"/>
          </a:xfrm>
          <a:prstGeom prst="roundRect">
            <a:avLst>
              <a:gd name="adj" fmla="val 1795"/>
            </a:avLst>
          </a:prstGeom>
          <a:solidFill>
            <a:srgbClr val="F1F5F6"/>
          </a:solidFill>
          <a:ln w="12700">
            <a:solidFill>
              <a:srgbClr val="D7E2E5"/>
            </a:solidFill>
            <a:prstDash val="solid"/>
          </a:ln>
        </p:spPr>
      </p:sp>
      <p:sp>
        <p:nvSpPr>
          <p:cNvPr id="9" name="Text 7"/>
          <p:cNvSpPr txBox="1"/>
          <p:nvPr/>
        </p:nvSpPr>
        <p:spPr>
          <a:xfrm>
            <a:off x="786384" y="2340864"/>
            <a:ext cx="4919472" cy="3200400"/>
          </a:xfrm>
          <a:prstGeom prst="rect">
            <a:avLst/>
          </a:prstGeom>
          <a:noFill/>
          <a:ln/>
        </p:spPr>
        <p:txBody>
          <a:bodyPr wrap="square" lIns="0" tIns="0" rIns="0" bIns="0" rtlCol="0" anchor="t"/>
          <a:lstStyle/>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Network ports, protocols, services and interfaces the device uses — and which can be disabled</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Hardening guidance and recommended network placement, including segmentation expectations</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Backup, restore and recovery procedures, and the device's behaviour on loss of network</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How updates are delivered, authenticated, and how long the device will receive them</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End-of-support and end-of-life dates, stated plainly</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How to report a suspected vulnerability or incident — and where</a:t>
            </a:r>
            <a:endParaRPr lang="en-US" sz="1100" dirty="0"/>
          </a:p>
          <a:p>
            <a:pPr marL="203200" indent="-203200">
              <a:lnSpc>
                <a:spcPct val="108000"/>
              </a:lnSpc>
              <a:spcAft>
                <a:spcPts val="800"/>
              </a:spcAft>
              <a:buSzPct val="100000"/>
              <a:buChar char="•"/>
            </a:pPr>
            <a:r>
              <a:rPr lang="en-US" sz="1100" dirty="0">
                <a:solidFill>
                  <a:srgbClr val="22333B"/>
                </a:solidFill>
                <a:latin typeface="Calibri" pitchFamily="34" charset="0"/>
                <a:ea typeface="Calibri" pitchFamily="34" charset="-122"/>
                <a:cs typeface="Calibri" pitchFamily="34" charset="-120"/>
              </a:rPr>
              <a:t>Data handled: what is stored, where, for how long, and how it is removed at decommissioning</a:t>
            </a:r>
            <a:endParaRPr lang="en-US" sz="1100" dirty="0"/>
          </a:p>
        </p:txBody>
      </p:sp>
      <p:sp>
        <p:nvSpPr>
          <p:cNvPr id="10" name="Text 8"/>
          <p:cNvSpPr txBox="1"/>
          <p:nvPr/>
        </p:nvSpPr>
        <p:spPr>
          <a:xfrm>
            <a:off x="6245352" y="1828800"/>
            <a:ext cx="5394960" cy="256032"/>
          </a:xfrm>
          <a:prstGeom prst="rect">
            <a:avLst/>
          </a:prstGeom>
          <a:noFill/>
          <a:ln/>
        </p:spPr>
        <p:txBody>
          <a:bodyPr wrap="square" lIns="0" tIns="0" rIns="0" bIns="0" rtlCol="0" anchor="ctr"/>
          <a:lstStyle/>
          <a:p>
            <a:pPr indent="0" marL="0">
              <a:buNone/>
            </a:pPr>
            <a:r>
              <a:rPr lang="en-US" sz="1100" b="1" spc="120" kern="0" dirty="0">
                <a:solidFill>
                  <a:srgbClr val="C77C1E"/>
                </a:solidFill>
                <a:latin typeface="Calibri" pitchFamily="34" charset="0"/>
                <a:ea typeface="Calibri" pitchFamily="34" charset="-122"/>
                <a:cs typeface="Calibri" pitchFamily="34" charset="-120"/>
              </a:rPr>
              <a:t>WHY THIS IS ENGINEERING, NOT MARKETING</a:t>
            </a:r>
            <a:endParaRPr lang="en-US" sz="1100" dirty="0"/>
          </a:p>
        </p:txBody>
      </p:sp>
      <p:sp>
        <p:nvSpPr>
          <p:cNvPr id="11" name="Shape 9"/>
          <p:cNvSpPr/>
          <p:nvPr/>
        </p:nvSpPr>
        <p:spPr>
          <a:xfrm>
            <a:off x="6245352" y="2139696"/>
            <a:ext cx="5394960" cy="3566160"/>
          </a:xfrm>
          <a:prstGeom prst="roundRect">
            <a:avLst>
              <a:gd name="adj" fmla="val 1795"/>
            </a:avLst>
          </a:prstGeom>
          <a:solidFill>
            <a:srgbClr val="FBF0E2"/>
          </a:solidFill>
          <a:ln w="12700">
            <a:solidFill>
              <a:srgbClr val="E3C893"/>
            </a:solidFill>
            <a:prstDash val="solid"/>
          </a:ln>
        </p:spPr>
      </p:sp>
      <p:sp>
        <p:nvSpPr>
          <p:cNvPr id="12" name="Text 10"/>
          <p:cNvSpPr txBox="1"/>
          <p:nvPr/>
        </p:nvSpPr>
        <p:spPr>
          <a:xfrm>
            <a:off x="6483096" y="2322576"/>
            <a:ext cx="4919472" cy="3200400"/>
          </a:xfrm>
          <a:prstGeom prst="rect">
            <a:avLst/>
          </a:prstGeom>
          <a:noFill/>
          <a:ln/>
        </p:spPr>
        <p:txBody>
          <a:bodyPr wrap="square" lIns="0" tIns="0" rIns="0" bIns="0" rtlCol="0" anchor="t"/>
          <a:lstStyle/>
          <a:p>
            <a:pPr indent="0" marL="0">
              <a:lnSpc>
                <a:spcPct val="105000"/>
              </a:lnSpc>
              <a:buNone/>
            </a:pPr>
            <a:r>
              <a:rPr lang="en-US" sz="1200" b="1" dirty="0">
                <a:solidFill>
                  <a:srgbClr val="7A4E12"/>
                </a:solidFill>
                <a:latin typeface="Calibri" pitchFamily="34" charset="0"/>
                <a:ea typeface="Calibri" pitchFamily="34" charset="-122"/>
                <a:cs typeface="Calibri" pitchFamily="34" charset="-120"/>
              </a:rPr>
              <a:t>Your device is one of thousands on a network someone else defends.
</a:t>
            </a:r>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A hospital cannot protect what it cannot characterise. If a biomedical engineering team cannot find out what ports your device opens, they will make an assumption — and the assumption will be wrong in one direction or the other.</a:t>
            </a:r>
            <a:endParaRPr lang="en-US" sz="1200" dirty="0"/>
          </a:p>
          <a:p>
            <a:pPr indent="0" marL="0">
              <a:lnSpc>
                <a:spcPct val="105000"/>
              </a:lnSpc>
              <a:buNone/>
            </a:pPr>
            <a:endParaRPr lang="en-US" sz="1200" dirty="0"/>
          </a:p>
          <a:p>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MDS2 (the Manufacturer Disclosure Statement for Medical Device Security) is the established vehicle for much of this, and procurement teams increasingly require it before purchase.</a:t>
            </a:r>
            <a:endParaRPr lang="en-US" sz="1200" dirty="0"/>
          </a:p>
          <a:p>
            <a:pPr indent="0" marL="0">
              <a:lnSpc>
                <a:spcPct val="105000"/>
              </a:lnSpc>
              <a:buNone/>
            </a:pPr>
            <a:endParaRPr lang="en-US" sz="1200" dirty="0"/>
          </a:p>
          <a:p>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End-of-support dates deserve particular honesty. A customer planning a fifteen-year capital asset needs to know when you will stop patching it. Vagueness here is a decision to transfer risk to the people treating patients — and it is increasingly noticed at procurement.</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OPERATING THE PROGRAMME</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2900" b="1" dirty="0">
                <a:solidFill>
                  <a:srgbClr val="1B3A4B"/>
                </a:solidFill>
                <a:latin typeface="Cambria" pitchFamily="34" charset="0"/>
                <a:ea typeface="Cambria" pitchFamily="34" charset="-122"/>
                <a:cs typeface="Cambria" pitchFamily="34" charset="-120"/>
              </a:rPr>
              <a:t>Postmarket: the obligations that never close</a:t>
            </a:r>
            <a:endParaRPr lang="en-US" sz="29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43</a:t>
            </a:r>
            <a:endParaRPr lang="en-US" sz="900" dirty="0"/>
          </a:p>
        </p:txBody>
      </p:sp>
      <p:sp>
        <p:nvSpPr>
          <p:cNvPr id="6" name="Shape 4"/>
          <p:cNvSpPr/>
          <p:nvPr/>
        </p:nvSpPr>
        <p:spPr>
          <a:xfrm>
            <a:off x="548640" y="1572768"/>
            <a:ext cx="11094415" cy="1060704"/>
          </a:xfrm>
          <a:prstGeom prst="roundRect">
            <a:avLst>
              <a:gd name="adj" fmla="val 6034"/>
            </a:avLst>
          </a:prstGeom>
          <a:solidFill>
            <a:srgbClr val="F1F5F6"/>
          </a:solidFill>
          <a:ln w="12700">
            <a:solidFill>
              <a:srgbClr val="D7E2E5"/>
            </a:solidFill>
            <a:prstDash val="solid"/>
          </a:ln>
        </p:spPr>
      </p:sp>
      <p:sp>
        <p:nvSpPr>
          <p:cNvPr id="7" name="Shape 5"/>
          <p:cNvSpPr/>
          <p:nvPr/>
        </p:nvSpPr>
        <p:spPr>
          <a:xfrm>
            <a:off x="786384" y="1901952"/>
            <a:ext cx="402336" cy="402336"/>
          </a:xfrm>
          <a:prstGeom prst="ellipse">
            <a:avLst/>
          </a:prstGeom>
          <a:solidFill>
            <a:srgbClr val="0E7C7B"/>
          </a:solidFill>
          <a:ln w="12700">
            <a:solidFill>
              <a:srgbClr val="0E7C7B"/>
            </a:solidFill>
            <a:prstDash val="solid"/>
          </a:ln>
        </p:spPr>
      </p:sp>
      <p:sp>
        <p:nvSpPr>
          <p:cNvPr id="8" name="Text 6"/>
          <p:cNvSpPr txBox="1"/>
          <p:nvPr/>
        </p:nvSpPr>
        <p:spPr>
          <a:xfrm>
            <a:off x="786384" y="19019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35024" y="1691640"/>
            <a:ext cx="10033711" cy="822960"/>
          </a:xfrm>
          <a:prstGeom prst="rect">
            <a:avLst/>
          </a:prstGeom>
          <a:noFill/>
          <a:ln/>
        </p:spPr>
        <p:txBody>
          <a:bodyPr wrap="square" lIns="0" tIns="0" rIns="0" bIns="0" rtlCol="0" anchor="ctr"/>
          <a:lstStyle/>
          <a:p>
            <a:pPr indent="0" marL="0">
              <a:lnSpc>
                <a:spcPct val="105000"/>
              </a:lnSpc>
              <a:buNone/>
            </a:pPr>
            <a:r>
              <a:rPr lang="en-US" sz="1400" b="1" dirty="0">
                <a:solidFill>
                  <a:srgbClr val="1B3A4B"/>
                </a:solidFill>
                <a:latin typeface="Calibri" pitchFamily="34" charset="0"/>
                <a:ea typeface="Calibri" pitchFamily="34" charset="-122"/>
                <a:cs typeface="Calibri" pitchFamily="34" charset="-120"/>
              </a:rPr>
              <a:t>Coordinated vulnerability disclosure</a:t>
            </a:r>
            <a:endParaRPr lang="en-US" sz="1400" dirty="0"/>
          </a:p>
          <a:p>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A published route for researchers to reach you — a security.txt file, a monitored address, a clear policy on scope and timelines. ISO/IEC 29147 and 30111 are the references. Researchers who cannot reach you publish anyway.</a:t>
            </a:r>
            <a:endParaRPr lang="en-US" sz="1400" dirty="0"/>
          </a:p>
        </p:txBody>
      </p:sp>
      <p:sp>
        <p:nvSpPr>
          <p:cNvPr id="10" name="Shape 8"/>
          <p:cNvSpPr/>
          <p:nvPr/>
        </p:nvSpPr>
        <p:spPr>
          <a:xfrm>
            <a:off x="548640" y="2779776"/>
            <a:ext cx="11094415" cy="1060704"/>
          </a:xfrm>
          <a:prstGeom prst="roundRect">
            <a:avLst>
              <a:gd name="adj" fmla="val 6034"/>
            </a:avLst>
          </a:prstGeom>
          <a:solidFill>
            <a:srgbClr val="F1F5F6"/>
          </a:solidFill>
          <a:ln w="12700">
            <a:solidFill>
              <a:srgbClr val="D7E2E5"/>
            </a:solidFill>
            <a:prstDash val="solid"/>
          </a:ln>
        </p:spPr>
      </p:sp>
      <p:sp>
        <p:nvSpPr>
          <p:cNvPr id="11" name="Shape 9"/>
          <p:cNvSpPr/>
          <p:nvPr/>
        </p:nvSpPr>
        <p:spPr>
          <a:xfrm>
            <a:off x="786384" y="3108960"/>
            <a:ext cx="402336" cy="402336"/>
          </a:xfrm>
          <a:prstGeom prst="ellipse">
            <a:avLst/>
          </a:prstGeom>
          <a:solidFill>
            <a:srgbClr val="0E7C7B"/>
          </a:solidFill>
          <a:ln w="12700">
            <a:solidFill>
              <a:srgbClr val="0E7C7B"/>
            </a:solidFill>
            <a:prstDash val="solid"/>
          </a:ln>
        </p:spPr>
      </p:sp>
      <p:sp>
        <p:nvSpPr>
          <p:cNvPr id="12" name="Text 10"/>
          <p:cNvSpPr txBox="1"/>
          <p:nvPr/>
        </p:nvSpPr>
        <p:spPr>
          <a:xfrm>
            <a:off x="786384" y="31089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35024" y="2898648"/>
            <a:ext cx="10033711" cy="822960"/>
          </a:xfrm>
          <a:prstGeom prst="rect">
            <a:avLst/>
          </a:prstGeom>
          <a:noFill/>
          <a:ln/>
        </p:spPr>
        <p:txBody>
          <a:bodyPr wrap="square" lIns="0" tIns="0" rIns="0" bIns="0" rtlCol="0" anchor="ctr"/>
          <a:lstStyle/>
          <a:p>
            <a:pPr indent="0" marL="0">
              <a:lnSpc>
                <a:spcPct val="105000"/>
              </a:lnSpc>
              <a:buNone/>
            </a:pPr>
            <a:r>
              <a:rPr lang="en-US" sz="1400" b="1" dirty="0">
                <a:solidFill>
                  <a:srgbClr val="1B3A4B"/>
                </a:solidFill>
                <a:latin typeface="Calibri" pitchFamily="34" charset="0"/>
                <a:ea typeface="Calibri" pitchFamily="34" charset="-122"/>
                <a:cs typeface="Calibri" pitchFamily="34" charset="-120"/>
              </a:rPr>
              <a:t>Controlled vs uncontrolled risk</a:t>
            </a:r>
            <a:endParaRPr lang="en-US" sz="1400" dirty="0"/>
          </a:p>
          <a:p>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FDA's postmarket framing. Controlled means residual risk to health is acceptable; uncontrolled means it is not, and must be remediated. This determination drives everything that follows — make it deliberately and record it.</a:t>
            </a:r>
            <a:endParaRPr lang="en-US" sz="1400" dirty="0"/>
          </a:p>
        </p:txBody>
      </p:sp>
      <p:sp>
        <p:nvSpPr>
          <p:cNvPr id="14" name="Shape 12"/>
          <p:cNvSpPr/>
          <p:nvPr/>
        </p:nvSpPr>
        <p:spPr>
          <a:xfrm>
            <a:off x="548640" y="3986784"/>
            <a:ext cx="11094415" cy="1060704"/>
          </a:xfrm>
          <a:prstGeom prst="roundRect">
            <a:avLst>
              <a:gd name="adj" fmla="val 6034"/>
            </a:avLst>
          </a:prstGeom>
          <a:solidFill>
            <a:srgbClr val="F1F5F6"/>
          </a:solidFill>
          <a:ln w="12700">
            <a:solidFill>
              <a:srgbClr val="D7E2E5"/>
            </a:solidFill>
            <a:prstDash val="solid"/>
          </a:ln>
        </p:spPr>
      </p:sp>
      <p:sp>
        <p:nvSpPr>
          <p:cNvPr id="15" name="Shape 13"/>
          <p:cNvSpPr/>
          <p:nvPr/>
        </p:nvSpPr>
        <p:spPr>
          <a:xfrm>
            <a:off x="786384" y="4315968"/>
            <a:ext cx="402336" cy="402336"/>
          </a:xfrm>
          <a:prstGeom prst="ellipse">
            <a:avLst/>
          </a:prstGeom>
          <a:solidFill>
            <a:srgbClr val="0E7C7B"/>
          </a:solidFill>
          <a:ln w="12700">
            <a:solidFill>
              <a:srgbClr val="0E7C7B"/>
            </a:solidFill>
            <a:prstDash val="solid"/>
          </a:ln>
        </p:spPr>
      </p:sp>
      <p:sp>
        <p:nvSpPr>
          <p:cNvPr id="16" name="Text 14"/>
          <p:cNvSpPr txBox="1"/>
          <p:nvPr/>
        </p:nvSpPr>
        <p:spPr>
          <a:xfrm>
            <a:off x="786384"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35024" y="4105656"/>
            <a:ext cx="10033711" cy="822960"/>
          </a:xfrm>
          <a:prstGeom prst="rect">
            <a:avLst/>
          </a:prstGeom>
          <a:noFill/>
          <a:ln/>
        </p:spPr>
        <p:txBody>
          <a:bodyPr wrap="square" lIns="0" tIns="0" rIns="0" bIns="0" rtlCol="0" anchor="ctr"/>
          <a:lstStyle/>
          <a:p>
            <a:pPr indent="0" marL="0">
              <a:lnSpc>
                <a:spcPct val="105000"/>
              </a:lnSpc>
              <a:buNone/>
            </a:pPr>
            <a:r>
              <a:rPr lang="en-US" sz="1400" b="1" dirty="0">
                <a:solidFill>
                  <a:srgbClr val="1B3A4B"/>
                </a:solidFill>
                <a:latin typeface="Calibri" pitchFamily="34" charset="0"/>
                <a:ea typeface="Calibri" pitchFamily="34" charset="-122"/>
                <a:cs typeface="Calibri" pitchFamily="34" charset="-120"/>
              </a:rPr>
              <a:t>Know your reporting thresholds</a:t>
            </a:r>
            <a:endParaRPr lang="en-US" sz="1400" dirty="0"/>
          </a:p>
          <a:p>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Routine updates and patches that reduce risk to an acceptable level are generally treated differently from corrections that must be reported under 21 CFR 806. FDA's 2016 postmarket guidance sets out the conditions — read them before you need them, not during.</a:t>
            </a:r>
            <a:endParaRPr lang="en-US" sz="1400" dirty="0"/>
          </a:p>
        </p:txBody>
      </p:sp>
      <p:sp>
        <p:nvSpPr>
          <p:cNvPr id="18" name="Shape 16"/>
          <p:cNvSpPr/>
          <p:nvPr/>
        </p:nvSpPr>
        <p:spPr>
          <a:xfrm>
            <a:off x="548640" y="5193792"/>
            <a:ext cx="11094415" cy="1060704"/>
          </a:xfrm>
          <a:prstGeom prst="roundRect">
            <a:avLst>
              <a:gd name="adj" fmla="val 6034"/>
            </a:avLst>
          </a:prstGeom>
          <a:solidFill>
            <a:srgbClr val="F1F5F6"/>
          </a:solidFill>
          <a:ln w="12700">
            <a:solidFill>
              <a:srgbClr val="D7E2E5"/>
            </a:solidFill>
            <a:prstDash val="solid"/>
          </a:ln>
        </p:spPr>
      </p:sp>
      <p:sp>
        <p:nvSpPr>
          <p:cNvPr id="19" name="Shape 17"/>
          <p:cNvSpPr/>
          <p:nvPr/>
        </p:nvSpPr>
        <p:spPr>
          <a:xfrm>
            <a:off x="786384" y="5522976"/>
            <a:ext cx="402336" cy="402336"/>
          </a:xfrm>
          <a:prstGeom prst="ellipse">
            <a:avLst/>
          </a:prstGeom>
          <a:solidFill>
            <a:srgbClr val="0E7C7B"/>
          </a:solidFill>
          <a:ln w="12700">
            <a:solidFill>
              <a:srgbClr val="0E7C7B"/>
            </a:solidFill>
            <a:prstDash val="solid"/>
          </a:ln>
        </p:spPr>
      </p:sp>
      <p:sp>
        <p:nvSpPr>
          <p:cNvPr id="20" name="Text 18"/>
          <p:cNvSpPr txBox="1"/>
          <p:nvPr/>
        </p:nvSpPr>
        <p:spPr>
          <a:xfrm>
            <a:off x="786384" y="55229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335024" y="5312664"/>
            <a:ext cx="10033711" cy="822960"/>
          </a:xfrm>
          <a:prstGeom prst="rect">
            <a:avLst/>
          </a:prstGeom>
          <a:noFill/>
          <a:ln/>
        </p:spPr>
        <p:txBody>
          <a:bodyPr wrap="square" lIns="0" tIns="0" rIns="0" bIns="0" rtlCol="0" anchor="ctr"/>
          <a:lstStyle/>
          <a:p>
            <a:pPr indent="0" marL="0">
              <a:lnSpc>
                <a:spcPct val="105000"/>
              </a:lnSpc>
              <a:buNone/>
            </a:pPr>
            <a:r>
              <a:rPr lang="en-US" sz="1400" b="1" dirty="0">
                <a:solidFill>
                  <a:srgbClr val="1B3A4B"/>
                </a:solidFill>
                <a:latin typeface="Calibri" pitchFamily="34" charset="0"/>
                <a:ea typeface="Calibri" pitchFamily="34" charset="-122"/>
                <a:cs typeface="Calibri" pitchFamily="34" charset="-120"/>
              </a:rPr>
              <a:t>Participate in the ecosystem</a:t>
            </a:r>
            <a:endParaRPr lang="en-US" sz="1400" dirty="0"/>
          </a:p>
          <a:p>
            <a:pPr indent="0" marL="0">
              <a:lnSpc>
                <a:spcPct val="105000"/>
              </a:lnSpc>
              <a:buNone/>
            </a:pPr>
            <a:r>
              <a:rPr lang="en-US" sz="1100" dirty="0">
                <a:solidFill>
                  <a:srgbClr val="22333B"/>
                </a:solidFill>
                <a:latin typeface="Calibri" pitchFamily="34" charset="0"/>
                <a:ea typeface="Calibri" pitchFamily="34" charset="-122"/>
                <a:cs typeface="Calibri" pitchFamily="34" charset="-120"/>
              </a:rPr>
              <a:t>Information sharing through an ISAO, engagement with CISA advisories, and relationships with the researcher community. The 2016 guidance explicitly contemplates ISAO participation, and it is also simply how you hear things early.</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LEGACY DEVICES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The hardest problem: what you already shipped</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44</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Everything so far assumes you are designing something. Most devices in clinical use today were designed before any of it.</a:t>
            </a:r>
            <a:endParaRPr lang="en-US" sz="1400" dirty="0"/>
          </a:p>
        </p:txBody>
      </p:sp>
      <p:sp>
        <p:nvSpPr>
          <p:cNvPr id="7" name="Shape 5"/>
          <p:cNvSpPr/>
          <p:nvPr/>
        </p:nvSpPr>
        <p:spPr>
          <a:xfrm>
            <a:off x="548640" y="1847088"/>
            <a:ext cx="5410048" cy="1655064"/>
          </a:xfrm>
          <a:prstGeom prst="roundRect">
            <a:avLst>
              <a:gd name="adj" fmla="val 3867"/>
            </a:avLst>
          </a:prstGeom>
          <a:solidFill>
            <a:srgbClr val="F1F5F6"/>
          </a:solidFill>
          <a:ln w="12700">
            <a:solidFill>
              <a:srgbClr val="D7E2E5"/>
            </a:solidFill>
            <a:prstDash val="solid"/>
          </a:ln>
        </p:spPr>
      </p:sp>
      <p:sp>
        <p:nvSpPr>
          <p:cNvPr id="8" name="Text 6"/>
          <p:cNvSpPr txBox="1"/>
          <p:nvPr/>
        </p:nvSpPr>
        <p:spPr>
          <a:xfrm>
            <a:off x="768096" y="2048256"/>
            <a:ext cx="4971136" cy="337312"/>
          </a:xfrm>
          <a:prstGeom prst="rect">
            <a:avLst/>
          </a:prstGeom>
          <a:noFill/>
          <a:ln/>
        </p:spPr>
        <p:txBody>
          <a:bodyPr wrap="square" lIns="0" tIns="0" rIns="0" bIns="0" rtlCol="0" anchor="t"/>
          <a:lstStyle/>
          <a:p>
            <a:pPr indent="0" marL="0">
              <a:buNone/>
            </a:pPr>
            <a:r>
              <a:rPr lang="en-US" sz="1600" b="1" dirty="0">
                <a:solidFill>
                  <a:srgbClr val="A83A3C"/>
                </a:solidFill>
                <a:latin typeface="Calibri" pitchFamily="34" charset="0"/>
                <a:ea typeface="Calibri" pitchFamily="34" charset="-122"/>
                <a:cs typeface="Calibri" pitchFamily="34" charset="-120"/>
              </a:rPr>
              <a:t>The mismatch</a:t>
            </a:r>
            <a:endParaRPr lang="en-US" sz="1600" dirty="0"/>
          </a:p>
        </p:txBody>
      </p:sp>
      <p:sp>
        <p:nvSpPr>
          <p:cNvPr id="9" name="Text 7"/>
          <p:cNvSpPr txBox="1"/>
          <p:nvPr/>
        </p:nvSpPr>
        <p:spPr>
          <a:xfrm>
            <a:off x="768096" y="2422144"/>
            <a:ext cx="4971136" cy="933704"/>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A device designed in 2014 for a ten-year life is running an operating system whose support ended years ago, on hardware with no capacity for modern cryptography, connected to a network that did not exist when it was specified.</a:t>
            </a:r>
            <a:endParaRPr lang="en-US" sz="1150" dirty="0"/>
          </a:p>
        </p:txBody>
      </p:sp>
      <p:sp>
        <p:nvSpPr>
          <p:cNvPr id="10" name="Shape 8"/>
          <p:cNvSpPr/>
          <p:nvPr/>
        </p:nvSpPr>
        <p:spPr>
          <a:xfrm>
            <a:off x="6233008" y="1847088"/>
            <a:ext cx="5410048" cy="1655064"/>
          </a:xfrm>
          <a:prstGeom prst="roundRect">
            <a:avLst>
              <a:gd name="adj" fmla="val 3867"/>
            </a:avLst>
          </a:prstGeom>
          <a:solidFill>
            <a:srgbClr val="F1F5F6"/>
          </a:solidFill>
          <a:ln w="12700">
            <a:solidFill>
              <a:srgbClr val="D7E2E5"/>
            </a:solidFill>
            <a:prstDash val="solid"/>
          </a:ln>
        </p:spPr>
      </p:sp>
      <p:sp>
        <p:nvSpPr>
          <p:cNvPr id="11" name="Text 9"/>
          <p:cNvSpPr txBox="1"/>
          <p:nvPr/>
        </p:nvSpPr>
        <p:spPr>
          <a:xfrm>
            <a:off x="6452464" y="2048256"/>
            <a:ext cx="4971136" cy="337312"/>
          </a:xfrm>
          <a:prstGeom prst="rect">
            <a:avLst/>
          </a:prstGeom>
          <a:noFill/>
          <a:ln/>
        </p:spPr>
        <p:txBody>
          <a:bodyPr wrap="square" lIns="0" tIns="0" rIns="0" bIns="0" rtlCol="0" anchor="t"/>
          <a:lstStyle/>
          <a:p>
            <a:pPr indent="0" marL="0">
              <a:buNone/>
            </a:pPr>
            <a:r>
              <a:rPr lang="en-US" sz="1600" b="1" dirty="0">
                <a:solidFill>
                  <a:srgbClr val="0E7C7B"/>
                </a:solidFill>
                <a:latin typeface="Calibri" pitchFamily="34" charset="0"/>
                <a:ea typeface="Calibri" pitchFamily="34" charset="-122"/>
                <a:cs typeface="Calibri" pitchFamily="34" charset="-120"/>
              </a:rPr>
              <a:t>What you can still do</a:t>
            </a:r>
            <a:endParaRPr lang="en-US" sz="1600" dirty="0"/>
          </a:p>
        </p:txBody>
      </p:sp>
      <p:sp>
        <p:nvSpPr>
          <p:cNvPr id="12" name="Text 10"/>
          <p:cNvSpPr txBox="1"/>
          <p:nvPr/>
        </p:nvSpPr>
        <p:spPr>
          <a:xfrm>
            <a:off x="6452464" y="2422144"/>
            <a:ext cx="4971136" cy="933704"/>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Inventory what is deployed and what is inside it. Assess which vulnerabilities are actually reachable. Provide compensating controls and honest hardening guidance. Publish clear end-of-support dates so customers can plan.</a:t>
            </a:r>
            <a:endParaRPr lang="en-US" sz="1150" dirty="0"/>
          </a:p>
        </p:txBody>
      </p:sp>
      <p:sp>
        <p:nvSpPr>
          <p:cNvPr id="13" name="Shape 11"/>
          <p:cNvSpPr/>
          <p:nvPr/>
        </p:nvSpPr>
        <p:spPr>
          <a:xfrm>
            <a:off x="548640" y="3776472"/>
            <a:ext cx="5410048" cy="1655064"/>
          </a:xfrm>
          <a:prstGeom prst="roundRect">
            <a:avLst>
              <a:gd name="adj" fmla="val 3867"/>
            </a:avLst>
          </a:prstGeom>
          <a:solidFill>
            <a:srgbClr val="F1F5F6"/>
          </a:solidFill>
          <a:ln w="12700">
            <a:solidFill>
              <a:srgbClr val="D7E2E5"/>
            </a:solidFill>
            <a:prstDash val="solid"/>
          </a:ln>
        </p:spPr>
      </p:sp>
      <p:sp>
        <p:nvSpPr>
          <p:cNvPr id="14" name="Text 12"/>
          <p:cNvSpPr txBox="1"/>
          <p:nvPr/>
        </p:nvSpPr>
        <p:spPr>
          <a:xfrm>
            <a:off x="768096" y="3977640"/>
            <a:ext cx="4971136" cy="337312"/>
          </a:xfrm>
          <a:prstGeom prst="rect">
            <a:avLst/>
          </a:prstGeom>
          <a:noFill/>
          <a:ln/>
        </p:spPr>
        <p:txBody>
          <a:bodyPr wrap="square" lIns="0" tIns="0" rIns="0" bIns="0" rtlCol="0" anchor="t"/>
          <a:lstStyle/>
          <a:p>
            <a:pPr indent="0" marL="0">
              <a:buNone/>
            </a:pPr>
            <a:r>
              <a:rPr lang="en-US" sz="1600" b="1" dirty="0">
                <a:solidFill>
                  <a:srgbClr val="2A9D8F"/>
                </a:solidFill>
                <a:latin typeface="Calibri" pitchFamily="34" charset="0"/>
                <a:ea typeface="Calibri" pitchFamily="34" charset="-122"/>
                <a:cs typeface="Calibri" pitchFamily="34" charset="-120"/>
              </a:rPr>
              <a:t>What you owe customers</a:t>
            </a:r>
            <a:endParaRPr lang="en-US" sz="1600" dirty="0"/>
          </a:p>
        </p:txBody>
      </p:sp>
      <p:sp>
        <p:nvSpPr>
          <p:cNvPr id="15" name="Text 13"/>
          <p:cNvSpPr txBox="1"/>
          <p:nvPr/>
        </p:nvSpPr>
        <p:spPr>
          <a:xfrm>
            <a:off x="768096" y="4351528"/>
            <a:ext cx="4971136" cy="933704"/>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Clarity, above all. A hospital can defend a device it understands — segment it, restrict it, monitor it, plan its replacement. It cannot defend one whose manufacturer will not say what is inside it or when support ends.</a:t>
            </a:r>
            <a:endParaRPr lang="en-US" sz="1150" dirty="0"/>
          </a:p>
        </p:txBody>
      </p:sp>
      <p:sp>
        <p:nvSpPr>
          <p:cNvPr id="16" name="Shape 14"/>
          <p:cNvSpPr/>
          <p:nvPr/>
        </p:nvSpPr>
        <p:spPr>
          <a:xfrm>
            <a:off x="6233008" y="3776472"/>
            <a:ext cx="5410048" cy="1655064"/>
          </a:xfrm>
          <a:prstGeom prst="roundRect">
            <a:avLst>
              <a:gd name="adj" fmla="val 3867"/>
            </a:avLst>
          </a:prstGeom>
          <a:solidFill>
            <a:srgbClr val="F1F5F6"/>
          </a:solidFill>
          <a:ln w="12700">
            <a:solidFill>
              <a:srgbClr val="D7E2E5"/>
            </a:solidFill>
            <a:prstDash val="solid"/>
          </a:ln>
        </p:spPr>
      </p:sp>
      <p:sp>
        <p:nvSpPr>
          <p:cNvPr id="17" name="Text 15"/>
          <p:cNvSpPr txBox="1"/>
          <p:nvPr/>
        </p:nvSpPr>
        <p:spPr>
          <a:xfrm>
            <a:off x="6452464" y="3977640"/>
            <a:ext cx="4971136" cy="337312"/>
          </a:xfrm>
          <a:prstGeom prst="rect">
            <a:avLst/>
          </a:prstGeom>
          <a:noFill/>
          <a:ln/>
        </p:spPr>
        <p:txBody>
          <a:bodyPr wrap="square" lIns="0" tIns="0" rIns="0" bIns="0" rtlCol="0" anchor="t"/>
          <a:lstStyle/>
          <a:p>
            <a:pPr indent="0" marL="0">
              <a:buNone/>
            </a:pPr>
            <a:r>
              <a:rPr lang="en-US" sz="1600" b="1" dirty="0">
                <a:solidFill>
                  <a:srgbClr val="C77C1E"/>
                </a:solidFill>
                <a:latin typeface="Calibri" pitchFamily="34" charset="0"/>
                <a:ea typeface="Calibri" pitchFamily="34" charset="-122"/>
                <a:cs typeface="Calibri" pitchFamily="34" charset="-120"/>
              </a:rPr>
              <a:t>What to design in now</a:t>
            </a:r>
            <a:endParaRPr lang="en-US" sz="1600" dirty="0"/>
          </a:p>
        </p:txBody>
      </p:sp>
      <p:sp>
        <p:nvSpPr>
          <p:cNvPr id="18" name="Text 16"/>
          <p:cNvSpPr txBox="1"/>
          <p:nvPr/>
        </p:nvSpPr>
        <p:spPr>
          <a:xfrm>
            <a:off x="6452464" y="4351528"/>
            <a:ext cx="4971136" cy="933704"/>
          </a:xfrm>
          <a:prstGeom prst="rect">
            <a:avLst/>
          </a:prstGeom>
          <a:noFill/>
          <a:ln/>
        </p:spPr>
        <p:txBody>
          <a:bodyPr wrap="square" lIns="0" tIns="0" rIns="0" bIns="0" rtlCol="0" anchor="t"/>
          <a:lstStyle/>
          <a:p>
            <a:pPr indent="0" marL="0">
              <a:lnSpc>
                <a:spcPct val="106000"/>
              </a:lnSpc>
              <a:buNone/>
            </a:pPr>
            <a:r>
              <a:rPr lang="en-US" sz="1150" dirty="0">
                <a:solidFill>
                  <a:srgbClr val="22333B"/>
                </a:solidFill>
                <a:latin typeface="Calibri" pitchFamily="34" charset="0"/>
                <a:ea typeface="Calibri" pitchFamily="34" charset="-122"/>
                <a:cs typeface="Calibri" pitchFamily="34" charset="-120"/>
              </a:rPr>
              <a:t>Every decision about updateability, crypto-agility, component support horizons and remote diagnostics is a decision about how expensive your legacy problem will be in 2035. That bill is being written today.</a:t>
            </a:r>
            <a:endParaRPr lang="en-US" sz="1150" dirty="0"/>
          </a:p>
        </p:txBody>
      </p:sp>
      <p:sp>
        <p:nvSpPr>
          <p:cNvPr id="19" name="Shape 17"/>
          <p:cNvSpPr/>
          <p:nvPr/>
        </p:nvSpPr>
        <p:spPr>
          <a:xfrm>
            <a:off x="548640" y="5577840"/>
            <a:ext cx="11094415" cy="694944"/>
          </a:xfrm>
          <a:prstGeom prst="roundRect">
            <a:avLst>
              <a:gd name="adj" fmla="val 7895"/>
            </a:avLst>
          </a:prstGeom>
          <a:solidFill>
            <a:srgbClr val="EAF3F2"/>
          </a:solidFill>
          <a:ln w="12700">
            <a:solidFill>
              <a:srgbClr val="BFD9D6"/>
            </a:solidFill>
            <a:prstDash val="solid"/>
          </a:ln>
        </p:spPr>
      </p:sp>
      <p:sp>
        <p:nvSpPr>
          <p:cNvPr id="20" name="Text 18"/>
          <p:cNvSpPr txBox="1"/>
          <p:nvPr/>
        </p:nvSpPr>
        <p:spPr>
          <a:xfrm>
            <a:off x="786384" y="5577840"/>
            <a:ext cx="10618927" cy="694944"/>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IMDRF and FDA have both addressed legacy devices specifically — the expectation is not that you rebuild them, but that you understand them, communicate honestly, and plan their end of life deliberately.</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3A2226"/>
        </a:solidFill>
      </p:bgPr>
    </p:bg>
    <p:spTree>
      <p:nvGrpSpPr>
        <p:cNvPr id="1" name=""/>
        <p:cNvGrpSpPr/>
        <p:nvPr/>
      </p:nvGrpSpPr>
      <p:grpSpPr>
        <a:xfrm>
          <a:off x="0" y="0"/>
          <a:ext cx="0" cy="0"/>
          <a:chOff x="0" y="0"/>
          <a:chExt cx="0" cy="0"/>
        </a:xfrm>
      </p:grpSpPr>
      <p:sp>
        <p:nvSpPr>
          <p:cNvPr id="2" name="Text 0"/>
          <p:cNvSpPr txBox="1"/>
          <p:nvPr/>
        </p:nvSpPr>
        <p:spPr>
          <a:xfrm>
            <a:off x="548640" y="402336"/>
            <a:ext cx="11094415" cy="310896"/>
          </a:xfrm>
          <a:prstGeom prst="rect">
            <a:avLst/>
          </a:prstGeom>
          <a:noFill/>
          <a:ln/>
        </p:spPr>
        <p:txBody>
          <a:bodyPr wrap="square" lIns="0" tIns="0" rIns="0" bIns="0" rtlCol="0" anchor="ctr"/>
          <a:lstStyle/>
          <a:p>
            <a:pPr indent="0" marL="0">
              <a:buNone/>
            </a:pPr>
            <a:r>
              <a:rPr lang="en-US" sz="1250" b="1" spc="200" kern="0" dirty="0">
                <a:solidFill>
                  <a:srgbClr val="E8A87C"/>
                </a:solidFill>
                <a:latin typeface="Calibri" pitchFamily="34" charset="0"/>
                <a:ea typeface="Calibri" pitchFamily="34" charset="-122"/>
                <a:cs typeface="Calibri" pitchFamily="34" charset="-120"/>
              </a:rPr>
              <a:t>WORKING SESSION TWO  ·  15 MINUTES  ·  TABLETOP</a:t>
            </a:r>
            <a:endParaRPr lang="en-US" sz="125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Monday morning, 07:40</a:t>
            </a:r>
            <a:endParaRPr lang="en-US" sz="3200" dirty="0"/>
          </a:p>
        </p:txBody>
      </p:sp>
      <p:sp>
        <p:nvSpPr>
          <p:cNvPr id="4" name="Shape 2"/>
          <p:cNvSpPr/>
          <p:nvPr/>
        </p:nvSpPr>
        <p:spPr>
          <a:xfrm>
            <a:off x="548640" y="1426464"/>
            <a:ext cx="11094415" cy="1481328"/>
          </a:xfrm>
          <a:prstGeom prst="roundRect">
            <a:avLst>
              <a:gd name="adj" fmla="val 4321"/>
            </a:avLst>
          </a:prstGeom>
          <a:solidFill>
            <a:srgbClr val="4E2E33"/>
          </a:solidFill>
          <a:ln w="12700">
            <a:solidFill>
              <a:srgbClr val="6B4147"/>
            </a:solidFill>
            <a:prstDash val="solid"/>
          </a:ln>
        </p:spPr>
      </p:sp>
      <p:sp>
        <p:nvSpPr>
          <p:cNvPr id="5" name="Text 3"/>
          <p:cNvSpPr txBox="1"/>
          <p:nvPr/>
        </p:nvSpPr>
        <p:spPr>
          <a:xfrm>
            <a:off x="822960" y="1554480"/>
            <a:ext cx="10545775" cy="1243584"/>
          </a:xfrm>
          <a:prstGeom prst="rect">
            <a:avLst/>
          </a:prstGeom>
          <a:noFill/>
          <a:ln/>
        </p:spPr>
        <p:txBody>
          <a:bodyPr wrap="square" lIns="0" tIns="0" rIns="0" bIns="0" rtlCol="0" anchor="t"/>
          <a:lstStyle/>
          <a:p>
            <a:pPr indent="0" marL="0">
              <a:lnSpc>
                <a:spcPct val="104000"/>
              </a:lnSpc>
              <a:buNone/>
            </a:pPr>
            <a:r>
              <a:rPr lang="en-US" sz="1250" b="1" dirty="0">
                <a:solidFill>
                  <a:srgbClr val="FFFFFF"/>
                </a:solidFill>
                <a:latin typeface="Calibri" pitchFamily="34" charset="0"/>
                <a:ea typeface="Calibri" pitchFamily="34" charset="-122"/>
                <a:cs typeface="Calibri" pitchFamily="34" charset="-120"/>
              </a:rPr>
              <a:t>An independent security researcher emails your general support address. </a:t>
            </a:r>
            <a:pPr indent="0" marL="0">
              <a:lnSpc>
                <a:spcPct val="104000"/>
              </a:lnSpc>
              <a:buNone/>
            </a:pPr>
            <a:r>
              <a:rPr lang="en-US" sz="1250" dirty="0">
                <a:solidFill>
                  <a:srgbClr val="EBD8D8"/>
                </a:solidFill>
                <a:latin typeface="Calibri" pitchFamily="34" charset="0"/>
                <a:ea typeface="Calibri" pitchFamily="34" charset="-122"/>
                <a:cs typeface="Calibri" pitchFamily="34" charset="-120"/>
              </a:rPr>
              <a:t>A third-party Bluetooth library used in your infusion pump — firmware v3.2, approximately 14,000 units in clinical use — contains an unauthenticated remote code execution flaw. CVSS base score 9.8. They have attached a working proof of concept demonstrated at 10 metres. They have not published, and they ask for a response within 90 days.
</a:t>
            </a:r>
            <a:pPr indent="0" marL="0">
              <a:lnSpc>
                <a:spcPct val="104000"/>
              </a:lnSpc>
              <a:buNone/>
            </a:pPr>
            <a:r>
              <a:rPr lang="en-US" sz="1250" b="1" dirty="0">
                <a:solidFill>
                  <a:srgbClr val="F0C9C9"/>
                </a:solidFill>
                <a:latin typeface="Calibri" pitchFamily="34" charset="0"/>
                <a:ea typeface="Calibri" pitchFamily="34" charset="-122"/>
                <a:cs typeface="Calibri" pitchFamily="34" charset="-120"/>
              </a:rPr>
              <a:t>Two complications: patching requires the pump to be taken out of service for approximately 20 minutes, and roughly 4,200 units are on an earlier hardware revision that cannot accept the over-the-air update at all.</a:t>
            </a:r>
            <a:endParaRPr lang="en-US" sz="1250" dirty="0"/>
          </a:p>
        </p:txBody>
      </p:sp>
      <p:sp>
        <p:nvSpPr>
          <p:cNvPr id="6" name="Shape 4"/>
          <p:cNvSpPr/>
          <p:nvPr/>
        </p:nvSpPr>
        <p:spPr>
          <a:xfrm>
            <a:off x="548640" y="3072384"/>
            <a:ext cx="3515258" cy="2615184"/>
          </a:xfrm>
          <a:prstGeom prst="roundRect">
            <a:avLst>
              <a:gd name="adj" fmla="val 2448"/>
            </a:avLst>
          </a:prstGeom>
          <a:solidFill>
            <a:srgbClr val="4E2E33"/>
          </a:solidFill>
          <a:ln w="12700">
            <a:solidFill>
              <a:srgbClr val="6B4147"/>
            </a:solidFill>
            <a:prstDash val="solid"/>
          </a:ln>
        </p:spPr>
      </p:sp>
      <p:sp>
        <p:nvSpPr>
          <p:cNvPr id="7" name="Text 5"/>
          <p:cNvSpPr txBox="1"/>
          <p:nvPr/>
        </p:nvSpPr>
        <p:spPr>
          <a:xfrm>
            <a:off x="786384" y="3236976"/>
            <a:ext cx="3039770" cy="237744"/>
          </a:xfrm>
          <a:prstGeom prst="rect">
            <a:avLst/>
          </a:prstGeom>
          <a:noFill/>
          <a:ln/>
        </p:spPr>
        <p:txBody>
          <a:bodyPr wrap="square" lIns="0" tIns="0" rIns="0" bIns="0" rtlCol="0" anchor="ctr"/>
          <a:lstStyle/>
          <a:p>
            <a:pPr indent="0" marL="0">
              <a:buNone/>
            </a:pPr>
            <a:r>
              <a:rPr lang="en-US" sz="1050" b="1" spc="140" kern="0" dirty="0">
                <a:solidFill>
                  <a:srgbClr val="E8A87C"/>
                </a:solidFill>
                <a:latin typeface="Calibri" pitchFamily="34" charset="0"/>
                <a:ea typeface="Calibri" pitchFamily="34" charset="-122"/>
                <a:cs typeface="Calibri" pitchFamily="34" charset="-120"/>
              </a:rPr>
              <a:t>ROUND 1</a:t>
            </a:r>
            <a:endParaRPr lang="en-US" sz="1050" dirty="0"/>
          </a:p>
        </p:txBody>
      </p:sp>
      <p:sp>
        <p:nvSpPr>
          <p:cNvPr id="8" name="Text 6"/>
          <p:cNvSpPr txBox="1"/>
          <p:nvPr/>
        </p:nvSpPr>
        <p:spPr>
          <a:xfrm>
            <a:off x="786384" y="3493008"/>
            <a:ext cx="303977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first four hours</a:t>
            </a:r>
            <a:endParaRPr lang="en-US" sz="1500" dirty="0"/>
          </a:p>
        </p:txBody>
      </p:sp>
      <p:sp>
        <p:nvSpPr>
          <p:cNvPr id="9" name="Text 7"/>
          <p:cNvSpPr txBox="1"/>
          <p:nvPr/>
        </p:nvSpPr>
        <p:spPr>
          <a:xfrm>
            <a:off x="786384" y="3877056"/>
            <a:ext cx="3039770" cy="1700784"/>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Who needs to be in the room, and who makes the call?</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three things must you establish before deciding anything?</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do you send back to the researcher today?</a:t>
            </a:r>
            <a:endParaRPr lang="en-US" sz="1100" dirty="0"/>
          </a:p>
        </p:txBody>
      </p:sp>
      <p:sp>
        <p:nvSpPr>
          <p:cNvPr id="10" name="Shape 8"/>
          <p:cNvSpPr/>
          <p:nvPr/>
        </p:nvSpPr>
        <p:spPr>
          <a:xfrm>
            <a:off x="4338218" y="3072384"/>
            <a:ext cx="3515258" cy="2615184"/>
          </a:xfrm>
          <a:prstGeom prst="roundRect">
            <a:avLst>
              <a:gd name="adj" fmla="val 2448"/>
            </a:avLst>
          </a:prstGeom>
          <a:solidFill>
            <a:srgbClr val="4E2E33"/>
          </a:solidFill>
          <a:ln w="12700">
            <a:solidFill>
              <a:srgbClr val="6B4147"/>
            </a:solidFill>
            <a:prstDash val="solid"/>
          </a:ln>
        </p:spPr>
      </p:sp>
      <p:sp>
        <p:nvSpPr>
          <p:cNvPr id="11" name="Text 9"/>
          <p:cNvSpPr txBox="1"/>
          <p:nvPr/>
        </p:nvSpPr>
        <p:spPr>
          <a:xfrm>
            <a:off x="4575962" y="3236976"/>
            <a:ext cx="3039770" cy="237744"/>
          </a:xfrm>
          <a:prstGeom prst="rect">
            <a:avLst/>
          </a:prstGeom>
          <a:noFill/>
          <a:ln/>
        </p:spPr>
        <p:txBody>
          <a:bodyPr wrap="square" lIns="0" tIns="0" rIns="0" bIns="0" rtlCol="0" anchor="ctr"/>
          <a:lstStyle/>
          <a:p>
            <a:pPr indent="0" marL="0">
              <a:buNone/>
            </a:pPr>
            <a:r>
              <a:rPr lang="en-US" sz="1050" b="1" spc="140" kern="0" dirty="0">
                <a:solidFill>
                  <a:srgbClr val="E8A87C"/>
                </a:solidFill>
                <a:latin typeface="Calibri" pitchFamily="34" charset="0"/>
                <a:ea typeface="Calibri" pitchFamily="34" charset="-122"/>
                <a:cs typeface="Calibri" pitchFamily="34" charset="-120"/>
              </a:rPr>
              <a:t>ROUND 2</a:t>
            </a:r>
            <a:endParaRPr lang="en-US" sz="1050" dirty="0"/>
          </a:p>
        </p:txBody>
      </p:sp>
      <p:sp>
        <p:nvSpPr>
          <p:cNvPr id="12" name="Text 10"/>
          <p:cNvSpPr txBox="1"/>
          <p:nvPr/>
        </p:nvSpPr>
        <p:spPr>
          <a:xfrm>
            <a:off x="4575962" y="3493008"/>
            <a:ext cx="303977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Day three</a:t>
            </a:r>
            <a:endParaRPr lang="en-US" sz="1500" dirty="0"/>
          </a:p>
        </p:txBody>
      </p:sp>
      <p:sp>
        <p:nvSpPr>
          <p:cNvPr id="13" name="Text 11"/>
          <p:cNvSpPr txBox="1"/>
          <p:nvPr/>
        </p:nvSpPr>
        <p:spPr>
          <a:xfrm>
            <a:off x="4575962" y="3877056"/>
            <a:ext cx="3039770" cy="1700784"/>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Controlled or uncontrolled risk — and on what basis?</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drives your reporting decision, and who do you involve?</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do you tell customers, and when?</a:t>
            </a:r>
            <a:endParaRPr lang="en-US" sz="1100" dirty="0"/>
          </a:p>
        </p:txBody>
      </p:sp>
      <p:sp>
        <p:nvSpPr>
          <p:cNvPr id="14" name="Shape 12"/>
          <p:cNvSpPr/>
          <p:nvPr/>
        </p:nvSpPr>
        <p:spPr>
          <a:xfrm>
            <a:off x="8127797" y="3072384"/>
            <a:ext cx="3515258" cy="2615184"/>
          </a:xfrm>
          <a:prstGeom prst="roundRect">
            <a:avLst>
              <a:gd name="adj" fmla="val 2448"/>
            </a:avLst>
          </a:prstGeom>
          <a:solidFill>
            <a:srgbClr val="4E2E33"/>
          </a:solidFill>
          <a:ln w="12700">
            <a:solidFill>
              <a:srgbClr val="6B4147"/>
            </a:solidFill>
            <a:prstDash val="solid"/>
          </a:ln>
        </p:spPr>
      </p:sp>
      <p:sp>
        <p:nvSpPr>
          <p:cNvPr id="15" name="Text 13"/>
          <p:cNvSpPr txBox="1"/>
          <p:nvPr/>
        </p:nvSpPr>
        <p:spPr>
          <a:xfrm>
            <a:off x="8365541" y="3236976"/>
            <a:ext cx="3039770" cy="237744"/>
          </a:xfrm>
          <a:prstGeom prst="rect">
            <a:avLst/>
          </a:prstGeom>
          <a:noFill/>
          <a:ln/>
        </p:spPr>
        <p:txBody>
          <a:bodyPr wrap="square" lIns="0" tIns="0" rIns="0" bIns="0" rtlCol="0" anchor="ctr"/>
          <a:lstStyle/>
          <a:p>
            <a:pPr indent="0" marL="0">
              <a:buNone/>
            </a:pPr>
            <a:r>
              <a:rPr lang="en-US" sz="1050" b="1" spc="140" kern="0" dirty="0">
                <a:solidFill>
                  <a:srgbClr val="E8A87C"/>
                </a:solidFill>
                <a:latin typeface="Calibri" pitchFamily="34" charset="0"/>
                <a:ea typeface="Calibri" pitchFamily="34" charset="-122"/>
                <a:cs typeface="Calibri" pitchFamily="34" charset="-120"/>
              </a:rPr>
              <a:t>ROUND 3</a:t>
            </a:r>
            <a:endParaRPr lang="en-US" sz="1050" dirty="0"/>
          </a:p>
        </p:txBody>
      </p:sp>
      <p:sp>
        <p:nvSpPr>
          <p:cNvPr id="16" name="Text 14"/>
          <p:cNvSpPr txBox="1"/>
          <p:nvPr/>
        </p:nvSpPr>
        <p:spPr>
          <a:xfrm>
            <a:off x="8365541" y="3493008"/>
            <a:ext cx="303977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Day thirty</a:t>
            </a:r>
            <a:endParaRPr lang="en-US" sz="1500" dirty="0"/>
          </a:p>
        </p:txBody>
      </p:sp>
      <p:sp>
        <p:nvSpPr>
          <p:cNvPr id="17" name="Text 15"/>
          <p:cNvSpPr txBox="1"/>
          <p:nvPr/>
        </p:nvSpPr>
        <p:spPr>
          <a:xfrm>
            <a:off x="8365541" y="3877056"/>
            <a:ext cx="3039770" cy="1700784"/>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are the real options for the 4,200 unpatchable units?</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compensating controls can hospitals apply now?</a:t>
            </a:r>
            <a:endParaRPr lang="en-US" sz="1100" dirty="0"/>
          </a:p>
          <a:p>
            <a:pPr marL="177800" indent="-177800">
              <a:lnSpc>
                <a:spcPct val="105000"/>
              </a:lnSpc>
              <a:spcAft>
                <a:spcPts val="900"/>
              </a:spcAft>
              <a:buSzPct val="100000"/>
              <a:buChar char="•"/>
            </a:pPr>
            <a:r>
              <a:rPr lang="en-US" sz="1100" dirty="0">
                <a:solidFill>
                  <a:srgbClr val="EBD8D8"/>
                </a:solidFill>
                <a:latin typeface="Calibri" pitchFamily="34" charset="0"/>
                <a:ea typeface="Calibri" pitchFamily="34" charset="-122"/>
                <a:cs typeface="Calibri" pitchFamily="34" charset="-120"/>
              </a:rPr>
              <a:t>What would have made this a two-week problem instead?</a:t>
            </a:r>
            <a:endParaRPr lang="en-US" sz="1100" dirty="0"/>
          </a:p>
        </p:txBody>
      </p:sp>
      <p:sp>
        <p:nvSpPr>
          <p:cNvPr id="18" name="Text 16"/>
          <p:cNvSpPr txBox="1"/>
          <p:nvPr/>
        </p:nvSpPr>
        <p:spPr>
          <a:xfrm>
            <a:off x="548640" y="5852160"/>
            <a:ext cx="11094415" cy="310896"/>
          </a:xfrm>
          <a:prstGeom prst="rect">
            <a:avLst/>
          </a:prstGeom>
          <a:noFill/>
          <a:ln/>
        </p:spPr>
        <p:txBody>
          <a:bodyPr wrap="square" lIns="0" tIns="0" rIns="0" bIns="0" rtlCol="0" anchor="ctr"/>
          <a:lstStyle/>
          <a:p>
            <a:pPr indent="0" marL="0">
              <a:buNone/>
            </a:pPr>
            <a:r>
              <a:rPr lang="en-US" sz="1150" i="1" dirty="0">
                <a:solidFill>
                  <a:srgbClr val="C9A9A9"/>
                </a:solidFill>
                <a:latin typeface="Calibri" pitchFamily="34" charset="0"/>
                <a:ea typeface="Calibri" pitchFamily="34" charset="-122"/>
                <a:cs typeface="Calibri" pitchFamily="34" charset="-120"/>
              </a:rPr>
              <a:t>Workbook page 7  ·  4 minutes per round  ·  I will call the rounds  ·  Decide and move — you will not have complete information, and neither would you in reality</a:t>
            </a:r>
            <a:endParaRPr lang="en-US" sz="1150" dirty="0"/>
          </a:p>
        </p:txBody>
      </p:sp>
      <p:sp>
        <p:nvSpPr>
          <p:cNvPr id="19" name="Text 17"/>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A6A6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2057400"/>
            <a:ext cx="11094415" cy="292608"/>
          </a:xfrm>
          <a:prstGeom prst="rect">
            <a:avLst/>
          </a:prstGeom>
          <a:noFill/>
          <a:ln/>
        </p:spPr>
        <p:txBody>
          <a:bodyPr wrap="square" lIns="0" tIns="0" rIns="0" bIns="0" rtlCol="0" anchor="ctr"/>
          <a:lstStyle/>
          <a:p>
            <a:pPr indent="0" marL="0">
              <a:buNone/>
            </a:pPr>
            <a:r>
              <a:rPr lang="en-US" sz="1300" b="1" spc="220" kern="0" dirty="0">
                <a:solidFill>
                  <a:srgbClr val="2A9D8F"/>
                </a:solidFill>
                <a:latin typeface="Calibri" pitchFamily="34" charset="0"/>
                <a:ea typeface="Calibri" pitchFamily="34" charset="-122"/>
                <a:cs typeface="Calibri" pitchFamily="34" charset="-120"/>
              </a:rPr>
              <a:t>PART FOUR</a:t>
            </a:r>
            <a:endParaRPr lang="en-US" sz="1300" dirty="0"/>
          </a:p>
        </p:txBody>
      </p:sp>
      <p:sp>
        <p:nvSpPr>
          <p:cNvPr id="3" name="Text 1"/>
          <p:cNvSpPr txBox="1"/>
          <p:nvPr/>
        </p:nvSpPr>
        <p:spPr>
          <a:xfrm>
            <a:off x="548640" y="2450592"/>
            <a:ext cx="9692640" cy="11430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Making it work</a:t>
            </a:r>
            <a:endParaRPr lang="en-US" sz="4000" dirty="0"/>
          </a:p>
        </p:txBody>
      </p:sp>
      <p:sp>
        <p:nvSpPr>
          <p:cNvPr id="4" name="Text 2"/>
          <p:cNvSpPr txBox="1"/>
          <p:nvPr/>
        </p:nvSpPr>
        <p:spPr>
          <a:xfrm>
            <a:off x="548640" y="3657600"/>
            <a:ext cx="8961120" cy="822960"/>
          </a:xfrm>
          <a:prstGeom prst="rect">
            <a:avLst/>
          </a:prstGeom>
          <a:noFill/>
          <a:ln/>
        </p:spPr>
        <p:txBody>
          <a:bodyPr wrap="square" lIns="0" tIns="0" rIns="0" bIns="0" rtlCol="0" anchor="ctr"/>
          <a:lstStyle/>
          <a:p>
            <a:pPr indent="0" marL="0">
              <a:buNone/>
            </a:pPr>
            <a:r>
              <a:rPr lang="en-US" sz="1500" dirty="0">
                <a:solidFill>
                  <a:srgbClr val="BCCCD2"/>
                </a:solidFill>
                <a:latin typeface="Calibri" pitchFamily="34" charset="0"/>
                <a:ea typeface="Calibri" pitchFamily="34" charset="-122"/>
                <a:cs typeface="Calibri" pitchFamily="34" charset="-120"/>
              </a:rPr>
              <a:t>One lifecycle, a sequence you can actually start, and where to put the first effort.</a:t>
            </a:r>
            <a:endParaRPr lang="en-US" sz="1500" dirty="0"/>
          </a:p>
        </p:txBody>
      </p:sp>
      <p:sp>
        <p:nvSpPr>
          <p:cNvPr id="5" name="Text 3"/>
          <p:cNvSpPr txBox="1"/>
          <p:nvPr/>
        </p:nvSpPr>
        <p:spPr>
          <a:xfrm>
            <a:off x="548640" y="4617720"/>
            <a:ext cx="5486400" cy="320040"/>
          </a:xfrm>
          <a:prstGeom prst="rect">
            <a:avLst/>
          </a:prstGeom>
          <a:noFill/>
          <a:ln/>
        </p:spPr>
        <p:txBody>
          <a:bodyPr wrap="square" lIns="0" tIns="0" rIns="0" bIns="0" rtlCol="0" anchor="ctr"/>
          <a:lstStyle/>
          <a:p>
            <a:pPr indent="0" marL="0">
              <a:buNone/>
            </a:pPr>
            <a:r>
              <a:rPr lang="en-US" sz="1200" b="1" spc="100" kern="0" dirty="0">
                <a:solidFill>
                  <a:srgbClr val="C77C1E"/>
                </a:solidFill>
                <a:latin typeface="Calibri" pitchFamily="34" charset="0"/>
                <a:ea typeface="Calibri" pitchFamily="34" charset="-122"/>
                <a:cs typeface="Calibri" pitchFamily="34" charset="-120"/>
              </a:rPr>
              <a:t>13 minutes</a:t>
            </a:r>
            <a:endParaRPr lang="en-US" sz="1200" dirty="0"/>
          </a:p>
        </p:txBody>
      </p:sp>
      <p:sp>
        <p:nvSpPr>
          <p:cNvPr id="6" name="Text 4"/>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INTEGRATION</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200" b="1" dirty="0">
                <a:solidFill>
                  <a:srgbClr val="1B3A4B"/>
                </a:solidFill>
                <a:latin typeface="Cambria" pitchFamily="34" charset="0"/>
                <a:ea typeface="Cambria" pitchFamily="34" charset="-122"/>
                <a:cs typeface="Cambria" pitchFamily="34" charset="-120"/>
              </a:rPr>
              <a:t>One lifecycle, not two</a:t>
            </a:r>
            <a:endParaRPr lang="en-US" sz="32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47</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The most common organisational failure is running validation and security as parallel programmes that never meet.</a:t>
            </a:r>
            <a:endParaRPr lang="en-US" sz="14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847088"/>
          <a:ext cx="11094415" cy="914400"/>
        </p:xfrm>
        <a:graphic>
          <a:graphicData uri="http://schemas.openxmlformats.org/drawingml/2006/table">
            <a:tbl>
              <a:tblPr/>
              <a:tblGrid>
                <a:gridCol w="1645920"/>
                <a:gridCol w="3200400"/>
                <a:gridCol w="2834640"/>
                <a:gridCol w="3410712"/>
              </a:tblGrid>
              <a:tr h="65836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Lifecycle stage</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Validation activity</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Security activity</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Where they must meet</a:t>
                      </a:r>
                      <a:endParaRPr lang="en-US" sz="115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1B3A4B"/>
                    </a:solidFill>
                  </a:tcPr>
                </a:tc>
              </a:tr>
              <a:tr h="65836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Requirements</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30" dirty="0">
                          <a:solidFill>
                            <a:srgbClr val="22333B"/>
                          </a:solidFill>
                          <a:latin typeface="Calibri" pitchFamily="34" charset="0"/>
                          <a:ea typeface="Calibri" pitchFamily="34" charset="-122"/>
                          <a:cs typeface="Calibri" pitchFamily="34" charset="-120"/>
                        </a:rPr>
                        <a:t>Software requirements derived from intended use and risk controls</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30" dirty="0">
                          <a:solidFill>
                            <a:srgbClr val="22333B"/>
                          </a:solidFill>
                          <a:latin typeface="Calibri" pitchFamily="34" charset="0"/>
                          <a:ea typeface="Calibri" pitchFamily="34" charset="-122"/>
                          <a:cs typeface="Calibri" pitchFamily="34" charset="-120"/>
                        </a:rPr>
                        <a:t>Security requirements derived from the threat model</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30" b="1" dirty="0">
                          <a:solidFill>
                            <a:srgbClr val="0E7C7B"/>
                          </a:solidFill>
                          <a:latin typeface="Calibri" pitchFamily="34" charset="0"/>
                          <a:ea typeface="Calibri" pitchFamily="34" charset="-122"/>
                          <a:cs typeface="Calibri" pitchFamily="34" charset="-120"/>
                        </a:rPr>
                        <a:t>ONE requirements specification. Security requirements are requirements.</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5836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Architecture</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30" dirty="0">
                          <a:solidFill>
                            <a:srgbClr val="22333B"/>
                          </a:solidFill>
                          <a:latin typeface="Calibri" pitchFamily="34" charset="0"/>
                          <a:ea typeface="Calibri" pitchFamily="34" charset="-122"/>
                          <a:cs typeface="Calibri" pitchFamily="34" charset="-120"/>
                        </a:rPr>
                        <a:t>Software architecture, SOUP identification, segregation</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30" dirty="0">
                          <a:solidFill>
                            <a:srgbClr val="22333B"/>
                          </a:solidFill>
                          <a:latin typeface="Calibri" pitchFamily="34" charset="0"/>
                          <a:ea typeface="Calibri" pitchFamily="34" charset="-122"/>
                          <a:cs typeface="Calibri" pitchFamily="34" charset="-120"/>
                        </a:rPr>
                        <a:t>Threat model, trust boundaries, the four architecture views</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30" b="1" dirty="0">
                          <a:solidFill>
                            <a:srgbClr val="0E7C7B"/>
                          </a:solidFill>
                          <a:latin typeface="Calibri" pitchFamily="34" charset="0"/>
                          <a:ea typeface="Calibri" pitchFamily="34" charset="-122"/>
                          <a:cs typeface="Calibri" pitchFamily="34" charset="-120"/>
                        </a:rPr>
                        <a:t>Same diagrams, annotated for both. SOUP list seeds the SBOM.</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5836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30" dirty="0">
                          <a:solidFill>
                            <a:srgbClr val="22333B"/>
                          </a:solidFill>
                          <a:latin typeface="Calibri" pitchFamily="34" charset="0"/>
                          <a:ea typeface="Calibri" pitchFamily="34" charset="-122"/>
                          <a:cs typeface="Calibri" pitchFamily="34" charset="-120"/>
                        </a:rPr>
                        <a:t>ISO 14971 hazard analysis and risk controls</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30" dirty="0">
                          <a:solidFill>
                            <a:srgbClr val="22333B"/>
                          </a:solidFill>
                          <a:latin typeface="Calibri" pitchFamily="34" charset="0"/>
                          <a:ea typeface="Calibri" pitchFamily="34" charset="-122"/>
                          <a:cs typeface="Calibri" pitchFamily="34" charset="-120"/>
                        </a:rPr>
                        <a:t>Security risk assessment on exploitability</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30" b="1" dirty="0">
                          <a:solidFill>
                            <a:srgbClr val="0E7C7B"/>
                          </a:solidFill>
                          <a:latin typeface="Calibri" pitchFamily="34" charset="0"/>
                          <a:ea typeface="Calibri" pitchFamily="34" charset="-122"/>
                          <a:cs typeface="Calibri" pitchFamily="34" charset="-120"/>
                        </a:rPr>
                        <a:t>Separate methods — but every exploit path to harm enters the 14971 file.</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5836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Verification</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30" dirty="0">
                          <a:solidFill>
                            <a:srgbClr val="22333B"/>
                          </a:solidFill>
                          <a:latin typeface="Calibri" pitchFamily="34" charset="0"/>
                          <a:ea typeface="Calibri" pitchFamily="34" charset="-122"/>
                          <a:cs typeface="Calibri" pitchFamily="34" charset="-120"/>
                        </a:rPr>
                        <a:t>Unit, integration and system testing against requirements</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30" dirty="0">
                          <a:solidFill>
                            <a:srgbClr val="22333B"/>
                          </a:solidFill>
                          <a:latin typeface="Calibri" pitchFamily="34" charset="0"/>
                          <a:ea typeface="Calibri" pitchFamily="34" charset="-122"/>
                          <a:cs typeface="Calibri" pitchFamily="34" charset="-120"/>
                        </a:rPr>
                        <a:t>Requirements, threat mitigation, vulnerability and penetration testing</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30" b="1" dirty="0">
                          <a:solidFill>
                            <a:srgbClr val="0E7C7B"/>
                          </a:solidFill>
                          <a:latin typeface="Calibri" pitchFamily="34" charset="0"/>
                          <a:ea typeface="Calibri" pitchFamily="34" charset="-122"/>
                          <a:cs typeface="Calibri" pitchFamily="34" charset="-120"/>
                        </a:rPr>
                        <a:t>One test strategy, one traceability matrix, one set of results.</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r h="658368">
                <a:tc>
                  <a:txBody>
                    <a:bodyPr/>
                    <a:lstStyle/>
                    <a:p>
                      <a:pPr indent="0" marL="0">
                        <a:buNone/>
                      </a:pPr>
                      <a:r>
                        <a:rPr lang="en-US" sz="1100" b="1" dirty="0">
                          <a:solidFill>
                            <a:srgbClr val="1B3A4B"/>
                          </a:solidFill>
                          <a:latin typeface="Calibri" pitchFamily="34" charset="0"/>
                          <a:ea typeface="Calibri" pitchFamily="34" charset="-122"/>
                          <a:cs typeface="Calibri" pitchFamily="34" charset="-120"/>
                        </a:rPr>
                        <a:t>Post-release</a:t>
                      </a:r>
                      <a:endParaRPr lang="en-US" sz="110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solidFill>
                      <a:srgbClr val="F1F5F6"/>
                    </a:solidFill>
                  </a:tcPr>
                </a:tc>
                <a:tc>
                  <a:txBody>
                    <a:bodyPr/>
                    <a:lstStyle/>
                    <a:p>
                      <a:pPr indent="0" marL="0">
                        <a:buNone/>
                      </a:pPr>
                      <a:r>
                        <a:rPr lang="en-US" sz="1030" dirty="0">
                          <a:solidFill>
                            <a:srgbClr val="22333B"/>
                          </a:solidFill>
                          <a:latin typeface="Calibri" pitchFamily="34" charset="0"/>
                          <a:ea typeface="Calibri" pitchFamily="34" charset="-122"/>
                          <a:cs typeface="Calibri" pitchFamily="34" charset="-120"/>
                        </a:rPr>
                        <a:t>Complaint handling, defect management, change control</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30" dirty="0">
                          <a:solidFill>
                            <a:srgbClr val="22333B"/>
                          </a:solidFill>
                          <a:latin typeface="Calibri" pitchFamily="34" charset="0"/>
                          <a:ea typeface="Calibri" pitchFamily="34" charset="-122"/>
                          <a:cs typeface="Calibri" pitchFamily="34" charset="-120"/>
                        </a:rPr>
                        <a:t>Vulnerability monitoring, disclosure, patching</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c>
                  <a:txBody>
                    <a:bodyPr/>
                    <a:lstStyle/>
                    <a:p>
                      <a:pPr indent="0" marL="0">
                        <a:buNone/>
                      </a:pPr>
                      <a:r>
                        <a:rPr lang="en-US" sz="1030" b="1" dirty="0">
                          <a:solidFill>
                            <a:srgbClr val="0E7C7B"/>
                          </a:solidFill>
                          <a:latin typeface="Calibri" pitchFamily="34" charset="0"/>
                          <a:ea typeface="Calibri" pitchFamily="34" charset="-122"/>
                          <a:cs typeface="Calibri" pitchFamily="34" charset="-120"/>
                        </a:rPr>
                        <a:t>One intake, one triage, one change process with a pre-validated fast path.</a:t>
                      </a:r>
                      <a:endParaRPr lang="en-US" sz="1030" dirty="0">
                        <a:latin typeface="Calibri" charset="0"/>
                        <a:ea typeface="Calibri" charset="0"/>
                        <a:cs typeface="Calibri" charset="0"/>
                      </a:endParaRPr>
                    </a:p>
                  </a:txBody>
                  <a:tcPr marL="91440" marR="91440" marT="45720" marB="45720" anchor="ctr">
                    <a:lnL w="12700" cap="flat" cmpd="sng" algn="ctr">
                      <a:solidFill>
                        <a:srgbClr val="D7E2E5"/>
                      </a:solidFill>
                      <a:prstDash val="solid"/>
                      <a:round/>
                      <a:headEnd type="none" w="med" len="med"/>
                      <a:tailEnd type="none" w="med" len="med"/>
                    </a:lnL>
                    <a:lnR w="12700" cap="flat" cmpd="sng" algn="ctr">
                      <a:solidFill>
                        <a:srgbClr val="D7E2E5"/>
                      </a:solidFill>
                      <a:prstDash val="solid"/>
                      <a:round/>
                      <a:headEnd type="none" w="med" len="med"/>
                      <a:tailEnd type="none" w="med" len="med"/>
                    </a:lnR>
                    <a:lnT w="12700" cap="flat" cmpd="sng" algn="ctr">
                      <a:solidFill>
                        <a:srgbClr val="D7E2E5"/>
                      </a:solidFill>
                      <a:prstDash val="solid"/>
                      <a:round/>
                      <a:headEnd type="none" w="med" len="med"/>
                      <a:tailEnd type="none" w="med" len="med"/>
                    </a:lnT>
                    <a:lnB w="1270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30 / 60 / 90</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Where to start on Monday</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48</a:t>
            </a:r>
            <a:endParaRPr lang="en-US" sz="900" dirty="0"/>
          </a:p>
        </p:txBody>
      </p:sp>
      <p:sp>
        <p:nvSpPr>
          <p:cNvPr id="6" name="Shape 4"/>
          <p:cNvSpPr/>
          <p:nvPr/>
        </p:nvSpPr>
        <p:spPr>
          <a:xfrm>
            <a:off x="548640" y="1536192"/>
            <a:ext cx="3515258" cy="4700016"/>
          </a:xfrm>
          <a:prstGeom prst="roundRect">
            <a:avLst>
              <a:gd name="adj" fmla="val 1821"/>
            </a:avLst>
          </a:prstGeom>
          <a:solidFill>
            <a:srgbClr val="F1F5F6"/>
          </a:solidFill>
          <a:ln w="12700">
            <a:solidFill>
              <a:srgbClr val="D7E2E5"/>
            </a:solidFill>
            <a:prstDash val="solid"/>
          </a:ln>
        </p:spPr>
      </p:sp>
      <p:sp>
        <p:nvSpPr>
          <p:cNvPr id="7" name="Shape 5"/>
          <p:cNvSpPr/>
          <p:nvPr/>
        </p:nvSpPr>
        <p:spPr>
          <a:xfrm>
            <a:off x="768096" y="1719072"/>
            <a:ext cx="3076346" cy="384048"/>
          </a:xfrm>
          <a:prstGeom prst="roundRect">
            <a:avLst>
              <a:gd name="adj" fmla="val 11905"/>
            </a:avLst>
          </a:prstGeom>
          <a:solidFill>
            <a:srgbClr val="0E7C7B"/>
          </a:solidFill>
          <a:ln w="12700">
            <a:solidFill>
              <a:srgbClr val="333333"/>
            </a:solidFill>
            <a:prstDash val="solid"/>
          </a:ln>
        </p:spPr>
      </p:sp>
      <p:sp>
        <p:nvSpPr>
          <p:cNvPr id="8" name="Text 6"/>
          <p:cNvSpPr txBox="1"/>
          <p:nvPr/>
        </p:nvSpPr>
        <p:spPr>
          <a:xfrm>
            <a:off x="768096" y="1719072"/>
            <a:ext cx="3076346" cy="384048"/>
          </a:xfrm>
          <a:prstGeom prst="rect">
            <a:avLst/>
          </a:prstGeom>
          <a:noFill/>
          <a:ln/>
        </p:spPr>
        <p:txBody>
          <a:bodyPr wrap="square" lIns="0" tIns="0" rIns="0" bIns="0" rtlCol="0" anchor="ctr"/>
          <a:lstStyle/>
          <a:p>
            <a:pPr algn="ctr" indent="0" marL="0">
              <a:buNone/>
            </a:pPr>
            <a:r>
              <a:rPr lang="en-US" sz="1100" b="1" spc="120" kern="0" dirty="0">
                <a:solidFill>
                  <a:srgbClr val="FFFFFF"/>
                </a:solidFill>
                <a:latin typeface="Calibri" pitchFamily="34" charset="0"/>
                <a:ea typeface="Calibri" pitchFamily="34" charset="-122"/>
                <a:cs typeface="Calibri" pitchFamily="34" charset="-120"/>
              </a:rPr>
              <a:t>FIRST 30 DAYS</a:t>
            </a:r>
            <a:endParaRPr lang="en-US" sz="1100" dirty="0"/>
          </a:p>
        </p:txBody>
      </p:sp>
      <p:sp>
        <p:nvSpPr>
          <p:cNvPr id="9" name="Text 7"/>
          <p:cNvSpPr txBox="1"/>
          <p:nvPr/>
        </p:nvSpPr>
        <p:spPr>
          <a:xfrm>
            <a:off x="768096" y="2194560"/>
            <a:ext cx="3076346" cy="310896"/>
          </a:xfrm>
          <a:prstGeom prst="rect">
            <a:avLst/>
          </a:prstGeom>
          <a:noFill/>
          <a:ln/>
        </p:spPr>
        <p:txBody>
          <a:bodyPr wrap="square" lIns="0" tIns="0" rIns="0" bIns="0" rtlCol="0" anchor="ctr"/>
          <a:lstStyle/>
          <a:p>
            <a:pPr indent="0" marL="0">
              <a:buNone/>
            </a:pPr>
            <a:r>
              <a:rPr lang="en-US" sz="1350" b="1" dirty="0">
                <a:solidFill>
                  <a:srgbClr val="1B3A4B"/>
                </a:solidFill>
                <a:latin typeface="Calibri" pitchFamily="34" charset="0"/>
                <a:ea typeface="Calibri" pitchFamily="34" charset="-122"/>
                <a:cs typeface="Calibri" pitchFamily="34" charset="-120"/>
              </a:rPr>
              <a:t>Find out where you stand</a:t>
            </a:r>
            <a:endParaRPr lang="en-US" sz="1350" dirty="0"/>
          </a:p>
        </p:txBody>
      </p:sp>
      <p:sp>
        <p:nvSpPr>
          <p:cNvPr id="10" name="Text 8"/>
          <p:cNvSpPr txBox="1"/>
          <p:nvPr/>
        </p:nvSpPr>
        <p:spPr>
          <a:xfrm>
            <a:off x="768096" y="2542032"/>
            <a:ext cx="3076346" cy="3566160"/>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Determine formally whether each product is a cyber device under 524B, and write down the reasoning</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Produce a component inventory for one product — generated from the build, not by hand</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Publish a security contact and a disclosure policy. This is days of work, not months</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Name an owner for vulnerability monitoring, with a defined response time</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Check your SOPs and templates for retired vocabulary — Level of Concern, pre-QMSR clause citations</a:t>
            </a:r>
            <a:endParaRPr lang="en-US" sz="1060" dirty="0"/>
          </a:p>
        </p:txBody>
      </p:sp>
      <p:sp>
        <p:nvSpPr>
          <p:cNvPr id="11" name="Shape 9"/>
          <p:cNvSpPr/>
          <p:nvPr/>
        </p:nvSpPr>
        <p:spPr>
          <a:xfrm>
            <a:off x="4338218" y="1536192"/>
            <a:ext cx="3515258" cy="4700016"/>
          </a:xfrm>
          <a:prstGeom prst="roundRect">
            <a:avLst>
              <a:gd name="adj" fmla="val 1821"/>
            </a:avLst>
          </a:prstGeom>
          <a:solidFill>
            <a:srgbClr val="F1F5F6"/>
          </a:solidFill>
          <a:ln w="12700">
            <a:solidFill>
              <a:srgbClr val="D7E2E5"/>
            </a:solidFill>
            <a:prstDash val="solid"/>
          </a:ln>
        </p:spPr>
      </p:sp>
      <p:sp>
        <p:nvSpPr>
          <p:cNvPr id="12" name="Shape 10"/>
          <p:cNvSpPr/>
          <p:nvPr/>
        </p:nvSpPr>
        <p:spPr>
          <a:xfrm>
            <a:off x="4557674" y="1719072"/>
            <a:ext cx="3076346" cy="384048"/>
          </a:xfrm>
          <a:prstGeom prst="roundRect">
            <a:avLst>
              <a:gd name="adj" fmla="val 11905"/>
            </a:avLst>
          </a:prstGeom>
          <a:solidFill>
            <a:srgbClr val="C77C1E"/>
          </a:solidFill>
          <a:ln w="12700">
            <a:solidFill>
              <a:srgbClr val="333333"/>
            </a:solidFill>
            <a:prstDash val="solid"/>
          </a:ln>
        </p:spPr>
      </p:sp>
      <p:sp>
        <p:nvSpPr>
          <p:cNvPr id="13" name="Text 11"/>
          <p:cNvSpPr txBox="1"/>
          <p:nvPr/>
        </p:nvSpPr>
        <p:spPr>
          <a:xfrm>
            <a:off x="4557674" y="1719072"/>
            <a:ext cx="3076346" cy="384048"/>
          </a:xfrm>
          <a:prstGeom prst="rect">
            <a:avLst/>
          </a:prstGeom>
          <a:noFill/>
          <a:ln/>
        </p:spPr>
        <p:txBody>
          <a:bodyPr wrap="square" lIns="0" tIns="0" rIns="0" bIns="0" rtlCol="0" anchor="ctr"/>
          <a:lstStyle/>
          <a:p>
            <a:pPr algn="ctr" indent="0" marL="0">
              <a:buNone/>
            </a:pPr>
            <a:r>
              <a:rPr lang="en-US" sz="1100" b="1" spc="120" kern="0" dirty="0">
                <a:solidFill>
                  <a:srgbClr val="FFFFFF"/>
                </a:solidFill>
                <a:latin typeface="Calibri" pitchFamily="34" charset="0"/>
                <a:ea typeface="Calibri" pitchFamily="34" charset="-122"/>
                <a:cs typeface="Calibri" pitchFamily="34" charset="-120"/>
              </a:rPr>
              <a:t>DAYS 30-60</a:t>
            </a:r>
            <a:endParaRPr lang="en-US" sz="1100" dirty="0"/>
          </a:p>
        </p:txBody>
      </p:sp>
      <p:sp>
        <p:nvSpPr>
          <p:cNvPr id="14" name="Text 12"/>
          <p:cNvSpPr txBox="1"/>
          <p:nvPr/>
        </p:nvSpPr>
        <p:spPr>
          <a:xfrm>
            <a:off x="4557674" y="2194560"/>
            <a:ext cx="3076346" cy="310896"/>
          </a:xfrm>
          <a:prstGeom prst="rect">
            <a:avLst/>
          </a:prstGeom>
          <a:noFill/>
          <a:ln/>
        </p:spPr>
        <p:txBody>
          <a:bodyPr wrap="square" lIns="0" tIns="0" rIns="0" bIns="0" rtlCol="0" anchor="ctr"/>
          <a:lstStyle/>
          <a:p>
            <a:pPr indent="0" marL="0">
              <a:buNone/>
            </a:pPr>
            <a:r>
              <a:rPr lang="en-US" sz="1350" b="1" dirty="0">
                <a:solidFill>
                  <a:srgbClr val="1B3A4B"/>
                </a:solidFill>
                <a:latin typeface="Calibri" pitchFamily="34" charset="0"/>
                <a:ea typeface="Calibri" pitchFamily="34" charset="-122"/>
                <a:cs typeface="Calibri" pitchFamily="34" charset="-120"/>
              </a:rPr>
              <a:t>Build the core capability</a:t>
            </a:r>
            <a:endParaRPr lang="en-US" sz="1350" dirty="0"/>
          </a:p>
        </p:txBody>
      </p:sp>
      <p:sp>
        <p:nvSpPr>
          <p:cNvPr id="15" name="Text 13"/>
          <p:cNvSpPr txBox="1"/>
          <p:nvPr/>
        </p:nvSpPr>
        <p:spPr>
          <a:xfrm>
            <a:off x="4557674" y="2542032"/>
            <a:ext cx="3076346" cy="3566160"/>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Run one threat model on your highest-risk product. One afternoon, one whiteboard, a real output</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Audit your requirements for testability — especially the security ones</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Close the traceability gaps you already know about, starting with risk control effectiveness</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Define the release gate and the emergency patch path, then rehearse the emergency path</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Map your cloud and supplier dependencies into change control</a:t>
            </a:r>
            <a:endParaRPr lang="en-US" sz="1060" dirty="0"/>
          </a:p>
        </p:txBody>
      </p:sp>
      <p:sp>
        <p:nvSpPr>
          <p:cNvPr id="16" name="Shape 14"/>
          <p:cNvSpPr/>
          <p:nvPr/>
        </p:nvSpPr>
        <p:spPr>
          <a:xfrm>
            <a:off x="8127797" y="1536192"/>
            <a:ext cx="3515258" cy="4700016"/>
          </a:xfrm>
          <a:prstGeom prst="roundRect">
            <a:avLst>
              <a:gd name="adj" fmla="val 1821"/>
            </a:avLst>
          </a:prstGeom>
          <a:solidFill>
            <a:srgbClr val="F1F5F6"/>
          </a:solidFill>
          <a:ln w="12700">
            <a:solidFill>
              <a:srgbClr val="D7E2E5"/>
            </a:solidFill>
            <a:prstDash val="solid"/>
          </a:ln>
        </p:spPr>
      </p:sp>
      <p:sp>
        <p:nvSpPr>
          <p:cNvPr id="17" name="Shape 15"/>
          <p:cNvSpPr/>
          <p:nvPr/>
        </p:nvSpPr>
        <p:spPr>
          <a:xfrm>
            <a:off x="8347253" y="1719072"/>
            <a:ext cx="3076346" cy="384048"/>
          </a:xfrm>
          <a:prstGeom prst="roundRect">
            <a:avLst>
              <a:gd name="adj" fmla="val 11905"/>
            </a:avLst>
          </a:prstGeom>
          <a:solidFill>
            <a:srgbClr val="2A9D8F"/>
          </a:solidFill>
          <a:ln w="12700">
            <a:solidFill>
              <a:srgbClr val="333333"/>
            </a:solidFill>
            <a:prstDash val="solid"/>
          </a:ln>
        </p:spPr>
      </p:sp>
      <p:sp>
        <p:nvSpPr>
          <p:cNvPr id="18" name="Text 16"/>
          <p:cNvSpPr txBox="1"/>
          <p:nvPr/>
        </p:nvSpPr>
        <p:spPr>
          <a:xfrm>
            <a:off x="8347253" y="1719072"/>
            <a:ext cx="3076346" cy="384048"/>
          </a:xfrm>
          <a:prstGeom prst="rect">
            <a:avLst/>
          </a:prstGeom>
          <a:noFill/>
          <a:ln/>
        </p:spPr>
        <p:txBody>
          <a:bodyPr wrap="square" lIns="0" tIns="0" rIns="0" bIns="0" rtlCol="0" anchor="ctr"/>
          <a:lstStyle/>
          <a:p>
            <a:pPr algn="ctr" indent="0" marL="0">
              <a:buNone/>
            </a:pPr>
            <a:r>
              <a:rPr lang="en-US" sz="1100" b="1" spc="120" kern="0" dirty="0">
                <a:solidFill>
                  <a:srgbClr val="FFFFFF"/>
                </a:solidFill>
                <a:latin typeface="Calibri" pitchFamily="34" charset="0"/>
                <a:ea typeface="Calibri" pitchFamily="34" charset="-122"/>
                <a:cs typeface="Calibri" pitchFamily="34" charset="-120"/>
              </a:rPr>
              <a:t>DAYS 60-90</a:t>
            </a:r>
            <a:endParaRPr lang="en-US" sz="1100" dirty="0"/>
          </a:p>
        </p:txBody>
      </p:sp>
      <p:sp>
        <p:nvSpPr>
          <p:cNvPr id="19" name="Text 17"/>
          <p:cNvSpPr txBox="1"/>
          <p:nvPr/>
        </p:nvSpPr>
        <p:spPr>
          <a:xfrm>
            <a:off x="8347253" y="2194560"/>
            <a:ext cx="3076346" cy="310896"/>
          </a:xfrm>
          <a:prstGeom prst="rect">
            <a:avLst/>
          </a:prstGeom>
          <a:noFill/>
          <a:ln/>
        </p:spPr>
        <p:txBody>
          <a:bodyPr wrap="square" lIns="0" tIns="0" rIns="0" bIns="0" rtlCol="0" anchor="ctr"/>
          <a:lstStyle/>
          <a:p>
            <a:pPr indent="0" marL="0">
              <a:buNone/>
            </a:pPr>
            <a:r>
              <a:rPr lang="en-US" sz="1350" b="1" dirty="0">
                <a:solidFill>
                  <a:srgbClr val="1B3A4B"/>
                </a:solidFill>
                <a:latin typeface="Calibri" pitchFamily="34" charset="0"/>
                <a:ea typeface="Calibri" pitchFamily="34" charset="-122"/>
                <a:cs typeface="Calibri" pitchFamily="34" charset="-120"/>
              </a:rPr>
              <a:t>Make it a system</a:t>
            </a:r>
            <a:endParaRPr lang="en-US" sz="1350" dirty="0"/>
          </a:p>
        </p:txBody>
      </p:sp>
      <p:sp>
        <p:nvSpPr>
          <p:cNvPr id="20" name="Text 18"/>
          <p:cNvSpPr txBox="1"/>
          <p:nvPr/>
        </p:nvSpPr>
        <p:spPr>
          <a:xfrm>
            <a:off x="8347253" y="2542032"/>
            <a:ext cx="3076346" cy="3566160"/>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Integrate: one requirements specification, one traceability matrix, one intake queue</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Automate SBOM generation and vulnerability matching in the pipeline</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Set your patch cadence and be able to justify it</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Publish end-of-support dates for fielded products</a:t>
            </a:r>
            <a:endParaRPr lang="en-US" sz="1060" dirty="0"/>
          </a:p>
          <a:p>
            <a:pPr marL="177800" indent="-177800">
              <a:lnSpc>
                <a:spcPct val="105000"/>
              </a:lnSpc>
              <a:spcAft>
                <a:spcPts val="900"/>
              </a:spcAft>
              <a:buSzPct val="100000"/>
              <a:buChar char="•"/>
            </a:pPr>
            <a:r>
              <a:rPr lang="en-US" sz="1060" dirty="0">
                <a:solidFill>
                  <a:srgbClr val="22333B"/>
                </a:solidFill>
                <a:latin typeface="Calibri" pitchFamily="34" charset="0"/>
                <a:ea typeface="Calibri" pitchFamily="34" charset="-122"/>
                <a:cs typeface="Calibri" pitchFamily="34" charset="-120"/>
              </a:rPr>
              <a:t>Put the security architecture views into your design documentation template so the next product starts right</a:t>
            </a:r>
            <a:endParaRPr lang="en-US" sz="106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MATURITY</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An honest self-assessment</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49</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Find your level for validation and for security separately. Most organisations are not at the same level for both.</a:t>
            </a:r>
            <a:endParaRPr lang="en-US" sz="1400" dirty="0"/>
          </a:p>
        </p:txBody>
      </p:sp>
      <p:sp>
        <p:nvSpPr>
          <p:cNvPr id="7" name="Shape 5"/>
          <p:cNvSpPr/>
          <p:nvPr/>
        </p:nvSpPr>
        <p:spPr>
          <a:xfrm>
            <a:off x="548640" y="1865376"/>
            <a:ext cx="2057949" cy="3529584"/>
          </a:xfrm>
          <a:prstGeom prst="roundRect">
            <a:avLst>
              <a:gd name="adj" fmla="val 3110"/>
            </a:avLst>
          </a:prstGeom>
          <a:solidFill>
            <a:srgbClr val="F1F5F6"/>
          </a:solidFill>
          <a:ln w="12700">
            <a:solidFill>
              <a:srgbClr val="D7E2E5"/>
            </a:solidFill>
            <a:prstDash val="solid"/>
          </a:ln>
        </p:spPr>
      </p:sp>
      <p:sp>
        <p:nvSpPr>
          <p:cNvPr id="8" name="Shape 6"/>
          <p:cNvSpPr/>
          <p:nvPr/>
        </p:nvSpPr>
        <p:spPr>
          <a:xfrm>
            <a:off x="749808" y="2084832"/>
            <a:ext cx="1655613" cy="457200"/>
          </a:xfrm>
          <a:prstGeom prst="roundRect">
            <a:avLst>
              <a:gd name="adj" fmla="val 10000"/>
            </a:avLst>
          </a:prstGeom>
          <a:solidFill>
            <a:srgbClr val="A83A3C"/>
          </a:solidFill>
          <a:ln w="12700">
            <a:solidFill>
              <a:srgbClr val="333333"/>
            </a:solidFill>
            <a:prstDash val="solid"/>
          </a:ln>
        </p:spPr>
      </p:sp>
      <p:sp>
        <p:nvSpPr>
          <p:cNvPr id="9" name="Text 7"/>
          <p:cNvSpPr txBox="1"/>
          <p:nvPr/>
        </p:nvSpPr>
        <p:spPr>
          <a:xfrm>
            <a:off x="749808" y="2084832"/>
            <a:ext cx="1655613" cy="45720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LEVEL 1</a:t>
            </a:r>
            <a:endParaRPr lang="en-US" sz="1050" dirty="0"/>
          </a:p>
        </p:txBody>
      </p:sp>
      <p:sp>
        <p:nvSpPr>
          <p:cNvPr id="10" name="Text 8"/>
          <p:cNvSpPr txBox="1"/>
          <p:nvPr/>
        </p:nvSpPr>
        <p:spPr>
          <a:xfrm>
            <a:off x="749808" y="2651760"/>
            <a:ext cx="1655613" cy="365760"/>
          </a:xfrm>
          <a:prstGeom prst="rect">
            <a:avLst/>
          </a:prstGeom>
          <a:noFill/>
          <a:ln/>
        </p:spPr>
        <p:txBody>
          <a:bodyPr wrap="square" lIns="0" tIns="0" rIns="0" bIns="0" rtlCol="0" anchor="ctr"/>
          <a:lstStyle/>
          <a:p>
            <a:pPr algn="ctr" indent="0" marL="0">
              <a:buNone/>
            </a:pPr>
            <a:r>
              <a:rPr lang="en-US" sz="1450" b="1" dirty="0">
                <a:solidFill>
                  <a:srgbClr val="1B3A4B"/>
                </a:solidFill>
                <a:latin typeface="Calibri" pitchFamily="34" charset="0"/>
                <a:ea typeface="Calibri" pitchFamily="34" charset="-122"/>
                <a:cs typeface="Calibri" pitchFamily="34" charset="-120"/>
              </a:rPr>
              <a:t>Reactive</a:t>
            </a:r>
            <a:endParaRPr lang="en-US" sz="1450" dirty="0"/>
          </a:p>
        </p:txBody>
      </p:sp>
      <p:sp>
        <p:nvSpPr>
          <p:cNvPr id="11" name="Text 9"/>
          <p:cNvSpPr txBox="1"/>
          <p:nvPr/>
        </p:nvSpPr>
        <p:spPr>
          <a:xfrm>
            <a:off x="749808" y="3072384"/>
            <a:ext cx="1655613" cy="2194560"/>
          </a:xfrm>
          <a:prstGeom prst="rect">
            <a:avLst/>
          </a:prstGeom>
          <a:noFill/>
          <a:ln/>
        </p:spPr>
        <p:txBody>
          <a:bodyPr wrap="square" lIns="0" tIns="0" rIns="0" bIns="0" rtlCol="0" anchor="t"/>
          <a:lstStyle/>
          <a:p>
            <a:pPr indent="0" marL="0">
              <a:lnSpc>
                <a:spcPct val="106000"/>
              </a:lnSpc>
              <a:buNone/>
            </a:pPr>
            <a:r>
              <a:rPr lang="en-US" sz="1050" dirty="0">
                <a:solidFill>
                  <a:srgbClr val="22333B"/>
                </a:solidFill>
                <a:latin typeface="Calibri" pitchFamily="34" charset="0"/>
                <a:ea typeface="Calibri" pitchFamily="34" charset="-122"/>
                <a:cs typeface="Calibri" pitchFamily="34" charset="-120"/>
              </a:rPr>
              <a:t>Documentation produced for submissions and audits. Security addressed when someone asks. No inventory of what is deployed or what is inside it.</a:t>
            </a:r>
            <a:endParaRPr lang="en-US" sz="1050" dirty="0"/>
          </a:p>
        </p:txBody>
      </p:sp>
      <p:sp>
        <p:nvSpPr>
          <p:cNvPr id="12" name="Shape 10"/>
          <p:cNvSpPr/>
          <p:nvPr/>
        </p:nvSpPr>
        <p:spPr>
          <a:xfrm>
            <a:off x="2807757" y="1865376"/>
            <a:ext cx="2057949" cy="3529584"/>
          </a:xfrm>
          <a:prstGeom prst="roundRect">
            <a:avLst>
              <a:gd name="adj" fmla="val 3110"/>
            </a:avLst>
          </a:prstGeom>
          <a:solidFill>
            <a:srgbClr val="F1F5F6"/>
          </a:solidFill>
          <a:ln w="12700">
            <a:solidFill>
              <a:srgbClr val="D7E2E5"/>
            </a:solidFill>
            <a:prstDash val="solid"/>
          </a:ln>
        </p:spPr>
      </p:sp>
      <p:sp>
        <p:nvSpPr>
          <p:cNvPr id="13" name="Shape 11"/>
          <p:cNvSpPr/>
          <p:nvPr/>
        </p:nvSpPr>
        <p:spPr>
          <a:xfrm>
            <a:off x="3008925" y="2084832"/>
            <a:ext cx="1655613" cy="457200"/>
          </a:xfrm>
          <a:prstGeom prst="roundRect">
            <a:avLst>
              <a:gd name="adj" fmla="val 10000"/>
            </a:avLst>
          </a:prstGeom>
          <a:solidFill>
            <a:srgbClr val="B5762E"/>
          </a:solidFill>
          <a:ln w="12700">
            <a:solidFill>
              <a:srgbClr val="333333"/>
            </a:solidFill>
            <a:prstDash val="solid"/>
          </a:ln>
        </p:spPr>
      </p:sp>
      <p:sp>
        <p:nvSpPr>
          <p:cNvPr id="14" name="Text 12"/>
          <p:cNvSpPr txBox="1"/>
          <p:nvPr/>
        </p:nvSpPr>
        <p:spPr>
          <a:xfrm>
            <a:off x="3008925" y="2084832"/>
            <a:ext cx="1655613" cy="45720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LEVEL 2</a:t>
            </a:r>
            <a:endParaRPr lang="en-US" sz="1050" dirty="0"/>
          </a:p>
        </p:txBody>
      </p:sp>
      <p:sp>
        <p:nvSpPr>
          <p:cNvPr id="15" name="Text 13"/>
          <p:cNvSpPr txBox="1"/>
          <p:nvPr/>
        </p:nvSpPr>
        <p:spPr>
          <a:xfrm>
            <a:off x="3008925" y="2651760"/>
            <a:ext cx="1655613" cy="365760"/>
          </a:xfrm>
          <a:prstGeom prst="rect">
            <a:avLst/>
          </a:prstGeom>
          <a:noFill/>
          <a:ln/>
        </p:spPr>
        <p:txBody>
          <a:bodyPr wrap="square" lIns="0" tIns="0" rIns="0" bIns="0" rtlCol="0" anchor="ctr"/>
          <a:lstStyle/>
          <a:p>
            <a:pPr algn="ctr" indent="0" marL="0">
              <a:buNone/>
            </a:pPr>
            <a:r>
              <a:rPr lang="en-US" sz="1450" b="1" dirty="0">
                <a:solidFill>
                  <a:srgbClr val="1B3A4B"/>
                </a:solidFill>
                <a:latin typeface="Calibri" pitchFamily="34" charset="0"/>
                <a:ea typeface="Calibri" pitchFamily="34" charset="-122"/>
                <a:cs typeface="Calibri" pitchFamily="34" charset="-120"/>
              </a:rPr>
              <a:t>Defined</a:t>
            </a:r>
            <a:endParaRPr lang="en-US" sz="1450" dirty="0"/>
          </a:p>
        </p:txBody>
      </p:sp>
      <p:sp>
        <p:nvSpPr>
          <p:cNvPr id="16" name="Text 14"/>
          <p:cNvSpPr txBox="1"/>
          <p:nvPr/>
        </p:nvSpPr>
        <p:spPr>
          <a:xfrm>
            <a:off x="3008925" y="3072384"/>
            <a:ext cx="1655613" cy="2194560"/>
          </a:xfrm>
          <a:prstGeom prst="rect">
            <a:avLst/>
          </a:prstGeom>
          <a:noFill/>
          <a:ln/>
        </p:spPr>
        <p:txBody>
          <a:bodyPr wrap="square" lIns="0" tIns="0" rIns="0" bIns="0" rtlCol="0" anchor="t"/>
          <a:lstStyle/>
          <a:p>
            <a:pPr indent="0" marL="0">
              <a:lnSpc>
                <a:spcPct val="106000"/>
              </a:lnSpc>
              <a:buNone/>
            </a:pPr>
            <a:r>
              <a:rPr lang="en-US" sz="1050" dirty="0">
                <a:solidFill>
                  <a:srgbClr val="22333B"/>
                </a:solidFill>
                <a:latin typeface="Calibri" pitchFamily="34" charset="0"/>
                <a:ea typeface="Calibri" pitchFamily="34" charset="-122"/>
                <a:cs typeface="Calibri" pitchFamily="34" charset="-120"/>
              </a:rPr>
              <a:t>Procedures exist and are followed. Validation is planned. Someone owns security. Records are produced, though often retrospectively and by hand.</a:t>
            </a:r>
            <a:endParaRPr lang="en-US" sz="1050" dirty="0"/>
          </a:p>
        </p:txBody>
      </p:sp>
      <p:sp>
        <p:nvSpPr>
          <p:cNvPr id="17" name="Shape 15"/>
          <p:cNvSpPr/>
          <p:nvPr/>
        </p:nvSpPr>
        <p:spPr>
          <a:xfrm>
            <a:off x="5066873" y="1865376"/>
            <a:ext cx="2057949" cy="3529584"/>
          </a:xfrm>
          <a:prstGeom prst="roundRect">
            <a:avLst>
              <a:gd name="adj" fmla="val 3110"/>
            </a:avLst>
          </a:prstGeom>
          <a:solidFill>
            <a:srgbClr val="F1F5F6"/>
          </a:solidFill>
          <a:ln w="12700">
            <a:solidFill>
              <a:srgbClr val="D7E2E5"/>
            </a:solidFill>
            <a:prstDash val="solid"/>
          </a:ln>
        </p:spPr>
      </p:sp>
      <p:sp>
        <p:nvSpPr>
          <p:cNvPr id="18" name="Shape 16"/>
          <p:cNvSpPr/>
          <p:nvPr/>
        </p:nvSpPr>
        <p:spPr>
          <a:xfrm>
            <a:off x="5268041" y="2084832"/>
            <a:ext cx="1655613" cy="457200"/>
          </a:xfrm>
          <a:prstGeom prst="roundRect">
            <a:avLst>
              <a:gd name="adj" fmla="val 10000"/>
            </a:avLst>
          </a:prstGeom>
          <a:solidFill>
            <a:srgbClr val="C77C1E"/>
          </a:solidFill>
          <a:ln w="12700">
            <a:solidFill>
              <a:srgbClr val="333333"/>
            </a:solidFill>
            <a:prstDash val="solid"/>
          </a:ln>
        </p:spPr>
      </p:sp>
      <p:sp>
        <p:nvSpPr>
          <p:cNvPr id="19" name="Text 17"/>
          <p:cNvSpPr txBox="1"/>
          <p:nvPr/>
        </p:nvSpPr>
        <p:spPr>
          <a:xfrm>
            <a:off x="5268041" y="2084832"/>
            <a:ext cx="1655613" cy="45720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LEVEL 3</a:t>
            </a:r>
            <a:endParaRPr lang="en-US" sz="1050" dirty="0"/>
          </a:p>
        </p:txBody>
      </p:sp>
      <p:sp>
        <p:nvSpPr>
          <p:cNvPr id="20" name="Text 18"/>
          <p:cNvSpPr txBox="1"/>
          <p:nvPr/>
        </p:nvSpPr>
        <p:spPr>
          <a:xfrm>
            <a:off x="5268041" y="2651760"/>
            <a:ext cx="1655613" cy="365760"/>
          </a:xfrm>
          <a:prstGeom prst="rect">
            <a:avLst/>
          </a:prstGeom>
          <a:noFill/>
          <a:ln/>
        </p:spPr>
        <p:txBody>
          <a:bodyPr wrap="square" lIns="0" tIns="0" rIns="0" bIns="0" rtlCol="0" anchor="ctr"/>
          <a:lstStyle/>
          <a:p>
            <a:pPr algn="ctr" indent="0" marL="0">
              <a:buNone/>
            </a:pPr>
            <a:r>
              <a:rPr lang="en-US" sz="1450" b="1" dirty="0">
                <a:solidFill>
                  <a:srgbClr val="1B3A4B"/>
                </a:solidFill>
                <a:latin typeface="Calibri" pitchFamily="34" charset="0"/>
                <a:ea typeface="Calibri" pitchFamily="34" charset="-122"/>
                <a:cs typeface="Calibri" pitchFamily="34" charset="-120"/>
              </a:rPr>
              <a:t>Integrated</a:t>
            </a:r>
            <a:endParaRPr lang="en-US" sz="1450" dirty="0"/>
          </a:p>
        </p:txBody>
      </p:sp>
      <p:sp>
        <p:nvSpPr>
          <p:cNvPr id="21" name="Text 19"/>
          <p:cNvSpPr txBox="1"/>
          <p:nvPr/>
        </p:nvSpPr>
        <p:spPr>
          <a:xfrm>
            <a:off x="5268041" y="3072384"/>
            <a:ext cx="1655613" cy="2194560"/>
          </a:xfrm>
          <a:prstGeom prst="rect">
            <a:avLst/>
          </a:prstGeom>
          <a:noFill/>
          <a:ln/>
        </p:spPr>
        <p:txBody>
          <a:bodyPr wrap="square" lIns="0" tIns="0" rIns="0" bIns="0" rtlCol="0" anchor="t"/>
          <a:lstStyle/>
          <a:p>
            <a:pPr indent="0" marL="0">
              <a:lnSpc>
                <a:spcPct val="106000"/>
              </a:lnSpc>
              <a:buNone/>
            </a:pPr>
            <a:r>
              <a:rPr lang="en-US" sz="1050" dirty="0">
                <a:solidFill>
                  <a:srgbClr val="22333B"/>
                </a:solidFill>
                <a:latin typeface="Calibri" pitchFamily="34" charset="0"/>
                <a:ea typeface="Calibri" pitchFamily="34" charset="-122"/>
                <a:cs typeface="Calibri" pitchFamily="34" charset="-120"/>
              </a:rPr>
              <a:t>One lifecycle. Security requirements live in the SRS. Threat models drive controls. Traceability is maintained live, not reconstructed.</a:t>
            </a:r>
            <a:endParaRPr lang="en-US" sz="1050" dirty="0"/>
          </a:p>
        </p:txBody>
      </p:sp>
      <p:sp>
        <p:nvSpPr>
          <p:cNvPr id="22" name="Shape 20"/>
          <p:cNvSpPr/>
          <p:nvPr/>
        </p:nvSpPr>
        <p:spPr>
          <a:xfrm>
            <a:off x="7325990" y="1865376"/>
            <a:ext cx="2057949" cy="3529584"/>
          </a:xfrm>
          <a:prstGeom prst="roundRect">
            <a:avLst>
              <a:gd name="adj" fmla="val 3110"/>
            </a:avLst>
          </a:prstGeom>
          <a:solidFill>
            <a:srgbClr val="F1F5F6"/>
          </a:solidFill>
          <a:ln w="12700">
            <a:solidFill>
              <a:srgbClr val="D7E2E5"/>
            </a:solidFill>
            <a:prstDash val="solid"/>
          </a:ln>
        </p:spPr>
      </p:sp>
      <p:sp>
        <p:nvSpPr>
          <p:cNvPr id="23" name="Shape 21"/>
          <p:cNvSpPr/>
          <p:nvPr/>
        </p:nvSpPr>
        <p:spPr>
          <a:xfrm>
            <a:off x="7527158" y="2084832"/>
            <a:ext cx="1655613" cy="457200"/>
          </a:xfrm>
          <a:prstGeom prst="roundRect">
            <a:avLst>
              <a:gd name="adj" fmla="val 10000"/>
            </a:avLst>
          </a:prstGeom>
          <a:solidFill>
            <a:srgbClr val="2A9D8F"/>
          </a:solidFill>
          <a:ln w="12700">
            <a:solidFill>
              <a:srgbClr val="333333"/>
            </a:solidFill>
            <a:prstDash val="solid"/>
          </a:ln>
        </p:spPr>
      </p:sp>
      <p:sp>
        <p:nvSpPr>
          <p:cNvPr id="24" name="Text 22"/>
          <p:cNvSpPr txBox="1"/>
          <p:nvPr/>
        </p:nvSpPr>
        <p:spPr>
          <a:xfrm>
            <a:off x="7527158" y="2084832"/>
            <a:ext cx="1655613" cy="45720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LEVEL 4</a:t>
            </a:r>
            <a:endParaRPr lang="en-US" sz="1050" dirty="0"/>
          </a:p>
        </p:txBody>
      </p:sp>
      <p:sp>
        <p:nvSpPr>
          <p:cNvPr id="25" name="Text 23"/>
          <p:cNvSpPr txBox="1"/>
          <p:nvPr/>
        </p:nvSpPr>
        <p:spPr>
          <a:xfrm>
            <a:off x="7527158" y="2651760"/>
            <a:ext cx="1655613" cy="365760"/>
          </a:xfrm>
          <a:prstGeom prst="rect">
            <a:avLst/>
          </a:prstGeom>
          <a:noFill/>
          <a:ln/>
        </p:spPr>
        <p:txBody>
          <a:bodyPr wrap="square" lIns="0" tIns="0" rIns="0" bIns="0" rtlCol="0" anchor="ctr"/>
          <a:lstStyle/>
          <a:p>
            <a:pPr algn="ctr" indent="0" marL="0">
              <a:buNone/>
            </a:pPr>
            <a:r>
              <a:rPr lang="en-US" sz="1450" b="1" dirty="0">
                <a:solidFill>
                  <a:srgbClr val="1B3A4B"/>
                </a:solidFill>
                <a:latin typeface="Calibri" pitchFamily="34" charset="0"/>
                <a:ea typeface="Calibri" pitchFamily="34" charset="-122"/>
                <a:cs typeface="Calibri" pitchFamily="34" charset="-120"/>
              </a:rPr>
              <a:t>Automated</a:t>
            </a:r>
            <a:endParaRPr lang="en-US" sz="1450" dirty="0"/>
          </a:p>
        </p:txBody>
      </p:sp>
      <p:sp>
        <p:nvSpPr>
          <p:cNvPr id="26" name="Text 24"/>
          <p:cNvSpPr txBox="1"/>
          <p:nvPr/>
        </p:nvSpPr>
        <p:spPr>
          <a:xfrm>
            <a:off x="7527158" y="3072384"/>
            <a:ext cx="1655613" cy="2194560"/>
          </a:xfrm>
          <a:prstGeom prst="rect">
            <a:avLst/>
          </a:prstGeom>
          <a:noFill/>
          <a:ln/>
        </p:spPr>
        <p:txBody>
          <a:bodyPr wrap="square" lIns="0" tIns="0" rIns="0" bIns="0" rtlCol="0" anchor="t"/>
          <a:lstStyle/>
          <a:p>
            <a:pPr indent="0" marL="0">
              <a:lnSpc>
                <a:spcPct val="106000"/>
              </a:lnSpc>
              <a:buNone/>
            </a:pPr>
            <a:r>
              <a:rPr lang="en-US" sz="1050" dirty="0">
                <a:solidFill>
                  <a:srgbClr val="22333B"/>
                </a:solidFill>
                <a:latin typeface="Calibri" pitchFamily="34" charset="0"/>
                <a:ea typeface="Calibri" pitchFamily="34" charset="-122"/>
                <a:cs typeface="Calibri" pitchFamily="34" charset="-120"/>
              </a:rPr>
              <a:t>Evidence is generated by the pipeline. SBOM and vulnerability matching are continuous. The emergency patch path is defined and has been exercised.</a:t>
            </a:r>
            <a:endParaRPr lang="en-US" sz="1050" dirty="0"/>
          </a:p>
        </p:txBody>
      </p:sp>
      <p:sp>
        <p:nvSpPr>
          <p:cNvPr id="27" name="Shape 25"/>
          <p:cNvSpPr/>
          <p:nvPr/>
        </p:nvSpPr>
        <p:spPr>
          <a:xfrm>
            <a:off x="9585107" y="1865376"/>
            <a:ext cx="2057949" cy="3529584"/>
          </a:xfrm>
          <a:prstGeom prst="roundRect">
            <a:avLst>
              <a:gd name="adj" fmla="val 3110"/>
            </a:avLst>
          </a:prstGeom>
          <a:solidFill>
            <a:srgbClr val="F1F5F6"/>
          </a:solidFill>
          <a:ln w="12700">
            <a:solidFill>
              <a:srgbClr val="D7E2E5"/>
            </a:solidFill>
            <a:prstDash val="solid"/>
          </a:ln>
        </p:spPr>
      </p:sp>
      <p:sp>
        <p:nvSpPr>
          <p:cNvPr id="28" name="Shape 26"/>
          <p:cNvSpPr/>
          <p:nvPr/>
        </p:nvSpPr>
        <p:spPr>
          <a:xfrm>
            <a:off x="9786275" y="2084832"/>
            <a:ext cx="1655613" cy="457200"/>
          </a:xfrm>
          <a:prstGeom prst="roundRect">
            <a:avLst>
              <a:gd name="adj" fmla="val 10000"/>
            </a:avLst>
          </a:prstGeom>
          <a:solidFill>
            <a:srgbClr val="0E7C7B"/>
          </a:solidFill>
          <a:ln w="12700">
            <a:solidFill>
              <a:srgbClr val="333333"/>
            </a:solidFill>
            <a:prstDash val="solid"/>
          </a:ln>
        </p:spPr>
      </p:sp>
      <p:sp>
        <p:nvSpPr>
          <p:cNvPr id="29" name="Text 27"/>
          <p:cNvSpPr txBox="1"/>
          <p:nvPr/>
        </p:nvSpPr>
        <p:spPr>
          <a:xfrm>
            <a:off x="9786275" y="2084832"/>
            <a:ext cx="1655613" cy="45720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LEVEL 5</a:t>
            </a:r>
            <a:endParaRPr lang="en-US" sz="1050" dirty="0"/>
          </a:p>
        </p:txBody>
      </p:sp>
      <p:sp>
        <p:nvSpPr>
          <p:cNvPr id="30" name="Text 28"/>
          <p:cNvSpPr txBox="1"/>
          <p:nvPr/>
        </p:nvSpPr>
        <p:spPr>
          <a:xfrm>
            <a:off x="9786275" y="2651760"/>
            <a:ext cx="1655613" cy="365760"/>
          </a:xfrm>
          <a:prstGeom prst="rect">
            <a:avLst/>
          </a:prstGeom>
          <a:noFill/>
          <a:ln/>
        </p:spPr>
        <p:txBody>
          <a:bodyPr wrap="square" lIns="0" tIns="0" rIns="0" bIns="0" rtlCol="0" anchor="ctr"/>
          <a:lstStyle/>
          <a:p>
            <a:pPr algn="ctr" indent="0" marL="0">
              <a:buNone/>
            </a:pPr>
            <a:r>
              <a:rPr lang="en-US" sz="1450" b="1" dirty="0">
                <a:solidFill>
                  <a:srgbClr val="1B3A4B"/>
                </a:solidFill>
                <a:latin typeface="Calibri" pitchFamily="34" charset="0"/>
                <a:ea typeface="Calibri" pitchFamily="34" charset="-122"/>
                <a:cs typeface="Calibri" pitchFamily="34" charset="-120"/>
              </a:rPr>
              <a:t>Anticipatory</a:t>
            </a:r>
            <a:endParaRPr lang="en-US" sz="1450" dirty="0"/>
          </a:p>
        </p:txBody>
      </p:sp>
      <p:sp>
        <p:nvSpPr>
          <p:cNvPr id="31" name="Text 29"/>
          <p:cNvSpPr txBox="1"/>
          <p:nvPr/>
        </p:nvSpPr>
        <p:spPr>
          <a:xfrm>
            <a:off x="9786275" y="3072384"/>
            <a:ext cx="1655613" cy="2194560"/>
          </a:xfrm>
          <a:prstGeom prst="rect">
            <a:avLst/>
          </a:prstGeom>
          <a:noFill/>
          <a:ln/>
        </p:spPr>
        <p:txBody>
          <a:bodyPr wrap="square" lIns="0" tIns="0" rIns="0" bIns="0" rtlCol="0" anchor="t"/>
          <a:lstStyle/>
          <a:p>
            <a:pPr indent="0" marL="0">
              <a:lnSpc>
                <a:spcPct val="106000"/>
              </a:lnSpc>
              <a:buNone/>
            </a:pPr>
            <a:r>
              <a:rPr lang="en-US" sz="1050" dirty="0">
                <a:solidFill>
                  <a:srgbClr val="22333B"/>
                </a:solidFill>
                <a:latin typeface="Calibri" pitchFamily="34" charset="0"/>
                <a:ea typeface="Calibri" pitchFamily="34" charset="-122"/>
                <a:cs typeface="Calibri" pitchFamily="34" charset="-120"/>
              </a:rPr>
              <a:t>Designing for the problems of year ten: crypto-agility, updateability, supported component lifespans, planned end of support. The legacy bill is being managed down deliberately.</a:t>
            </a:r>
            <a:endParaRPr lang="en-US" sz="1050" dirty="0"/>
          </a:p>
        </p:txBody>
      </p:sp>
      <p:sp>
        <p:nvSpPr>
          <p:cNvPr id="32" name="Shape 30"/>
          <p:cNvSpPr/>
          <p:nvPr/>
        </p:nvSpPr>
        <p:spPr>
          <a:xfrm>
            <a:off x="548640" y="5577840"/>
            <a:ext cx="11094415" cy="694944"/>
          </a:xfrm>
          <a:prstGeom prst="roundRect">
            <a:avLst>
              <a:gd name="adj" fmla="val 7895"/>
            </a:avLst>
          </a:prstGeom>
          <a:solidFill>
            <a:srgbClr val="EAF3F2"/>
          </a:solidFill>
          <a:ln w="12700">
            <a:solidFill>
              <a:srgbClr val="BFD9D6"/>
            </a:solidFill>
            <a:prstDash val="solid"/>
          </a:ln>
        </p:spPr>
      </p:sp>
      <p:sp>
        <p:nvSpPr>
          <p:cNvPr id="33" name="Text 31"/>
          <p:cNvSpPr txBox="1"/>
          <p:nvPr/>
        </p:nvSpPr>
        <p:spPr>
          <a:xfrm>
            <a:off x="786384" y="5577840"/>
            <a:ext cx="10618927" cy="694944"/>
          </a:xfrm>
          <a:prstGeom prst="rect">
            <a:avLst/>
          </a:prstGeom>
          <a:noFill/>
          <a:ln/>
        </p:spPr>
        <p:txBody>
          <a:bodyPr wrap="square" lIns="0" tIns="0" rIns="0" bIns="0" rtlCol="0" anchor="ctr"/>
          <a:lstStyle/>
          <a:p>
            <a:pPr indent="0" marL="0">
              <a:buNone/>
            </a:pPr>
            <a:r>
              <a:rPr lang="en-US" sz="1250" b="1" dirty="0">
                <a:solidFill>
                  <a:srgbClr val="1B3A4B"/>
                </a:solidFill>
                <a:latin typeface="Calibri" pitchFamily="34" charset="0"/>
                <a:ea typeface="Calibri" pitchFamily="34" charset="-122"/>
                <a:cs typeface="Calibri" pitchFamily="34" charset="-120"/>
              </a:rPr>
              <a:t>Levels 1 to 3 are process problems you can solve with decisions. Levels 4 and 5 need investment and time — which is why starting now matters more than starting perfectly.</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TAKEAWAYS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Five things worth remembering</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50</a:t>
            </a:r>
            <a:endParaRPr lang="en-US" sz="900" dirty="0"/>
          </a:p>
        </p:txBody>
      </p:sp>
      <p:sp>
        <p:nvSpPr>
          <p:cNvPr id="6" name="Shape 4"/>
          <p:cNvSpPr/>
          <p:nvPr/>
        </p:nvSpPr>
        <p:spPr>
          <a:xfrm>
            <a:off x="548640" y="1536192"/>
            <a:ext cx="11094415" cy="841248"/>
          </a:xfrm>
          <a:prstGeom prst="roundRect">
            <a:avLst>
              <a:gd name="adj" fmla="val 7609"/>
            </a:avLst>
          </a:prstGeom>
          <a:solidFill>
            <a:srgbClr val="F1F5F6"/>
          </a:solidFill>
          <a:ln w="12700">
            <a:solidFill>
              <a:srgbClr val="D7E2E5"/>
            </a:solidFill>
            <a:prstDash val="solid"/>
          </a:ln>
        </p:spPr>
      </p:sp>
      <p:sp>
        <p:nvSpPr>
          <p:cNvPr id="7" name="Shape 5"/>
          <p:cNvSpPr/>
          <p:nvPr/>
        </p:nvSpPr>
        <p:spPr>
          <a:xfrm>
            <a:off x="786384" y="1755648"/>
            <a:ext cx="402336" cy="402336"/>
          </a:xfrm>
          <a:prstGeom prst="ellipse">
            <a:avLst/>
          </a:prstGeom>
          <a:solidFill>
            <a:srgbClr val="0E7C7B"/>
          </a:solidFill>
          <a:ln w="12700">
            <a:solidFill>
              <a:srgbClr val="0E7C7B"/>
            </a:solidFill>
            <a:prstDash val="solid"/>
          </a:ln>
        </p:spPr>
      </p:sp>
      <p:sp>
        <p:nvSpPr>
          <p:cNvPr id="8" name="Text 6"/>
          <p:cNvSpPr txBox="1"/>
          <p:nvPr/>
        </p:nvSpPr>
        <p:spPr>
          <a:xfrm>
            <a:off x="786384" y="17556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35024" y="1655064"/>
            <a:ext cx="10033711" cy="603504"/>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Security is a safety property, not an IT concern</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If an attacker can make your device harm a patient, that is a hazardous situation and it belongs in your risk management file. The two processes stay distinct; the findings must connect.</a:t>
            </a:r>
            <a:endParaRPr lang="en-US" sz="1450" dirty="0"/>
          </a:p>
        </p:txBody>
      </p:sp>
      <p:sp>
        <p:nvSpPr>
          <p:cNvPr id="10" name="Shape 8"/>
          <p:cNvSpPr/>
          <p:nvPr/>
        </p:nvSpPr>
        <p:spPr>
          <a:xfrm>
            <a:off x="548640" y="2505456"/>
            <a:ext cx="11094415" cy="841248"/>
          </a:xfrm>
          <a:prstGeom prst="roundRect">
            <a:avLst>
              <a:gd name="adj" fmla="val 7609"/>
            </a:avLst>
          </a:prstGeom>
          <a:solidFill>
            <a:srgbClr val="F1F5F6"/>
          </a:solidFill>
          <a:ln w="12700">
            <a:solidFill>
              <a:srgbClr val="D7E2E5"/>
            </a:solidFill>
            <a:prstDash val="solid"/>
          </a:ln>
        </p:spPr>
      </p:sp>
      <p:sp>
        <p:nvSpPr>
          <p:cNvPr id="11" name="Shape 9"/>
          <p:cNvSpPr/>
          <p:nvPr/>
        </p:nvSpPr>
        <p:spPr>
          <a:xfrm>
            <a:off x="786384" y="2724912"/>
            <a:ext cx="402336" cy="402336"/>
          </a:xfrm>
          <a:prstGeom prst="ellipse">
            <a:avLst/>
          </a:prstGeom>
          <a:solidFill>
            <a:srgbClr val="2A9D8F"/>
          </a:solidFill>
          <a:ln w="12700">
            <a:solidFill>
              <a:srgbClr val="2A9D8F"/>
            </a:solidFill>
            <a:prstDash val="solid"/>
          </a:ln>
        </p:spPr>
      </p:sp>
      <p:sp>
        <p:nvSpPr>
          <p:cNvPr id="12" name="Text 10"/>
          <p:cNvSpPr txBox="1"/>
          <p:nvPr/>
        </p:nvSpPr>
        <p:spPr>
          <a:xfrm>
            <a:off x="786384" y="27249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35024" y="2624328"/>
            <a:ext cx="10033711" cy="603504"/>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The obligations are now lifecycle obligations</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Every recent change — 524B, PCCP, the maintenance expectations in the software guidance — moves the question from 'was it right at release?' to 'can you keep it right?'</a:t>
            </a:r>
            <a:endParaRPr lang="en-US" sz="1450" dirty="0"/>
          </a:p>
        </p:txBody>
      </p:sp>
      <p:sp>
        <p:nvSpPr>
          <p:cNvPr id="14" name="Shape 12"/>
          <p:cNvSpPr/>
          <p:nvPr/>
        </p:nvSpPr>
        <p:spPr>
          <a:xfrm>
            <a:off x="548640" y="3474720"/>
            <a:ext cx="11094415" cy="841248"/>
          </a:xfrm>
          <a:prstGeom prst="roundRect">
            <a:avLst>
              <a:gd name="adj" fmla="val 7609"/>
            </a:avLst>
          </a:prstGeom>
          <a:solidFill>
            <a:srgbClr val="F1F5F6"/>
          </a:solidFill>
          <a:ln w="12700">
            <a:solidFill>
              <a:srgbClr val="D7E2E5"/>
            </a:solidFill>
            <a:prstDash val="solid"/>
          </a:ln>
        </p:spPr>
      </p:sp>
      <p:sp>
        <p:nvSpPr>
          <p:cNvPr id="15" name="Shape 13"/>
          <p:cNvSpPr/>
          <p:nvPr/>
        </p:nvSpPr>
        <p:spPr>
          <a:xfrm>
            <a:off x="786384" y="3694176"/>
            <a:ext cx="402336" cy="402336"/>
          </a:xfrm>
          <a:prstGeom prst="ellipse">
            <a:avLst/>
          </a:prstGeom>
          <a:solidFill>
            <a:srgbClr val="C77C1E"/>
          </a:solidFill>
          <a:ln w="12700">
            <a:solidFill>
              <a:srgbClr val="C77C1E"/>
            </a:solidFill>
            <a:prstDash val="solid"/>
          </a:ln>
        </p:spPr>
      </p:sp>
      <p:sp>
        <p:nvSpPr>
          <p:cNvPr id="16" name="Text 14"/>
          <p:cNvSpPr txBox="1"/>
          <p:nvPr/>
        </p:nvSpPr>
        <p:spPr>
          <a:xfrm>
            <a:off x="786384"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35024" y="3593592"/>
            <a:ext cx="10033711" cy="603504"/>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You cannot manage what you have not inventoried</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SOUP list, SBOM, deployed fleet, component support horizons. Almost every hard problem in this seminar starts with not knowing what you have.</a:t>
            </a:r>
            <a:endParaRPr lang="en-US" sz="1450" dirty="0"/>
          </a:p>
        </p:txBody>
      </p:sp>
      <p:sp>
        <p:nvSpPr>
          <p:cNvPr id="18" name="Shape 16"/>
          <p:cNvSpPr/>
          <p:nvPr/>
        </p:nvSpPr>
        <p:spPr>
          <a:xfrm>
            <a:off x="548640" y="4443984"/>
            <a:ext cx="11094415" cy="841248"/>
          </a:xfrm>
          <a:prstGeom prst="roundRect">
            <a:avLst>
              <a:gd name="adj" fmla="val 7609"/>
            </a:avLst>
          </a:prstGeom>
          <a:solidFill>
            <a:srgbClr val="F1F5F6"/>
          </a:solidFill>
          <a:ln w="12700">
            <a:solidFill>
              <a:srgbClr val="D7E2E5"/>
            </a:solidFill>
            <a:prstDash val="solid"/>
          </a:ln>
        </p:spPr>
      </p:sp>
      <p:sp>
        <p:nvSpPr>
          <p:cNvPr id="19" name="Shape 17"/>
          <p:cNvSpPr/>
          <p:nvPr/>
        </p:nvSpPr>
        <p:spPr>
          <a:xfrm>
            <a:off x="786384" y="4663440"/>
            <a:ext cx="402336" cy="402336"/>
          </a:xfrm>
          <a:prstGeom prst="ellipse">
            <a:avLst/>
          </a:prstGeom>
          <a:solidFill>
            <a:srgbClr val="A83A3C"/>
          </a:solidFill>
          <a:ln w="12700">
            <a:solidFill>
              <a:srgbClr val="A83A3C"/>
            </a:solidFill>
            <a:prstDash val="solid"/>
          </a:ln>
        </p:spPr>
      </p:sp>
      <p:sp>
        <p:nvSpPr>
          <p:cNvPr id="20" name="Text 18"/>
          <p:cNvSpPr txBox="1"/>
          <p:nvPr/>
        </p:nvSpPr>
        <p:spPr>
          <a:xfrm>
            <a:off x="786384" y="46634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335024" y="4562856"/>
            <a:ext cx="10033711" cy="603504"/>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Updateability is the highest-leverage design decision</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Every other control defends against threats you have thought of. The ability to ship a fix defends against the ones you have not. It is the difference between a patch and a recall.</a:t>
            </a:r>
            <a:endParaRPr lang="en-US" sz="1450" dirty="0"/>
          </a:p>
        </p:txBody>
      </p:sp>
      <p:sp>
        <p:nvSpPr>
          <p:cNvPr id="22" name="Shape 20"/>
          <p:cNvSpPr/>
          <p:nvPr/>
        </p:nvSpPr>
        <p:spPr>
          <a:xfrm>
            <a:off x="548640" y="5413248"/>
            <a:ext cx="11094415" cy="841248"/>
          </a:xfrm>
          <a:prstGeom prst="roundRect">
            <a:avLst>
              <a:gd name="adj" fmla="val 7609"/>
            </a:avLst>
          </a:prstGeom>
          <a:solidFill>
            <a:srgbClr val="F1F5F6"/>
          </a:solidFill>
          <a:ln w="12700">
            <a:solidFill>
              <a:srgbClr val="D7E2E5"/>
            </a:solidFill>
            <a:prstDash val="solid"/>
          </a:ln>
        </p:spPr>
      </p:sp>
      <p:sp>
        <p:nvSpPr>
          <p:cNvPr id="23" name="Shape 21"/>
          <p:cNvSpPr/>
          <p:nvPr/>
        </p:nvSpPr>
        <p:spPr>
          <a:xfrm>
            <a:off x="786384" y="5632704"/>
            <a:ext cx="402336" cy="402336"/>
          </a:xfrm>
          <a:prstGeom prst="ellipse">
            <a:avLst/>
          </a:prstGeom>
          <a:solidFill>
            <a:srgbClr val="0E7C7B"/>
          </a:solidFill>
          <a:ln w="12700">
            <a:solidFill>
              <a:srgbClr val="0E7C7B"/>
            </a:solidFill>
            <a:prstDash val="solid"/>
          </a:ln>
        </p:spPr>
      </p:sp>
      <p:sp>
        <p:nvSpPr>
          <p:cNvPr id="24" name="Text 22"/>
          <p:cNvSpPr txBox="1"/>
          <p:nvPr/>
        </p:nvSpPr>
        <p:spPr>
          <a:xfrm>
            <a:off x="786384" y="56327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1335024" y="5532120"/>
            <a:ext cx="10033711" cy="603504"/>
          </a:xfrm>
          <a:prstGeom prst="rect">
            <a:avLst/>
          </a:prstGeom>
          <a:noFill/>
          <a:ln/>
        </p:spPr>
        <p:txBody>
          <a:bodyPr wrap="square" lIns="0" tIns="0" rIns="0" bIns="0" rtlCol="0" anchor="ctr"/>
          <a:lstStyle/>
          <a:p>
            <a:pPr indent="0" marL="0">
              <a:lnSpc>
                <a:spcPct val="105000"/>
              </a:lnSpc>
              <a:buNone/>
            </a:pPr>
            <a:r>
              <a:rPr lang="en-US" sz="1450" b="1" dirty="0">
                <a:solidFill>
                  <a:srgbClr val="1B3A4B"/>
                </a:solidFill>
                <a:latin typeface="Calibri" pitchFamily="34" charset="0"/>
                <a:ea typeface="Calibri" pitchFamily="34" charset="-122"/>
                <a:cs typeface="Calibri" pitchFamily="34" charset="-120"/>
              </a:rPr>
              <a:t>Integrate, or pay twice</a:t>
            </a:r>
            <a:endParaRPr lang="en-US" sz="1450" dirty="0"/>
          </a:p>
          <a:p>
            <a:pPr indent="0" marL="0">
              <a:lnSpc>
                <a:spcPct val="105000"/>
              </a:lnSpc>
              <a:buNone/>
            </a:pPr>
            <a:r>
              <a:rPr lang="en-US" sz="1150" dirty="0">
                <a:solidFill>
                  <a:srgbClr val="22333B"/>
                </a:solidFill>
                <a:latin typeface="Calibri" pitchFamily="34" charset="0"/>
                <a:ea typeface="Calibri" pitchFamily="34" charset="-122"/>
                <a:cs typeface="Calibri" pitchFamily="34" charset="-120"/>
              </a:rPr>
              <a:t>One requirements specification, one traceability matrix, one intake queue, one change process. Parallel programmes cost more and leave the interfaces unowned.</a:t>
            </a:r>
            <a:endParaRPr lang="en-US" sz="14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0E7C7B"/>
                </a:solidFill>
                <a:latin typeface="Calibri" pitchFamily="34" charset="0"/>
                <a:ea typeface="Calibri" pitchFamily="34" charset="-122"/>
                <a:cs typeface="Calibri" pitchFamily="34" charset="-120"/>
              </a:rPr>
              <a:t>RESOURCES</a:t>
            </a:r>
            <a:endParaRPr lang="en-US" sz="1100" dirty="0"/>
          </a:p>
        </p:txBody>
      </p:sp>
      <p:sp>
        <p:nvSpPr>
          <p:cNvPr id="3" name="Text 1"/>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B3A4B"/>
                </a:solidFill>
                <a:latin typeface="Cambria" pitchFamily="34" charset="0"/>
                <a:ea typeface="Cambria" pitchFamily="34" charset="-122"/>
                <a:cs typeface="Cambria" pitchFamily="34" charset="-120"/>
              </a:rPr>
              <a:t>Where to go next</a:t>
            </a:r>
            <a:endParaRPr lang="en-US" sz="3000" dirty="0"/>
          </a:p>
        </p:txBody>
      </p:sp>
      <p:sp>
        <p:nvSpPr>
          <p:cNvPr id="4" name="Text 2"/>
          <p:cNvSpPr txBox="1"/>
          <p:nvPr/>
        </p:nvSpPr>
        <p:spPr>
          <a:xfrm>
            <a:off x="548640" y="6419088"/>
            <a:ext cx="8229600" cy="256032"/>
          </a:xfrm>
          <a:prstGeom prst="rect">
            <a:avLst/>
          </a:prstGeom>
          <a:noFill/>
          <a:ln/>
        </p:spPr>
        <p:txBody>
          <a:bodyPr wrap="square" lIns="0" tIns="0" rIns="0" bIns="0" rtlCol="0" anchor="ctr"/>
          <a:lstStyle/>
          <a:p>
            <a:pPr indent="0" marL="0">
              <a:buNone/>
            </a:pPr>
            <a:r>
              <a:rPr lang="en-US" sz="900" dirty="0">
                <a:solidFill>
                  <a:srgbClr val="72868F"/>
                </a:solidFill>
                <a:latin typeface="Calibri" pitchFamily="34" charset="0"/>
                <a:ea typeface="Calibri" pitchFamily="34" charset="-122"/>
                <a:cs typeface="Calibri" pitchFamily="34" charset="-120"/>
              </a:rPr>
              <a:t>Software Validation &amp; Cybersecurity  |  Connected Devices &amp; SaMD</a:t>
            </a:r>
            <a:endParaRPr lang="en-US" sz="900" dirty="0"/>
          </a:p>
        </p:txBody>
      </p:sp>
      <p:sp>
        <p:nvSpPr>
          <p:cNvPr id="5" name="Text 3"/>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72868F"/>
                </a:solidFill>
                <a:latin typeface="Calibri" pitchFamily="34" charset="0"/>
                <a:ea typeface="Calibri" pitchFamily="34" charset="-122"/>
                <a:cs typeface="Calibri" pitchFamily="34" charset="-120"/>
              </a:rPr>
              <a:t>51</a:t>
            </a:r>
            <a:endParaRPr lang="en-US" sz="900" dirty="0"/>
          </a:p>
        </p:txBody>
      </p:sp>
      <p:sp>
        <p:nvSpPr>
          <p:cNvPr id="6" name="Text 4"/>
          <p:cNvSpPr txBox="1"/>
          <p:nvPr/>
        </p:nvSpPr>
        <p:spPr>
          <a:xfrm>
            <a:off x="548640" y="1298448"/>
            <a:ext cx="11094415" cy="365760"/>
          </a:xfrm>
          <a:prstGeom prst="rect">
            <a:avLst/>
          </a:prstGeom>
          <a:noFill/>
          <a:ln/>
        </p:spPr>
        <p:txBody>
          <a:bodyPr wrap="square" lIns="0" tIns="0" rIns="0" bIns="0" rtlCol="0" anchor="ctr"/>
          <a:lstStyle/>
          <a:p>
            <a:pPr indent="0" marL="0">
              <a:buNone/>
            </a:pPr>
            <a:r>
              <a:rPr lang="en-US" sz="1400" i="1" dirty="0">
                <a:solidFill>
                  <a:srgbClr val="4E626D"/>
                </a:solidFill>
                <a:latin typeface="Calibri" pitchFamily="34" charset="0"/>
                <a:ea typeface="Calibri" pitchFamily="34" charset="-122"/>
                <a:cs typeface="Calibri" pitchFamily="34" charset="-120"/>
              </a:rPr>
              <a:t>Confirm current versions before relying on any of these — several are revised periodically.</a:t>
            </a:r>
            <a:endParaRPr lang="en-US" sz="1400" dirty="0"/>
          </a:p>
        </p:txBody>
      </p:sp>
      <p:sp>
        <p:nvSpPr>
          <p:cNvPr id="7" name="Text 5"/>
          <p:cNvSpPr txBox="1"/>
          <p:nvPr/>
        </p:nvSpPr>
        <p:spPr>
          <a:xfrm>
            <a:off x="548640" y="1828800"/>
            <a:ext cx="5394960" cy="256032"/>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FDA GUIDANCE</a:t>
            </a:r>
            <a:endParaRPr lang="en-US" sz="1100" dirty="0"/>
          </a:p>
        </p:txBody>
      </p:sp>
      <p:sp>
        <p:nvSpPr>
          <p:cNvPr id="8" name="Shape 6"/>
          <p:cNvSpPr/>
          <p:nvPr/>
        </p:nvSpPr>
        <p:spPr>
          <a:xfrm>
            <a:off x="548640" y="2139696"/>
            <a:ext cx="5394960" cy="3877056"/>
          </a:xfrm>
          <a:prstGeom prst="roundRect">
            <a:avLst>
              <a:gd name="adj" fmla="val 1651"/>
            </a:avLst>
          </a:prstGeom>
          <a:solidFill>
            <a:srgbClr val="F1F5F6"/>
          </a:solidFill>
          <a:ln w="12700">
            <a:solidFill>
              <a:srgbClr val="D7E2E5"/>
            </a:solidFill>
            <a:prstDash val="solid"/>
          </a:ln>
        </p:spPr>
      </p:sp>
      <p:sp>
        <p:nvSpPr>
          <p:cNvPr id="9" name="Text 7"/>
          <p:cNvSpPr txBox="1"/>
          <p:nvPr/>
        </p:nvSpPr>
        <p:spPr>
          <a:xfrm>
            <a:off x="786384" y="2322576"/>
            <a:ext cx="4919472" cy="3511296"/>
          </a:xfrm>
          <a:prstGeom prst="rect">
            <a:avLst/>
          </a:prstGeom>
          <a:noFill/>
          <a:ln/>
        </p:spPr>
        <p:txBody>
          <a:bodyPr wrap="square" lIns="0" tIns="0" rIns="0" bIns="0" rtlCol="0" anchor="t"/>
          <a:lstStyle/>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Content of Premarket Submissions for Device Software Functions (FDA, June 2023)</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Cybersecurity in Medical Devices: Quality Management System Considerations and Content of Premarket Submissions (FDA, June 2025 — supersedes the September 2023 edition)</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Postmarket Management of Cybersecurity in Medical Devices (FDA, December 2016)</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General Principles of Software Validation (FDA, January 2002)</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Off-The-Shelf Software Use in Medical Devices (FDA)</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Deciding When to Submit a 510(k) for a Software Change to an Existing Device (FDA, October 2017)</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Marketing Submission Recommendations for a PCCP for AI-Enabled Device Software Functions (FDA, final, December 2024)</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Computer Software Assurance for Production and Quality Management System Software (FDA, final, September 2025)</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Clinical Decision Support Software (FDA, September 2022)</a:t>
            </a:r>
            <a:endParaRPr lang="en-US" sz="1040" dirty="0"/>
          </a:p>
        </p:txBody>
      </p:sp>
      <p:sp>
        <p:nvSpPr>
          <p:cNvPr id="10" name="Text 8"/>
          <p:cNvSpPr txBox="1"/>
          <p:nvPr/>
        </p:nvSpPr>
        <p:spPr>
          <a:xfrm>
            <a:off x="6245352" y="1828800"/>
            <a:ext cx="5394960" cy="256032"/>
          </a:xfrm>
          <a:prstGeom prst="rect">
            <a:avLst/>
          </a:prstGeom>
          <a:noFill/>
          <a:ln/>
        </p:spPr>
        <p:txBody>
          <a:bodyPr wrap="square" lIns="0" tIns="0" rIns="0" bIns="0" rtlCol="0" anchor="ctr"/>
          <a:lstStyle/>
          <a:p>
            <a:pPr indent="0" marL="0">
              <a:buNone/>
            </a:pPr>
            <a:r>
              <a:rPr lang="en-US" sz="1100" b="1" spc="120" kern="0" dirty="0">
                <a:solidFill>
                  <a:srgbClr val="C77C1E"/>
                </a:solidFill>
                <a:latin typeface="Calibri" pitchFamily="34" charset="0"/>
                <a:ea typeface="Calibri" pitchFamily="34" charset="-122"/>
                <a:cs typeface="Calibri" pitchFamily="34" charset="-120"/>
              </a:rPr>
              <a:t>STANDARDS, TECHNICAL REPORTS AND INTERNATIONAL</a:t>
            </a:r>
            <a:endParaRPr lang="en-US" sz="1100" dirty="0"/>
          </a:p>
        </p:txBody>
      </p:sp>
      <p:sp>
        <p:nvSpPr>
          <p:cNvPr id="11" name="Shape 9"/>
          <p:cNvSpPr/>
          <p:nvPr/>
        </p:nvSpPr>
        <p:spPr>
          <a:xfrm>
            <a:off x="6245352" y="2139696"/>
            <a:ext cx="5394960" cy="3877056"/>
          </a:xfrm>
          <a:prstGeom prst="roundRect">
            <a:avLst>
              <a:gd name="adj" fmla="val 1651"/>
            </a:avLst>
          </a:prstGeom>
          <a:solidFill>
            <a:srgbClr val="FBF0E2"/>
          </a:solidFill>
          <a:ln w="12700">
            <a:solidFill>
              <a:srgbClr val="E3C893"/>
            </a:solidFill>
            <a:prstDash val="solid"/>
          </a:ln>
        </p:spPr>
      </p:sp>
      <p:sp>
        <p:nvSpPr>
          <p:cNvPr id="12" name="Text 10"/>
          <p:cNvSpPr txBox="1"/>
          <p:nvPr/>
        </p:nvSpPr>
        <p:spPr>
          <a:xfrm>
            <a:off x="6483096" y="2322576"/>
            <a:ext cx="4919472" cy="3511296"/>
          </a:xfrm>
          <a:prstGeom prst="rect">
            <a:avLst/>
          </a:prstGeom>
          <a:noFill/>
          <a:ln/>
        </p:spPr>
        <p:txBody>
          <a:bodyPr wrap="square" lIns="0" tIns="0" rIns="0" bIns="0" rtlCol="0" anchor="t"/>
          <a:lstStyle/>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IEC 62304 — medical device software lifecycle processes</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IEC 81001-5-1 — security activities in the product lifecycle</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ISO 14971 and ISO/TR 24971 — risk management</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ISO 13485 — quality management systems (via QMSR)</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AAMI SW96 — security risk management for manufacturers</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AAMI TIR57 and TIR97 — security risk management and postmarket management</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AAMI TIR45 — agile practices in medical device software</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ISO/IEC 29147 and 30111 — vulnerability disclosure and handling</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IMDRF SaMD series (N10, N12, N23, N41); cybersecurity (N60) and legacy devices (N73)</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MITRE / MDIC — Medical Device Threat Modeling Playbook; Rubric for applying CVSS to medical devices</a:t>
            </a:r>
            <a:endParaRPr lang="en-US" sz="1040" dirty="0"/>
          </a:p>
          <a:p>
            <a:pPr marL="203200" indent="-203200">
              <a:lnSpc>
                <a:spcPct val="108000"/>
              </a:lnSpc>
              <a:spcAft>
                <a:spcPts val="700"/>
              </a:spcAft>
              <a:buSzPct val="100000"/>
              <a:buChar char="•"/>
            </a:pPr>
            <a:r>
              <a:rPr lang="en-US" sz="1040" dirty="0">
                <a:solidFill>
                  <a:srgbClr val="22333B"/>
                </a:solidFill>
                <a:latin typeface="Calibri" pitchFamily="34" charset="0"/>
                <a:ea typeface="Calibri" pitchFamily="34" charset="-122"/>
                <a:cs typeface="Calibri" pitchFamily="34" charset="-120"/>
              </a:rPr>
              <a:t>MDCG 2019-11 and MDCG 2019-16 — EU software qualification and cybersecurity</a:t>
            </a:r>
            <a:endParaRPr lang="en-US" sz="104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232E"/>
        </a:solidFill>
      </p:bgPr>
    </p:bg>
    <p:spTree>
      <p:nvGrpSpPr>
        <p:cNvPr id="1" name=""/>
        <p:cNvGrpSpPr/>
        <p:nvPr/>
      </p:nvGrpSpPr>
      <p:grpSpPr>
        <a:xfrm>
          <a:off x="0" y="0"/>
          <a:ext cx="0" cy="0"/>
          <a:chOff x="0" y="0"/>
          <a:chExt cx="0" cy="0"/>
        </a:xfrm>
      </p:grpSpPr>
      <p:sp>
        <p:nvSpPr>
          <p:cNvPr id="2" name="Text 0"/>
          <p:cNvSpPr txBox="1"/>
          <p:nvPr/>
        </p:nvSpPr>
        <p:spPr>
          <a:xfrm>
            <a:off x="548640" y="1371600"/>
            <a:ext cx="11094415" cy="310896"/>
          </a:xfrm>
          <a:prstGeom prst="rect">
            <a:avLst/>
          </a:prstGeom>
          <a:noFill/>
          <a:ln/>
        </p:spPr>
        <p:txBody>
          <a:bodyPr wrap="square" lIns="0" tIns="0" rIns="0" bIns="0" rtlCol="0" anchor="ctr"/>
          <a:lstStyle/>
          <a:p>
            <a:pPr indent="0" marL="0">
              <a:buNone/>
            </a:pPr>
            <a:r>
              <a:rPr lang="en-US" sz="1300" b="1" spc="240" kern="0" dirty="0">
                <a:solidFill>
                  <a:srgbClr val="2A9D8F"/>
                </a:solidFill>
                <a:latin typeface="Calibri" pitchFamily="34" charset="0"/>
                <a:ea typeface="Calibri" pitchFamily="34" charset="-122"/>
                <a:cs typeface="Calibri" pitchFamily="34" charset="-120"/>
              </a:rPr>
              <a:t>DISCUSSION</a:t>
            </a:r>
            <a:endParaRPr lang="en-US" sz="1300" dirty="0"/>
          </a:p>
        </p:txBody>
      </p:sp>
      <p:sp>
        <p:nvSpPr>
          <p:cNvPr id="3" name="Text 1"/>
          <p:cNvSpPr txBox="1"/>
          <p:nvPr/>
        </p:nvSpPr>
        <p:spPr>
          <a:xfrm>
            <a:off x="548640" y="1755648"/>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Questions</a:t>
            </a:r>
            <a:endParaRPr lang="en-US" sz="4000" dirty="0"/>
          </a:p>
        </p:txBody>
      </p:sp>
      <p:sp>
        <p:nvSpPr>
          <p:cNvPr id="4" name="Text 2"/>
          <p:cNvSpPr txBox="1"/>
          <p:nvPr/>
        </p:nvSpPr>
        <p:spPr>
          <a:xfrm>
            <a:off x="548640" y="2743200"/>
            <a:ext cx="7315200" cy="310896"/>
          </a:xfrm>
          <a:prstGeom prst="rect">
            <a:avLst/>
          </a:prstGeom>
          <a:noFill/>
          <a:ln/>
        </p:spPr>
        <p:txBody>
          <a:bodyPr wrap="square" lIns="0" tIns="0" rIns="0" bIns="0" rtlCol="0" anchor="ctr"/>
          <a:lstStyle/>
          <a:p>
            <a:pPr indent="0" marL="0">
              <a:buNone/>
            </a:pPr>
            <a:r>
              <a:rPr lang="en-US" sz="1300" i="1" dirty="0">
                <a:solidFill>
                  <a:srgbClr val="8FA6AE"/>
                </a:solidFill>
                <a:latin typeface="Calibri" pitchFamily="34" charset="0"/>
                <a:ea typeface="Calibri" pitchFamily="34" charset="-122"/>
                <a:cs typeface="Calibri" pitchFamily="34" charset="-120"/>
              </a:rPr>
              <a:t>If the room is quiet, start here:</a:t>
            </a:r>
            <a:endParaRPr lang="en-US" sz="1300" dirty="0"/>
          </a:p>
        </p:txBody>
      </p:sp>
      <p:sp>
        <p:nvSpPr>
          <p:cNvPr id="5" name="Shape 3"/>
          <p:cNvSpPr/>
          <p:nvPr/>
        </p:nvSpPr>
        <p:spPr>
          <a:xfrm>
            <a:off x="548640" y="3145536"/>
            <a:ext cx="9692640" cy="512064"/>
          </a:xfrm>
          <a:prstGeom prst="roundRect">
            <a:avLst>
              <a:gd name="adj" fmla="val 8929"/>
            </a:avLst>
          </a:prstGeom>
          <a:solidFill>
            <a:srgbClr val="1D3644"/>
          </a:solidFill>
          <a:ln w="12700">
            <a:solidFill>
              <a:srgbClr val="2E5162"/>
            </a:solidFill>
            <a:prstDash val="solid"/>
          </a:ln>
        </p:spPr>
      </p:sp>
      <p:sp>
        <p:nvSpPr>
          <p:cNvPr id="6" name="Text 4"/>
          <p:cNvSpPr txBox="1"/>
          <p:nvPr/>
        </p:nvSpPr>
        <p:spPr>
          <a:xfrm>
            <a:off x="822960" y="3145536"/>
            <a:ext cx="9144000" cy="512064"/>
          </a:xfrm>
          <a:prstGeom prst="rect">
            <a:avLst/>
          </a:prstGeom>
          <a:noFill/>
          <a:ln/>
        </p:spPr>
        <p:txBody>
          <a:bodyPr wrap="square" lIns="0" tIns="0" rIns="0" bIns="0" rtlCol="0" anchor="ctr"/>
          <a:lstStyle/>
          <a:p>
            <a:pPr indent="0" marL="0">
              <a:buNone/>
            </a:pPr>
            <a:r>
              <a:rPr lang="en-US" sz="1200" dirty="0">
                <a:solidFill>
                  <a:srgbClr val="D3E2E6"/>
                </a:solidFill>
                <a:latin typeface="Calibri" pitchFamily="34" charset="0"/>
                <a:ea typeface="Calibri" pitchFamily="34" charset="-122"/>
                <a:cs typeface="Calibri" pitchFamily="34" charset="-120"/>
              </a:rPr>
              <a:t>Which of the ten common findings would you least want to be asked about tomorrow?</a:t>
            </a:r>
            <a:endParaRPr lang="en-US" sz="1200" dirty="0"/>
          </a:p>
        </p:txBody>
      </p:sp>
      <p:sp>
        <p:nvSpPr>
          <p:cNvPr id="7" name="Shape 5"/>
          <p:cNvSpPr/>
          <p:nvPr/>
        </p:nvSpPr>
        <p:spPr>
          <a:xfrm>
            <a:off x="548640" y="3749040"/>
            <a:ext cx="9692640" cy="512064"/>
          </a:xfrm>
          <a:prstGeom prst="roundRect">
            <a:avLst>
              <a:gd name="adj" fmla="val 8929"/>
            </a:avLst>
          </a:prstGeom>
          <a:solidFill>
            <a:srgbClr val="1D3644"/>
          </a:solidFill>
          <a:ln w="12700">
            <a:solidFill>
              <a:srgbClr val="2E5162"/>
            </a:solidFill>
            <a:prstDash val="solid"/>
          </a:ln>
        </p:spPr>
      </p:sp>
      <p:sp>
        <p:nvSpPr>
          <p:cNvPr id="8" name="Text 6"/>
          <p:cNvSpPr txBox="1"/>
          <p:nvPr/>
        </p:nvSpPr>
        <p:spPr>
          <a:xfrm>
            <a:off x="822960" y="3749040"/>
            <a:ext cx="9144000" cy="512064"/>
          </a:xfrm>
          <a:prstGeom prst="rect">
            <a:avLst/>
          </a:prstGeom>
          <a:noFill/>
          <a:ln/>
        </p:spPr>
        <p:txBody>
          <a:bodyPr wrap="square" lIns="0" tIns="0" rIns="0" bIns="0" rtlCol="0" anchor="ctr"/>
          <a:lstStyle/>
          <a:p>
            <a:pPr indent="0" marL="0">
              <a:buNone/>
            </a:pPr>
            <a:r>
              <a:rPr lang="en-US" sz="1200" dirty="0">
                <a:solidFill>
                  <a:srgbClr val="D3E2E6"/>
                </a:solidFill>
                <a:latin typeface="Calibri" pitchFamily="34" charset="0"/>
                <a:ea typeface="Calibri" pitchFamily="34" charset="-122"/>
                <a:cs typeface="Calibri" pitchFamily="34" charset="-120"/>
              </a:rPr>
              <a:t>Who in your organisation would receive a vulnerability report — and what would happen in the first hour?</a:t>
            </a:r>
            <a:endParaRPr lang="en-US" sz="1200" dirty="0"/>
          </a:p>
        </p:txBody>
      </p:sp>
      <p:sp>
        <p:nvSpPr>
          <p:cNvPr id="9" name="Shape 7"/>
          <p:cNvSpPr/>
          <p:nvPr/>
        </p:nvSpPr>
        <p:spPr>
          <a:xfrm>
            <a:off x="548640" y="4352544"/>
            <a:ext cx="9692640" cy="512064"/>
          </a:xfrm>
          <a:prstGeom prst="roundRect">
            <a:avLst>
              <a:gd name="adj" fmla="val 8929"/>
            </a:avLst>
          </a:prstGeom>
          <a:solidFill>
            <a:srgbClr val="1D3644"/>
          </a:solidFill>
          <a:ln w="12700">
            <a:solidFill>
              <a:srgbClr val="2E5162"/>
            </a:solidFill>
            <a:prstDash val="solid"/>
          </a:ln>
        </p:spPr>
      </p:sp>
      <p:sp>
        <p:nvSpPr>
          <p:cNvPr id="10" name="Text 8"/>
          <p:cNvSpPr txBox="1"/>
          <p:nvPr/>
        </p:nvSpPr>
        <p:spPr>
          <a:xfrm>
            <a:off x="822960" y="4352544"/>
            <a:ext cx="9144000" cy="512064"/>
          </a:xfrm>
          <a:prstGeom prst="rect">
            <a:avLst/>
          </a:prstGeom>
          <a:noFill/>
          <a:ln/>
        </p:spPr>
        <p:txBody>
          <a:bodyPr wrap="square" lIns="0" tIns="0" rIns="0" bIns="0" rtlCol="0" anchor="ctr"/>
          <a:lstStyle/>
          <a:p>
            <a:pPr indent="0" marL="0">
              <a:buNone/>
            </a:pPr>
            <a:r>
              <a:rPr lang="en-US" sz="1200" dirty="0">
                <a:solidFill>
                  <a:srgbClr val="D3E2E6"/>
                </a:solidFill>
                <a:latin typeface="Calibri" pitchFamily="34" charset="0"/>
                <a:ea typeface="Calibri" pitchFamily="34" charset="-122"/>
                <a:cs typeface="Calibri" pitchFamily="34" charset="-120"/>
              </a:rPr>
              <a:t>Could you produce a complete component inventory for your lead product this week?</a:t>
            </a:r>
            <a:endParaRPr lang="en-US" sz="1200" dirty="0"/>
          </a:p>
        </p:txBody>
      </p:sp>
      <p:sp>
        <p:nvSpPr>
          <p:cNvPr id="11" name="Shape 9"/>
          <p:cNvSpPr/>
          <p:nvPr/>
        </p:nvSpPr>
        <p:spPr>
          <a:xfrm>
            <a:off x="548640" y="4956048"/>
            <a:ext cx="9692640" cy="512064"/>
          </a:xfrm>
          <a:prstGeom prst="roundRect">
            <a:avLst>
              <a:gd name="adj" fmla="val 8929"/>
            </a:avLst>
          </a:prstGeom>
          <a:solidFill>
            <a:srgbClr val="1D3644"/>
          </a:solidFill>
          <a:ln w="12700">
            <a:solidFill>
              <a:srgbClr val="2E5162"/>
            </a:solidFill>
            <a:prstDash val="solid"/>
          </a:ln>
        </p:spPr>
      </p:sp>
      <p:sp>
        <p:nvSpPr>
          <p:cNvPr id="12" name="Text 10"/>
          <p:cNvSpPr txBox="1"/>
          <p:nvPr/>
        </p:nvSpPr>
        <p:spPr>
          <a:xfrm>
            <a:off x="822960" y="4956048"/>
            <a:ext cx="9144000" cy="512064"/>
          </a:xfrm>
          <a:prstGeom prst="rect">
            <a:avLst/>
          </a:prstGeom>
          <a:noFill/>
          <a:ln/>
        </p:spPr>
        <p:txBody>
          <a:bodyPr wrap="square" lIns="0" tIns="0" rIns="0" bIns="0" rtlCol="0" anchor="ctr"/>
          <a:lstStyle/>
          <a:p>
            <a:pPr indent="0" marL="0">
              <a:buNone/>
            </a:pPr>
            <a:r>
              <a:rPr lang="en-US" sz="1200" dirty="0">
                <a:solidFill>
                  <a:srgbClr val="D3E2E6"/>
                </a:solidFill>
                <a:latin typeface="Calibri" pitchFamily="34" charset="0"/>
                <a:ea typeface="Calibri" pitchFamily="34" charset="-122"/>
                <a:cs typeface="Calibri" pitchFamily="34" charset="-120"/>
              </a:rPr>
              <a:t>What is your end-of-support date, and have you told anyone?</a:t>
            </a:r>
            <a:endParaRPr lang="en-US" sz="1200" dirty="0"/>
          </a:p>
        </p:txBody>
      </p:sp>
      <p:sp>
        <p:nvSpPr>
          <p:cNvPr id="13" name="Shape 11"/>
          <p:cNvSpPr/>
          <p:nvPr/>
        </p:nvSpPr>
        <p:spPr>
          <a:xfrm>
            <a:off x="548640" y="5559552"/>
            <a:ext cx="9692640" cy="512064"/>
          </a:xfrm>
          <a:prstGeom prst="roundRect">
            <a:avLst>
              <a:gd name="adj" fmla="val 8929"/>
            </a:avLst>
          </a:prstGeom>
          <a:solidFill>
            <a:srgbClr val="1D3644"/>
          </a:solidFill>
          <a:ln w="12700">
            <a:solidFill>
              <a:srgbClr val="2E5162"/>
            </a:solidFill>
            <a:prstDash val="solid"/>
          </a:ln>
        </p:spPr>
      </p:sp>
      <p:sp>
        <p:nvSpPr>
          <p:cNvPr id="14" name="Text 12"/>
          <p:cNvSpPr txBox="1"/>
          <p:nvPr/>
        </p:nvSpPr>
        <p:spPr>
          <a:xfrm>
            <a:off x="822960" y="5559552"/>
            <a:ext cx="9144000" cy="512064"/>
          </a:xfrm>
          <a:prstGeom prst="rect">
            <a:avLst/>
          </a:prstGeom>
          <a:noFill/>
          <a:ln/>
        </p:spPr>
        <p:txBody>
          <a:bodyPr wrap="square" lIns="0" tIns="0" rIns="0" bIns="0" rtlCol="0" anchor="ctr"/>
          <a:lstStyle/>
          <a:p>
            <a:pPr indent="0" marL="0">
              <a:buNone/>
            </a:pPr>
            <a:r>
              <a:rPr lang="en-US" sz="1200" dirty="0">
                <a:solidFill>
                  <a:srgbClr val="D3E2E6"/>
                </a:solidFill>
                <a:latin typeface="Calibri" pitchFamily="34" charset="0"/>
                <a:ea typeface="Calibri" pitchFamily="34" charset="-122"/>
                <a:cs typeface="Calibri" pitchFamily="34" charset="-120"/>
              </a:rPr>
              <a:t>Where are validation and security genuinely duplicating each other's work in your organisation?</a:t>
            </a:r>
            <a:endParaRPr lang="en-US" sz="1200" dirty="0"/>
          </a:p>
        </p:txBody>
      </p:sp>
      <p:sp>
        <p:nvSpPr>
          <p:cNvPr id="15" name="Text 13"/>
          <p:cNvSpPr txBox="1"/>
          <p:nvPr/>
        </p:nvSpPr>
        <p:spPr>
          <a:xfrm>
            <a:off x="548640" y="6144768"/>
            <a:ext cx="11094415" cy="310896"/>
          </a:xfrm>
          <a:prstGeom prst="rect">
            <a:avLst/>
          </a:prstGeom>
          <a:noFill/>
          <a:ln/>
        </p:spPr>
        <p:txBody>
          <a:bodyPr wrap="square" lIns="0" tIns="0" rIns="0" bIns="0" rtlCol="0" anchor="ctr"/>
          <a:lstStyle/>
          <a:p>
            <a:pPr indent="0" marL="0">
              <a:buNone/>
            </a:pPr>
            <a:r>
              <a:rPr lang="en-US" sz="1100" dirty="0">
                <a:solidFill>
                  <a:srgbClr val="6E8892"/>
                </a:solidFill>
                <a:latin typeface="Calibri" pitchFamily="34" charset="0"/>
                <a:ea typeface="Calibri" pitchFamily="34" charset="-122"/>
                <a:cs typeface="Calibri" pitchFamily="34" charset="-120"/>
              </a:rPr>
              <a:t>Workbook  ·  Exercise worksheets  ·  Quick-reference card  ·  Facilitator contact details</a:t>
            </a:r>
            <a:endParaRPr lang="en-US" sz="1100" dirty="0"/>
          </a:p>
        </p:txBody>
      </p:sp>
      <p:sp>
        <p:nvSpPr>
          <p:cNvPr id="16" name="Text 14"/>
          <p:cNvSpPr txBox="1"/>
          <p:nvPr/>
        </p:nvSpPr>
        <p:spPr>
          <a:xfrm>
            <a:off x="11155680" y="6419088"/>
            <a:ext cx="502920" cy="256032"/>
          </a:xfrm>
          <a:prstGeom prst="rect">
            <a:avLst/>
          </a:prstGeom>
          <a:noFill/>
          <a:ln/>
        </p:spPr>
        <p:txBody>
          <a:bodyPr wrap="square" lIns="0" tIns="0" rIns="0" bIns="0" rtlCol="0" anchor="ctr"/>
          <a:lstStyle/>
          <a:p>
            <a:pPr algn="r" indent="0" marL="0">
              <a:buNone/>
            </a:pPr>
            <a:r>
              <a:rPr lang="en-US" sz="900" dirty="0">
                <a:solidFill>
                  <a:srgbClr val="809AA4"/>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Validation &amp; Cybersecurity</dc:title>
  <dc:subject>Medical Device Seminar</dc:subject>
  <dc:creator>Seminar Facilitator</dc:creator>
  <cp:lastModifiedBy>Seminar Facilitator</cp:lastModifiedBy>
  <cp:revision>1</cp:revision>
  <dcterms:created xsi:type="dcterms:W3CDTF">2026-09-16T11:42:44Z</dcterms:created>
  <dcterms:modified xsi:type="dcterms:W3CDTF">2026-09-16T11:42:44Z</dcterms:modified>
</cp:coreProperties>
</file>