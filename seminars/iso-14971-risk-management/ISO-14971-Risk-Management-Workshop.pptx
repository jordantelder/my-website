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Lst>
  <p:notesMasterIdLst>
    <p:notesMasterId r:id="rId4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notesMaster" Target="notesMasters/notesMaster1.xml"/><Relationship Id="rId42" Type="http://schemas.openxmlformats.org/officeDocument/2006/relationships/presProps" Target="presProps.xml"/><Relationship Id="rId43" Type="http://schemas.openxmlformats.org/officeDocument/2006/relationships/viewProps" Target="viewProps.xml"/><Relationship Id="rId44" Type="http://schemas.openxmlformats.org/officeDocument/2006/relationships/theme" Target="theme/theme1.xml"/><Relationship Id="rId4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 | 1 min]
</a:t>
            </a:r>
          </a:p>
          <a:p>
            <a:r>
              <a:rPr lang="en-US" dirty="0"/>
              <a:t>Welcome. Say the promise plainly: today we do not learn the standard, we work a file. By the end you will have taken a real hazard row apart, rebuilt it, and written the deficiency you would have received for the original.
</a:t>
            </a:r>
          </a:p>
          <a:p>
            <a:r>
              <a:rPr lang="en-US" dirty="0"/>
              <a:t>Housekeeping: the participant handout is the reference, the exercise pack is what we write on, and the Excel toolkit is what you take back. Everything is sourced; the last slide tells you what to re-verify before you rely on it.
</a:t>
            </a:r>
          </a:p>
          <a:p>
            <a:r>
              <a:rPr lang="en-US" dirty="0"/>
              <a:t>Set expectations about level: this assumes you have a risk file. If anyone is starting from nothing, tell them the plan comes first and the toolkit's 'RM Plan' sheet is where to start.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[0:01 | 2 min]
</a:t>
            </a:r>
          </a:p>
          <a:p>
            <a:r>
              <a:rPr lang="en-US" dirty="0"/>
              <a:t>Open with the asymmetry. Three columns: what firms prepare, what reviewers actually do, and where the gap opens. The point is that risk files fail on traceability and on arithmetic that cannot be defended, not on missing procedures.
</a:t>
            </a:r>
          </a:p>
          <a:p>
            <a:r>
              <a:rPr lang="en-US" dirty="0"/>
              <a:t>Ask for a show of hands on the poll at the bottom. Typically most of the room has had at least one risk-management finding, and the most common single one is verification of effectiveness. Use whatever the room says as the thread for the rest of the session.
</a:t>
            </a:r>
          </a:p>
          <a:p>
            <a:r>
              <a:rPr lang="en-US" dirty="0"/>
              <a:t>If the room is quiet, name the three findings you see most: a probability with no stated basis, a control verified as implemented but never as effective, and an empty Clause 10 log on a device that has been on the market for four years.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[0:03 | 1 min]
</a:t>
            </a:r>
          </a:p>
          <a:p>
            <a:r>
              <a:rPr lang="en-US" dirty="0"/>
              <a:t>Read them once. These are deliberately verbs, not topics. Each one maps to an exercise: A is the chain, B is the red-team, C is the plan.
</a:t>
            </a:r>
          </a:p>
          <a:p>
            <a:r>
              <a:rPr lang="en-US" dirty="0"/>
              <a:t>Say what is out of scope so nobody waits for it: we are not covering IEC 62366-1 usability engineering as a discipline, not covering IEC 62304 software life cycle, and not covering security risk management beyond where it touches the risk file. The handout names the standards that carry those.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[0:04 | 1 min]
</a:t>
            </a:r>
          </a:p>
          <a:p>
            <a:r>
              <a:rPr lang="en-US" dirty="0"/>
              <a:t>Point at the three shaded blocks. Thirty-five of the ninety minutes are exercise time; that is deliberate for a workshop. If we overrun, the compression comes out of section 6, not out of the exercises.
</a:t>
            </a:r>
          </a:p>
          <a:p>
            <a:r>
              <a:rPr lang="en-US" dirty="0"/>
              <a:t>Flag the toolkit now so people know the Excel exists before Exercise C needs it.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[0:05]
</a:t>
            </a:r>
          </a:p>
          <a:p>
            <a:r>
              <a:rPr lang="en-US" dirty="0"/>
              <a:t>Thirteen minutes. The aim is not to teach the standard but to fix the four places where files break: the plan written too late, the chain collapsed into one row, the estimate with no basis, and the file that is a folder rather than an argument.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[0:06 | 2 min]
</a:t>
            </a:r>
          </a:p>
          <a:p>
            <a:r>
              <a:rPr lang="en-US" dirty="0"/>
              <a:t>Start with the definition because it is deliberately thin: Clause 3.25 defines the risk management file as the set of records and other documents produced by risk management. That is all. The content requirements are distributed: almost every clause ends with a sentence sending its output to the file.
</a:t>
            </a:r>
          </a:p>
          <a:p>
            <a:r>
              <a:rPr lang="en-US" dirty="0"/>
              <a:t>Clause 4.5 is where the obligation bites. It requires the file to provide TRACEABILITY for each identified hazard to the risk analysis, the risk evaluation, the risk control measures and the assessment of the acceptability of any residual risk. That is the sentence that turns a folder into a file, and it is the sentence people fail.
</a:t>
            </a:r>
          </a:p>
          <a:p>
            <a:r>
              <a:rPr lang="en-US" dirty="0"/>
              <a:t>The file may be a set of references. You do not have to physically bind the usability engineering file into it. You do have to be able to walk it. The toolkit's 'RM File Index' sheet is that index.</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[0:08 | 2 min]
</a:t>
            </a:r>
          </a:p>
          <a:p>
            <a:r>
              <a:rPr lang="en-US" dirty="0"/>
              <a:t>Walk the spine quickly: 4 sets up the system, 5 analyses, 6 evaluates, 7 controls, 8 evaluates the whole, 9 reviews and reports, 10 keeps it alive.
</a:t>
            </a:r>
          </a:p>
          <a:p>
            <a:r>
              <a:rPr lang="en-US" dirty="0"/>
              <a:t>Then stop on the three gold rows. 7.5 risks arising from risk control measures, 7.6 completeness of risk control, and 10 as a whole are the three that are most often absent. 
</a:t>
            </a:r>
          </a:p>
          <a:p>
            <a:r>
              <a:rPr lang="en-US" dirty="0"/>
              <a:t>Two structural points worth saying out loud. First, Clause 7 runs to 7.6, not 7.5 - if your procedure stops at 7.5 you are missing completeness. Second, Clause 6 routes an acceptable risk straight to 7.6 and tells you to treat the estimated risk as the residual risk: so 7.6 applies to every hazardous situation, acceptable or not. People assume the acceptable ones drop out of the process. They do not.
</a:t>
            </a:r>
          </a:p>
          <a:p>
            <a:r>
              <a:rPr lang="en-US" dirty="0"/>
              <a:t>Clause 2 is new in 2019 and says there are no normative references. That is a trap for anyone who thinks conforming to 14971 pulls in 24971: it does not. 24971 is a technical report, guidance only.</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[0:10 | 2 min]
</a:t>
            </a:r>
          </a:p>
          <a:p>
            <a:r>
              <a:rPr lang="en-US" dirty="0"/>
              <a:t>Clause 3 has 31 definitions. Three are new in the third edition, and they are not cosmetic: each one creates an obligation somewhere else in the standard.
</a:t>
            </a:r>
          </a:p>
          <a:p>
            <a:r>
              <a:rPr lang="en-US" dirty="0"/>
              <a:t>'Benefit' being defined for the first time is what makes Clause 7.4 and Clause 8 workable - you cannot weigh a benefit you have not characterised. 'Reasonably foreseeable misuse' is why 5.2 changed its title and why the use-related analysis has to reach beyond the IFU. 'State of the art' is now an input to the Clause 4.2 policy and a trigger in 10.3, which means a change in the state of the art obliges you to revisit the file even with no complaint and no failure.
</a:t>
            </a:r>
          </a:p>
          <a:p>
            <a:r>
              <a:rPr lang="en-US" dirty="0"/>
              <a:t>Worth noting the plumbing: most 2019 definitions are now sourced from ISO/IEC Guide 63:2019 rather than Guide 51, and defined terms are printed in italics in the body text so you can see them. 'Use error' comes from IEC 62366-1, which is the textual bridge to usability engineering.</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[0:12 | 3 min]
</a:t>
            </a:r>
          </a:p>
          <a:p>
            <a:r>
              <a:rPr lang="en-US" dirty="0"/>
              <a:t>This is the single highest-yield slide in section 1. Clause 4.4 requires seven things, a) to g). Read the list and then make the point: every one of them is a decision that has to be made BEFORE the analysis, and the most common finding in this area is a plan whose acceptability criteria were clearly written after the risk table was coloured in.
</a:t>
            </a:r>
          </a:p>
          <a:p>
            <a:r>
              <a:rPr lang="en-US" dirty="0"/>
              <a:t>Point at d) twice. It is two obligations, not one: the criteria themselves, derived from the manufacturer's policy for determining acceptable risk, AND the criteria for the case where the probability of occurrence of harm cannot be estimated. Almost every plan is silent on the second. Ask the room: does your plan say what you do when you cannot estimate a probability? Usually two or three hands.
</a:t>
            </a:r>
          </a:p>
          <a:p>
            <a:r>
              <a:rPr lang="en-US" dirty="0"/>
              <a:t>Then e). The method to evaluate overall residual risk and the criteria for its acceptability, declared in advance. If the plan does not say how Clause 8 will be done, Clause 8 cannot be done credibly, because the method will be chosen once the answer is visible.
</a:t>
            </a:r>
          </a:p>
          <a:p>
            <a:r>
              <a:rPr lang="en-US" dirty="0"/>
              <a:t>And g). The plan has to name the production and post-production activities. A plan that is silent here is why the Clause 10 log is empty three years later.</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[0:18]
</a:t>
            </a:r>
          </a:p>
          <a:p>
            <a:r>
              <a:rPr lang="en-US" dirty="0"/>
              <a:t>Twelve minutes. The message of this section is that the standard is the common language but not the legal requirement in either jurisdiction, and the gap is where findings live.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[0:19 | 3 min]
</a:t>
            </a:r>
          </a:p>
          <a:p>
            <a:r>
              <a:rPr lang="en-US" dirty="0"/>
              <a:t>Get the legal position exactly right, because people draw the wrong conclusion in both directions.
</a:t>
            </a:r>
          </a:p>
          <a:p>
            <a:r>
              <a:rPr lang="en-US" dirty="0"/>
              <a:t>ISO 14971 is NOT incorporated by reference into 21 CFR Part 820. Section 820.7 incorporates ISO 13485:2016. In the QMSR final rule FDA was asked to incorporate ISO 14971 as well and declined, saying the risk management requirements it needs are already captured through ISO 13485. That is the first half.
</a:t>
            </a:r>
          </a:p>
          <a:p>
            <a:r>
              <a:rPr lang="en-US" dirty="0"/>
              <a:t>The second half is the half people miss. Declining to incorporate 14971 did not reduce the obligation - it relocated it. Risk management is required through the ISO 13485 clauses that Part 820 does incorporate: 4.1.2 b) applies a risk-based approach to the QMS processes, 7.1 requires risk management in product realization, and the design, purchasing, production and measurement clauses each carry a risk interface. Compliance Program 7382.850 lists "Risk-based Approach" under Management Oversight as an inspectable element.
</a:t>
            </a:r>
          </a:p>
          <a:p>
            <a:r>
              <a:rPr lang="en-US" dirty="0"/>
              <a:t>So the practical answer to "is ISO 14971 mandatory for FDA?" is: the standard is not, the activity is. And arguing the first half in front of an investigator without the second half goes badly.
</a:t>
            </a:r>
          </a:p>
          <a:p>
            <a:r>
              <a:rPr lang="en-US" dirty="0"/>
              <a:t>Separately, ISO 14971:2019 is an FDA-recognized consensus standard, so you can declare conformity in a submission. The entry is recognition number 5-125, ISO 14971 Third edition 2019-12, with the extent of recognition given as the complete standard. It entered the database on 23 December 2019 and was published in Recognition List Number 053 at 85 FR 17584 on 30 March 2020, replacing recognition 5-40 for the 2007 edition. It was still unchanged in Recognition List Number 066 of 24 August 2026. Recognition is not incorporation: it supports a submission, it does not create a regulation. Check the entry before you cite it anyway, because recognition numbers and transition notices change.
</a:t>
            </a:r>
          </a:p>
          <a:p>
            <a:r>
              <a:rPr lang="en-US" dirty="0"/>
              <a:t>One more fact that makes the point better than any argument. Search the 78 pages of Compliance Program 7382.850 for the string 14971 and you get zero hits. The inspection program is written entirely against ISO 13485 clauses and 21 CFR Part 820. FDA inspects the activity without ever naming the standard.</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[0:22 | 3 min]
</a:t>
            </a:r>
          </a:p>
          <a:p>
            <a:r>
              <a:rPr lang="en-US" dirty="0"/>
              <a:t>This is the slide that changes how people write their GSPR matrix, so give it time.
</a:t>
            </a:r>
          </a:p>
          <a:p>
            <a:r>
              <a:rPr lang="en-US" dirty="0"/>
              <a:t>EN ISO 14971:2019 as amended by A11:2021 is a harmonised standard for the MDR. The citation is Commission Implementing Decision (EU) 2022/757 of 11 May 2022, published in OJ L 138 on 17 May 2022. It is also harmonised for the IVDR by Decision 2022/729. Both citations were still live on the Commission's summary list generated in June 2026, with no end of legal effect.
</a:t>
            </a:r>
          </a:p>
          <a:p>
            <a:r>
              <a:rPr lang="en-US" dirty="0"/>
              <a:t>Two facts that surprise people. First, there was no harmonised risk management standard under the MDR between 26 May 2021 and 17 May 2022. The base decision did not cite EN ISO 14971 because A11 did not exist yet. Second, A11:2021 does not change a word of the normative text. It replaces the European foreword and adds Annex ZA for the MDR and Annex ZB for the IVDR.
</a:t>
            </a:r>
          </a:p>
          <a:p>
            <a:r>
              <a:rPr lang="en-US" dirty="0"/>
              <a:t>Now the part that matters. Annex ZA is a correspondence table, and it is narrow: it addresses MDR Annex I Chapter I points 3, 4, 5, 8, and 9. Points 1, 2 and 7 are not listed as covered, and neither is any of Chapter II or Chapter III. So conformity with the standard gives you a presumption of conformity for the risk management system, the order of priority, use error and the benefit-risk minimisation requirement - and none at all for the benefit-risk requirement in point 1 or the AFAP definition in point 2.
</a:t>
            </a:r>
          </a:p>
          <a:p>
            <a:r>
              <a:rPr lang="en-US" dirty="0"/>
              <a:t>Kill the zombie while you are here: the seven content deviations that everyone still cites belong to EN ISO 14971:2012, which was withdrawn, with conflicting national standards withdrawn by 30 June 2020. A11:2021 has no content deviations. If your gap analysis is built on the seven deviations, it is built on a withdrawn standard.
</a:t>
            </a:r>
          </a:p>
          <a:p>
            <a:r>
              <a:rPr lang="en-US" dirty="0"/>
              <a:t>MDCG 2021-5 rev.1 is the authority on what an Annex Z is: it identifies the requirements NOT covered, and presumption of conformity can be claimed only for what the Annex Z lists as covered.</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[0:25 | 3 min]
</a:t>
            </a:r>
          </a:p>
          <a:p>
            <a:r>
              <a:rPr lang="en-US" dirty="0"/>
              <a:t>The cleanest way to make this land is by what is absent from the text. The word ALARP does not appear anywhere in the MDR. Neither does any reference to economic considerations. The old Medical Devices Directive had a recital permitting "technical and economical considerations compatible with a high level of protection of health and safety" - and that recital was not carried into the MDR.
</a:t>
            </a:r>
          </a:p>
          <a:p>
            <a:r>
              <a:rPr lang="en-US" dirty="0"/>
              <a:t>So the MDR's only stated limit on how far you must reduce a risk is the one in Annex I point 2: without adversely affecting the benefit-risk ratio. Not cost, not schedule, not manufacturability.
</a:t>
            </a:r>
          </a:p>
          <a:p>
            <a:r>
              <a:rPr lang="en-US" dirty="0"/>
              <a:t>Practical consequence, and this is the one that generates findings: a risk your matrix calls acceptable still has to be reduced as far as possible. "It is in the green zone" is not a stopping argument in the EU. What you need in the file is a record of the control options you considered and why the higher-priority ones were not practicable - on a basis that is not economic.
</a:t>
            </a:r>
          </a:p>
          <a:p>
            <a:r>
              <a:rPr lang="en-US" dirty="0"/>
              <a:t>Where does the ALARP-versus-AFAP choice actually live in the standards system? ISO/TR 24971:2020 Annex C, as guidance on the Clause 4.2 policy for establishing risk acceptability criteria. It sets out the possible elements of that policy and lists the approaches: ALARP, AFAP, ALARA, ALAP. The standard does not choose for you; your policy does, and for an EU device the regulation constrains the choice.
</a:t>
            </a:r>
          </a:p>
          <a:p>
            <a:r>
              <a:rPr lang="en-US" dirty="0"/>
              <a:t>One asymmetry worth a footnote: the IVDR has recital 13 tying AFAP to the generally acknowledged state of the art in medicine. The MDR has no equivalent recital - its state-of-the-art hook sits in Annex I points 1 and 4 instead.</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[0:28 | 2 min]
</a:t>
            </a:r>
          </a:p>
          <a:p>
            <a:r>
              <a:rPr lang="en-US" dirty="0"/>
              <a:t>Close the section by lowering the temperature. For a firm selling into both markets, the overlap is large and the differences are narrow but sharp.
</a:t>
            </a:r>
          </a:p>
          <a:p>
            <a:r>
              <a:rPr lang="en-US" dirty="0"/>
              <a:t>Read the three differences out. The AFAP-versus-acceptability difference is the one that changes your file. The individual benefit-risk expectation is the one that changes your record count - Team-NB's best practice guidance on technical documentation, now at V4 adopted 21 April 2026, says plainly that the MDR does not permit risk acceptance on RPN alone or on a "green" zone, and that acceptability of each risk must be decided individually against predefined criteria. That wording is identical in V3 and V4, so it has been their position for over a year. The third is a documentation-location difference, not a substance difference.
</a:t>
            </a:r>
          </a:p>
          <a:p>
            <a:r>
              <a:rPr lang="en-US" dirty="0"/>
              <a:t>If someone asks "so can I run one risk file for both markets?" - yes, and you should. Build to the stricter test, which is the EU's, and make sure the FDA-facing trail through the ISO 13485 clauses is visible. The handout has the two-column mapping.</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[0:30]
</a:t>
            </a:r>
          </a:p>
          <a:p>
            <a:r>
              <a:rPr lang="en-US" dirty="0"/>
              <a:t>Move people into groups of three or four now, before you explain the exercise. Exercise pack page 2.</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[0:31 | 2 min]
</a:t>
            </a:r>
          </a:p>
          <a:p>
            <a:r>
              <a:rPr lang="en-US" dirty="0"/>
              <a:t>Draw the chain on the board as you talk, because the picture is the whole teaching point. Hazard is a potential source of harm. It does nothing on its own. A foreseeable sequence of events turns it into a hazardous situation, which is a circumstance in which people are exposed to the hazard. Only then can harm occur, and whether it does is a separate question.
</a:t>
            </a:r>
          </a:p>
          <a:p>
            <a:r>
              <a:rPr lang="en-US" dirty="0"/>
              <a:t>The two probabilities sit at two different arrows. P1 is the probability that the hazardous situation arises. P2 is the conditional probability that the hazardous situation leads to the harm. Their product is the probability of occurrence of harm. Annex C.5 of the standard and Clause 5.5 of ISO/TR 24971 describe the decomposition.
</a:t>
            </a:r>
          </a:p>
          <a:p>
            <a:r>
              <a:rPr lang="en-US" dirty="0"/>
              <a:t>Why separate them? Because they are defended with completely different evidence. P1 is engineering and field data. P2 is clinical: who is exposed, for how long, is the harm detectable, is it reversible, does anyone intervene in time. Most files that combine them into one number cannot defend either half, and a reviewer who asks "which half of this number is clinical?" gets silence.
</a:t>
            </a:r>
          </a:p>
          <a:p>
            <a:r>
              <a:rPr lang="en-US" dirty="0"/>
              <a:t>The rule that follows: one row per hazardous situation, not one row per hazard. A single hazard, say stored energy in a compliant fluid path, reaches several hazardous situations by several sequences, and each carries its own probability.</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[0:33 | 1 min]
</a:t>
            </a:r>
          </a:p>
          <a:p>
            <a:r>
              <a:rPr lang="en-US" dirty="0"/>
              <a:t>Read the three steps. Emphasise step 3: the deficiency wording matters more than the rebuilt row, because writing the finding is what makes people see the gap. Ten minutes in groups, five minutes taking answers from two or three tables.
</a:t>
            </a:r>
          </a:p>
          <a:p>
            <a:r>
              <a:rPr lang="en-US" dirty="0"/>
              <a:t>The device is a programmable ambulatory infusion pump for home use with a single-use administration set. Same device as the toolkit, so the exercise and the Excel line up.
</a:t>
            </a:r>
          </a:p>
          <a:p>
            <a:r>
              <a:rPr lang="en-US" dirty="0"/>
              <a:t>Circulate. The two things to nudge: groups that produce one rebuilt row rather than several, and groups that write a P1 with no basis. Ask "where did that 4 come from?" and let them hear themselves answer.</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[0:34 | 1 min]
</a:t>
            </a:r>
          </a:p>
          <a:p>
            <a:r>
              <a:rPr lang="en-US" dirty="0"/>
              <a:t>Put it up and say nothing for ten seconds. Let them read it.
</a:t>
            </a:r>
          </a:p>
          <a:p>
            <a:r>
              <a:rPr lang="en-US" dirty="0"/>
              <a:t>Then start the clock. Do not pre-empt the findings - the value is in them finding them.
</a:t>
            </a:r>
          </a:p>
          <a:p>
            <a:r>
              <a:rPr lang="en-US" dirty="0"/>
              <a:t>This row is HZ-15 in the Excel toolkit, so people can see it in situ afterwards.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[0:44 | 2 min]
</a:t>
            </a:r>
          </a:p>
          <a:p>
            <a:r>
              <a:rPr lang="en-US" dirty="0"/>
              <a:t>Take answers first, then show this. The key move is that one line about the pumping mechanism becomes three rows because there are three distinct hazardous situations reached by three distinct sequences - and their severities and probabilities are genuinely different.
</a:t>
            </a:r>
          </a:p>
          <a:p>
            <a:r>
              <a:rPr lang="en-US" dirty="0"/>
              <a:t>Walk the middle row as the exemplar. Hazard: stored mechanical energy in the compliant fluid path. Sequence: a downstream occlusion raises line pressure, the occlusion clears, the stored volume is released before the pump can decompress the line. Hazardous situation: the patient receives a bolus above the prescribed rate. Harm: over-infusion causing hypotension and respiratory depression. P1 = 4 from the complaint trend, P2 = 4 from the clinical argument about an unattended home-use patient, severity 4.
</a:t>
            </a:r>
          </a:p>
          <a:p>
            <a:r>
              <a:rPr lang="en-US" dirty="0"/>
              <a:t>Make the P1-versus-P2 point concrete by comparing rows 2 and 3: the same hazard category, but under-infusion has a lower severity and a different P2 because loss of therapy is usually detectable and recoverable, whereas the bolus is not.
</a:t>
            </a:r>
          </a:p>
          <a:p>
            <a:r>
              <a:rPr lang="en-US" dirty="0"/>
              <a:t>Then the GSPR links. This device supplies substances to the patient, so Annex I point 21 is directly on point: 21.1 requires the amount delivered to be set and maintained accurately, and 21.2 requires means of preventing or indicating inadequacies in the amount delivered. Most files cite point 4 and stop. Citing 21.1 and 21.2 is what tells a reviewer you read Chapter II.</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[0:46 | 1 min]
</a:t>
            </a:r>
          </a:p>
          <a:p>
            <a:r>
              <a:rPr lang="en-US" dirty="0"/>
              <a:t>Quick. These are the recurring patterns; naming them is what makes the lesson stick beyond today.
</a:t>
            </a:r>
          </a:p>
          <a:p>
            <a:r>
              <a:rPr lang="en-US" dirty="0"/>
              <a:t>The fourth one is the subtle one and worth twenty seconds: people write the harm as the clinical event that would be reported rather than as the harm the patient experiences. "MDR reportable event" is not a harm. "Hypotension requiring intervention" is.</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[0:45]
</a:t>
            </a:r>
          </a:p>
          <a:p>
            <a:r>
              <a:rPr lang="en-US" dirty="0"/>
              <a:t>Thirteen minutes. Everything here is Clause 7 and Clause 8. The single most valuable idea in the section is that 7.3, 7.4 and 8 are three different questions.</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[0:46 | 3 min]
</a:t>
            </a:r>
          </a:p>
          <a:p>
            <a:r>
              <a:rPr lang="en-US" dirty="0"/>
              <a:t>Both texts say the same thing and both say it as a sequence. ISO 14971 Clause 7.1 and MDR Annex I point 4 give three options in a fixed order, and MDR point 4 is worth quoting because the wording is unambiguous: "In selecting the most appropriate solutions, manufacturers shall, in the following order of priority". Shall, and in this order.
</a:t>
            </a:r>
          </a:p>
          <a:p>
            <a:r>
              <a:rPr lang="en-US" dirty="0"/>
              <a:t>The obligation this creates is a documentation obligation. You do not have to use option 1. You have to be able to show you considered it and why it was not practicable. A file full of category 3 controls with no option analysis behind them is the commonest Clause 7.1 finding.
</a:t>
            </a:r>
          </a:p>
          <a:p>
            <a:r>
              <a:rPr lang="en-US" dirty="0"/>
              <a:t>And note what point 4 requires before the list: that the residual risk associated with EACH hazard AND the overall residual risk be judged acceptable. Both, separately.
</a:t>
            </a:r>
          </a:p>
          <a:p>
            <a:r>
              <a:rPr lang="en-US" dirty="0"/>
              <a:t>Then the sting in the tail of point 4, which people forget because it sits after the list: "Manufacturers shall inform users of any residual risks." Not significant residual risks - any. That is a broader disclosure obligation than the one in ISO 14971 Clause 8, which speaks of significant residual risks in the accompanying documentation.
</a:t>
            </a:r>
          </a:p>
          <a:p>
            <a:r>
              <a:rPr lang="en-US" dirty="0"/>
              <a:t>Last point, and make it firmly: information for safety does not reduce the probability that the hazardous situation arises. A warning cannot stop an occlusion forming. It may reduce P2 if it changes what the user does in time. If your file shows a category 3 control dropping P1 by three bands, that is the row a reviewer will open first.</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[0:49 | 3 min]
</a:t>
            </a:r>
          </a:p>
          <a:p>
            <a:r>
              <a:rPr lang="en-US" dirty="0"/>
              <a:t>If you take one slide home, take this one. Clause 7.2 requires verification of the implementation of each risk control measure, and verification of the effectiveness of each risk control measure. Two verifications. Two records. Different evidence.
</a:t>
            </a:r>
          </a:p>
          <a:p>
            <a:r>
              <a:rPr lang="en-US" dirty="0"/>
              <a:t>Implementation is: is the control actually in the product as designed? A drawing revision, a build record, an incoming inspection result, a code review.
</a:t>
            </a:r>
          </a:p>
          <a:p>
            <a:r>
              <a:rPr lang="en-US" dirty="0"/>
              <a:t>Effectiveness is: does it do the job it was credited with in the risk estimate? That is a harder question and it is the one that gets skipped, because the answer has to connect back to the number you wrote in the residual risk column. If you credited a control with dropping P1 from 4 to 2, the effectiveness record has to support a factor-of-a-hundred claim.
</a:t>
            </a:r>
          </a:p>
          <a:p>
            <a:r>
              <a:rPr lang="en-US" dirty="0"/>
              <a:t>The table gives the pattern per control category. Look at the bottom row, because it is where most files fail: for information for safety, effectiveness is comprehension and behaviour, not the existence of an approved IFU. An IFU approval record proves implementation. It proves nothing about effectiveness. The only credible effectiveness evidence for a category 3 control is usability evidence that users read it, understood it and acted on it - which is the IEC 62366-1 bridge.
</a:t>
            </a:r>
          </a:p>
          <a:p>
            <a:r>
              <a:rPr lang="en-US" dirty="0"/>
              <a:t>FDA reaches this through ISO 13485 Clause 7.3 design verification and validation; a notified body reaches it through Annex ZA point 4. Both arrive at the same place.</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[0:52 | 2 min]
</a:t>
            </a:r>
          </a:p>
          <a:p>
            <a:r>
              <a:rPr lang="en-US" dirty="0"/>
              <a:t>Clause 7.5 requires you to review the effects of the risk control measures themselves, for two things: new hazards or hazardous situations introduced, and whether the estimated risks for previously identified hazardous situations are affected. And then any new or increased risks are managed in accordance with 5.5 through 7.4 - which means they go back through estimation, evaluation, control and residual risk. They get rows.
</a:t>
            </a:r>
          </a:p>
          <a:p>
            <a:r>
              <a:rPr lang="en-US" dirty="0"/>
              <a:t>The examples on the left are real and worth reading out, because they make the clause concrete rather than procedural. The escalating alarm that solves audibility creates alarm fatigue. The DEHP-free set that solves leachables changes stiffness and therefore pumping accuracy. The stronger pouch seal that solves sterility makes aseptic opening harder.
</a:t>
            </a:r>
          </a:p>
          <a:p>
            <a:r>
              <a:rPr lang="en-US" dirty="0"/>
              <a:t>Clause 7.6 is completeness: confirm that the risks from all identified hazardous situations have been considered. And remember the routing from Clause 6 - an acceptable risk goes straight to 7.6 and its estimated risk is treated as the residual risk. So 7.6 covers every hazardous situation, including the ones you never controlled. Procedures that stop at 7.5 miss this entirely.</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[0:54 | 2 min]
</a:t>
            </a:r>
          </a:p>
          <a:p>
            <a:r>
              <a:rPr lang="en-US" dirty="0"/>
              <a:t>This is the conceptual centre of the section. Three questions, three records, and people routinely answer them as one.
</a:t>
            </a:r>
          </a:p>
          <a:p>
            <a:r>
              <a:rPr lang="en-US" dirty="0"/>
              <a:t>7.3 is per risk: is this residual risk acceptable against the criteria the plan declared? If yes, done, move on. If no, go to 7.4.
</a:t>
            </a:r>
          </a:p>
          <a:p>
            <a:r>
              <a:rPr lang="en-US" dirty="0"/>
              <a:t>7.4 is conditional and per risk: it applies only where the residual risk is not acceptable AND further risk control is not practicable. Then you gather and review data and literature to decide whether the benefits of the intended use outweigh that residual risk. Note the two gates: not acceptable, and no further control practicable. A benefit-risk analysis used as a shortcut around risk control is a finding, not a conclusion.
</a:t>
            </a:r>
          </a:p>
          <a:p>
            <a:r>
              <a:rPr lang="en-US" dirty="0"/>
              <a:t>8 is not per risk at all. It asks whether the overall residual risk of the device is acceptable, by the method the plan declared, against the criteria the plan declared. Several individually acceptable risks can be collectively unacceptable - especially where they share a cause, or where safety rests on a stack of warnings. The toolkit's Residual Risk sheet lists the nine inputs a credible Clause 8 evaluation considers.
</a:t>
            </a:r>
          </a:p>
          <a:p>
            <a:r>
              <a:rPr lang="en-US" dirty="0"/>
              <a:t>If Clause 8 in your file is a sentence saying "the overall residual risk is acceptable" under a table of green cells, you do not have a Clause 8 evaluation. You have a roll-up.</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[0:58]
</a:t>
            </a:r>
          </a:p>
          <a:p>
            <a:r>
              <a:rPr lang="en-US" dirty="0"/>
              <a:t>Same groups. Exercise pack page 4.</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[0:58 | 1 min]
</a:t>
            </a:r>
          </a:p>
          <a:p>
            <a:r>
              <a:rPr lang="en-US" dirty="0"/>
              <a:t>Read the brief. Nine minutes in groups, five taking answers.
</a:t>
            </a:r>
          </a:p>
          <a:p>
            <a:r>
              <a:rPr lang="en-US" dirty="0"/>
              <a:t>Tell them there are at least six defensible findings in the excerpt and that the group that finds the most is not necessarily the winner - the group whose findings cite the right clause is.
</a:t>
            </a:r>
          </a:p>
          <a:p>
            <a:r>
              <a:rPr lang="en-US" dirty="0"/>
              <a:t>The trap to watch for: groups that only critique the numbers. The deeper findings are structural: the order of priority not worked, the effectiveness verification absent, the disclosure obligation unmet.</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[0:59 | 1 min]
</a:t>
            </a:r>
          </a:p>
          <a:p>
            <a:r>
              <a:rPr lang="en-US" dirty="0"/>
              <a:t>Put it up and start the clock. Do not narrate.</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[1:08 | 4 min]
</a:t>
            </a:r>
          </a:p>
          <a:p>
            <a:r>
              <a:rPr lang="en-US" dirty="0"/>
              <a:t>Take the room's findings first, one per table, and write them up. Then show this and fill the gaps.
</a:t>
            </a:r>
          </a:p>
          <a:p>
            <a:r>
              <a:rPr lang="en-US" dirty="0"/>
              <a:t>Finding 1 is the major. A category 3 control - a warning in the IFU - is credited with taking P1 from 5 to 1 and P2 from 5 to 1. That is a claim that a sentence in an instruction manual reduced the probability of the hazardous situation arising by four bands. Information for safety does not do that. And the effectiveness verification that would have to support it is blank. This is the row that fails the file.
</a:t>
            </a:r>
          </a:p>
          <a:p>
            <a:r>
              <a:rPr lang="en-US" dirty="0"/>
              <a:t>Finding 2 is the structural twin: the order of priority was never worked on HZ-16. The justification field is empty. Before adding a warning, the file has to show that inherent safety by design and protective measures were considered. For an alarm-silence hazard the obvious category 2 control is a time-limited silence that re-arms automatically - so option 2 was available and is not discussed.
</a:t>
            </a:r>
          </a:p>
          <a:p>
            <a:r>
              <a:rPr lang="en-US" dirty="0"/>
              <a:t>Finding 3 is the one people miss and it is a good one: HZ-11's justification cites cost. "Single-patient-use durable rejected on cost of therapy" is not an admissible argument under MDR Annex I point 2, where the only permitted limit on reducing risks as far as possible is the benefit-risk ratio. The thermal argument is fine. The cost argument has to come out.
</a:t>
            </a:r>
          </a:p>
          <a:p>
            <a:r>
              <a:rPr lang="en-US" dirty="0"/>
              <a:t>Finding 4: HZ-16 has no residual risk disclosure reference, and its safety rests entirely on information. Clause 8 and MDR point 4 both bite.
</a:t>
            </a:r>
          </a:p>
          <a:p>
            <a:r>
              <a:rPr lang="en-US" dirty="0"/>
              <a:t>Finding 5: "Engineering judgement" is not a basis under Clause 5.5.
</a:t>
            </a:r>
          </a:p>
          <a:p>
            <a:r>
              <a:rPr lang="en-US" dirty="0"/>
              <a:t>Finding 6: no Clause 7.5 assessment for HZ-16's control - an auto-silence warning changes user behaviour and can create a new hazardous situation.
</a:t>
            </a:r>
          </a:p>
          <a:p>
            <a:r>
              <a:rPr lang="en-US" dirty="0"/>
              <a:t>Finding 7: the GSPR link on HZ-16 is point 1 only. This is a use-error hazard with an alarm: points 5, 18.4 and 21.2 are on point.
</a:t>
            </a:r>
          </a:p>
          <a:p>
            <a:r>
              <a:rPr lang="en-US" dirty="0"/>
              <a:t>End with the fairness note: HZ-11 is a good row. Its numbers are honest - a category 3 control that changed nothing numerically, which is exactly right - and it has both verifications, a disclosure reference and a 7.5 assessment. The only thing wrong with it is one clause of its justification. Praise it, because it shows the room what "good" looks like.</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[1:12 | 2 min]
</a:t>
            </a:r>
          </a:p>
          <a:p>
            <a:r>
              <a:rPr lang="en-US" dirty="0"/>
              <a:t>This is the generalisation from Exercise B, and it is the slide people photograph. Six moves, in order. It is not a document review, it is a traversal, and it always starts from the device rather than from the file.
</a:t>
            </a:r>
          </a:p>
          <a:p>
            <a:r>
              <a:rPr lang="en-US" dirty="0"/>
              <a:t>Say the pattern out loud: they pick the hazard, not you. They pick it from the device's clinical profile, from your own complaint data, or from the recall history of devices like yours. Then they walk one row end to end and see whether the file holds. If it holds for the row they picked at random, they believe the rest. If it breaks, they pick three more.
</a:t>
            </a:r>
          </a:p>
          <a:p>
            <a:r>
              <a:rPr lang="en-US" dirty="0"/>
              <a:t>Mention Team-NB's best practice guidance on technical documentation for the documentation expectations. It is now at V4, adopted 21 April 2026, and it replaced the V3 of 9 April 2025 that most people are still citing. Section 5 is Benefit-Risk Analysis and Risk Management, and section 5.5 is a named list of common pitfalls in risk management observed by notified bodies. It expects you to state whether your risk management process is based on EN ISO 14971; no acceptance on RPN alone; no green zone; each risk decided individually against predefined criteria; a statement that the clinical benefits outweigh all the residual risks; and three distinct risk assessments - design, production and process, and clinical or application - which catches firms that have only the design one.
</a:t>
            </a:r>
          </a:p>
          <a:p>
            <a:r>
              <a:rPr lang="en-US" dirty="0"/>
              <a:t>Worth saying out loud what V4 added, because it is exactly the finding the room just wrote in Exercise B: a new pitfall for a warning or caution in the instructions for use offered as a risk control without usability-engineering evidence of its effectiveness. A notified-body association wrote that down as a named pitfall in April 2026. If your file does that, it is not an obscure risk, it is on their list.</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[1:12]
</a:t>
            </a:r>
          </a:p>
          <a:p>
            <a:r>
              <a:rPr lang="en-US" dirty="0"/>
              <a:t>Ten minutes. This is the section to compress if we are behind, but try not to: it is the one that fails most often in the field.</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[1:13 | 3 min]
</a:t>
            </a:r>
          </a:p>
          <a:p>
            <a:r>
              <a:rPr lang="en-US" dirty="0"/>
              <a:t>Clause 10 has four subclauses. 10.1 general, 10.2 information collection, 10.3 information review, 10.4 actions. The plan has to name the activities under 4.4 g), and this is the clause most often found empty on a device that has been marketed for years.
</a:t>
            </a:r>
          </a:p>
          <a:p>
            <a:r>
              <a:rPr lang="en-US" dirty="0"/>
              <a:t>10.2 is the list of sources. Read a few: information generated during production and monitoring of the production process, information from the user, from installation and servicing, publicly available information, and information on the generally acknowledged state of the art. That last one is the one nobody collects, and it is a named source.
</a:t>
            </a:r>
          </a:p>
          <a:p>
            <a:r>
              <a:rPr lang="en-US" dirty="0"/>
              <a:t>10.3 is the heart of it. For every piece of safety-relevant information you ask four questions, and you record the answers. Is there a previously unrecognised hazard or hazardous situation? Is an estimated risk no longer acceptable? Is the original estimate no longer valid? Has the state of the art changed? Each one is a different question with a different consequence.
</a:t>
            </a:r>
          </a:p>
          <a:p>
            <a:r>
              <a:rPr lang="en-US" dirty="0"/>
              <a:t>10.4 says what happens if any answer is yes: the impact is evaluated as an input to the risk management process, and the risk management file is reviewed, and if the residual risk has increased or is no longer acceptable, the impact of previously implemented controls is evaluated and fed into the risk management review.
</a:t>
            </a:r>
          </a:p>
          <a:p>
            <a:r>
              <a:rPr lang="en-US" dirty="0"/>
              <a:t>The practical test of whether this works at your firm: pick one complaint from eighteen months ago and try to find the risk file revision it produced. If you cannot, the loop is open.</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[1:16 | 3 min]
</a:t>
            </a:r>
          </a:p>
          <a:p>
            <a:r>
              <a:rPr lang="en-US" dirty="0"/>
              <a:t>In the EU, Clause 10 is not free-standing. It plugs into a named set of obligations, and the notified body checks the joints rather than the pipes.
</a:t>
            </a:r>
          </a:p>
          <a:p>
            <a:r>
              <a:rPr lang="en-US" dirty="0"/>
              <a:t>Article 10(2) is the headline: manufacturers shall establish, document, implement and maintain a system for risk management as described in Section 3 of Annex I. One sentence. And Article 10(9)(e) puts risk management inside the quality management system, which is how it becomes auditable.
</a:t>
            </a:r>
          </a:p>
          <a:p>
            <a:r>
              <a:rPr lang="en-US" dirty="0"/>
              <a:t>Annex I point 3 sub-points (e) and (f) are the loop in the law itself: evaluate the impact of information from production and from post-market surveillance on hazards, on frequency of occurrence, on risk estimates, on overall risk, on the benefit-risk ratio and on risk acceptability - and then amend control measures if necessary.
</a:t>
            </a:r>
          </a:p>
          <a:p>
            <a:r>
              <a:rPr lang="en-US" dirty="0"/>
              <a:t>Article 83(3)(a) makes updating the benefit-risk determination and improving risk management the FIRST named use of post-market surveillance data, and Article 83(3) closes with "The technical documentation shall be updated accordingly."
</a:t>
            </a:r>
          </a:p>
          <a:p>
            <a:r>
              <a:rPr lang="en-US" dirty="0"/>
              <a:t>Annex III point 1(b) is the single most audited joint: the post-market surveillance plan must contain suitable indicators and threshold values that shall be used in the continuous reassessment of the benefit-risk analysis and of the risk management. Indicators and thresholds. Quantitative. If your PMS plan has no numbers in it, that is a finding waiting to be written.
</a:t>
            </a:r>
          </a:p>
          <a:p>
            <a:r>
              <a:rPr lang="en-US" dirty="0"/>
              <a:t>Then Annex XIV Part B point 8 sends the PMCF conclusions back into the risk management, and recital 33 states that the risk management and clinical evaluation processes should be inter-dependent and regularly updated. That recital is what a reviewer cites when they ask why your risk file and your clinical evaluation report disagree.
</a:t>
            </a:r>
          </a:p>
          <a:p>
            <a:r>
              <a:rPr lang="en-US" dirty="0"/>
              <a:t>Two numbering traps for your cross-references. Corrigendum C2 renumbered Annex III from 1.1 and 1.2 to 1 and 2, so an SOP citing "Annex III Section 1.1" is citing superseded numbering. And Annex XIV Part B point 6.1(d) still refers to "the benefit-risk ratio referred to in Sections 1 and 9 of Annex I" - Section 9 is the Annex XVI provision; the benefit-risk sections are 1 and 8. That cross-reference was never corrected, unlike the identical error in Article 88(1), which was.</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[1:19 | 2 min]
</a:t>
            </a:r>
          </a:p>
          <a:p>
            <a:r>
              <a:rPr lang="en-US" dirty="0"/>
              <a:t>Last content slide. The risk file does not live alone, and the findings cluster at the joins rather than inside any one document.
</a:t>
            </a:r>
          </a:p>
          <a:p>
            <a:r>
              <a:rPr lang="en-US" dirty="0"/>
              <a:t>Read the four rows and put the question after each one: do these two documents agree? Because that is the audit question. The clinical evaluation plan has to specify parameters for determining the acceptability of the benefit-risk ratio, based on the state of the art - and those parameters have to be consistent with the acceptability criteria in your risk management plan. Two documents, two sets of criteria, written by two teams, and nobody compared them. That is the finding.
</a:t>
            </a:r>
          </a:p>
          <a:p>
            <a:r>
              <a:rPr lang="en-US" dirty="0"/>
              <a:t>MDCG 2025-10 on post-market surveillance, published December 2025, sets out the PMS-to-risk-management interface expectations explicitly: establish procedures for the interface, link PMS plan indicators and thresholds to the risk management documentation, assess the impact of collected data on probability and severity ratings, and evaluate the impact on overall risk, benefit-risk ratio and acceptability. It also confirms in a footnote that EN ISO 14971:2019 plus A11:2021 is harmonised and cited for both the MDR and the IVDR.
</a:t>
            </a:r>
          </a:p>
          <a:p>
            <a:r>
              <a:rPr lang="en-US" dirty="0"/>
              <a:t>One 2026 development worth mentioning: ISO/TS 24971-2:2026, guidance on applying ISO 14971 to machine learning in artificial intelligence, was published in June 2026. It is guidance on applying the standard, not an amendment to it.</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[1:22]
</a:t>
            </a:r>
          </a:p>
          <a:p>
            <a:r>
              <a:rPr lang="en-US" dirty="0"/>
              <a:t>Individual, not group. Exercise pack page 6.</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[1:22 | 5 min]
</a:t>
            </a:r>
          </a:p>
          <a:p>
            <a:r>
              <a:rPr lang="en-US" dirty="0"/>
              <a:t>Individual work, deliberately. Five minutes of quiet, then two or three people read out their first action.
</a:t>
            </a:r>
          </a:p>
          <a:p>
            <a:r>
              <a:rPr lang="en-US" dirty="0"/>
              <a:t>The framing that makes this useful: not "what should we improve" but "what will I have done by this day next month". One action per row, an owner who is in the building, and a date.
</a:t>
            </a:r>
          </a:p>
          <a:p>
            <a:r>
              <a:rPr lang="en-US" dirty="0"/>
              <a:t>The prompts on the right are the six checks that come straight out of today. Point at the Excel toolkit: its Dashboard sheet computes five of these six for you once you have loaded your own rows, and the sixth - the Clause 8 evaluation - is the one it deliberately leaves blank, because it is the last thing you do.
</a:t>
            </a:r>
          </a:p>
          <a:p>
            <a:r>
              <a:rPr lang="en-US" dirty="0"/>
              <a:t>As they write, put the toolkit's delivered state on the screen if you have it open: sixteen rows, two deliberately defective, one control missing its effectiveness verification, one justification citing cost, one open post-production item. The facilitator guide names all five so you can point at them.</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[1:27 | 2 min]
</a:t>
            </a:r>
          </a:p>
          <a:p>
            <a:r>
              <a:rPr lang="en-US" dirty="0"/>
              <a:t>Read them fast. This is the page people keep.
</a:t>
            </a:r>
          </a:p>
          <a:p>
            <a:r>
              <a:rPr lang="en-US" dirty="0"/>
              <a:t>If you only do one, do number two. It is the finding that appears most often and it is the cheapest to close, because the work is usually already done and simply not written down as effectiveness.</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[1:29 | 1 min]
</a:t>
            </a:r>
          </a:p>
          <a:p>
            <a:r>
              <a:rPr lang="en-US" dirty="0"/>
              <a:t>Point at the bottom band rather than reading the list. The material was verified in September 2026. Harmonised-standard citations, MDCG guidance and FDA recognition entries all move, so the facilitator guide carries a pre-delivery accuracy checklist. Tell them the handout has the full source list with the OJ references.</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[1:30]
</a:t>
            </a:r>
          </a:p>
          <a:p>
            <a:r>
              <a:rPr lang="en-US" dirty="0"/>
              <a:t>Close on the one idea, then take questions.
</a:t>
            </a:r>
          </a:p>
          <a:p>
            <a:r>
              <a:rPr lang="en-US" dirty="0"/>
              <a:t>Three questions that always come and the short answers:
</a:t>
            </a:r>
          </a:p>
          <a:p>
            <a:r>
              <a:rPr lang="en-US" dirty="0"/>
              <a:t>1. "Do we have to use ISO 14971?" - Not as law, in either jurisdiction. In the EU it is voluntary but harmonised, and the presumption of conformity only covers what Annex ZA lists. For FDA it is not incorporated into Part 820 but is a recognized consensus standard, and the activity is inspected through ISO 13485 regardless. In practice everyone uses it because the alternative is inventing a defensible process from scratch.
</a:t>
            </a:r>
          </a:p>
          <a:p>
            <a:r>
              <a:rPr lang="en-US" dirty="0"/>
              <a:t>2. "Can we keep our three-band matrix?" - You can, but be ready to say which clause the middle band implements. ISO 14971:2019 does not have one, and under MDR point 2 an amber "acceptable with justification" band does not create a stopping point that cost can justify.
</a:t>
            </a:r>
          </a:p>
          <a:p>
            <a:r>
              <a:rPr lang="en-US" dirty="0"/>
              <a:t>3. "How many rows should our risk file have?" - Wrong question. One per hazardous situation, which is determined by the device, not by a target. But a file with fewer rows than the device has failure modes has collapsed the analysis somewhere, and that is findable.
</a:t>
            </a:r>
          </a:p>
          <a:p>
            <a:r>
              <a:rPr lang="en-US" dirty="0"/>
              <a:t>If there is time left, offer to walk one of their own rows on the screen. It is the most useful ten minutes of the session and it is worth over-running for.</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F38"/>
        </a:solidFill>
      </p:bgPr>
    </p:bg>
    <p:spTree>
      <p:nvGrpSpPr>
        <p:cNvPr id="1" name=""/>
        <p:cNvGrpSpPr/>
        <p:nvPr/>
      </p:nvGrpSpPr>
      <p:grpSpPr>
        <a:xfrm>
          <a:off x="0" y="0"/>
          <a:ext cx="0" cy="0"/>
          <a:chOff x="0" y="0"/>
          <a:chExt cx="0" cy="0"/>
        </a:xfrm>
      </p:grpSpPr>
      <p:sp>
        <p:nvSpPr>
          <p:cNvPr id="2" name="Text 0"/>
          <p:cNvSpPr txBox="1"/>
          <p:nvPr/>
        </p:nvSpPr>
        <p:spPr>
          <a:xfrm>
            <a:off x="457200" y="4814316"/>
            <a:ext cx="5943600" cy="201168"/>
          </a:xfrm>
          <a:prstGeom prst="rect">
            <a:avLst/>
          </a:prstGeom>
          <a:noFill/>
          <a:ln/>
        </p:spPr>
        <p:txBody>
          <a:bodyPr wrap="square" lIns="0" tIns="0" rIns="0" bIns="0" rtlCol="0" anchor="ctr"/>
          <a:lstStyle/>
          <a:p>
            <a:pPr indent="0" marL="0">
              <a:buNone/>
            </a:pPr>
            <a:r>
              <a:rPr lang="en-US" sz="900" dirty="0">
                <a:solidFill>
                  <a:srgbClr val="8FA1B5"/>
                </a:solidFill>
                <a:latin typeface="Calibri" pitchFamily="34" charset="0"/>
                <a:ea typeface="Calibri" pitchFamily="34" charset="-122"/>
                <a:cs typeface="Calibri" pitchFamily="34" charset="-120"/>
              </a:rPr>
              <a:t>Risk Management  |  ISO 14971  |  Elder Consulting, LLC</a:t>
            </a:r>
            <a:endParaRPr lang="en-US" sz="900" dirty="0"/>
          </a:p>
        </p:txBody>
      </p:sp>
      <p:sp>
        <p:nvSpPr>
          <p:cNvPr id="3" name="Text 1"/>
          <p:cNvSpPr txBox="1"/>
          <p:nvPr/>
        </p:nvSpPr>
        <p:spPr>
          <a:xfrm>
            <a:off x="8138160" y="4814316"/>
            <a:ext cx="548640" cy="201168"/>
          </a:xfrm>
          <a:prstGeom prst="rect">
            <a:avLst/>
          </a:prstGeom>
          <a:noFill/>
          <a:ln/>
        </p:spPr>
        <p:txBody>
          <a:bodyPr wrap="square" lIns="0" tIns="0" rIns="0" bIns="0" rtlCol="0" anchor="ctr"/>
          <a:lstStyle/>
          <a:p>
            <a:pPr algn="r" indent="0" marL="0">
              <a:buNone/>
            </a:pPr>
            <a:r>
              <a:rPr lang="en-US" sz="900" dirty="0">
                <a:solidFill>
                  <a:srgbClr val="8FA1B5"/>
                </a:solidFill>
                <a:latin typeface="Calibri" pitchFamily="34" charset="0"/>
                <a:ea typeface="Calibri" pitchFamily="34" charset="-122"/>
                <a:cs typeface="Calibri" pitchFamily="34" charset="-120"/>
              </a:rPr>
              <a:t>1</a:t>
            </a:r>
            <a:endParaRPr lang="en-US" sz="900" dirty="0"/>
          </a:p>
        </p:txBody>
      </p:sp>
      <p:sp>
        <p:nvSpPr>
          <p:cNvPr id="4" name="Shape 2"/>
          <p:cNvSpPr/>
          <p:nvPr/>
        </p:nvSpPr>
        <p:spPr>
          <a:xfrm>
            <a:off x="0" y="0"/>
            <a:ext cx="91440" cy="5143500"/>
          </a:xfrm>
          <a:prstGeom prst="rect">
            <a:avLst/>
          </a:prstGeom>
          <a:solidFill>
            <a:srgbClr val="E0A126"/>
          </a:solidFill>
          <a:ln w="12700">
            <a:solidFill>
              <a:srgbClr val="E0A126"/>
            </a:solidFill>
            <a:prstDash val="solid"/>
          </a:ln>
        </p:spPr>
      </p:sp>
      <p:sp>
        <p:nvSpPr>
          <p:cNvPr id="5" name="Text 3"/>
          <p:cNvSpPr txBox="1"/>
          <p:nvPr/>
        </p:nvSpPr>
        <p:spPr>
          <a:xfrm>
            <a:off x="685800" y="1051560"/>
            <a:ext cx="7772400" cy="274320"/>
          </a:xfrm>
          <a:prstGeom prst="rect">
            <a:avLst/>
          </a:prstGeom>
          <a:noFill/>
          <a:ln/>
        </p:spPr>
        <p:txBody>
          <a:bodyPr wrap="square" lIns="0" tIns="0" rIns="0" bIns="0" rtlCol="0" anchor="t"/>
          <a:lstStyle/>
          <a:p>
            <a:pPr indent="0" marL="0">
              <a:buNone/>
            </a:pPr>
            <a:r>
              <a:rPr lang="en-US" sz="1100" b="1" spc="300" kern="0" dirty="0">
                <a:solidFill>
                  <a:srgbClr val="E0A126"/>
                </a:solidFill>
                <a:latin typeface="Calibri" pitchFamily="34" charset="0"/>
                <a:ea typeface="Calibri" pitchFamily="34" charset="-122"/>
                <a:cs typeface="Calibri" pitchFamily="34" charset="-120"/>
              </a:rPr>
              <a:t>MEDICAL DEVICE SEMINAR  ·  WORKSHOP</a:t>
            </a:r>
            <a:endParaRPr lang="en-US" sz="1100" dirty="0"/>
          </a:p>
        </p:txBody>
      </p:sp>
      <p:sp>
        <p:nvSpPr>
          <p:cNvPr id="6" name="Text 4"/>
          <p:cNvSpPr txBox="1"/>
          <p:nvPr/>
        </p:nvSpPr>
        <p:spPr>
          <a:xfrm>
            <a:off x="685800" y="1371600"/>
            <a:ext cx="7772400" cy="685800"/>
          </a:xfrm>
          <a:prstGeom prst="rect">
            <a:avLst/>
          </a:prstGeom>
          <a:noFill/>
          <a:ln/>
        </p:spPr>
        <p:txBody>
          <a:bodyPr wrap="square" lIns="0" tIns="0" rIns="0" bIns="0" rtlCol="0" anchor="t"/>
          <a:lstStyle/>
          <a:p>
            <a:pPr indent="0" marL="0">
              <a:buNone/>
            </a:pPr>
            <a:r>
              <a:rPr lang="en-US" sz="3800" b="1" dirty="0">
                <a:solidFill>
                  <a:srgbClr val="FFFFFF"/>
                </a:solidFill>
                <a:latin typeface="Cambria" pitchFamily="34" charset="0"/>
                <a:ea typeface="Cambria" pitchFamily="34" charset="-122"/>
                <a:cs typeface="Cambria" pitchFamily="34" charset="-120"/>
              </a:rPr>
              <a:t>Risk Management Workshop</a:t>
            </a:r>
            <a:endParaRPr lang="en-US" sz="3800" dirty="0"/>
          </a:p>
        </p:txBody>
      </p:sp>
      <p:sp>
        <p:nvSpPr>
          <p:cNvPr id="7" name="Text 5"/>
          <p:cNvSpPr txBox="1"/>
          <p:nvPr/>
        </p:nvSpPr>
        <p:spPr>
          <a:xfrm>
            <a:off x="685800" y="2103120"/>
            <a:ext cx="7772400" cy="502920"/>
          </a:xfrm>
          <a:prstGeom prst="rect">
            <a:avLst/>
          </a:prstGeom>
          <a:noFill/>
          <a:ln/>
        </p:spPr>
        <p:txBody>
          <a:bodyPr wrap="square" lIns="0" tIns="0" rIns="0" bIns="0" rtlCol="0" anchor="t"/>
          <a:lstStyle/>
          <a:p>
            <a:pPr indent="0" marL="0">
              <a:buNone/>
            </a:pPr>
            <a:r>
              <a:rPr lang="en-US" sz="1700" dirty="0">
                <a:solidFill>
                  <a:srgbClr val="C9D3DE"/>
                </a:solidFill>
                <a:latin typeface="Calibri" pitchFamily="34" charset="0"/>
                <a:ea typeface="Calibri" pitchFamily="34" charset="-122"/>
                <a:cs typeface="Calibri" pitchFamily="34" charset="-120"/>
              </a:rPr>
              <a:t>ISO 14971 in practice: aligning risk files with EU MDR and FDA expectations</a:t>
            </a:r>
            <a:endParaRPr lang="en-US" sz="1700" dirty="0"/>
          </a:p>
        </p:txBody>
      </p:sp>
      <p:sp>
        <p:nvSpPr>
          <p:cNvPr id="8" name="Shape 6"/>
          <p:cNvSpPr/>
          <p:nvPr/>
        </p:nvSpPr>
        <p:spPr>
          <a:xfrm>
            <a:off x="685800" y="2788920"/>
            <a:ext cx="1463040" cy="27432"/>
          </a:xfrm>
          <a:prstGeom prst="rect">
            <a:avLst/>
          </a:prstGeom>
          <a:solidFill>
            <a:srgbClr val="E0A126"/>
          </a:solidFill>
          <a:ln w="12700">
            <a:solidFill>
              <a:srgbClr val="E0A126"/>
            </a:solidFill>
            <a:prstDash val="solid"/>
          </a:ln>
        </p:spPr>
      </p:sp>
      <p:sp>
        <p:nvSpPr>
          <p:cNvPr id="9" name="Text 7"/>
          <p:cNvSpPr txBox="1"/>
          <p:nvPr/>
        </p:nvSpPr>
        <p:spPr>
          <a:xfrm>
            <a:off x="685800" y="3017520"/>
            <a:ext cx="7772400" cy="365760"/>
          </a:xfrm>
          <a:prstGeom prst="rect">
            <a:avLst/>
          </a:prstGeom>
          <a:noFill/>
          <a:ln/>
        </p:spPr>
        <p:txBody>
          <a:bodyPr wrap="square" lIns="0" tIns="0" rIns="0" bIns="0" rtlCol="0" anchor="t"/>
          <a:lstStyle/>
          <a:p>
            <a:pPr indent="0" marL="0">
              <a:buNone/>
            </a:pPr>
            <a:r>
              <a:rPr lang="en-US" sz="1300" i="1" dirty="0">
                <a:solidFill>
                  <a:srgbClr val="9FB3C8"/>
                </a:solidFill>
                <a:latin typeface="Calibri" pitchFamily="34" charset="0"/>
                <a:ea typeface="Calibri" pitchFamily="34" charset="-122"/>
                <a:cs typeface="Calibri" pitchFamily="34" charset="-120"/>
              </a:rPr>
              <a:t>Ninety minutes, three hands-on exercises, one risk file taken apart and put back together.</a:t>
            </a:r>
            <a:endParaRPr lang="en-US" sz="1300" dirty="0"/>
          </a:p>
        </p:txBody>
      </p:sp>
      <p:sp>
        <p:nvSpPr>
          <p:cNvPr id="10" name="Text 8"/>
          <p:cNvSpPr txBox="1"/>
          <p:nvPr/>
        </p:nvSpPr>
        <p:spPr>
          <a:xfrm>
            <a:off x="685800" y="3977640"/>
            <a:ext cx="4572000" cy="274320"/>
          </a:xfrm>
          <a:prstGeom prst="rect">
            <a:avLst/>
          </a:prstGeom>
          <a:noFill/>
          <a:ln/>
        </p:spPr>
        <p:txBody>
          <a:bodyPr wrap="square" lIns="0" tIns="0" rIns="0" bIns="0" rtlCol="0" anchor="t"/>
          <a:lstStyle/>
          <a:p>
            <a:pPr indent="0" marL="0">
              <a:buNone/>
            </a:pPr>
            <a:r>
              <a:rPr lang="en-US" sz="1400" b="1" dirty="0">
                <a:solidFill>
                  <a:srgbClr val="FFFFFF"/>
                </a:solidFill>
                <a:latin typeface="Calibri" pitchFamily="34" charset="0"/>
                <a:ea typeface="Calibri" pitchFamily="34" charset="-122"/>
                <a:cs typeface="Calibri" pitchFamily="34" charset="-120"/>
              </a:rPr>
              <a:t>Elder Consulting, LLC</a:t>
            </a:r>
            <a:endParaRPr lang="en-US" sz="1400" dirty="0"/>
          </a:p>
        </p:txBody>
      </p:sp>
      <p:sp>
        <p:nvSpPr>
          <p:cNvPr id="11" name="Text 9"/>
          <p:cNvSpPr txBox="1"/>
          <p:nvPr/>
        </p:nvSpPr>
        <p:spPr>
          <a:xfrm>
            <a:off x="685800" y="4279392"/>
            <a:ext cx="4572000" cy="228600"/>
          </a:xfrm>
          <a:prstGeom prst="rect">
            <a:avLst/>
          </a:prstGeom>
          <a:noFill/>
          <a:ln/>
        </p:spPr>
        <p:txBody>
          <a:bodyPr wrap="square" lIns="0" tIns="0" rIns="0" bIns="0" rtlCol="0" anchor="t"/>
          <a:lstStyle/>
          <a:p>
            <a:pPr indent="0" marL="0">
              <a:buNone/>
            </a:pPr>
            <a:r>
              <a:rPr lang="en-US" sz="1100" dirty="0">
                <a:solidFill>
                  <a:srgbClr val="8FA1B5"/>
                </a:solidFill>
                <a:latin typeface="Calibri" pitchFamily="34" charset="0"/>
                <a:ea typeface="Calibri" pitchFamily="34" charset="-122"/>
                <a:cs typeface="Calibri" pitchFamily="34" charset="-120"/>
              </a:rPr>
              <a:t>September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4814316"/>
            <a:ext cx="5943600" cy="201168"/>
          </a:xfrm>
          <a:prstGeom prst="rect">
            <a:avLst/>
          </a:prstGeom>
          <a:noFill/>
          <a:ln/>
        </p:spPr>
        <p:txBody>
          <a:bodyPr wrap="square" lIns="0" tIns="0" rIns="0" bIns="0" rtlCol="0" anchor="ctr"/>
          <a:lstStyle/>
          <a:p>
            <a:pPr indent="0" marL="0">
              <a:buNone/>
            </a:pPr>
            <a:r>
              <a:rPr lang="en-US" sz="900" dirty="0">
                <a:solidFill>
                  <a:srgbClr val="5A6B7B"/>
                </a:solidFill>
                <a:latin typeface="Calibri" pitchFamily="34" charset="0"/>
                <a:ea typeface="Calibri" pitchFamily="34" charset="-122"/>
                <a:cs typeface="Calibri" pitchFamily="34" charset="-120"/>
              </a:rPr>
              <a:t>Risk Management  |  ISO 14971  |  Elder Consulting, LLC</a:t>
            </a:r>
            <a:endParaRPr lang="en-US" sz="900" dirty="0"/>
          </a:p>
        </p:txBody>
      </p:sp>
      <p:sp>
        <p:nvSpPr>
          <p:cNvPr id="3" name="Text 1"/>
          <p:cNvSpPr txBox="1"/>
          <p:nvPr/>
        </p:nvSpPr>
        <p:spPr>
          <a:xfrm>
            <a:off x="8138160" y="4814316"/>
            <a:ext cx="548640" cy="201168"/>
          </a:xfrm>
          <a:prstGeom prst="rect">
            <a:avLst/>
          </a:prstGeom>
          <a:noFill/>
          <a:ln/>
        </p:spPr>
        <p:txBody>
          <a:bodyPr wrap="square" lIns="0" tIns="0" rIns="0" bIns="0" rtlCol="0" anchor="ctr"/>
          <a:lstStyle/>
          <a:p>
            <a:pPr algn="r" indent="0" marL="0">
              <a:buNone/>
            </a:pPr>
            <a:r>
              <a:rPr lang="en-US" sz="900" dirty="0">
                <a:solidFill>
                  <a:srgbClr val="5A6B7B"/>
                </a:solidFill>
                <a:latin typeface="Calibri" pitchFamily="34" charset="0"/>
                <a:ea typeface="Calibri" pitchFamily="34" charset="-122"/>
                <a:cs typeface="Calibri" pitchFamily="34" charset="-120"/>
              </a:rPr>
              <a:t>2</a:t>
            </a:r>
            <a:endParaRPr lang="en-US" sz="900" dirty="0"/>
          </a:p>
        </p:txBody>
      </p:sp>
      <p:sp>
        <p:nvSpPr>
          <p:cNvPr id="4" name="Text 2"/>
          <p:cNvSpPr txBox="1"/>
          <p:nvPr/>
        </p:nvSpPr>
        <p:spPr>
          <a:xfrm>
            <a:off x="457200" y="274320"/>
            <a:ext cx="8229600" cy="219456"/>
          </a:xfrm>
          <a:prstGeom prst="rect">
            <a:avLst/>
          </a:prstGeom>
          <a:noFill/>
          <a:ln/>
        </p:spPr>
        <p:txBody>
          <a:bodyPr wrap="square" lIns="0" tIns="0" rIns="0" bIns="0" rtlCol="0" anchor="ctr"/>
          <a:lstStyle/>
          <a:p>
            <a:pPr indent="0" marL="0">
              <a:buNone/>
            </a:pPr>
            <a:r>
              <a:rPr lang="en-US" sz="1000" b="1" spc="200" kern="0" dirty="0">
                <a:solidFill>
                  <a:srgbClr val="A8730F"/>
                </a:solidFill>
                <a:latin typeface="Calibri" pitchFamily="34" charset="0"/>
                <a:ea typeface="Calibri" pitchFamily="34" charset="-122"/>
                <a:cs typeface="Calibri" pitchFamily="34" charset="-120"/>
              </a:rPr>
              <a:t>OPENING</a:t>
            </a:r>
            <a:endParaRPr lang="en-US" sz="1000" dirty="0"/>
          </a:p>
        </p:txBody>
      </p:sp>
      <p:sp>
        <p:nvSpPr>
          <p:cNvPr id="5" name="Text 3"/>
          <p:cNvSpPr txBox="1"/>
          <p:nvPr/>
        </p:nvSpPr>
        <p:spPr>
          <a:xfrm>
            <a:off x="457200" y="502920"/>
            <a:ext cx="8229600" cy="548640"/>
          </a:xfrm>
          <a:prstGeom prst="rect">
            <a:avLst/>
          </a:prstGeom>
          <a:noFill/>
          <a:ln/>
        </p:spPr>
        <p:txBody>
          <a:bodyPr wrap="square" lIns="0" tIns="0" rIns="0" bIns="0" rtlCol="0" anchor="t"/>
          <a:lstStyle/>
          <a:p>
            <a:pPr indent="0" marL="0">
              <a:buNone/>
            </a:pPr>
            <a:r>
              <a:rPr lang="en-US" sz="2400" b="1" dirty="0">
                <a:solidFill>
                  <a:srgbClr val="0F2A4A"/>
                </a:solidFill>
                <a:latin typeface="Cambria" pitchFamily="34" charset="0"/>
                <a:ea typeface="Cambria" pitchFamily="34" charset="-122"/>
                <a:cs typeface="Cambria" pitchFamily="34" charset="-120"/>
              </a:rPr>
              <a:t>Nobody fails an audit for not owning the standard</a:t>
            </a:r>
            <a:endParaRPr lang="en-US" sz="2400" dirty="0"/>
          </a:p>
        </p:txBody>
      </p:sp>
      <p:sp>
        <p:nvSpPr>
          <p:cNvPr id="7" name="Shape 4"/>
          <p:cNvSpPr/>
          <p:nvPr/>
        </p:nvSpPr>
        <p:spPr>
          <a:xfrm>
            <a:off x="457200" y="1143000"/>
            <a:ext cx="2621280" cy="2606040"/>
          </a:xfrm>
          <a:prstGeom prst="roundRect">
            <a:avLst>
              <a:gd name="adj" fmla="val 2105"/>
            </a:avLst>
          </a:prstGeom>
          <a:solidFill>
            <a:srgbClr val="EAF0F6"/>
          </a:solidFill>
          <a:ln w="12700">
            <a:solidFill>
              <a:srgbClr val="EAF0F6"/>
            </a:solidFill>
            <a:prstDash val="solid"/>
          </a:ln>
        </p:spPr>
      </p:sp>
      <p:sp>
        <p:nvSpPr>
          <p:cNvPr id="8" name="Text 5"/>
          <p:cNvSpPr txBox="1"/>
          <p:nvPr/>
        </p:nvSpPr>
        <p:spPr>
          <a:xfrm>
            <a:off x="585216" y="1234440"/>
            <a:ext cx="2365248" cy="292608"/>
          </a:xfrm>
          <a:prstGeom prst="rect">
            <a:avLst/>
          </a:prstGeom>
          <a:noFill/>
          <a:ln/>
        </p:spPr>
        <p:txBody>
          <a:bodyPr wrap="square" lIns="0" tIns="0" rIns="0" bIns="0" rtlCol="0" anchor="ctr"/>
          <a:lstStyle/>
          <a:p>
            <a:pPr indent="0" marL="0">
              <a:buNone/>
            </a:pPr>
            <a:r>
              <a:rPr lang="en-US" sz="1250" b="1" dirty="0">
                <a:solidFill>
                  <a:srgbClr val="0F2A4A"/>
                </a:solidFill>
                <a:latin typeface="Calibri" pitchFamily="34" charset="0"/>
                <a:ea typeface="Calibri" pitchFamily="34" charset="-122"/>
                <a:cs typeface="Calibri" pitchFamily="34" charset="-120"/>
              </a:rPr>
              <a:t>What firms prepare</a:t>
            </a:r>
            <a:endParaRPr lang="en-US" sz="1250" dirty="0"/>
          </a:p>
        </p:txBody>
      </p:sp>
      <p:sp>
        <p:nvSpPr>
          <p:cNvPr id="9" name="Text 6"/>
          <p:cNvSpPr txBox="1"/>
          <p:nvPr/>
        </p:nvSpPr>
        <p:spPr>
          <a:xfrm>
            <a:off x="585216" y="1563624"/>
            <a:ext cx="2365248" cy="2093976"/>
          </a:xfrm>
          <a:prstGeom prst="rect">
            <a:avLst/>
          </a:prstGeom>
          <a:noFill/>
          <a:ln/>
        </p:spPr>
        <p:txBody>
          <a:bodyPr wrap="square" lIns="0" tIns="0" rIns="0" bIns="0" rtlCol="0" anchor="t"/>
          <a:lstStyle/>
          <a:p>
            <a:pPr marL="342900" indent="-342900">
              <a:spcAft>
                <a:spcPts val="500"/>
              </a:spcAft>
              <a:buSzPct val="100000"/>
              <a:buChar char="•"/>
            </a:pPr>
            <a:r>
              <a:rPr lang="en-US" sz="1050" dirty="0">
                <a:solidFill>
                  <a:srgbClr val="1F2933"/>
                </a:solidFill>
                <a:latin typeface="Calibri" pitchFamily="34" charset="0"/>
                <a:ea typeface="Calibri" pitchFamily="34" charset="-122"/>
                <a:cs typeface="Calibri" pitchFamily="34" charset="-120"/>
              </a:rPr>
              <a:t>A procedure that restates the standard</a:t>
            </a:r>
            <a:endParaRPr lang="en-US" sz="1050" dirty="0"/>
          </a:p>
          <a:p>
            <a:pPr marL="342900" indent="-342900">
              <a:spcAft>
                <a:spcPts val="500"/>
              </a:spcAft>
              <a:buSzPct val="100000"/>
              <a:buChar char="•"/>
            </a:pPr>
            <a:r>
              <a:rPr lang="en-US" sz="1050" dirty="0">
                <a:solidFill>
                  <a:srgbClr val="1F2933"/>
                </a:solidFill>
                <a:latin typeface="Calibri" pitchFamily="34" charset="0"/>
                <a:ea typeface="Calibri" pitchFamily="34" charset="-122"/>
                <a:cs typeface="Calibri" pitchFamily="34" charset="-120"/>
              </a:rPr>
              <a:t>A spreadsheet with a colour matrix</a:t>
            </a:r>
            <a:endParaRPr lang="en-US" sz="1050" dirty="0"/>
          </a:p>
          <a:p>
            <a:pPr marL="342900" indent="-342900">
              <a:spcAft>
                <a:spcPts val="500"/>
              </a:spcAft>
              <a:buSzPct val="100000"/>
              <a:buChar char="•"/>
            </a:pPr>
            <a:r>
              <a:rPr lang="en-US" sz="1050" dirty="0">
                <a:solidFill>
                  <a:srgbClr val="1F2933"/>
                </a:solidFill>
                <a:latin typeface="Calibri" pitchFamily="34" charset="0"/>
                <a:ea typeface="Calibri" pitchFamily="34" charset="-122"/>
                <a:cs typeface="Calibri" pitchFamily="34" charset="-120"/>
              </a:rPr>
              <a:t>A risk management report signed at design transfer</a:t>
            </a:r>
            <a:endParaRPr lang="en-US" sz="1050" dirty="0"/>
          </a:p>
          <a:p>
            <a:pPr marL="342900" indent="-342900">
              <a:spcAft>
                <a:spcPts val="500"/>
              </a:spcAft>
              <a:buSzPct val="100000"/>
              <a:buChar char="•"/>
            </a:pPr>
            <a:r>
              <a:rPr lang="en-US" sz="1050" dirty="0">
                <a:solidFill>
                  <a:srgbClr val="1F2933"/>
                </a:solidFill>
                <a:latin typeface="Calibri" pitchFamily="34" charset="0"/>
                <a:ea typeface="Calibri" pitchFamily="34" charset="-122"/>
                <a:cs typeface="Calibri" pitchFamily="34" charset="-120"/>
              </a:rPr>
              <a:t>A plan written after the analysis</a:t>
            </a:r>
            <a:endParaRPr lang="en-US" sz="1050" dirty="0"/>
          </a:p>
        </p:txBody>
      </p:sp>
      <p:sp>
        <p:nvSpPr>
          <p:cNvPr id="10" name="Shape 7"/>
          <p:cNvSpPr/>
          <p:nvPr/>
        </p:nvSpPr>
        <p:spPr>
          <a:xfrm>
            <a:off x="3261360" y="1143000"/>
            <a:ext cx="2621280" cy="2606040"/>
          </a:xfrm>
          <a:prstGeom prst="roundRect">
            <a:avLst>
              <a:gd name="adj" fmla="val 2105"/>
            </a:avLst>
          </a:prstGeom>
          <a:solidFill>
            <a:srgbClr val="FBF2DE"/>
          </a:solidFill>
          <a:ln w="12700">
            <a:solidFill>
              <a:srgbClr val="FBF2DE"/>
            </a:solidFill>
            <a:prstDash val="solid"/>
          </a:ln>
        </p:spPr>
      </p:sp>
      <p:sp>
        <p:nvSpPr>
          <p:cNvPr id="11" name="Text 8"/>
          <p:cNvSpPr txBox="1"/>
          <p:nvPr/>
        </p:nvSpPr>
        <p:spPr>
          <a:xfrm>
            <a:off x="3389376" y="1234440"/>
            <a:ext cx="2365248" cy="292608"/>
          </a:xfrm>
          <a:prstGeom prst="rect">
            <a:avLst/>
          </a:prstGeom>
          <a:noFill/>
          <a:ln/>
        </p:spPr>
        <p:txBody>
          <a:bodyPr wrap="square" lIns="0" tIns="0" rIns="0" bIns="0" rtlCol="0" anchor="ctr"/>
          <a:lstStyle/>
          <a:p>
            <a:pPr indent="0" marL="0">
              <a:buNone/>
            </a:pPr>
            <a:r>
              <a:rPr lang="en-US" sz="1250" b="1" dirty="0">
                <a:solidFill>
                  <a:srgbClr val="0F2A4A"/>
                </a:solidFill>
                <a:latin typeface="Calibri" pitchFamily="34" charset="0"/>
                <a:ea typeface="Calibri" pitchFamily="34" charset="-122"/>
                <a:cs typeface="Calibri" pitchFamily="34" charset="-120"/>
              </a:rPr>
              <a:t>What reviewers do</a:t>
            </a:r>
            <a:endParaRPr lang="en-US" sz="1250" dirty="0"/>
          </a:p>
        </p:txBody>
      </p:sp>
      <p:sp>
        <p:nvSpPr>
          <p:cNvPr id="12" name="Text 9"/>
          <p:cNvSpPr txBox="1"/>
          <p:nvPr/>
        </p:nvSpPr>
        <p:spPr>
          <a:xfrm>
            <a:off x="3389376" y="1563624"/>
            <a:ext cx="2365248" cy="2093976"/>
          </a:xfrm>
          <a:prstGeom prst="rect">
            <a:avLst/>
          </a:prstGeom>
          <a:noFill/>
          <a:ln/>
        </p:spPr>
        <p:txBody>
          <a:bodyPr wrap="square" lIns="0" tIns="0" rIns="0" bIns="0" rtlCol="0" anchor="t"/>
          <a:lstStyle/>
          <a:p>
            <a:pPr marL="342900" indent="-342900">
              <a:spcAft>
                <a:spcPts val="500"/>
              </a:spcAft>
              <a:buSzPct val="100000"/>
              <a:buChar char="•"/>
            </a:pPr>
            <a:r>
              <a:rPr lang="en-US" sz="1050" dirty="0">
                <a:solidFill>
                  <a:srgbClr val="1F2933"/>
                </a:solidFill>
                <a:latin typeface="Calibri" pitchFamily="34" charset="0"/>
                <a:ea typeface="Calibri" pitchFamily="34" charset="-122"/>
                <a:cs typeface="Calibri" pitchFamily="34" charset="-120"/>
              </a:rPr>
              <a:t>Pull one hazard and walk it end to end</a:t>
            </a:r>
            <a:endParaRPr lang="en-US" sz="1050" dirty="0"/>
          </a:p>
          <a:p>
            <a:pPr marL="342900" indent="-342900">
              <a:spcAft>
                <a:spcPts val="500"/>
              </a:spcAft>
              <a:buSzPct val="100000"/>
              <a:buChar char="•"/>
            </a:pPr>
            <a:r>
              <a:rPr lang="en-US" sz="1050" dirty="0">
                <a:solidFill>
                  <a:srgbClr val="1F2933"/>
                </a:solidFill>
                <a:latin typeface="Calibri" pitchFamily="34" charset="0"/>
                <a:ea typeface="Calibri" pitchFamily="34" charset="-122"/>
                <a:cs typeface="Calibri" pitchFamily="34" charset="-120"/>
              </a:rPr>
              <a:t>Ask where a probability number came from</a:t>
            </a:r>
            <a:endParaRPr lang="en-US" sz="1050" dirty="0"/>
          </a:p>
          <a:p>
            <a:pPr marL="342900" indent="-342900">
              <a:spcAft>
                <a:spcPts val="500"/>
              </a:spcAft>
              <a:buSzPct val="100000"/>
              <a:buChar char="•"/>
            </a:pPr>
            <a:r>
              <a:rPr lang="en-US" sz="1050" dirty="0">
                <a:solidFill>
                  <a:srgbClr val="1F2933"/>
                </a:solidFill>
                <a:latin typeface="Calibri" pitchFamily="34" charset="0"/>
                <a:ea typeface="Calibri" pitchFamily="34" charset="-122"/>
                <a:cs typeface="Calibri" pitchFamily="34" charset="-120"/>
              </a:rPr>
              <a:t>Ask for the effectiveness record, not the implementation record</a:t>
            </a:r>
            <a:endParaRPr lang="en-US" sz="1050" dirty="0"/>
          </a:p>
          <a:p>
            <a:pPr marL="342900" indent="-342900">
              <a:spcAft>
                <a:spcPts val="500"/>
              </a:spcAft>
              <a:buSzPct val="100000"/>
              <a:buChar char="•"/>
            </a:pPr>
            <a:r>
              <a:rPr lang="en-US" sz="1050" dirty="0">
                <a:solidFill>
                  <a:srgbClr val="1F2933"/>
                </a:solidFill>
                <a:latin typeface="Calibri" pitchFamily="34" charset="0"/>
                <a:ea typeface="Calibri" pitchFamily="34" charset="-122"/>
                <a:cs typeface="Calibri" pitchFamily="34" charset="-120"/>
              </a:rPr>
              <a:t>Ask what post-market data changed</a:t>
            </a:r>
            <a:endParaRPr lang="en-US" sz="1050" dirty="0"/>
          </a:p>
        </p:txBody>
      </p:sp>
      <p:sp>
        <p:nvSpPr>
          <p:cNvPr id="13" name="Shape 10"/>
          <p:cNvSpPr/>
          <p:nvPr/>
        </p:nvSpPr>
        <p:spPr>
          <a:xfrm>
            <a:off x="6065520" y="1143000"/>
            <a:ext cx="2621280" cy="2606040"/>
          </a:xfrm>
          <a:prstGeom prst="roundRect">
            <a:avLst>
              <a:gd name="adj" fmla="val 2105"/>
            </a:avLst>
          </a:prstGeom>
          <a:solidFill>
            <a:srgbClr val="F9ECEA"/>
          </a:solidFill>
          <a:ln w="12700">
            <a:solidFill>
              <a:srgbClr val="F9ECEA"/>
            </a:solidFill>
            <a:prstDash val="solid"/>
          </a:ln>
        </p:spPr>
      </p:sp>
      <p:sp>
        <p:nvSpPr>
          <p:cNvPr id="14" name="Text 11"/>
          <p:cNvSpPr txBox="1"/>
          <p:nvPr/>
        </p:nvSpPr>
        <p:spPr>
          <a:xfrm>
            <a:off x="6193536" y="1234440"/>
            <a:ext cx="2365248" cy="292608"/>
          </a:xfrm>
          <a:prstGeom prst="rect">
            <a:avLst/>
          </a:prstGeom>
          <a:noFill/>
          <a:ln/>
        </p:spPr>
        <p:txBody>
          <a:bodyPr wrap="square" lIns="0" tIns="0" rIns="0" bIns="0" rtlCol="0" anchor="ctr"/>
          <a:lstStyle/>
          <a:p>
            <a:pPr indent="0" marL="0">
              <a:buNone/>
            </a:pPr>
            <a:r>
              <a:rPr lang="en-US" sz="1250" b="1" dirty="0">
                <a:solidFill>
                  <a:srgbClr val="0F2A4A"/>
                </a:solidFill>
                <a:latin typeface="Calibri" pitchFamily="34" charset="0"/>
                <a:ea typeface="Calibri" pitchFamily="34" charset="-122"/>
                <a:cs typeface="Calibri" pitchFamily="34" charset="-120"/>
              </a:rPr>
              <a:t>Where the gap opens</a:t>
            </a:r>
            <a:endParaRPr lang="en-US" sz="1250" dirty="0"/>
          </a:p>
        </p:txBody>
      </p:sp>
      <p:sp>
        <p:nvSpPr>
          <p:cNvPr id="15" name="Text 12"/>
          <p:cNvSpPr txBox="1"/>
          <p:nvPr/>
        </p:nvSpPr>
        <p:spPr>
          <a:xfrm>
            <a:off x="6193536" y="1563624"/>
            <a:ext cx="2365248" cy="2093976"/>
          </a:xfrm>
          <a:prstGeom prst="rect">
            <a:avLst/>
          </a:prstGeom>
          <a:noFill/>
          <a:ln/>
        </p:spPr>
        <p:txBody>
          <a:bodyPr wrap="square" lIns="0" tIns="0" rIns="0" bIns="0" rtlCol="0" anchor="t"/>
          <a:lstStyle/>
          <a:p>
            <a:pPr marL="342900" indent="-342900">
              <a:spcAft>
                <a:spcPts val="500"/>
              </a:spcAft>
              <a:buSzPct val="100000"/>
              <a:buChar char="•"/>
            </a:pPr>
            <a:r>
              <a:rPr lang="en-US" sz="1050" dirty="0">
                <a:solidFill>
                  <a:srgbClr val="1F2933"/>
                </a:solidFill>
                <a:latin typeface="Calibri" pitchFamily="34" charset="0"/>
                <a:ea typeface="Calibri" pitchFamily="34" charset="-122"/>
                <a:cs typeface="Calibri" pitchFamily="34" charset="-120"/>
              </a:rPr>
              <a:t>Traceability breaks at the control</a:t>
            </a:r>
            <a:endParaRPr lang="en-US" sz="1050" dirty="0"/>
          </a:p>
          <a:p>
            <a:pPr marL="342900" indent="-342900">
              <a:spcAft>
                <a:spcPts val="500"/>
              </a:spcAft>
              <a:buSzPct val="100000"/>
              <a:buChar char="•"/>
            </a:pPr>
            <a:r>
              <a:rPr lang="en-US" sz="1050" dirty="0">
                <a:solidFill>
                  <a:srgbClr val="1F2933"/>
                </a:solidFill>
                <a:latin typeface="Calibri" pitchFamily="34" charset="0"/>
                <a:ea typeface="Calibri" pitchFamily="34" charset="-122"/>
                <a:cs typeface="Calibri" pitchFamily="34" charset="-120"/>
              </a:rPr>
              <a:t>Estimates have no basis</a:t>
            </a:r>
            <a:endParaRPr lang="en-US" sz="1050" dirty="0"/>
          </a:p>
          <a:p>
            <a:pPr marL="342900" indent="-342900">
              <a:spcAft>
                <a:spcPts val="500"/>
              </a:spcAft>
              <a:buSzPct val="100000"/>
              <a:buChar char="•"/>
            </a:pPr>
            <a:r>
              <a:rPr lang="en-US" sz="1050" dirty="0">
                <a:solidFill>
                  <a:srgbClr val="1F2933"/>
                </a:solidFill>
                <a:latin typeface="Calibri" pitchFamily="34" charset="0"/>
                <a:ea typeface="Calibri" pitchFamily="34" charset="-122"/>
                <a:cs typeface="Calibri" pitchFamily="34" charset="-120"/>
              </a:rPr>
              <a:t>Clause 10 log is empty or historical</a:t>
            </a:r>
            <a:endParaRPr lang="en-US" sz="1050" dirty="0"/>
          </a:p>
          <a:p>
            <a:pPr marL="342900" indent="-342900">
              <a:spcAft>
                <a:spcPts val="500"/>
              </a:spcAft>
              <a:buSzPct val="100000"/>
              <a:buChar char="•"/>
            </a:pPr>
            <a:r>
              <a:rPr lang="en-US" sz="1050" dirty="0">
                <a:solidFill>
                  <a:srgbClr val="1F2933"/>
                </a:solidFill>
                <a:latin typeface="Calibri" pitchFamily="34" charset="0"/>
                <a:ea typeface="Calibri" pitchFamily="34" charset="-122"/>
                <a:cs typeface="Calibri" pitchFamily="34" charset="-120"/>
              </a:rPr>
              <a:t>Acceptability criteria were reverse-engineered</a:t>
            </a:r>
            <a:endParaRPr lang="en-US" sz="1050" dirty="0"/>
          </a:p>
        </p:txBody>
      </p:sp>
      <p:sp>
        <p:nvSpPr>
          <p:cNvPr id="16" name="Shape 13"/>
          <p:cNvSpPr/>
          <p:nvPr/>
        </p:nvSpPr>
        <p:spPr>
          <a:xfrm>
            <a:off x="457200" y="3977640"/>
            <a:ext cx="8229600" cy="457200"/>
          </a:xfrm>
          <a:prstGeom prst="roundRect">
            <a:avLst>
              <a:gd name="adj" fmla="val 12000"/>
            </a:avLst>
          </a:prstGeom>
          <a:solidFill>
            <a:srgbClr val="0F2A4A"/>
          </a:solidFill>
          <a:ln w="12700">
            <a:solidFill>
              <a:srgbClr val="0F2A4A"/>
            </a:solidFill>
            <a:prstDash val="solid"/>
          </a:ln>
        </p:spPr>
      </p:sp>
      <p:sp>
        <p:nvSpPr>
          <p:cNvPr id="17" name="Text 14"/>
          <p:cNvSpPr txBox="1"/>
          <p:nvPr/>
        </p:nvSpPr>
        <p:spPr>
          <a:xfrm>
            <a:off x="640080" y="3977640"/>
            <a:ext cx="7863840" cy="457200"/>
          </a:xfrm>
          <a:prstGeom prst="rect">
            <a:avLst/>
          </a:prstGeom>
          <a:noFill/>
          <a:ln/>
        </p:spPr>
        <p:txBody>
          <a:bodyPr wrap="square" lIns="0" tIns="0" rIns="0" bIns="0" rtlCol="0" anchor="ctr"/>
          <a:lstStyle/>
          <a:p>
            <a:pPr indent="0" marL="0">
              <a:buNone/>
            </a:pPr>
            <a:r>
              <a:rPr lang="en-US" sz="1250" i="1" dirty="0">
                <a:solidFill>
                  <a:srgbClr val="FFFFFF"/>
                </a:solidFill>
                <a:latin typeface="Calibri" pitchFamily="34" charset="0"/>
                <a:ea typeface="Calibri" pitchFamily="34" charset="-122"/>
                <a:cs typeface="Calibri" pitchFamily="34" charset="-120"/>
              </a:rPr>
              <a:t>Room poll: hands up if you have had a risk-management finding. Keep them up if it was verification of effectiveness.</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4814316"/>
            <a:ext cx="5943600" cy="201168"/>
          </a:xfrm>
          <a:prstGeom prst="rect">
            <a:avLst/>
          </a:prstGeom>
          <a:noFill/>
          <a:ln/>
        </p:spPr>
        <p:txBody>
          <a:bodyPr wrap="square" lIns="0" tIns="0" rIns="0" bIns="0" rtlCol="0" anchor="ctr"/>
          <a:lstStyle/>
          <a:p>
            <a:pPr indent="0" marL="0">
              <a:buNone/>
            </a:pPr>
            <a:r>
              <a:rPr lang="en-US" sz="900" dirty="0">
                <a:solidFill>
                  <a:srgbClr val="5A6B7B"/>
                </a:solidFill>
                <a:latin typeface="Calibri" pitchFamily="34" charset="0"/>
                <a:ea typeface="Calibri" pitchFamily="34" charset="-122"/>
                <a:cs typeface="Calibri" pitchFamily="34" charset="-120"/>
              </a:rPr>
              <a:t>Risk Management  |  ISO 14971  |  Elder Consulting, LLC</a:t>
            </a:r>
            <a:endParaRPr lang="en-US" sz="900" dirty="0"/>
          </a:p>
        </p:txBody>
      </p:sp>
      <p:sp>
        <p:nvSpPr>
          <p:cNvPr id="3" name="Text 1"/>
          <p:cNvSpPr txBox="1"/>
          <p:nvPr/>
        </p:nvSpPr>
        <p:spPr>
          <a:xfrm>
            <a:off x="8138160" y="4814316"/>
            <a:ext cx="548640" cy="201168"/>
          </a:xfrm>
          <a:prstGeom prst="rect">
            <a:avLst/>
          </a:prstGeom>
          <a:noFill/>
          <a:ln/>
        </p:spPr>
        <p:txBody>
          <a:bodyPr wrap="square" lIns="0" tIns="0" rIns="0" bIns="0" rtlCol="0" anchor="ctr"/>
          <a:lstStyle/>
          <a:p>
            <a:pPr algn="r" indent="0" marL="0">
              <a:buNone/>
            </a:pPr>
            <a:r>
              <a:rPr lang="en-US" sz="900" dirty="0">
                <a:solidFill>
                  <a:srgbClr val="5A6B7B"/>
                </a:solidFill>
                <a:latin typeface="Calibri" pitchFamily="34" charset="0"/>
                <a:ea typeface="Calibri" pitchFamily="34" charset="-122"/>
                <a:cs typeface="Calibri" pitchFamily="34" charset="-120"/>
              </a:rPr>
              <a:t>3</a:t>
            </a:r>
            <a:endParaRPr lang="en-US" sz="900" dirty="0"/>
          </a:p>
        </p:txBody>
      </p:sp>
      <p:sp>
        <p:nvSpPr>
          <p:cNvPr id="4" name="Text 2"/>
          <p:cNvSpPr txBox="1"/>
          <p:nvPr/>
        </p:nvSpPr>
        <p:spPr>
          <a:xfrm>
            <a:off x="457200" y="274320"/>
            <a:ext cx="8229600" cy="219456"/>
          </a:xfrm>
          <a:prstGeom prst="rect">
            <a:avLst/>
          </a:prstGeom>
          <a:noFill/>
          <a:ln/>
        </p:spPr>
        <p:txBody>
          <a:bodyPr wrap="square" lIns="0" tIns="0" rIns="0" bIns="0" rtlCol="0" anchor="ctr"/>
          <a:lstStyle/>
          <a:p>
            <a:pPr indent="0" marL="0">
              <a:buNone/>
            </a:pPr>
            <a:r>
              <a:rPr lang="en-US" sz="1000" b="1" spc="200" kern="0" dirty="0">
                <a:solidFill>
                  <a:srgbClr val="A8730F"/>
                </a:solidFill>
                <a:latin typeface="Calibri" pitchFamily="34" charset="0"/>
                <a:ea typeface="Calibri" pitchFamily="34" charset="-122"/>
                <a:cs typeface="Calibri" pitchFamily="34" charset="-120"/>
              </a:rPr>
              <a:t>OPENING</a:t>
            </a:r>
            <a:endParaRPr lang="en-US" sz="1000" dirty="0"/>
          </a:p>
        </p:txBody>
      </p:sp>
      <p:sp>
        <p:nvSpPr>
          <p:cNvPr id="5" name="Text 3"/>
          <p:cNvSpPr txBox="1"/>
          <p:nvPr/>
        </p:nvSpPr>
        <p:spPr>
          <a:xfrm>
            <a:off x="457200" y="502920"/>
            <a:ext cx="8229600" cy="548640"/>
          </a:xfrm>
          <a:prstGeom prst="rect">
            <a:avLst/>
          </a:prstGeom>
          <a:noFill/>
          <a:ln/>
        </p:spPr>
        <p:txBody>
          <a:bodyPr wrap="square" lIns="0" tIns="0" rIns="0" bIns="0" rtlCol="0" anchor="t"/>
          <a:lstStyle/>
          <a:p>
            <a:pPr indent="0" marL="0">
              <a:buNone/>
            </a:pPr>
            <a:r>
              <a:rPr lang="en-US" sz="2400" b="1" dirty="0">
                <a:solidFill>
                  <a:srgbClr val="0F2A4A"/>
                </a:solidFill>
                <a:latin typeface="Cambria" pitchFamily="34" charset="0"/>
                <a:ea typeface="Cambria" pitchFamily="34" charset="-122"/>
                <a:cs typeface="Cambria" pitchFamily="34" charset="-120"/>
              </a:rPr>
              <a:t>What you will be able to do at 1:30</a:t>
            </a:r>
            <a:endParaRPr lang="en-US" sz="24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914400"/>
        </p:xfrm>
        <a:graphic>
          <a:graphicData uri="http://schemas.openxmlformats.org/drawingml/2006/table">
            <a:tbl>
              <a:tblPr/>
              <a:tblGrid>
                <a:gridCol w="3200400"/>
                <a:gridCol w="5029200"/>
              </a:tblGrid>
              <a:tr h="27432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You will be able to</a:t>
                      </a:r>
                      <a:endParaRPr lang="en-US" sz="1000" dirty="0">
                        <a:latin typeface="Calibri" charset="0"/>
                        <a:ea typeface="Calibri" charset="0"/>
                        <a:cs typeface="Calibri" charset="0"/>
                      </a:endParaRPr>
                    </a:p>
                  </a:txBody>
                  <a:tcPr marL="54864" marR="54864" marT="54864" marB="54864" anchor="ctr">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0F2A4A"/>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Which means</a:t>
                      </a:r>
                      <a:endParaRPr lang="en-US" sz="1000" dirty="0">
                        <a:latin typeface="Calibri" charset="0"/>
                        <a:ea typeface="Calibri" charset="0"/>
                        <a:cs typeface="Calibri" charset="0"/>
                      </a:endParaRPr>
                    </a:p>
                  </a:txBody>
                  <a:tcPr marL="54864" marR="54864" marT="54864" marB="54864" anchor="ctr">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0F2A4A"/>
                    </a:solidFill>
                  </a:tcPr>
                </a:tc>
              </a:tr>
              <a:tr h="274320">
                <a:tc>
                  <a:txBody>
                    <a:bodyPr/>
                    <a:lstStyle/>
                    <a:p>
                      <a:pPr indent="0" marL="0">
                        <a:buNone/>
                      </a:pPr>
                      <a:r>
                        <a:rPr lang="en-US" sz="1000" b="1" dirty="0">
                          <a:solidFill>
                            <a:srgbClr val="1F2933"/>
                          </a:solidFill>
                          <a:latin typeface="Calibri" pitchFamily="34" charset="0"/>
                          <a:ea typeface="Calibri" pitchFamily="34" charset="-122"/>
                          <a:cs typeface="Calibri" pitchFamily="34" charset="-120"/>
                        </a:rPr>
                        <a:t>Draw a hazard chain that a reviewer cannot collapse</a:t>
                      </a:r>
                      <a:endParaRPr lang="en-US" sz="10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1000" dirty="0">
                          <a:solidFill>
                            <a:srgbClr val="1F2933"/>
                          </a:solidFill>
                          <a:latin typeface="Calibri" pitchFamily="34" charset="0"/>
                          <a:ea typeface="Calibri" pitchFamily="34" charset="-122"/>
                          <a:cs typeface="Calibri" pitchFamily="34" charset="-120"/>
                        </a:rPr>
                        <a:t>Hazard, foreseeable sequence of events, hazardous situation, harm - one row per hazardous situation, with P1 and P2 separated</a:t>
                      </a:r>
                      <a:endParaRPr lang="en-US" sz="10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r>
              <a:tr h="274320">
                <a:tc>
                  <a:txBody>
                    <a:bodyPr/>
                    <a:lstStyle/>
                    <a:p>
                      <a:pPr indent="0" marL="0">
                        <a:buNone/>
                      </a:pPr>
                      <a:r>
                        <a:rPr lang="en-US" sz="1000" b="1" dirty="0">
                          <a:solidFill>
                            <a:srgbClr val="1F2933"/>
                          </a:solidFill>
                          <a:latin typeface="Calibri" pitchFamily="34" charset="0"/>
                          <a:ea typeface="Calibri" pitchFamily="34" charset="-122"/>
                          <a:cs typeface="Calibri" pitchFamily="34" charset="-120"/>
                        </a:rPr>
                        <a:t>Defend a probability estimate</a:t>
                      </a:r>
                      <a:endParaRPr lang="en-US" sz="10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c>
                  <a:txBody>
                    <a:bodyPr/>
                    <a:lstStyle/>
                    <a:p>
                      <a:pPr indent="0" marL="0">
                        <a:buNone/>
                      </a:pPr>
                      <a:r>
                        <a:rPr lang="en-US" sz="1000" dirty="0">
                          <a:solidFill>
                            <a:srgbClr val="1F2933"/>
                          </a:solidFill>
                          <a:latin typeface="Calibri" pitchFamily="34" charset="0"/>
                          <a:ea typeface="Calibri" pitchFamily="34" charset="-122"/>
                          <a:cs typeface="Calibri" pitchFamily="34" charset="-120"/>
                        </a:rPr>
                        <a:t>Name the basis, the population, the period and the record. An estimate with no stated basis is the finding</a:t>
                      </a:r>
                      <a:endParaRPr lang="en-US" sz="10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r>
              <a:tr h="274320">
                <a:tc>
                  <a:txBody>
                    <a:bodyPr/>
                    <a:lstStyle/>
                    <a:p>
                      <a:pPr indent="0" marL="0">
                        <a:buNone/>
                      </a:pPr>
                      <a:r>
                        <a:rPr lang="en-US" sz="1000" b="1" dirty="0">
                          <a:solidFill>
                            <a:srgbClr val="1F2933"/>
                          </a:solidFill>
                          <a:latin typeface="Calibri" pitchFamily="34" charset="0"/>
                          <a:ea typeface="Calibri" pitchFamily="34" charset="-122"/>
                          <a:cs typeface="Calibri" pitchFamily="34" charset="-120"/>
                        </a:rPr>
                        <a:t>Work the order of priority as an order</a:t>
                      </a:r>
                      <a:endParaRPr lang="en-US" sz="10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1000" dirty="0">
                          <a:solidFill>
                            <a:srgbClr val="1F2933"/>
                          </a:solidFill>
                          <a:latin typeface="Calibri" pitchFamily="34" charset="0"/>
                          <a:ea typeface="Calibri" pitchFamily="34" charset="-122"/>
                          <a:cs typeface="Calibri" pitchFamily="34" charset="-120"/>
                        </a:rPr>
                        <a:t>ISO 14971 Clause 7.1 and MDR Annex I point 4: design, then protective measures, then information for safety, with a record of why you stopped</a:t>
                      </a:r>
                      <a:endParaRPr lang="en-US" sz="10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r>
              <a:tr h="274320">
                <a:tc>
                  <a:txBody>
                    <a:bodyPr/>
                    <a:lstStyle/>
                    <a:p>
                      <a:pPr indent="0" marL="0">
                        <a:buNone/>
                      </a:pPr>
                      <a:r>
                        <a:rPr lang="en-US" sz="1000" b="1" dirty="0">
                          <a:solidFill>
                            <a:srgbClr val="1F2933"/>
                          </a:solidFill>
                          <a:latin typeface="Calibri" pitchFamily="34" charset="0"/>
                          <a:ea typeface="Calibri" pitchFamily="34" charset="-122"/>
                          <a:cs typeface="Calibri" pitchFamily="34" charset="-120"/>
                        </a:rPr>
                        <a:t>Produce both verifications for every control</a:t>
                      </a:r>
                      <a:endParaRPr lang="en-US" sz="10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c>
                  <a:txBody>
                    <a:bodyPr/>
                    <a:lstStyle/>
                    <a:p>
                      <a:pPr indent="0" marL="0">
                        <a:buNone/>
                      </a:pPr>
                      <a:r>
                        <a:rPr lang="en-US" sz="1000" dirty="0">
                          <a:solidFill>
                            <a:srgbClr val="1F2933"/>
                          </a:solidFill>
                          <a:latin typeface="Calibri" pitchFamily="34" charset="0"/>
                          <a:ea typeface="Calibri" pitchFamily="34" charset="-122"/>
                          <a:cs typeface="Calibri" pitchFamily="34" charset="-120"/>
                        </a:rPr>
                        <a:t>Clause 7.2 asks for implementation AND effectiveness. Two records, different evidence</a:t>
                      </a:r>
                      <a:endParaRPr lang="en-US" sz="10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r>
              <a:tr h="274320">
                <a:tc>
                  <a:txBody>
                    <a:bodyPr/>
                    <a:lstStyle/>
                    <a:p>
                      <a:pPr indent="0" marL="0">
                        <a:buNone/>
                      </a:pPr>
                      <a:r>
                        <a:rPr lang="en-US" sz="1000" b="1" dirty="0">
                          <a:solidFill>
                            <a:srgbClr val="1F2933"/>
                          </a:solidFill>
                          <a:latin typeface="Calibri" pitchFamily="34" charset="0"/>
                          <a:ea typeface="Calibri" pitchFamily="34" charset="-122"/>
                          <a:cs typeface="Calibri" pitchFamily="34" charset="-120"/>
                        </a:rPr>
                        <a:t>Say which regulator asks for what</a:t>
                      </a:r>
                      <a:endParaRPr lang="en-US" sz="10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1000" dirty="0">
                          <a:solidFill>
                            <a:srgbClr val="1F2933"/>
                          </a:solidFill>
                          <a:latin typeface="Calibri" pitchFamily="34" charset="0"/>
                          <a:ea typeface="Calibri" pitchFamily="34" charset="-122"/>
                          <a:cs typeface="Calibri" pitchFamily="34" charset="-120"/>
                        </a:rPr>
                        <a:t>Where the EU and FDA expectations actually differ, and where they do not</a:t>
                      </a:r>
                      <a:endParaRPr lang="en-US" sz="10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r>
              <a:tr h="274320">
                <a:tc>
                  <a:txBody>
                    <a:bodyPr/>
                    <a:lstStyle/>
                    <a:p>
                      <a:pPr indent="0" marL="0">
                        <a:buNone/>
                      </a:pPr>
                      <a:r>
                        <a:rPr lang="en-US" sz="1000" b="1" dirty="0">
                          <a:solidFill>
                            <a:srgbClr val="1F2933"/>
                          </a:solidFill>
                          <a:latin typeface="Calibri" pitchFamily="34" charset="0"/>
                          <a:ea typeface="Calibri" pitchFamily="34" charset="-122"/>
                          <a:cs typeface="Calibri" pitchFamily="34" charset="-120"/>
                        </a:rPr>
                        <a:t>Close the loop from post-market data back into the file</a:t>
                      </a:r>
                      <a:endParaRPr lang="en-US" sz="10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c>
                  <a:txBody>
                    <a:bodyPr/>
                    <a:lstStyle/>
                    <a:p>
                      <a:pPr indent="0" marL="0">
                        <a:buNone/>
                      </a:pPr>
                      <a:r>
                        <a:rPr lang="en-US" sz="1000" dirty="0">
                          <a:solidFill>
                            <a:srgbClr val="1F2933"/>
                          </a:solidFill>
                          <a:latin typeface="Calibri" pitchFamily="34" charset="0"/>
                          <a:ea typeface="Calibri" pitchFamily="34" charset="-122"/>
                          <a:cs typeface="Calibri" pitchFamily="34" charset="-120"/>
                        </a:rPr>
                        <a:t>Clause 10 and the MDR plumbing: PMS plan indicators, PSUR, PMCF, trend reporting</a:t>
                      </a:r>
                      <a:endParaRPr lang="en-US" sz="10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4814316"/>
            <a:ext cx="5943600" cy="201168"/>
          </a:xfrm>
          <a:prstGeom prst="rect">
            <a:avLst/>
          </a:prstGeom>
          <a:noFill/>
          <a:ln/>
        </p:spPr>
        <p:txBody>
          <a:bodyPr wrap="square" lIns="0" tIns="0" rIns="0" bIns="0" rtlCol="0" anchor="ctr"/>
          <a:lstStyle/>
          <a:p>
            <a:pPr indent="0" marL="0">
              <a:buNone/>
            </a:pPr>
            <a:r>
              <a:rPr lang="en-US" sz="900" dirty="0">
                <a:solidFill>
                  <a:srgbClr val="5A6B7B"/>
                </a:solidFill>
                <a:latin typeface="Calibri" pitchFamily="34" charset="0"/>
                <a:ea typeface="Calibri" pitchFamily="34" charset="-122"/>
                <a:cs typeface="Calibri" pitchFamily="34" charset="-120"/>
              </a:rPr>
              <a:t>Risk Management  |  ISO 14971  |  Elder Consulting, LLC</a:t>
            </a:r>
            <a:endParaRPr lang="en-US" sz="900" dirty="0"/>
          </a:p>
        </p:txBody>
      </p:sp>
      <p:sp>
        <p:nvSpPr>
          <p:cNvPr id="3" name="Text 1"/>
          <p:cNvSpPr txBox="1"/>
          <p:nvPr/>
        </p:nvSpPr>
        <p:spPr>
          <a:xfrm>
            <a:off x="8138160" y="4814316"/>
            <a:ext cx="548640" cy="201168"/>
          </a:xfrm>
          <a:prstGeom prst="rect">
            <a:avLst/>
          </a:prstGeom>
          <a:noFill/>
          <a:ln/>
        </p:spPr>
        <p:txBody>
          <a:bodyPr wrap="square" lIns="0" tIns="0" rIns="0" bIns="0" rtlCol="0" anchor="ctr"/>
          <a:lstStyle/>
          <a:p>
            <a:pPr algn="r" indent="0" marL="0">
              <a:buNone/>
            </a:pPr>
            <a:r>
              <a:rPr lang="en-US" sz="900" dirty="0">
                <a:solidFill>
                  <a:srgbClr val="5A6B7B"/>
                </a:solidFill>
                <a:latin typeface="Calibri" pitchFamily="34" charset="0"/>
                <a:ea typeface="Calibri" pitchFamily="34" charset="-122"/>
                <a:cs typeface="Calibri" pitchFamily="34" charset="-120"/>
              </a:rPr>
              <a:t>4</a:t>
            </a:r>
            <a:endParaRPr lang="en-US" sz="900" dirty="0"/>
          </a:p>
        </p:txBody>
      </p:sp>
      <p:sp>
        <p:nvSpPr>
          <p:cNvPr id="4" name="Text 2"/>
          <p:cNvSpPr txBox="1"/>
          <p:nvPr/>
        </p:nvSpPr>
        <p:spPr>
          <a:xfrm>
            <a:off x="457200" y="274320"/>
            <a:ext cx="8229600" cy="219456"/>
          </a:xfrm>
          <a:prstGeom prst="rect">
            <a:avLst/>
          </a:prstGeom>
          <a:noFill/>
          <a:ln/>
        </p:spPr>
        <p:txBody>
          <a:bodyPr wrap="square" lIns="0" tIns="0" rIns="0" bIns="0" rtlCol="0" anchor="ctr"/>
          <a:lstStyle/>
          <a:p>
            <a:pPr indent="0" marL="0">
              <a:buNone/>
            </a:pPr>
            <a:r>
              <a:rPr lang="en-US" sz="1000" b="1" spc="200" kern="0" dirty="0">
                <a:solidFill>
                  <a:srgbClr val="A8730F"/>
                </a:solidFill>
                <a:latin typeface="Calibri" pitchFamily="34" charset="0"/>
                <a:ea typeface="Calibri" pitchFamily="34" charset="-122"/>
                <a:cs typeface="Calibri" pitchFamily="34" charset="-120"/>
              </a:rPr>
              <a:t>OPENING</a:t>
            </a:r>
            <a:endParaRPr lang="en-US" sz="1000" dirty="0"/>
          </a:p>
        </p:txBody>
      </p:sp>
      <p:sp>
        <p:nvSpPr>
          <p:cNvPr id="5" name="Text 3"/>
          <p:cNvSpPr txBox="1"/>
          <p:nvPr/>
        </p:nvSpPr>
        <p:spPr>
          <a:xfrm>
            <a:off x="457200" y="502920"/>
            <a:ext cx="8229600" cy="548640"/>
          </a:xfrm>
          <a:prstGeom prst="rect">
            <a:avLst/>
          </a:prstGeom>
          <a:noFill/>
          <a:ln/>
        </p:spPr>
        <p:txBody>
          <a:bodyPr wrap="square" lIns="0" tIns="0" rIns="0" bIns="0" rtlCol="0" anchor="t"/>
          <a:lstStyle/>
          <a:p>
            <a:pPr indent="0" marL="0">
              <a:buNone/>
            </a:pPr>
            <a:r>
              <a:rPr lang="en-US" sz="2400" b="1" dirty="0">
                <a:solidFill>
                  <a:srgbClr val="0F2A4A"/>
                </a:solidFill>
                <a:latin typeface="Cambria" pitchFamily="34" charset="0"/>
                <a:ea typeface="Cambria" pitchFamily="34" charset="-122"/>
                <a:cs typeface="Cambria" pitchFamily="34" charset="-120"/>
              </a:rPr>
              <a:t>Ninety minutes, thirty-five of them yours</a:t>
            </a:r>
            <a:endParaRPr lang="en-US" sz="24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914400"/>
        </p:xfrm>
        <a:graphic>
          <a:graphicData uri="http://schemas.openxmlformats.org/drawingml/2006/table">
            <a:tbl>
              <a:tblPr/>
              <a:tblGrid>
                <a:gridCol w="1371600"/>
                <a:gridCol w="6858000"/>
              </a:tblGrid>
              <a:tr h="329184">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Time</a:t>
                      </a:r>
                      <a:endParaRPr lang="en-US" sz="1050" dirty="0">
                        <a:latin typeface="Calibri" charset="0"/>
                        <a:ea typeface="Calibri" charset="0"/>
                        <a:cs typeface="Calibri" charset="0"/>
                      </a:endParaRPr>
                    </a:p>
                  </a:txBody>
                  <a:tcPr marL="54864" marR="54864" marT="54864" marB="54864" anchor="ctr">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0F2A4A"/>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Section</a:t>
                      </a:r>
                      <a:endParaRPr lang="en-US" sz="1050" dirty="0">
                        <a:latin typeface="Calibri" charset="0"/>
                        <a:ea typeface="Calibri" charset="0"/>
                        <a:cs typeface="Calibri" charset="0"/>
                      </a:endParaRPr>
                    </a:p>
                  </a:txBody>
                  <a:tcPr marL="54864" marR="54864" marT="54864" marB="54864" anchor="ctr">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0F2A4A"/>
                    </a:solidFill>
                  </a:tcPr>
                </a:tc>
              </a:tr>
              <a:tr h="329184">
                <a:tc>
                  <a:txBody>
                    <a:bodyPr/>
                    <a:lstStyle/>
                    <a:p>
                      <a:pPr indent="0" marL="0">
                        <a:buNone/>
                      </a:pPr>
                      <a:r>
                        <a:rPr lang="en-US" sz="1050" b="1" dirty="0">
                          <a:solidFill>
                            <a:srgbClr val="1F2933"/>
                          </a:solidFill>
                          <a:latin typeface="Calibri" pitchFamily="34" charset="0"/>
                          <a:ea typeface="Calibri" pitchFamily="34" charset="-122"/>
                          <a:cs typeface="Calibri" pitchFamily="34" charset="-120"/>
                        </a:rPr>
                        <a:t>0:00 - 0:05</a:t>
                      </a:r>
                      <a:endParaRPr lang="en-US" sz="10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1050" dirty="0">
                          <a:solidFill>
                            <a:srgbClr val="1F2933"/>
                          </a:solidFill>
                          <a:latin typeface="Calibri" pitchFamily="34" charset="0"/>
                          <a:ea typeface="Calibri" pitchFamily="34" charset="-122"/>
                          <a:cs typeface="Calibri" pitchFamily="34" charset="-120"/>
                        </a:rPr>
                        <a:t>Opening: the asymmetry, objectives, room poll</a:t>
                      </a:r>
                      <a:endParaRPr lang="en-US" sz="10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r>
              <a:tr h="329184">
                <a:tc>
                  <a:txBody>
                    <a:bodyPr/>
                    <a:lstStyle/>
                    <a:p>
                      <a:pPr indent="0" marL="0">
                        <a:buNone/>
                      </a:pPr>
                      <a:r>
                        <a:rPr lang="en-US" sz="1050" b="1" dirty="0">
                          <a:solidFill>
                            <a:srgbClr val="1F2933"/>
                          </a:solidFill>
                          <a:latin typeface="Calibri" pitchFamily="34" charset="0"/>
                          <a:ea typeface="Calibri" pitchFamily="34" charset="-122"/>
                          <a:cs typeface="Calibri" pitchFamily="34" charset="-120"/>
                        </a:rPr>
                        <a:t>0:05 - 0:18</a:t>
                      </a:r>
                      <a:endParaRPr lang="en-US" sz="10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c>
                  <a:txBody>
                    <a:bodyPr/>
                    <a:lstStyle/>
                    <a:p>
                      <a:pPr indent="0" marL="0">
                        <a:buNone/>
                      </a:pPr>
                      <a:r>
                        <a:rPr lang="en-US" sz="1050" dirty="0">
                          <a:solidFill>
                            <a:srgbClr val="1F2933"/>
                          </a:solidFill>
                          <a:latin typeface="Calibri" pitchFamily="34" charset="0"/>
                          <a:ea typeface="Calibri" pitchFamily="34" charset="-122"/>
                          <a:cs typeface="Calibri" pitchFamily="34" charset="-120"/>
                        </a:rPr>
                        <a:t>1. The file is the argument: what ISO 14971:2019 actually requires</a:t>
                      </a:r>
                      <a:endParaRPr lang="en-US" sz="10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r>
              <a:tr h="329184">
                <a:tc>
                  <a:txBody>
                    <a:bodyPr/>
                    <a:lstStyle/>
                    <a:p>
                      <a:pPr indent="0" marL="0">
                        <a:buNone/>
                      </a:pPr>
                      <a:r>
                        <a:rPr lang="en-US" sz="1050" b="1" dirty="0">
                          <a:solidFill>
                            <a:srgbClr val="1F2933"/>
                          </a:solidFill>
                          <a:latin typeface="Calibri" pitchFamily="34" charset="0"/>
                          <a:ea typeface="Calibri" pitchFamily="34" charset="-122"/>
                          <a:cs typeface="Calibri" pitchFamily="34" charset="-120"/>
                        </a:rPr>
                        <a:t>0:18 - 0:30</a:t>
                      </a:r>
                      <a:endParaRPr lang="en-US" sz="10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1050" dirty="0">
                          <a:solidFill>
                            <a:srgbClr val="1F2933"/>
                          </a:solidFill>
                          <a:latin typeface="Calibri" pitchFamily="34" charset="0"/>
                          <a:ea typeface="Calibri" pitchFamily="34" charset="-122"/>
                          <a:cs typeface="Calibri" pitchFamily="34" charset="-120"/>
                        </a:rPr>
                        <a:t>2. Two regulators, one standard: where EU and FDA expectations part</a:t>
                      </a:r>
                      <a:endParaRPr lang="en-US" sz="10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r>
              <a:tr h="329184">
                <a:tc>
                  <a:txBody>
                    <a:bodyPr/>
                    <a:lstStyle/>
                    <a:p>
                      <a:pPr indent="0" marL="0">
                        <a:buNone/>
                      </a:pPr>
                      <a:r>
                        <a:rPr lang="en-US" sz="1050" b="1" dirty="0">
                          <a:solidFill>
                            <a:srgbClr val="1F2933"/>
                          </a:solidFill>
                          <a:latin typeface="Calibri" pitchFamily="34" charset="0"/>
                          <a:ea typeface="Calibri" pitchFamily="34" charset="-122"/>
                          <a:cs typeface="Calibri" pitchFamily="34" charset="-120"/>
                        </a:rPr>
                        <a:t>0:30 - 0:45</a:t>
                      </a:r>
                      <a:endParaRPr lang="en-US" sz="10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c>
                  <a:txBody>
                    <a:bodyPr/>
                    <a:lstStyle/>
                    <a:p>
                      <a:pPr indent="0" marL="0">
                        <a:buNone/>
                      </a:pPr>
                      <a:r>
                        <a:rPr lang="en-US" sz="1050" b="1" dirty="0">
                          <a:solidFill>
                            <a:srgbClr val="1F2933"/>
                          </a:solidFill>
                          <a:latin typeface="Calibri" pitchFamily="34" charset="0"/>
                          <a:ea typeface="Calibri" pitchFamily="34" charset="-122"/>
                          <a:cs typeface="Calibri" pitchFamily="34" charset="-120"/>
                        </a:rPr>
                        <a:t>Exercise A: repair the hazard chain  (15 min)</a:t>
                      </a:r>
                      <a:endParaRPr lang="en-US" sz="10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BF2DE"/>
                    </a:solidFill>
                  </a:tcPr>
                </a:tc>
              </a:tr>
              <a:tr h="329184">
                <a:tc>
                  <a:txBody>
                    <a:bodyPr/>
                    <a:lstStyle/>
                    <a:p>
                      <a:pPr indent="0" marL="0">
                        <a:buNone/>
                      </a:pPr>
                      <a:r>
                        <a:rPr lang="en-US" sz="1050" b="1" dirty="0">
                          <a:solidFill>
                            <a:srgbClr val="1F2933"/>
                          </a:solidFill>
                          <a:latin typeface="Calibri" pitchFamily="34" charset="0"/>
                          <a:ea typeface="Calibri" pitchFamily="34" charset="-122"/>
                          <a:cs typeface="Calibri" pitchFamily="34" charset="-120"/>
                        </a:rPr>
                        <a:t>0:45 - 0:58</a:t>
                      </a:r>
                      <a:endParaRPr lang="en-US" sz="10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1050" dirty="0">
                          <a:solidFill>
                            <a:srgbClr val="1F2933"/>
                          </a:solidFill>
                          <a:latin typeface="Calibri" pitchFamily="34" charset="0"/>
                          <a:ea typeface="Calibri" pitchFamily="34" charset="-122"/>
                          <a:cs typeface="Calibri" pitchFamily="34" charset="-120"/>
                        </a:rPr>
                        <a:t>3. Risk control and residual risk that survive review</a:t>
                      </a:r>
                      <a:endParaRPr lang="en-US" sz="10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r>
              <a:tr h="329184">
                <a:tc>
                  <a:txBody>
                    <a:bodyPr/>
                    <a:lstStyle/>
                    <a:p>
                      <a:pPr indent="0" marL="0">
                        <a:buNone/>
                      </a:pPr>
                      <a:r>
                        <a:rPr lang="en-US" sz="1050" b="1" dirty="0">
                          <a:solidFill>
                            <a:srgbClr val="1F2933"/>
                          </a:solidFill>
                          <a:latin typeface="Calibri" pitchFamily="34" charset="0"/>
                          <a:ea typeface="Calibri" pitchFamily="34" charset="-122"/>
                          <a:cs typeface="Calibri" pitchFamily="34" charset="-120"/>
                        </a:rPr>
                        <a:t>0:58 - 1:12</a:t>
                      </a:r>
                      <a:endParaRPr lang="en-US" sz="10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c>
                  <a:txBody>
                    <a:bodyPr/>
                    <a:lstStyle/>
                    <a:p>
                      <a:pPr indent="0" marL="0">
                        <a:buNone/>
                      </a:pPr>
                      <a:r>
                        <a:rPr lang="en-US" sz="1050" b="1" dirty="0">
                          <a:solidFill>
                            <a:srgbClr val="1F2933"/>
                          </a:solidFill>
                          <a:latin typeface="Calibri" pitchFamily="34" charset="0"/>
                          <a:ea typeface="Calibri" pitchFamily="34" charset="-122"/>
                          <a:cs typeface="Calibri" pitchFamily="34" charset="-120"/>
                        </a:rPr>
                        <a:t>Exercise B: red-team a risk file against the GSPRs  (14 min)</a:t>
                      </a:r>
                      <a:endParaRPr lang="en-US" sz="10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BF2DE"/>
                    </a:solidFill>
                  </a:tcPr>
                </a:tc>
              </a:tr>
              <a:tr h="329184">
                <a:tc>
                  <a:txBody>
                    <a:bodyPr/>
                    <a:lstStyle/>
                    <a:p>
                      <a:pPr indent="0" marL="0">
                        <a:buNone/>
                      </a:pPr>
                      <a:r>
                        <a:rPr lang="en-US" sz="1050" b="1" dirty="0">
                          <a:solidFill>
                            <a:srgbClr val="1F2933"/>
                          </a:solidFill>
                          <a:latin typeface="Calibri" pitchFamily="34" charset="0"/>
                          <a:ea typeface="Calibri" pitchFamily="34" charset="-122"/>
                          <a:cs typeface="Calibri" pitchFamily="34" charset="-120"/>
                        </a:rPr>
                        <a:t>1:12 - 1:22</a:t>
                      </a:r>
                      <a:endParaRPr lang="en-US" sz="10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1050" dirty="0">
                          <a:solidFill>
                            <a:srgbClr val="1F2933"/>
                          </a:solidFill>
                          <a:latin typeface="Calibri" pitchFamily="34" charset="0"/>
                          <a:ea typeface="Calibri" pitchFamily="34" charset="-122"/>
                          <a:cs typeface="Calibri" pitchFamily="34" charset="-120"/>
                        </a:rPr>
                        <a:t>4. Closing the loop: production and post-production information</a:t>
                      </a:r>
                      <a:endParaRPr lang="en-US" sz="10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r>
              <a:tr h="329184">
                <a:tc>
                  <a:txBody>
                    <a:bodyPr/>
                    <a:lstStyle/>
                    <a:p>
                      <a:pPr indent="0" marL="0">
                        <a:buNone/>
                      </a:pPr>
                      <a:r>
                        <a:rPr lang="en-US" sz="1050" b="1" dirty="0">
                          <a:solidFill>
                            <a:srgbClr val="1F2933"/>
                          </a:solidFill>
                          <a:latin typeface="Calibri" pitchFamily="34" charset="0"/>
                          <a:ea typeface="Calibri" pitchFamily="34" charset="-122"/>
                          <a:cs typeface="Calibri" pitchFamily="34" charset="-120"/>
                        </a:rPr>
                        <a:t>1:22 - 1:30</a:t>
                      </a:r>
                      <a:endParaRPr lang="en-US" sz="10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c>
                  <a:txBody>
                    <a:bodyPr/>
                    <a:lstStyle/>
                    <a:p>
                      <a:pPr indent="0" marL="0">
                        <a:buNone/>
                      </a:pPr>
                      <a:r>
                        <a:rPr lang="en-US" sz="1050" b="1" dirty="0">
                          <a:solidFill>
                            <a:srgbClr val="1F2933"/>
                          </a:solidFill>
                          <a:latin typeface="Calibri" pitchFamily="34" charset="0"/>
                          <a:ea typeface="Calibri" pitchFamily="34" charset="-122"/>
                          <a:cs typeface="Calibri" pitchFamily="34" charset="-120"/>
                        </a:rPr>
                        <a:t>Exercise C: your 30-day plan, takeaways, Q&amp;A  (8 min)</a:t>
                      </a:r>
                      <a:endParaRPr lang="en-US" sz="10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BF2DE"/>
                    </a:solidFill>
                  </a:tcPr>
                </a:tc>
              </a:tr>
            </a:tbl>
          </a:graphicData>
        </a:graphic>
      </p:graphicFrame>
      <p:sp>
        <p:nvSpPr>
          <p:cNvPr id="8" name="Shape 4"/>
          <p:cNvSpPr/>
          <p:nvPr/>
        </p:nvSpPr>
        <p:spPr>
          <a:xfrm>
            <a:off x="457200" y="4160520"/>
            <a:ext cx="8229600" cy="411480"/>
          </a:xfrm>
          <a:prstGeom prst="roundRect">
            <a:avLst>
              <a:gd name="adj" fmla="val 13333"/>
            </a:avLst>
          </a:prstGeom>
          <a:solidFill>
            <a:srgbClr val="FBF2DE"/>
          </a:solidFill>
          <a:ln w="12700">
            <a:solidFill>
              <a:srgbClr val="FBF2DE"/>
            </a:solidFill>
            <a:prstDash val="solid"/>
          </a:ln>
        </p:spPr>
      </p:sp>
      <p:sp>
        <p:nvSpPr>
          <p:cNvPr id="9" name="Text 5"/>
          <p:cNvSpPr txBox="1"/>
          <p:nvPr/>
        </p:nvSpPr>
        <p:spPr>
          <a:xfrm>
            <a:off x="640080" y="4160520"/>
            <a:ext cx="7863840" cy="411480"/>
          </a:xfrm>
          <a:prstGeom prst="rect">
            <a:avLst/>
          </a:prstGeom>
          <a:noFill/>
          <a:ln/>
        </p:spPr>
        <p:txBody>
          <a:bodyPr wrap="square" lIns="0" tIns="0" rIns="0" bIns="0" rtlCol="0" anchor="ctr"/>
          <a:lstStyle/>
          <a:p>
            <a:pPr indent="0" marL="0">
              <a:buNone/>
            </a:pPr>
            <a:r>
              <a:rPr lang="en-US" sz="1150" b="1" dirty="0">
                <a:solidFill>
                  <a:srgbClr val="0F2A4A"/>
                </a:solidFill>
                <a:latin typeface="Calibri" pitchFamily="34" charset="0"/>
                <a:ea typeface="Calibri" pitchFamily="34" charset="-122"/>
                <a:cs typeface="Calibri" pitchFamily="34" charset="-120"/>
              </a:rPr>
              <a:t>Materials: Participant Handout  ·  Hands-On Exercise Pack  ·  ISO 14971 Risk File Toolkit (Excel, 10 sheets)</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1F38"/>
        </a:solidFill>
      </p:bgPr>
    </p:bg>
    <p:spTree>
      <p:nvGrpSpPr>
        <p:cNvPr id="1" name=""/>
        <p:cNvGrpSpPr/>
        <p:nvPr/>
      </p:nvGrpSpPr>
      <p:grpSpPr>
        <a:xfrm>
          <a:off x="0" y="0"/>
          <a:ext cx="0" cy="0"/>
          <a:chOff x="0" y="0"/>
          <a:chExt cx="0" cy="0"/>
        </a:xfrm>
      </p:grpSpPr>
      <p:sp>
        <p:nvSpPr>
          <p:cNvPr id="2" name="Text 0"/>
          <p:cNvSpPr txBox="1"/>
          <p:nvPr/>
        </p:nvSpPr>
        <p:spPr>
          <a:xfrm>
            <a:off x="457200" y="4814316"/>
            <a:ext cx="5943600" cy="201168"/>
          </a:xfrm>
          <a:prstGeom prst="rect">
            <a:avLst/>
          </a:prstGeom>
          <a:noFill/>
          <a:ln/>
        </p:spPr>
        <p:txBody>
          <a:bodyPr wrap="square" lIns="0" tIns="0" rIns="0" bIns="0" rtlCol="0" anchor="ctr"/>
          <a:lstStyle/>
          <a:p>
            <a:pPr indent="0" marL="0">
              <a:buNone/>
            </a:pPr>
            <a:r>
              <a:rPr lang="en-US" sz="900" dirty="0">
                <a:solidFill>
                  <a:srgbClr val="8FA1B5"/>
                </a:solidFill>
                <a:latin typeface="Calibri" pitchFamily="34" charset="0"/>
                <a:ea typeface="Calibri" pitchFamily="34" charset="-122"/>
                <a:cs typeface="Calibri" pitchFamily="34" charset="-120"/>
              </a:rPr>
              <a:t>Risk Management  |  ISO 14971  |  Elder Consulting, LLC</a:t>
            </a:r>
            <a:endParaRPr lang="en-US" sz="900" dirty="0"/>
          </a:p>
        </p:txBody>
      </p:sp>
      <p:sp>
        <p:nvSpPr>
          <p:cNvPr id="3" name="Text 1"/>
          <p:cNvSpPr txBox="1"/>
          <p:nvPr/>
        </p:nvSpPr>
        <p:spPr>
          <a:xfrm>
            <a:off x="8138160" y="4814316"/>
            <a:ext cx="548640" cy="201168"/>
          </a:xfrm>
          <a:prstGeom prst="rect">
            <a:avLst/>
          </a:prstGeom>
          <a:noFill/>
          <a:ln/>
        </p:spPr>
        <p:txBody>
          <a:bodyPr wrap="square" lIns="0" tIns="0" rIns="0" bIns="0" rtlCol="0" anchor="ctr"/>
          <a:lstStyle/>
          <a:p>
            <a:pPr algn="r" indent="0" marL="0">
              <a:buNone/>
            </a:pPr>
            <a:r>
              <a:rPr lang="en-US" sz="900" dirty="0">
                <a:solidFill>
                  <a:srgbClr val="8FA1B5"/>
                </a:solidFill>
                <a:latin typeface="Calibri" pitchFamily="34" charset="0"/>
                <a:ea typeface="Calibri" pitchFamily="34" charset="-122"/>
                <a:cs typeface="Calibri" pitchFamily="34" charset="-120"/>
              </a:rPr>
              <a:t>5</a:t>
            </a:r>
            <a:endParaRPr lang="en-US" sz="900" dirty="0"/>
          </a:p>
        </p:txBody>
      </p:sp>
      <p:sp>
        <p:nvSpPr>
          <p:cNvPr id="4" name="Text 2"/>
          <p:cNvSpPr txBox="1"/>
          <p:nvPr/>
        </p:nvSpPr>
        <p:spPr>
          <a:xfrm>
            <a:off x="457200" y="1417320"/>
            <a:ext cx="8229600" cy="320040"/>
          </a:xfrm>
          <a:prstGeom prst="rect">
            <a:avLst/>
          </a:prstGeom>
          <a:noFill/>
          <a:ln/>
        </p:spPr>
        <p:txBody>
          <a:bodyPr wrap="square" lIns="0" tIns="0" rIns="0" bIns="0" rtlCol="0" anchor="ctr"/>
          <a:lstStyle/>
          <a:p>
            <a:pPr indent="0" marL="0">
              <a:buNone/>
            </a:pPr>
            <a:r>
              <a:rPr lang="en-US" sz="1300" b="1" spc="300" kern="0" dirty="0">
                <a:solidFill>
                  <a:srgbClr val="E0A126"/>
                </a:solidFill>
                <a:latin typeface="Calibri" pitchFamily="34" charset="0"/>
                <a:ea typeface="Calibri" pitchFamily="34" charset="-122"/>
                <a:cs typeface="Calibri" pitchFamily="34" charset="-120"/>
              </a:rPr>
              <a:t>SECTION 1</a:t>
            </a:r>
            <a:endParaRPr lang="en-US" sz="1300" dirty="0"/>
          </a:p>
        </p:txBody>
      </p:sp>
      <p:sp>
        <p:nvSpPr>
          <p:cNvPr id="5" name="Text 3"/>
          <p:cNvSpPr txBox="1"/>
          <p:nvPr/>
        </p:nvSpPr>
        <p:spPr>
          <a:xfrm>
            <a:off x="457200" y="1783080"/>
            <a:ext cx="8229600" cy="1234440"/>
          </a:xfrm>
          <a:prstGeom prst="rect">
            <a:avLst/>
          </a:prstGeom>
          <a:noFill/>
          <a:ln/>
        </p:spPr>
        <p:txBody>
          <a:bodyPr wrap="square" lIns="0" tIns="0" rIns="0" bIns="0" rtlCol="0" anchor="t"/>
          <a:lstStyle/>
          <a:p>
            <a:pPr indent="0" marL="0">
              <a:buNone/>
            </a:pPr>
            <a:r>
              <a:rPr lang="en-US" sz="3600" b="1" dirty="0">
                <a:solidFill>
                  <a:srgbClr val="FFFFFF"/>
                </a:solidFill>
                <a:latin typeface="Cambria" pitchFamily="34" charset="0"/>
                <a:ea typeface="Cambria" pitchFamily="34" charset="-122"/>
                <a:cs typeface="Cambria" pitchFamily="34" charset="-120"/>
              </a:rPr>
              <a:t>The file is the argument</a:t>
            </a:r>
            <a:endParaRPr lang="en-US" sz="3600" dirty="0"/>
          </a:p>
        </p:txBody>
      </p:sp>
      <p:sp>
        <p:nvSpPr>
          <p:cNvPr id="6" name="Text 4"/>
          <p:cNvSpPr txBox="1"/>
          <p:nvPr/>
        </p:nvSpPr>
        <p:spPr>
          <a:xfrm>
            <a:off x="457200" y="3108960"/>
            <a:ext cx="7863840" cy="914400"/>
          </a:xfrm>
          <a:prstGeom prst="rect">
            <a:avLst/>
          </a:prstGeom>
          <a:noFill/>
          <a:ln/>
        </p:spPr>
        <p:txBody>
          <a:bodyPr wrap="square" lIns="0" tIns="0" rIns="0" bIns="0" rtlCol="0" anchor="t"/>
          <a:lstStyle/>
          <a:p>
            <a:pPr indent="0" marL="0">
              <a:buNone/>
            </a:pPr>
            <a:r>
              <a:rPr lang="en-US" sz="1600" dirty="0">
                <a:solidFill>
                  <a:srgbClr val="C9D3DE"/>
                </a:solidFill>
                <a:latin typeface="Calibri" pitchFamily="34" charset="0"/>
                <a:ea typeface="Calibri" pitchFamily="34" charset="-122"/>
                <a:cs typeface="Calibri" pitchFamily="34" charset="-120"/>
              </a:rPr>
              <a:t>ISO 14971:2019: ten clauses, one obligation - make every risk decision traceable and defensible</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4814316"/>
            <a:ext cx="5943600" cy="201168"/>
          </a:xfrm>
          <a:prstGeom prst="rect">
            <a:avLst/>
          </a:prstGeom>
          <a:noFill/>
          <a:ln/>
        </p:spPr>
        <p:txBody>
          <a:bodyPr wrap="square" lIns="0" tIns="0" rIns="0" bIns="0" rtlCol="0" anchor="ctr"/>
          <a:lstStyle/>
          <a:p>
            <a:pPr indent="0" marL="0">
              <a:buNone/>
            </a:pPr>
            <a:r>
              <a:rPr lang="en-US" sz="900" dirty="0">
                <a:solidFill>
                  <a:srgbClr val="5A6B7B"/>
                </a:solidFill>
                <a:latin typeface="Calibri" pitchFamily="34" charset="0"/>
                <a:ea typeface="Calibri" pitchFamily="34" charset="-122"/>
                <a:cs typeface="Calibri" pitchFamily="34" charset="-120"/>
              </a:rPr>
              <a:t>Risk Management  |  ISO 14971  |  Elder Consulting, LLC</a:t>
            </a:r>
            <a:endParaRPr lang="en-US" sz="900" dirty="0"/>
          </a:p>
        </p:txBody>
      </p:sp>
      <p:sp>
        <p:nvSpPr>
          <p:cNvPr id="3" name="Text 1"/>
          <p:cNvSpPr txBox="1"/>
          <p:nvPr/>
        </p:nvSpPr>
        <p:spPr>
          <a:xfrm>
            <a:off x="8138160" y="4814316"/>
            <a:ext cx="548640" cy="201168"/>
          </a:xfrm>
          <a:prstGeom prst="rect">
            <a:avLst/>
          </a:prstGeom>
          <a:noFill/>
          <a:ln/>
        </p:spPr>
        <p:txBody>
          <a:bodyPr wrap="square" lIns="0" tIns="0" rIns="0" bIns="0" rtlCol="0" anchor="ctr"/>
          <a:lstStyle/>
          <a:p>
            <a:pPr algn="r" indent="0" marL="0">
              <a:buNone/>
            </a:pPr>
            <a:r>
              <a:rPr lang="en-US" sz="900" dirty="0">
                <a:solidFill>
                  <a:srgbClr val="5A6B7B"/>
                </a:solidFill>
                <a:latin typeface="Calibri" pitchFamily="34" charset="0"/>
                <a:ea typeface="Calibri" pitchFamily="34" charset="-122"/>
                <a:cs typeface="Calibri" pitchFamily="34" charset="-120"/>
              </a:rPr>
              <a:t>6</a:t>
            </a:r>
            <a:endParaRPr lang="en-US" sz="900" dirty="0"/>
          </a:p>
        </p:txBody>
      </p:sp>
      <p:sp>
        <p:nvSpPr>
          <p:cNvPr id="4" name="Text 2"/>
          <p:cNvSpPr txBox="1"/>
          <p:nvPr/>
        </p:nvSpPr>
        <p:spPr>
          <a:xfrm>
            <a:off x="457200" y="274320"/>
            <a:ext cx="8229600" cy="219456"/>
          </a:xfrm>
          <a:prstGeom prst="rect">
            <a:avLst/>
          </a:prstGeom>
          <a:noFill/>
          <a:ln/>
        </p:spPr>
        <p:txBody>
          <a:bodyPr wrap="square" lIns="0" tIns="0" rIns="0" bIns="0" rtlCol="0" anchor="ctr"/>
          <a:lstStyle/>
          <a:p>
            <a:pPr indent="0" marL="0">
              <a:buNone/>
            </a:pPr>
            <a:r>
              <a:rPr lang="en-US" sz="1000" b="1" spc="200" kern="0" dirty="0">
                <a:solidFill>
                  <a:srgbClr val="A8730F"/>
                </a:solidFill>
                <a:latin typeface="Calibri" pitchFamily="34" charset="0"/>
                <a:ea typeface="Calibri" pitchFamily="34" charset="-122"/>
                <a:cs typeface="Calibri" pitchFamily="34" charset="-120"/>
              </a:rPr>
              <a:t>SECTION 1  |  THE FILE</a:t>
            </a:r>
            <a:endParaRPr lang="en-US" sz="1000" dirty="0"/>
          </a:p>
        </p:txBody>
      </p:sp>
      <p:sp>
        <p:nvSpPr>
          <p:cNvPr id="5" name="Text 3"/>
          <p:cNvSpPr txBox="1"/>
          <p:nvPr/>
        </p:nvSpPr>
        <p:spPr>
          <a:xfrm>
            <a:off x="457200" y="502920"/>
            <a:ext cx="8229600" cy="548640"/>
          </a:xfrm>
          <a:prstGeom prst="rect">
            <a:avLst/>
          </a:prstGeom>
          <a:noFill/>
          <a:ln/>
        </p:spPr>
        <p:txBody>
          <a:bodyPr wrap="square" lIns="0" tIns="0" rIns="0" bIns="0" rtlCol="0" anchor="t"/>
          <a:lstStyle/>
          <a:p>
            <a:pPr indent="0" marL="0">
              <a:buNone/>
            </a:pPr>
            <a:r>
              <a:rPr lang="en-US" sz="2400" b="1" dirty="0">
                <a:solidFill>
                  <a:srgbClr val="0F2A4A"/>
                </a:solidFill>
                <a:latin typeface="Cambria" pitchFamily="34" charset="0"/>
                <a:ea typeface="Cambria" pitchFamily="34" charset="-122"/>
                <a:cs typeface="Cambria" pitchFamily="34" charset="-120"/>
              </a:rPr>
              <a:t>A file, not a folder</a:t>
            </a:r>
            <a:endParaRPr lang="en-US" sz="2400" dirty="0"/>
          </a:p>
        </p:txBody>
      </p:sp>
      <p:sp>
        <p:nvSpPr>
          <p:cNvPr id="7" name="Shape 4"/>
          <p:cNvSpPr/>
          <p:nvPr/>
        </p:nvSpPr>
        <p:spPr>
          <a:xfrm>
            <a:off x="457200" y="1097280"/>
            <a:ext cx="3977640" cy="1371600"/>
          </a:xfrm>
          <a:prstGeom prst="roundRect">
            <a:avLst>
              <a:gd name="adj" fmla="val 4000"/>
            </a:avLst>
          </a:prstGeom>
          <a:solidFill>
            <a:srgbClr val="EAF0F6"/>
          </a:solidFill>
          <a:ln w="12700">
            <a:solidFill>
              <a:srgbClr val="EAF0F6"/>
            </a:solidFill>
            <a:prstDash val="solid"/>
          </a:ln>
        </p:spPr>
      </p:sp>
      <p:sp>
        <p:nvSpPr>
          <p:cNvPr id="8" name="Text 5"/>
          <p:cNvSpPr txBox="1"/>
          <p:nvPr/>
        </p:nvSpPr>
        <p:spPr>
          <a:xfrm>
            <a:off x="585216" y="1188720"/>
            <a:ext cx="3721608" cy="182880"/>
          </a:xfrm>
          <a:prstGeom prst="rect">
            <a:avLst/>
          </a:prstGeom>
          <a:noFill/>
          <a:ln/>
        </p:spPr>
        <p:txBody>
          <a:bodyPr wrap="square" lIns="0" tIns="0" rIns="0" bIns="0" rtlCol="0" anchor="ctr"/>
          <a:lstStyle/>
          <a:p>
            <a:pPr indent="0" marL="0">
              <a:buNone/>
            </a:pPr>
            <a:r>
              <a:rPr lang="en-US" sz="900" b="1" spc="150" kern="0" dirty="0">
                <a:solidFill>
                  <a:srgbClr val="A8730F"/>
                </a:solidFill>
                <a:latin typeface="Calibri" pitchFamily="34" charset="0"/>
                <a:ea typeface="Calibri" pitchFamily="34" charset="-122"/>
                <a:cs typeface="Calibri" pitchFamily="34" charset="-120"/>
              </a:rPr>
              <a:t>CLAUSE 3.25</a:t>
            </a:r>
            <a:endParaRPr lang="en-US" sz="900" dirty="0"/>
          </a:p>
        </p:txBody>
      </p:sp>
      <p:sp>
        <p:nvSpPr>
          <p:cNvPr id="9" name="Text 6"/>
          <p:cNvSpPr txBox="1"/>
          <p:nvPr/>
        </p:nvSpPr>
        <p:spPr>
          <a:xfrm>
            <a:off x="585216" y="1408176"/>
            <a:ext cx="3721608" cy="274320"/>
          </a:xfrm>
          <a:prstGeom prst="rect">
            <a:avLst/>
          </a:prstGeom>
          <a:noFill/>
          <a:ln/>
        </p:spPr>
        <p:txBody>
          <a:bodyPr wrap="square" lIns="0" tIns="0" rIns="0" bIns="0" rtlCol="0" anchor="ctr"/>
          <a:lstStyle/>
          <a:p>
            <a:pPr indent="0" marL="0">
              <a:buNone/>
            </a:pPr>
            <a:r>
              <a:rPr lang="en-US" sz="1250" b="1" dirty="0">
                <a:solidFill>
                  <a:srgbClr val="0F2A4A"/>
                </a:solidFill>
                <a:latin typeface="Calibri" pitchFamily="34" charset="0"/>
                <a:ea typeface="Calibri" pitchFamily="34" charset="-122"/>
                <a:cs typeface="Calibri" pitchFamily="34" charset="-120"/>
              </a:rPr>
              <a:t>What the standard says it is</a:t>
            </a:r>
            <a:endParaRPr lang="en-US" sz="1250" dirty="0"/>
          </a:p>
        </p:txBody>
      </p:sp>
      <p:sp>
        <p:nvSpPr>
          <p:cNvPr id="10" name="Text 7"/>
          <p:cNvSpPr txBox="1"/>
          <p:nvPr/>
        </p:nvSpPr>
        <p:spPr>
          <a:xfrm>
            <a:off x="585216" y="1719072"/>
            <a:ext cx="3721608" cy="658368"/>
          </a:xfrm>
          <a:prstGeom prst="rect">
            <a:avLst/>
          </a:prstGeom>
          <a:noFill/>
          <a:ln/>
        </p:spPr>
        <p:txBody>
          <a:bodyPr wrap="square" lIns="0" tIns="0" rIns="0" bIns="0" rtlCol="0" anchor="t"/>
          <a:lstStyle/>
          <a:p>
            <a:pPr indent="0" marL="0">
              <a:buNone/>
            </a:pPr>
            <a:r>
              <a:rPr lang="en-US" sz="1050" dirty="0">
                <a:solidFill>
                  <a:srgbClr val="1F2933"/>
                </a:solidFill>
                <a:latin typeface="Calibri" pitchFamily="34" charset="0"/>
                <a:ea typeface="Calibri" pitchFamily="34" charset="-122"/>
                <a:cs typeface="Calibri" pitchFamily="34" charset="-120"/>
              </a:rPr>
              <a:t>The set of records and other documents that are produced by risk management. No list of contents, no format, no template. The content requirements live in the individual clauses.</a:t>
            </a:r>
            <a:endParaRPr lang="en-US" sz="1050" dirty="0"/>
          </a:p>
        </p:txBody>
      </p:sp>
      <p:sp>
        <p:nvSpPr>
          <p:cNvPr id="11" name="Shape 8"/>
          <p:cNvSpPr/>
          <p:nvPr/>
        </p:nvSpPr>
        <p:spPr>
          <a:xfrm>
            <a:off x="4617720" y="1097280"/>
            <a:ext cx="4069080" cy="1371600"/>
          </a:xfrm>
          <a:prstGeom prst="roundRect">
            <a:avLst>
              <a:gd name="adj" fmla="val 4000"/>
            </a:avLst>
          </a:prstGeom>
          <a:solidFill>
            <a:srgbClr val="FBF2DE"/>
          </a:solidFill>
          <a:ln w="12700">
            <a:solidFill>
              <a:srgbClr val="FBF2DE"/>
            </a:solidFill>
            <a:prstDash val="solid"/>
          </a:ln>
        </p:spPr>
      </p:sp>
      <p:sp>
        <p:nvSpPr>
          <p:cNvPr id="12" name="Text 9"/>
          <p:cNvSpPr txBox="1"/>
          <p:nvPr/>
        </p:nvSpPr>
        <p:spPr>
          <a:xfrm>
            <a:off x="4745736" y="1188720"/>
            <a:ext cx="3813048" cy="182880"/>
          </a:xfrm>
          <a:prstGeom prst="rect">
            <a:avLst/>
          </a:prstGeom>
          <a:noFill/>
          <a:ln/>
        </p:spPr>
        <p:txBody>
          <a:bodyPr wrap="square" lIns="0" tIns="0" rIns="0" bIns="0" rtlCol="0" anchor="ctr"/>
          <a:lstStyle/>
          <a:p>
            <a:pPr indent="0" marL="0">
              <a:buNone/>
            </a:pPr>
            <a:r>
              <a:rPr lang="en-US" sz="900" b="1" spc="150" kern="0" dirty="0">
                <a:solidFill>
                  <a:srgbClr val="A8730F"/>
                </a:solidFill>
                <a:latin typeface="Calibri" pitchFamily="34" charset="0"/>
                <a:ea typeface="Calibri" pitchFamily="34" charset="-122"/>
                <a:cs typeface="Calibri" pitchFamily="34" charset="-120"/>
              </a:rPr>
              <a:t>CLAUSE 4.5</a:t>
            </a:r>
            <a:endParaRPr lang="en-US" sz="900" dirty="0"/>
          </a:p>
        </p:txBody>
      </p:sp>
      <p:sp>
        <p:nvSpPr>
          <p:cNvPr id="13" name="Text 10"/>
          <p:cNvSpPr txBox="1"/>
          <p:nvPr/>
        </p:nvSpPr>
        <p:spPr>
          <a:xfrm>
            <a:off x="4745736" y="1408176"/>
            <a:ext cx="3813048" cy="274320"/>
          </a:xfrm>
          <a:prstGeom prst="rect">
            <a:avLst/>
          </a:prstGeom>
          <a:noFill/>
          <a:ln/>
        </p:spPr>
        <p:txBody>
          <a:bodyPr wrap="square" lIns="0" tIns="0" rIns="0" bIns="0" rtlCol="0" anchor="ctr"/>
          <a:lstStyle/>
          <a:p>
            <a:pPr indent="0" marL="0">
              <a:buNone/>
            </a:pPr>
            <a:r>
              <a:rPr lang="en-US" sz="1250" b="1" dirty="0">
                <a:solidFill>
                  <a:srgbClr val="0F2A4A"/>
                </a:solidFill>
                <a:latin typeface="Calibri" pitchFamily="34" charset="0"/>
                <a:ea typeface="Calibri" pitchFamily="34" charset="-122"/>
                <a:cs typeface="Calibri" pitchFamily="34" charset="-120"/>
              </a:rPr>
              <a:t>What makes it a file</a:t>
            </a:r>
            <a:endParaRPr lang="en-US" sz="1250" dirty="0"/>
          </a:p>
        </p:txBody>
      </p:sp>
      <p:sp>
        <p:nvSpPr>
          <p:cNvPr id="14" name="Text 11"/>
          <p:cNvSpPr txBox="1"/>
          <p:nvPr/>
        </p:nvSpPr>
        <p:spPr>
          <a:xfrm>
            <a:off x="4745736" y="1719072"/>
            <a:ext cx="3813048" cy="658368"/>
          </a:xfrm>
          <a:prstGeom prst="rect">
            <a:avLst/>
          </a:prstGeom>
          <a:noFill/>
          <a:ln/>
        </p:spPr>
        <p:txBody>
          <a:bodyPr wrap="square" lIns="0" tIns="0" rIns="0" bIns="0" rtlCol="0" anchor="t"/>
          <a:lstStyle/>
          <a:p>
            <a:pPr indent="0" marL="0">
              <a:buNone/>
            </a:pPr>
            <a:r>
              <a:rPr lang="en-US" sz="1050" dirty="0">
                <a:solidFill>
                  <a:srgbClr val="1F2933"/>
                </a:solidFill>
                <a:latin typeface="Calibri" pitchFamily="34" charset="0"/>
                <a:ea typeface="Calibri" pitchFamily="34" charset="-122"/>
                <a:cs typeface="Calibri" pitchFamily="34" charset="-120"/>
              </a:rPr>
              <a:t>It must provide traceability for each identified hazard to: the risk analysis, the risk evaluation, the risk control measures, and the assessment of the acceptability of any residual risk.</a:t>
            </a:r>
            <a:endParaRPr lang="en-US" sz="1050" dirty="0"/>
          </a:p>
        </p:txBody>
      </p:sp>
      <p:sp>
        <p:nvSpPr>
          <p:cNvPr id="15" name="Text 12"/>
          <p:cNvSpPr txBox="1"/>
          <p:nvPr/>
        </p:nvSpPr>
        <p:spPr>
          <a:xfrm>
            <a:off x="457200" y="2606040"/>
            <a:ext cx="8229600" cy="219456"/>
          </a:xfrm>
          <a:prstGeom prst="rect">
            <a:avLst/>
          </a:prstGeom>
          <a:noFill/>
          <a:ln/>
        </p:spPr>
        <p:txBody>
          <a:bodyPr wrap="square" lIns="0" tIns="0" rIns="0" bIns="0" rtlCol="0" anchor="t"/>
          <a:lstStyle/>
          <a:p>
            <a:pPr indent="0" marL="0">
              <a:buNone/>
            </a:pPr>
            <a:r>
              <a:rPr lang="en-US" sz="1100" b="1" dirty="0">
                <a:solidFill>
                  <a:srgbClr val="0F2A4A"/>
                </a:solidFill>
                <a:latin typeface="Calibri" pitchFamily="34" charset="0"/>
                <a:ea typeface="Calibri" pitchFamily="34" charset="-122"/>
                <a:cs typeface="Calibri" pitchFamily="34" charset="-120"/>
              </a:rPr>
              <a:t>The file may be a set of references to other records. What it may not be is unwalkable.</a:t>
            </a:r>
            <a:endParaRPr lang="en-US" sz="11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57200" y="2880360"/>
          <a:ext cx="8229600" cy="914400"/>
        </p:xfrm>
        <a:graphic>
          <a:graphicData uri="http://schemas.openxmlformats.org/drawingml/2006/table">
            <a:tbl>
              <a:tblPr/>
              <a:tblGrid>
                <a:gridCol w="2926080"/>
                <a:gridCol w="5303520"/>
              </a:tblGrid>
              <a:tr h="237744">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A reviewer asks</a:t>
                      </a:r>
                      <a:endParaRPr lang="en-US" sz="950" dirty="0">
                        <a:latin typeface="Calibri" charset="0"/>
                        <a:ea typeface="Calibri" charset="0"/>
                        <a:cs typeface="Calibri" charset="0"/>
                      </a:endParaRPr>
                    </a:p>
                  </a:txBody>
                  <a:tcPr marL="54864" marR="54864" marT="54864" marB="54864" anchor="ctr">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0F2A4A"/>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The file has to answer it from</a:t>
                      </a:r>
                      <a:endParaRPr lang="en-US" sz="950" dirty="0">
                        <a:latin typeface="Calibri" charset="0"/>
                        <a:ea typeface="Calibri" charset="0"/>
                        <a:cs typeface="Calibri" charset="0"/>
                      </a:endParaRPr>
                    </a:p>
                  </a:txBody>
                  <a:tcPr marL="54864" marR="54864" marT="54864" marB="54864" anchor="ctr">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0F2A4A"/>
                    </a:solidFill>
                  </a:tcPr>
                </a:tc>
              </a:tr>
              <a:tr h="237744">
                <a:tc>
                  <a:txBody>
                    <a:bodyPr/>
                    <a:lstStyle/>
                    <a:p>
                      <a:pPr indent="0" marL="0">
                        <a:buNone/>
                      </a:pPr>
                      <a:r>
                        <a:rPr lang="en-US" sz="950" b="1" dirty="0">
                          <a:solidFill>
                            <a:srgbClr val="1F2933"/>
                          </a:solidFill>
                          <a:latin typeface="Calibri" pitchFamily="34" charset="0"/>
                          <a:ea typeface="Calibri" pitchFamily="34" charset="-122"/>
                          <a:cs typeface="Calibri" pitchFamily="34" charset="-120"/>
                        </a:rPr>
                        <a:t>Where did this hazard come from?</a:t>
                      </a:r>
                      <a:endParaRPr lang="en-US" sz="9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950" dirty="0">
                          <a:solidFill>
                            <a:srgbClr val="1F2933"/>
                          </a:solidFill>
                          <a:latin typeface="Calibri" pitchFamily="34" charset="0"/>
                          <a:ea typeface="Calibri" pitchFamily="34" charset="-122"/>
                          <a:cs typeface="Calibri" pitchFamily="34" charset="-120"/>
                        </a:rPr>
                        <a:t>5.3 characteristics related to safety; 5.4 hazard identification</a:t>
                      </a:r>
                      <a:endParaRPr lang="en-US" sz="9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r>
              <a:tr h="237744">
                <a:tc>
                  <a:txBody>
                    <a:bodyPr/>
                    <a:lstStyle/>
                    <a:p>
                      <a:pPr indent="0" marL="0">
                        <a:buNone/>
                      </a:pPr>
                      <a:r>
                        <a:rPr lang="en-US" sz="950" b="1" dirty="0">
                          <a:solidFill>
                            <a:srgbClr val="1F2933"/>
                          </a:solidFill>
                          <a:latin typeface="Calibri" pitchFamily="34" charset="0"/>
                          <a:ea typeface="Calibri" pitchFamily="34" charset="-122"/>
                          <a:cs typeface="Calibri" pitchFamily="34" charset="-120"/>
                        </a:rPr>
                        <a:t>How did this hazard reach a harm?</a:t>
                      </a:r>
                      <a:endParaRPr lang="en-US" sz="9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c>
                  <a:txBody>
                    <a:bodyPr/>
                    <a:lstStyle/>
                    <a:p>
                      <a:pPr indent="0" marL="0">
                        <a:buNone/>
                      </a:pPr>
                      <a:r>
                        <a:rPr lang="en-US" sz="950" dirty="0">
                          <a:solidFill>
                            <a:srgbClr val="1F2933"/>
                          </a:solidFill>
                          <a:latin typeface="Calibri" pitchFamily="34" charset="0"/>
                          <a:ea typeface="Calibri" pitchFamily="34" charset="-122"/>
                          <a:cs typeface="Calibri" pitchFamily="34" charset="-120"/>
                        </a:rPr>
                        <a:t>5.4 foreseeable sequences of events and the resulting hazardous situation</a:t>
                      </a:r>
                      <a:endParaRPr lang="en-US" sz="9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r>
              <a:tr h="237744">
                <a:tc>
                  <a:txBody>
                    <a:bodyPr/>
                    <a:lstStyle/>
                    <a:p>
                      <a:pPr indent="0" marL="0">
                        <a:buNone/>
                      </a:pPr>
                      <a:r>
                        <a:rPr lang="en-US" sz="950" b="1" dirty="0">
                          <a:solidFill>
                            <a:srgbClr val="1F2933"/>
                          </a:solidFill>
                          <a:latin typeface="Calibri" pitchFamily="34" charset="0"/>
                          <a:ea typeface="Calibri" pitchFamily="34" charset="-122"/>
                          <a:cs typeface="Calibri" pitchFamily="34" charset="-120"/>
                        </a:rPr>
                        <a:t>Where did this number come from?</a:t>
                      </a:r>
                      <a:endParaRPr lang="en-US" sz="9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950" dirty="0">
                          <a:solidFill>
                            <a:srgbClr val="1F2933"/>
                          </a:solidFill>
                          <a:latin typeface="Calibri" pitchFamily="34" charset="0"/>
                          <a:ea typeface="Calibri" pitchFamily="34" charset="-122"/>
                          <a:cs typeface="Calibri" pitchFamily="34" charset="-120"/>
                        </a:rPr>
                        <a:t>5.5 risk estimation, plus the categorisation system you used</a:t>
                      </a:r>
                      <a:endParaRPr lang="en-US" sz="9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r>
              <a:tr h="237744">
                <a:tc>
                  <a:txBody>
                    <a:bodyPr/>
                    <a:lstStyle/>
                    <a:p>
                      <a:pPr indent="0" marL="0">
                        <a:buNone/>
                      </a:pPr>
                      <a:r>
                        <a:rPr lang="en-US" sz="950" b="1" dirty="0">
                          <a:solidFill>
                            <a:srgbClr val="1F2933"/>
                          </a:solidFill>
                          <a:latin typeface="Calibri" pitchFamily="34" charset="0"/>
                          <a:ea typeface="Calibri" pitchFamily="34" charset="-122"/>
                          <a:cs typeface="Calibri" pitchFamily="34" charset="-120"/>
                        </a:rPr>
                        <a:t>Why is this acceptable?</a:t>
                      </a:r>
                      <a:endParaRPr lang="en-US" sz="9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c>
                  <a:txBody>
                    <a:bodyPr/>
                    <a:lstStyle/>
                    <a:p>
                      <a:pPr indent="0" marL="0">
                        <a:buNone/>
                      </a:pPr>
                      <a:r>
                        <a:rPr lang="en-US" sz="950" dirty="0">
                          <a:solidFill>
                            <a:srgbClr val="1F2933"/>
                          </a:solidFill>
                          <a:latin typeface="Calibri" pitchFamily="34" charset="0"/>
                          <a:ea typeface="Calibri" pitchFamily="34" charset="-122"/>
                          <a:cs typeface="Calibri" pitchFamily="34" charset="-120"/>
                        </a:rPr>
                        <a:t>4.4 d) criteria, 6 risk evaluation, 7.3 residual risk evaluation</a:t>
                      </a:r>
                      <a:endParaRPr lang="en-US" sz="9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r>
              <a:tr h="237744">
                <a:tc>
                  <a:txBody>
                    <a:bodyPr/>
                    <a:lstStyle/>
                    <a:p>
                      <a:pPr indent="0" marL="0">
                        <a:buNone/>
                      </a:pPr>
                      <a:r>
                        <a:rPr lang="en-US" sz="950" b="1" dirty="0">
                          <a:solidFill>
                            <a:srgbClr val="1F2933"/>
                          </a:solidFill>
                          <a:latin typeface="Calibri" pitchFamily="34" charset="0"/>
                          <a:ea typeface="Calibri" pitchFamily="34" charset="-122"/>
                          <a:cs typeface="Calibri" pitchFamily="34" charset="-120"/>
                        </a:rPr>
                        <a:t>What did you do about it, and does it work?</a:t>
                      </a:r>
                      <a:endParaRPr lang="en-US" sz="9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950" dirty="0">
                          <a:solidFill>
                            <a:srgbClr val="1F2933"/>
                          </a:solidFill>
                          <a:latin typeface="Calibri" pitchFamily="34" charset="0"/>
                          <a:ea typeface="Calibri" pitchFamily="34" charset="-122"/>
                          <a:cs typeface="Calibri" pitchFamily="34" charset="-120"/>
                        </a:rPr>
                        <a:t>7.1 option analysis, 7.2 both verifications</a:t>
                      </a:r>
                      <a:endParaRPr lang="en-US" sz="9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r>
              <a:tr h="237744">
                <a:tc>
                  <a:txBody>
                    <a:bodyPr/>
                    <a:lstStyle/>
                    <a:p>
                      <a:pPr indent="0" marL="0">
                        <a:buNone/>
                      </a:pPr>
                      <a:r>
                        <a:rPr lang="en-US" sz="950" b="1" dirty="0">
                          <a:solidFill>
                            <a:srgbClr val="1F2933"/>
                          </a:solidFill>
                          <a:latin typeface="Calibri" pitchFamily="34" charset="0"/>
                          <a:ea typeface="Calibri" pitchFamily="34" charset="-122"/>
                          <a:cs typeface="Calibri" pitchFamily="34" charset="-120"/>
                        </a:rPr>
                        <a:t>What has changed since?</a:t>
                      </a:r>
                      <a:endParaRPr lang="en-US" sz="9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c>
                  <a:txBody>
                    <a:bodyPr/>
                    <a:lstStyle/>
                    <a:p>
                      <a:pPr indent="0" marL="0">
                        <a:buNone/>
                      </a:pPr>
                      <a:r>
                        <a:rPr lang="en-US" sz="950" dirty="0">
                          <a:solidFill>
                            <a:srgbClr val="1F2933"/>
                          </a:solidFill>
                          <a:latin typeface="Calibri" pitchFamily="34" charset="0"/>
                          <a:ea typeface="Calibri" pitchFamily="34" charset="-122"/>
                          <a:cs typeface="Calibri" pitchFamily="34" charset="-120"/>
                        </a:rPr>
                        <a:t>10.2 collection, 10.3 review, 10.4 actions</a:t>
                      </a:r>
                      <a:endParaRPr lang="en-US" sz="9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4814316"/>
            <a:ext cx="5943600" cy="201168"/>
          </a:xfrm>
          <a:prstGeom prst="rect">
            <a:avLst/>
          </a:prstGeom>
          <a:noFill/>
          <a:ln/>
        </p:spPr>
        <p:txBody>
          <a:bodyPr wrap="square" lIns="0" tIns="0" rIns="0" bIns="0" rtlCol="0" anchor="ctr"/>
          <a:lstStyle/>
          <a:p>
            <a:pPr indent="0" marL="0">
              <a:buNone/>
            </a:pPr>
            <a:r>
              <a:rPr lang="en-US" sz="900" dirty="0">
                <a:solidFill>
                  <a:srgbClr val="5A6B7B"/>
                </a:solidFill>
                <a:latin typeface="Calibri" pitchFamily="34" charset="0"/>
                <a:ea typeface="Calibri" pitchFamily="34" charset="-122"/>
                <a:cs typeface="Calibri" pitchFamily="34" charset="-120"/>
              </a:rPr>
              <a:t>Risk Management  |  ISO 14971  |  Elder Consulting, LLC</a:t>
            </a:r>
            <a:endParaRPr lang="en-US" sz="900" dirty="0"/>
          </a:p>
        </p:txBody>
      </p:sp>
      <p:sp>
        <p:nvSpPr>
          <p:cNvPr id="3" name="Text 1"/>
          <p:cNvSpPr txBox="1"/>
          <p:nvPr/>
        </p:nvSpPr>
        <p:spPr>
          <a:xfrm>
            <a:off x="8138160" y="4814316"/>
            <a:ext cx="548640" cy="201168"/>
          </a:xfrm>
          <a:prstGeom prst="rect">
            <a:avLst/>
          </a:prstGeom>
          <a:noFill/>
          <a:ln/>
        </p:spPr>
        <p:txBody>
          <a:bodyPr wrap="square" lIns="0" tIns="0" rIns="0" bIns="0" rtlCol="0" anchor="ctr"/>
          <a:lstStyle/>
          <a:p>
            <a:pPr algn="r" indent="0" marL="0">
              <a:buNone/>
            </a:pPr>
            <a:r>
              <a:rPr lang="en-US" sz="900" dirty="0">
                <a:solidFill>
                  <a:srgbClr val="5A6B7B"/>
                </a:solidFill>
                <a:latin typeface="Calibri" pitchFamily="34" charset="0"/>
                <a:ea typeface="Calibri" pitchFamily="34" charset="-122"/>
                <a:cs typeface="Calibri" pitchFamily="34" charset="-120"/>
              </a:rPr>
              <a:t>7</a:t>
            </a:r>
            <a:endParaRPr lang="en-US" sz="900" dirty="0"/>
          </a:p>
        </p:txBody>
      </p:sp>
      <p:sp>
        <p:nvSpPr>
          <p:cNvPr id="4" name="Text 2"/>
          <p:cNvSpPr txBox="1"/>
          <p:nvPr/>
        </p:nvSpPr>
        <p:spPr>
          <a:xfrm>
            <a:off x="457200" y="274320"/>
            <a:ext cx="8229600" cy="219456"/>
          </a:xfrm>
          <a:prstGeom prst="rect">
            <a:avLst/>
          </a:prstGeom>
          <a:noFill/>
          <a:ln/>
        </p:spPr>
        <p:txBody>
          <a:bodyPr wrap="square" lIns="0" tIns="0" rIns="0" bIns="0" rtlCol="0" anchor="ctr"/>
          <a:lstStyle/>
          <a:p>
            <a:pPr indent="0" marL="0">
              <a:buNone/>
            </a:pPr>
            <a:r>
              <a:rPr lang="en-US" sz="1000" b="1" spc="200" kern="0" dirty="0">
                <a:solidFill>
                  <a:srgbClr val="A8730F"/>
                </a:solidFill>
                <a:latin typeface="Calibri" pitchFamily="34" charset="0"/>
                <a:ea typeface="Calibri" pitchFamily="34" charset="-122"/>
                <a:cs typeface="Calibri" pitchFamily="34" charset="-120"/>
              </a:rPr>
              <a:t>SECTION 1  |  THE FILE</a:t>
            </a:r>
            <a:endParaRPr lang="en-US" sz="1000" dirty="0"/>
          </a:p>
        </p:txBody>
      </p:sp>
      <p:sp>
        <p:nvSpPr>
          <p:cNvPr id="5" name="Text 3"/>
          <p:cNvSpPr txBox="1"/>
          <p:nvPr/>
        </p:nvSpPr>
        <p:spPr>
          <a:xfrm>
            <a:off x="457200" y="502920"/>
            <a:ext cx="8229600" cy="548640"/>
          </a:xfrm>
          <a:prstGeom prst="rect">
            <a:avLst/>
          </a:prstGeom>
          <a:noFill/>
          <a:ln/>
        </p:spPr>
        <p:txBody>
          <a:bodyPr wrap="square" lIns="0" tIns="0" rIns="0" bIns="0" rtlCol="0" anchor="t"/>
          <a:lstStyle/>
          <a:p>
            <a:pPr indent="0" marL="0">
              <a:buNone/>
            </a:pPr>
            <a:r>
              <a:rPr lang="en-US" sz="2400" b="1" dirty="0">
                <a:solidFill>
                  <a:srgbClr val="0F2A4A"/>
                </a:solidFill>
                <a:latin typeface="Cambria" pitchFamily="34" charset="0"/>
                <a:ea typeface="Cambria" pitchFamily="34" charset="-122"/>
                <a:cs typeface="Cambria" pitchFamily="34" charset="-120"/>
              </a:rPr>
              <a:t>Ten clauses, and the three people skip</a:t>
            </a:r>
            <a:endParaRPr lang="en-US" sz="24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914400"/>
        </p:xfrm>
        <a:graphic>
          <a:graphicData uri="http://schemas.openxmlformats.org/drawingml/2006/table">
            <a:tbl>
              <a:tblPr/>
              <a:tblGrid>
                <a:gridCol w="1737360"/>
                <a:gridCol w="4846320"/>
                <a:gridCol w="1645920"/>
              </a:tblGrid>
              <a:tr h="292608">
                <a:tc>
                  <a:txBody>
                    <a:bodyPr/>
                    <a:lstStyle/>
                    <a:p>
                      <a:pPr indent="0" marL="0">
                        <a:buNone/>
                      </a:pPr>
                      <a:r>
                        <a:rPr lang="en-US" sz="850" b="1" dirty="0">
                          <a:solidFill>
                            <a:srgbClr val="FFFFFF"/>
                          </a:solidFill>
                          <a:latin typeface="Calibri" pitchFamily="34" charset="0"/>
                          <a:ea typeface="Calibri" pitchFamily="34" charset="-122"/>
                          <a:cs typeface="Calibri" pitchFamily="34" charset="-120"/>
                        </a:rPr>
                        <a:t>Clause</a:t>
                      </a:r>
                      <a:endParaRPr lang="en-US" sz="850" dirty="0">
                        <a:latin typeface="Calibri" charset="0"/>
                        <a:ea typeface="Calibri" charset="0"/>
                        <a:cs typeface="Calibri" charset="0"/>
                      </a:endParaRPr>
                    </a:p>
                  </a:txBody>
                  <a:tcPr marL="54864" marR="54864" marT="54864" marB="54864" anchor="ctr">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0F2A4A"/>
                    </a:solidFill>
                  </a:tcPr>
                </a:tc>
                <a:tc>
                  <a:txBody>
                    <a:bodyPr/>
                    <a:lstStyle/>
                    <a:p>
                      <a:pPr indent="0" marL="0">
                        <a:buNone/>
                      </a:pPr>
                      <a:r>
                        <a:rPr lang="en-US" sz="850" b="1" dirty="0">
                          <a:solidFill>
                            <a:srgbClr val="FFFFFF"/>
                          </a:solidFill>
                          <a:latin typeface="Calibri" pitchFamily="34" charset="0"/>
                          <a:ea typeface="Calibri" pitchFamily="34" charset="-122"/>
                          <a:cs typeface="Calibri" pitchFamily="34" charset="-120"/>
                        </a:rPr>
                        <a:t>What it requires</a:t>
                      </a:r>
                      <a:endParaRPr lang="en-US" sz="850" dirty="0">
                        <a:latin typeface="Calibri" charset="0"/>
                        <a:ea typeface="Calibri" charset="0"/>
                        <a:cs typeface="Calibri" charset="0"/>
                      </a:endParaRPr>
                    </a:p>
                  </a:txBody>
                  <a:tcPr marL="54864" marR="54864" marT="54864" marB="54864" anchor="ctr">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0F2A4A"/>
                    </a:solidFill>
                  </a:tcPr>
                </a:tc>
                <a:tc>
                  <a:txBody>
                    <a:bodyPr/>
                    <a:lstStyle/>
                    <a:p>
                      <a:pPr indent="0" marL="0">
                        <a:buNone/>
                      </a:pPr>
                      <a:r>
                        <a:rPr lang="en-US" sz="850" b="1" dirty="0">
                          <a:solidFill>
                            <a:srgbClr val="FFFFFF"/>
                          </a:solidFill>
                          <a:latin typeface="Calibri" pitchFamily="34" charset="0"/>
                          <a:ea typeface="Calibri" pitchFamily="34" charset="-122"/>
                          <a:cs typeface="Calibri" pitchFamily="34" charset="-120"/>
                        </a:rPr>
                        <a:t>Usual state</a:t>
                      </a:r>
                      <a:endParaRPr lang="en-US" sz="850" dirty="0">
                        <a:latin typeface="Calibri" charset="0"/>
                        <a:ea typeface="Calibri" charset="0"/>
                        <a:cs typeface="Calibri" charset="0"/>
                      </a:endParaRPr>
                    </a:p>
                  </a:txBody>
                  <a:tcPr marL="54864" marR="54864" marT="54864" marB="54864" anchor="ctr">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0F2A4A"/>
                    </a:solidFill>
                  </a:tcPr>
                </a:tc>
              </a:tr>
              <a:tr h="292608">
                <a:tc>
                  <a:txBody>
                    <a:bodyPr/>
                    <a:lstStyle/>
                    <a:p>
                      <a:pPr indent="0" marL="0">
                        <a:buNone/>
                      </a:pPr>
                      <a:r>
                        <a:rPr lang="en-US" sz="850" b="1" dirty="0">
                          <a:solidFill>
                            <a:srgbClr val="1F2933"/>
                          </a:solidFill>
                          <a:latin typeface="Calibri" pitchFamily="34" charset="0"/>
                          <a:ea typeface="Calibri" pitchFamily="34" charset="-122"/>
                          <a:cs typeface="Calibri" pitchFamily="34" charset="-120"/>
                        </a:rPr>
                        <a:t>4  General requirements</a:t>
                      </a:r>
                      <a:endParaRPr lang="en-US" sz="8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850" dirty="0">
                          <a:solidFill>
                            <a:srgbClr val="1F2933"/>
                          </a:solidFill>
                          <a:latin typeface="Calibri" pitchFamily="34" charset="0"/>
                          <a:ea typeface="Calibri" pitchFamily="34" charset="-122"/>
                          <a:cs typeface="Calibri" pitchFamily="34" charset="-120"/>
                        </a:rPr>
                        <a:t>4.1 process · 4.2 management responsibilities · 4.3 competence · 4.4 plan · 4.5 file</a:t>
                      </a:r>
                      <a:endParaRPr lang="en-US" sz="8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850" dirty="0">
                          <a:solidFill>
                            <a:srgbClr val="1F2933"/>
                          </a:solidFill>
                          <a:latin typeface="Calibri" pitchFamily="34" charset="0"/>
                          <a:ea typeface="Calibri" pitchFamily="34" charset="-122"/>
                          <a:cs typeface="Calibri" pitchFamily="34" charset="-120"/>
                        </a:rPr>
                        <a:t>Procedure exists; plan thin</a:t>
                      </a:r>
                      <a:endParaRPr lang="en-US" sz="8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r>
              <a:tr h="292608">
                <a:tc>
                  <a:txBody>
                    <a:bodyPr/>
                    <a:lstStyle/>
                    <a:p>
                      <a:pPr indent="0" marL="0">
                        <a:buNone/>
                      </a:pPr>
                      <a:r>
                        <a:rPr lang="en-US" sz="850" b="1" dirty="0">
                          <a:solidFill>
                            <a:srgbClr val="1F2933"/>
                          </a:solidFill>
                          <a:latin typeface="Calibri" pitchFamily="34" charset="0"/>
                          <a:ea typeface="Calibri" pitchFamily="34" charset="-122"/>
                          <a:cs typeface="Calibri" pitchFamily="34" charset="-120"/>
                        </a:rPr>
                        <a:t>5  Risk analysis</a:t>
                      </a:r>
                      <a:endParaRPr lang="en-US" sz="8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c>
                  <a:txBody>
                    <a:bodyPr/>
                    <a:lstStyle/>
                    <a:p>
                      <a:pPr indent="0" marL="0">
                        <a:buNone/>
                      </a:pPr>
                      <a:r>
                        <a:rPr lang="en-US" sz="850" dirty="0">
                          <a:solidFill>
                            <a:srgbClr val="1F2933"/>
                          </a:solidFill>
                          <a:latin typeface="Calibri" pitchFamily="34" charset="0"/>
                          <a:ea typeface="Calibri" pitchFamily="34" charset="-122"/>
                          <a:cs typeface="Calibri" pitchFamily="34" charset="-120"/>
                        </a:rPr>
                        <a:t>5.1 process · 5.2 intended use and reasonably foreseeable misuse · 5.3 safety characteristics · 5.4 hazards and hazardous situations · 5.5 estimation</a:t>
                      </a:r>
                      <a:endParaRPr lang="en-US" sz="8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c>
                  <a:txBody>
                    <a:bodyPr/>
                    <a:lstStyle/>
                    <a:p>
                      <a:pPr indent="0" marL="0">
                        <a:buNone/>
                      </a:pPr>
                      <a:r>
                        <a:rPr lang="en-US" sz="850" dirty="0">
                          <a:solidFill>
                            <a:srgbClr val="1F2933"/>
                          </a:solidFill>
                          <a:latin typeface="Calibri" pitchFamily="34" charset="0"/>
                          <a:ea typeface="Calibri" pitchFamily="34" charset="-122"/>
                          <a:cs typeface="Calibri" pitchFamily="34" charset="-120"/>
                        </a:rPr>
                        <a:t>Chain collapsed; basis missing</a:t>
                      </a:r>
                      <a:endParaRPr lang="en-US" sz="8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r>
              <a:tr h="292608">
                <a:tc>
                  <a:txBody>
                    <a:bodyPr/>
                    <a:lstStyle/>
                    <a:p>
                      <a:pPr indent="0" marL="0">
                        <a:buNone/>
                      </a:pPr>
                      <a:r>
                        <a:rPr lang="en-US" sz="850" b="1" dirty="0">
                          <a:solidFill>
                            <a:srgbClr val="1F2933"/>
                          </a:solidFill>
                          <a:latin typeface="Calibri" pitchFamily="34" charset="0"/>
                          <a:ea typeface="Calibri" pitchFamily="34" charset="-122"/>
                          <a:cs typeface="Calibri" pitchFamily="34" charset="-120"/>
                        </a:rPr>
                        <a:t>6  Risk evaluation</a:t>
                      </a:r>
                      <a:endParaRPr lang="en-US" sz="8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850" dirty="0">
                          <a:solidFill>
                            <a:srgbClr val="1F2933"/>
                          </a:solidFill>
                          <a:latin typeface="Calibri" pitchFamily="34" charset="0"/>
                          <a:ea typeface="Calibri" pitchFamily="34" charset="-122"/>
                          <a:cs typeface="Calibri" pitchFamily="34" charset="-120"/>
                        </a:rPr>
                        <a:t>Compare each estimated risk against the criteria in the plan. No subclauses</a:t>
                      </a:r>
                      <a:endParaRPr lang="en-US" sz="8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850" dirty="0">
                          <a:solidFill>
                            <a:srgbClr val="1F2933"/>
                          </a:solidFill>
                          <a:latin typeface="Calibri" pitchFamily="34" charset="0"/>
                          <a:ea typeface="Calibri" pitchFamily="34" charset="-122"/>
                          <a:cs typeface="Calibri" pitchFamily="34" charset="-120"/>
                        </a:rPr>
                        <a:t>Done, but criteria written late</a:t>
                      </a:r>
                      <a:endParaRPr lang="en-US" sz="8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r>
              <a:tr h="292608">
                <a:tc>
                  <a:txBody>
                    <a:bodyPr/>
                    <a:lstStyle/>
                    <a:p>
                      <a:pPr indent="0" marL="0">
                        <a:buNone/>
                      </a:pPr>
                      <a:r>
                        <a:rPr lang="en-US" sz="850" b="1" dirty="0">
                          <a:solidFill>
                            <a:srgbClr val="1F2933"/>
                          </a:solidFill>
                          <a:latin typeface="Calibri" pitchFamily="34" charset="0"/>
                          <a:ea typeface="Calibri" pitchFamily="34" charset="-122"/>
                          <a:cs typeface="Calibri" pitchFamily="34" charset="-120"/>
                        </a:rPr>
                        <a:t>7  Risk control</a:t>
                      </a:r>
                      <a:endParaRPr lang="en-US" sz="8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c>
                  <a:txBody>
                    <a:bodyPr/>
                    <a:lstStyle/>
                    <a:p>
                      <a:pPr indent="0" marL="0">
                        <a:buNone/>
                      </a:pPr>
                      <a:r>
                        <a:rPr lang="en-US" sz="850" dirty="0">
                          <a:solidFill>
                            <a:srgbClr val="1F2933"/>
                          </a:solidFill>
                          <a:latin typeface="Calibri" pitchFamily="34" charset="0"/>
                          <a:ea typeface="Calibri" pitchFamily="34" charset="-122"/>
                          <a:cs typeface="Calibri" pitchFamily="34" charset="-120"/>
                        </a:rPr>
                        <a:t>7.1 option analysis · 7.2 implementation · 7.3 residual risk evaluation · 7.4 benefit-risk · 7.5 risks arising from controls · 7.6 completeness</a:t>
                      </a:r>
                      <a:endParaRPr lang="en-US" sz="8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c>
                  <a:txBody>
                    <a:bodyPr/>
                    <a:lstStyle/>
                    <a:p>
                      <a:pPr indent="0" marL="0">
                        <a:buNone/>
                      </a:pPr>
                      <a:r>
                        <a:rPr lang="en-US" sz="850" dirty="0">
                          <a:solidFill>
                            <a:srgbClr val="1F2933"/>
                          </a:solidFill>
                          <a:latin typeface="Calibri" pitchFamily="34" charset="0"/>
                          <a:ea typeface="Calibri" pitchFamily="34" charset="-122"/>
                          <a:cs typeface="Calibri" pitchFamily="34" charset="-120"/>
                        </a:rPr>
                        <a:t>Order not worked as an order</a:t>
                      </a:r>
                      <a:endParaRPr lang="en-US" sz="8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r>
              <a:tr h="292608">
                <a:tc>
                  <a:txBody>
                    <a:bodyPr/>
                    <a:lstStyle/>
                    <a:p>
                      <a:pPr indent="0" marL="0">
                        <a:buNone/>
                      </a:pPr>
                      <a:r>
                        <a:rPr lang="en-US" sz="850" b="1" dirty="0">
                          <a:solidFill>
                            <a:srgbClr val="1F2933"/>
                          </a:solidFill>
                          <a:latin typeface="Calibri" pitchFamily="34" charset="0"/>
                          <a:ea typeface="Calibri" pitchFamily="34" charset="-122"/>
                          <a:cs typeface="Calibri" pitchFamily="34" charset="-120"/>
                        </a:rPr>
                        <a:t>7.5  Risks from controls</a:t>
                      </a:r>
                      <a:endParaRPr lang="en-US" sz="8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BF2DE"/>
                    </a:solidFill>
                  </a:tcPr>
                </a:tc>
                <a:tc>
                  <a:txBody>
                    <a:bodyPr/>
                    <a:lstStyle/>
                    <a:p>
                      <a:pPr indent="0" marL="0">
                        <a:buNone/>
                      </a:pPr>
                      <a:r>
                        <a:rPr lang="en-US" sz="850" dirty="0">
                          <a:solidFill>
                            <a:srgbClr val="1F2933"/>
                          </a:solidFill>
                          <a:latin typeface="Calibri" pitchFamily="34" charset="0"/>
                          <a:ea typeface="Calibri" pitchFamily="34" charset="-122"/>
                          <a:cs typeface="Calibri" pitchFamily="34" charset="-120"/>
                        </a:rPr>
                        <a:t>Review every control for new hazards AND for effects on existing estimates</a:t>
                      </a:r>
                      <a:endParaRPr lang="en-US" sz="8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BF2DE"/>
                    </a:solidFill>
                  </a:tcPr>
                </a:tc>
                <a:tc>
                  <a:txBody>
                    <a:bodyPr/>
                    <a:lstStyle/>
                    <a:p>
                      <a:pPr indent="0" marL="0">
                        <a:buNone/>
                      </a:pPr>
                      <a:r>
                        <a:rPr lang="en-US" sz="850" b="1" dirty="0">
                          <a:solidFill>
                            <a:srgbClr val="9E2F24"/>
                          </a:solidFill>
                          <a:latin typeface="Calibri" pitchFamily="34" charset="0"/>
                          <a:ea typeface="Calibri" pitchFamily="34" charset="-122"/>
                          <a:cs typeface="Calibri" pitchFamily="34" charset="-120"/>
                        </a:rPr>
                        <a:t>Often absent</a:t>
                      </a:r>
                      <a:endParaRPr lang="en-US" sz="8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BF2DE"/>
                    </a:solidFill>
                  </a:tcPr>
                </a:tc>
              </a:tr>
              <a:tr h="292608">
                <a:tc>
                  <a:txBody>
                    <a:bodyPr/>
                    <a:lstStyle/>
                    <a:p>
                      <a:pPr indent="0" marL="0">
                        <a:buNone/>
                      </a:pPr>
                      <a:r>
                        <a:rPr lang="en-US" sz="850" b="1" dirty="0">
                          <a:solidFill>
                            <a:srgbClr val="1F2933"/>
                          </a:solidFill>
                          <a:latin typeface="Calibri" pitchFamily="34" charset="0"/>
                          <a:ea typeface="Calibri" pitchFamily="34" charset="-122"/>
                          <a:cs typeface="Calibri" pitchFamily="34" charset="-120"/>
                        </a:rPr>
                        <a:t>7.6  Completeness</a:t>
                      </a:r>
                      <a:endParaRPr lang="en-US" sz="8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BF2DE"/>
                    </a:solidFill>
                  </a:tcPr>
                </a:tc>
                <a:tc>
                  <a:txBody>
                    <a:bodyPr/>
                    <a:lstStyle/>
                    <a:p>
                      <a:pPr indent="0" marL="0">
                        <a:buNone/>
                      </a:pPr>
                      <a:r>
                        <a:rPr lang="en-US" sz="850" dirty="0">
                          <a:solidFill>
                            <a:srgbClr val="1F2933"/>
                          </a:solidFill>
                          <a:latin typeface="Calibri" pitchFamily="34" charset="0"/>
                          <a:ea typeface="Calibri" pitchFamily="34" charset="-122"/>
                          <a:cs typeface="Calibri" pitchFamily="34" charset="-120"/>
                        </a:rPr>
                        <a:t>Every identified hazardous situation has been considered. Applies to the acceptable ones too</a:t>
                      </a:r>
                      <a:endParaRPr lang="en-US" sz="8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BF2DE"/>
                    </a:solidFill>
                  </a:tcPr>
                </a:tc>
                <a:tc>
                  <a:txBody>
                    <a:bodyPr/>
                    <a:lstStyle/>
                    <a:p>
                      <a:pPr indent="0" marL="0">
                        <a:buNone/>
                      </a:pPr>
                      <a:r>
                        <a:rPr lang="en-US" sz="850" b="1" dirty="0">
                          <a:solidFill>
                            <a:srgbClr val="1F2933"/>
                          </a:solidFill>
                          <a:latin typeface="Calibri" pitchFamily="34" charset="0"/>
                          <a:ea typeface="Calibri" pitchFamily="34" charset="-122"/>
                          <a:cs typeface="Calibri" pitchFamily="34" charset="-120"/>
                        </a:rPr>
                        <a:t>Often absent</a:t>
                      </a:r>
                      <a:endParaRPr lang="en-US" sz="8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BF2DE"/>
                    </a:solidFill>
                  </a:tcPr>
                </a:tc>
              </a:tr>
              <a:tr h="292608">
                <a:tc>
                  <a:txBody>
                    <a:bodyPr/>
                    <a:lstStyle/>
                    <a:p>
                      <a:pPr indent="0" marL="0">
                        <a:buNone/>
                      </a:pPr>
                      <a:r>
                        <a:rPr lang="en-US" sz="850" b="1" dirty="0">
                          <a:solidFill>
                            <a:srgbClr val="1F2933"/>
                          </a:solidFill>
                          <a:latin typeface="Calibri" pitchFamily="34" charset="0"/>
                          <a:ea typeface="Calibri" pitchFamily="34" charset="-122"/>
                          <a:cs typeface="Calibri" pitchFamily="34" charset="-120"/>
                        </a:rPr>
                        <a:t>8  Overall residual risk</a:t>
                      </a:r>
                      <a:endParaRPr lang="en-US" sz="8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850" dirty="0">
                          <a:solidFill>
                            <a:srgbClr val="1F2933"/>
                          </a:solidFill>
                          <a:latin typeface="Calibri" pitchFamily="34" charset="0"/>
                          <a:ea typeface="Calibri" pitchFamily="34" charset="-122"/>
                          <a:cs typeface="Calibri" pitchFamily="34" charset="-120"/>
                        </a:rPr>
                        <a:t>A separate evaluation, by the method the plan declared, against its own criteria</a:t>
                      </a:r>
                      <a:endParaRPr lang="en-US" sz="8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850" dirty="0">
                          <a:solidFill>
                            <a:srgbClr val="1F2933"/>
                          </a:solidFill>
                          <a:latin typeface="Calibri" pitchFamily="34" charset="0"/>
                          <a:ea typeface="Calibri" pitchFamily="34" charset="-122"/>
                          <a:cs typeface="Calibri" pitchFamily="34" charset="-120"/>
                        </a:rPr>
                        <a:t>Confused with the sum of rows</a:t>
                      </a:r>
                      <a:endParaRPr lang="en-US" sz="8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r>
              <a:tr h="292608">
                <a:tc>
                  <a:txBody>
                    <a:bodyPr/>
                    <a:lstStyle/>
                    <a:p>
                      <a:pPr indent="0" marL="0">
                        <a:buNone/>
                      </a:pPr>
                      <a:r>
                        <a:rPr lang="en-US" sz="850" b="1" dirty="0">
                          <a:solidFill>
                            <a:srgbClr val="1F2933"/>
                          </a:solidFill>
                          <a:latin typeface="Calibri" pitchFamily="34" charset="0"/>
                          <a:ea typeface="Calibri" pitchFamily="34" charset="-122"/>
                          <a:cs typeface="Calibri" pitchFamily="34" charset="-120"/>
                        </a:rPr>
                        <a:t>9  Risk management review</a:t>
                      </a:r>
                      <a:endParaRPr lang="en-US" sz="8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c>
                  <a:txBody>
                    <a:bodyPr/>
                    <a:lstStyle/>
                    <a:p>
                      <a:pPr indent="0" marL="0">
                        <a:buNone/>
                      </a:pPr>
                      <a:r>
                        <a:rPr lang="en-US" sz="850" dirty="0">
                          <a:solidFill>
                            <a:srgbClr val="1F2933"/>
                          </a:solidFill>
                          <a:latin typeface="Calibri" pitchFamily="34" charset="0"/>
                          <a:ea typeface="Calibri" pitchFamily="34" charset="-122"/>
                          <a:cs typeface="Calibri" pitchFamily="34" charset="-120"/>
                        </a:rPr>
                        <a:t>Review before release; produce the risk management report</a:t>
                      </a:r>
                      <a:endParaRPr lang="en-US" sz="8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c>
                  <a:txBody>
                    <a:bodyPr/>
                    <a:lstStyle/>
                    <a:p>
                      <a:pPr indent="0" marL="0">
                        <a:buNone/>
                      </a:pPr>
                      <a:r>
                        <a:rPr lang="en-US" sz="850" dirty="0">
                          <a:solidFill>
                            <a:srgbClr val="1F2933"/>
                          </a:solidFill>
                          <a:latin typeface="Calibri" pitchFamily="34" charset="0"/>
                          <a:ea typeface="Calibri" pitchFamily="34" charset="-122"/>
                          <a:cs typeface="Calibri" pitchFamily="34" charset="-120"/>
                        </a:rPr>
                        <a:t>Signed, sometimes early</a:t>
                      </a:r>
                      <a:endParaRPr lang="en-US" sz="8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r>
              <a:tr h="292608">
                <a:tc>
                  <a:txBody>
                    <a:bodyPr/>
                    <a:lstStyle/>
                    <a:p>
                      <a:pPr indent="0" marL="0">
                        <a:buNone/>
                      </a:pPr>
                      <a:r>
                        <a:rPr lang="en-US" sz="850" b="1" dirty="0">
                          <a:solidFill>
                            <a:srgbClr val="1F2933"/>
                          </a:solidFill>
                          <a:latin typeface="Calibri" pitchFamily="34" charset="0"/>
                          <a:ea typeface="Calibri" pitchFamily="34" charset="-122"/>
                          <a:cs typeface="Calibri" pitchFamily="34" charset="-120"/>
                        </a:rPr>
                        <a:t>10  Production and post-production</a:t>
                      </a:r>
                      <a:endParaRPr lang="en-US" sz="8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BF2DE"/>
                    </a:solidFill>
                  </a:tcPr>
                </a:tc>
                <a:tc>
                  <a:txBody>
                    <a:bodyPr/>
                    <a:lstStyle/>
                    <a:p>
                      <a:pPr indent="0" marL="0">
                        <a:buNone/>
                      </a:pPr>
                      <a:r>
                        <a:rPr lang="en-US" sz="850" dirty="0">
                          <a:solidFill>
                            <a:srgbClr val="1F2933"/>
                          </a:solidFill>
                          <a:latin typeface="Calibri" pitchFamily="34" charset="0"/>
                          <a:ea typeface="Calibri" pitchFamily="34" charset="-122"/>
                          <a:cs typeface="Calibri" pitchFamily="34" charset="-120"/>
                        </a:rPr>
                        <a:t>10.1 general · 10.2 collection · 10.3 review · 10.4 actions</a:t>
                      </a:r>
                      <a:endParaRPr lang="en-US" sz="8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BF2DE"/>
                    </a:solidFill>
                  </a:tcPr>
                </a:tc>
                <a:tc>
                  <a:txBody>
                    <a:bodyPr/>
                    <a:lstStyle/>
                    <a:p>
                      <a:pPr indent="0" marL="0">
                        <a:buNone/>
                      </a:pPr>
                      <a:r>
                        <a:rPr lang="en-US" sz="850" b="1" dirty="0">
                          <a:solidFill>
                            <a:srgbClr val="1F2933"/>
                          </a:solidFill>
                          <a:latin typeface="Calibri" pitchFamily="34" charset="0"/>
                          <a:ea typeface="Calibri" pitchFamily="34" charset="-122"/>
                          <a:cs typeface="Calibri" pitchFamily="34" charset="-120"/>
                        </a:rPr>
                        <a:t>Often empty</a:t>
                      </a:r>
                      <a:endParaRPr lang="en-US" sz="8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BF2DE"/>
                    </a:solidFill>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4814316"/>
            <a:ext cx="5943600" cy="201168"/>
          </a:xfrm>
          <a:prstGeom prst="rect">
            <a:avLst/>
          </a:prstGeom>
          <a:noFill/>
          <a:ln/>
        </p:spPr>
        <p:txBody>
          <a:bodyPr wrap="square" lIns="0" tIns="0" rIns="0" bIns="0" rtlCol="0" anchor="ctr"/>
          <a:lstStyle/>
          <a:p>
            <a:pPr indent="0" marL="0">
              <a:buNone/>
            </a:pPr>
            <a:r>
              <a:rPr lang="en-US" sz="900" dirty="0">
                <a:solidFill>
                  <a:srgbClr val="5A6B7B"/>
                </a:solidFill>
                <a:latin typeface="Calibri" pitchFamily="34" charset="0"/>
                <a:ea typeface="Calibri" pitchFamily="34" charset="-122"/>
                <a:cs typeface="Calibri" pitchFamily="34" charset="-120"/>
              </a:rPr>
              <a:t>Risk Management  |  ISO 14971  |  Elder Consulting, LLC</a:t>
            </a:r>
            <a:endParaRPr lang="en-US" sz="900" dirty="0"/>
          </a:p>
        </p:txBody>
      </p:sp>
      <p:sp>
        <p:nvSpPr>
          <p:cNvPr id="3" name="Text 1"/>
          <p:cNvSpPr txBox="1"/>
          <p:nvPr/>
        </p:nvSpPr>
        <p:spPr>
          <a:xfrm>
            <a:off x="8138160" y="4814316"/>
            <a:ext cx="548640" cy="201168"/>
          </a:xfrm>
          <a:prstGeom prst="rect">
            <a:avLst/>
          </a:prstGeom>
          <a:noFill/>
          <a:ln/>
        </p:spPr>
        <p:txBody>
          <a:bodyPr wrap="square" lIns="0" tIns="0" rIns="0" bIns="0" rtlCol="0" anchor="ctr"/>
          <a:lstStyle/>
          <a:p>
            <a:pPr algn="r" indent="0" marL="0">
              <a:buNone/>
            </a:pPr>
            <a:r>
              <a:rPr lang="en-US" sz="900" dirty="0">
                <a:solidFill>
                  <a:srgbClr val="5A6B7B"/>
                </a:solidFill>
                <a:latin typeface="Calibri" pitchFamily="34" charset="0"/>
                <a:ea typeface="Calibri" pitchFamily="34" charset="-122"/>
                <a:cs typeface="Calibri" pitchFamily="34" charset="-120"/>
              </a:rPr>
              <a:t>8</a:t>
            </a:r>
            <a:endParaRPr lang="en-US" sz="900" dirty="0"/>
          </a:p>
        </p:txBody>
      </p:sp>
      <p:sp>
        <p:nvSpPr>
          <p:cNvPr id="4" name="Text 2"/>
          <p:cNvSpPr txBox="1"/>
          <p:nvPr/>
        </p:nvSpPr>
        <p:spPr>
          <a:xfrm>
            <a:off x="457200" y="274320"/>
            <a:ext cx="8229600" cy="219456"/>
          </a:xfrm>
          <a:prstGeom prst="rect">
            <a:avLst/>
          </a:prstGeom>
          <a:noFill/>
          <a:ln/>
        </p:spPr>
        <p:txBody>
          <a:bodyPr wrap="square" lIns="0" tIns="0" rIns="0" bIns="0" rtlCol="0" anchor="ctr"/>
          <a:lstStyle/>
          <a:p>
            <a:pPr indent="0" marL="0">
              <a:buNone/>
            </a:pPr>
            <a:r>
              <a:rPr lang="en-US" sz="1000" b="1" spc="200" kern="0" dirty="0">
                <a:solidFill>
                  <a:srgbClr val="A8730F"/>
                </a:solidFill>
                <a:latin typeface="Calibri" pitchFamily="34" charset="0"/>
                <a:ea typeface="Calibri" pitchFamily="34" charset="-122"/>
                <a:cs typeface="Calibri" pitchFamily="34" charset="-120"/>
              </a:rPr>
              <a:t>SECTION 1  |  THE FILE</a:t>
            </a:r>
            <a:endParaRPr lang="en-US" sz="1000" dirty="0"/>
          </a:p>
        </p:txBody>
      </p:sp>
      <p:sp>
        <p:nvSpPr>
          <p:cNvPr id="5" name="Text 3"/>
          <p:cNvSpPr txBox="1"/>
          <p:nvPr/>
        </p:nvSpPr>
        <p:spPr>
          <a:xfrm>
            <a:off x="457200" y="502920"/>
            <a:ext cx="8229600" cy="548640"/>
          </a:xfrm>
          <a:prstGeom prst="rect">
            <a:avLst/>
          </a:prstGeom>
          <a:noFill/>
          <a:ln/>
        </p:spPr>
        <p:txBody>
          <a:bodyPr wrap="square" lIns="0" tIns="0" rIns="0" bIns="0" rtlCol="0" anchor="t"/>
          <a:lstStyle/>
          <a:p>
            <a:pPr indent="0" marL="0">
              <a:buNone/>
            </a:pPr>
            <a:r>
              <a:rPr lang="en-US" sz="2400" b="1" dirty="0">
                <a:solidFill>
                  <a:srgbClr val="0F2A4A"/>
                </a:solidFill>
                <a:latin typeface="Cambria" pitchFamily="34" charset="0"/>
                <a:ea typeface="Cambria" pitchFamily="34" charset="-122"/>
                <a:cs typeface="Cambria" pitchFamily="34" charset="-120"/>
              </a:rPr>
              <a:t>Three definitions arrived in 2019, and each one costs work</a:t>
            </a:r>
            <a:endParaRPr lang="en-US" sz="2400" dirty="0"/>
          </a:p>
        </p:txBody>
      </p:sp>
      <p:sp>
        <p:nvSpPr>
          <p:cNvPr id="7" name="Shape 4"/>
          <p:cNvSpPr/>
          <p:nvPr/>
        </p:nvSpPr>
        <p:spPr>
          <a:xfrm>
            <a:off x="457200" y="1097280"/>
            <a:ext cx="2621280" cy="2971800"/>
          </a:xfrm>
          <a:prstGeom prst="roundRect">
            <a:avLst>
              <a:gd name="adj" fmla="val 2093"/>
            </a:avLst>
          </a:prstGeom>
          <a:solidFill>
            <a:srgbClr val="EAF0F6"/>
          </a:solidFill>
          <a:ln w="12700">
            <a:solidFill>
              <a:srgbClr val="EAF0F6"/>
            </a:solidFill>
            <a:prstDash val="solid"/>
          </a:ln>
        </p:spPr>
      </p:sp>
      <p:sp>
        <p:nvSpPr>
          <p:cNvPr id="8" name="Text 5"/>
          <p:cNvSpPr txBox="1"/>
          <p:nvPr/>
        </p:nvSpPr>
        <p:spPr>
          <a:xfrm>
            <a:off x="585216" y="1188720"/>
            <a:ext cx="2365248" cy="182880"/>
          </a:xfrm>
          <a:prstGeom prst="rect">
            <a:avLst/>
          </a:prstGeom>
          <a:noFill/>
          <a:ln/>
        </p:spPr>
        <p:txBody>
          <a:bodyPr wrap="square" lIns="0" tIns="0" rIns="0" bIns="0" rtlCol="0" anchor="ctr"/>
          <a:lstStyle/>
          <a:p>
            <a:pPr indent="0" marL="0">
              <a:buNone/>
            </a:pPr>
            <a:r>
              <a:rPr lang="en-US" sz="900" b="1" spc="150" kern="0" dirty="0">
                <a:solidFill>
                  <a:srgbClr val="A8730F"/>
                </a:solidFill>
                <a:latin typeface="Calibri" pitchFamily="34" charset="0"/>
                <a:ea typeface="Calibri" pitchFamily="34" charset="-122"/>
                <a:cs typeface="Calibri" pitchFamily="34" charset="-120"/>
              </a:rPr>
              <a:t>3.2</a:t>
            </a:r>
            <a:endParaRPr lang="en-US" sz="900" dirty="0"/>
          </a:p>
        </p:txBody>
      </p:sp>
      <p:sp>
        <p:nvSpPr>
          <p:cNvPr id="9" name="Text 6"/>
          <p:cNvSpPr txBox="1"/>
          <p:nvPr/>
        </p:nvSpPr>
        <p:spPr>
          <a:xfrm>
            <a:off x="585216" y="1408176"/>
            <a:ext cx="2365248" cy="274320"/>
          </a:xfrm>
          <a:prstGeom prst="rect">
            <a:avLst/>
          </a:prstGeom>
          <a:noFill/>
          <a:ln/>
        </p:spPr>
        <p:txBody>
          <a:bodyPr wrap="square" lIns="0" tIns="0" rIns="0" bIns="0" rtlCol="0" anchor="ctr"/>
          <a:lstStyle/>
          <a:p>
            <a:pPr indent="0" marL="0">
              <a:buNone/>
            </a:pPr>
            <a:r>
              <a:rPr lang="en-US" sz="1300" b="1" dirty="0">
                <a:solidFill>
                  <a:srgbClr val="0F2A4A"/>
                </a:solidFill>
                <a:latin typeface="Calibri" pitchFamily="34" charset="0"/>
                <a:ea typeface="Calibri" pitchFamily="34" charset="-122"/>
                <a:cs typeface="Calibri" pitchFamily="34" charset="-120"/>
              </a:rPr>
              <a:t>benefit</a:t>
            </a:r>
            <a:endParaRPr lang="en-US" sz="1300" dirty="0"/>
          </a:p>
        </p:txBody>
      </p:sp>
      <p:sp>
        <p:nvSpPr>
          <p:cNvPr id="10" name="Text 7"/>
          <p:cNvSpPr txBox="1"/>
          <p:nvPr/>
        </p:nvSpPr>
        <p:spPr>
          <a:xfrm>
            <a:off x="585216" y="1719072"/>
            <a:ext cx="2365248" cy="2258568"/>
          </a:xfrm>
          <a:prstGeom prst="rect">
            <a:avLst/>
          </a:prstGeom>
          <a:noFill/>
          <a:ln/>
        </p:spPr>
        <p:txBody>
          <a:bodyPr wrap="square" lIns="0" tIns="0" rIns="0" bIns="0" rtlCol="0" anchor="t"/>
          <a:lstStyle/>
          <a:p>
            <a:pPr marL="342900" indent="-342900">
              <a:spcAft>
                <a:spcPts val="400"/>
              </a:spcAft>
              <a:buSzPct val="100000"/>
              <a:buChar char="•"/>
            </a:pPr>
            <a:r>
              <a:rPr lang="en-US" sz="950" dirty="0">
                <a:solidFill>
                  <a:srgbClr val="1F2933"/>
                </a:solidFill>
                <a:latin typeface="Calibri" pitchFamily="34" charset="0"/>
                <a:ea typeface="Calibri" pitchFamily="34" charset="-122"/>
                <a:cs typeface="Calibri" pitchFamily="34" charset="-120"/>
              </a:rPr>
              <a:t>A positive impact or desirable outcome of use on the health of an individual, or a positive impact on patient management or on public health</a:t>
            </a:r>
            <a:endParaRPr lang="en-US" sz="950" dirty="0"/>
          </a:p>
          <a:p>
            <a:pPr marL="342900" indent="-342900">
              <a:spcAft>
                <a:spcPts val="400"/>
              </a:spcAft>
              <a:buSzPct val="100000"/>
              <a:buChar char="•"/>
            </a:pPr>
            <a:r>
              <a:rPr lang="en-US" sz="950" b="1" dirty="0">
                <a:solidFill>
                  <a:srgbClr val="1F2933"/>
                </a:solidFill>
                <a:latin typeface="Calibri" pitchFamily="34" charset="0"/>
                <a:ea typeface="Calibri" pitchFamily="34" charset="-122"/>
                <a:cs typeface="Calibri" pitchFamily="34" charset="-120"/>
              </a:rPr>
              <a:t>What it costs you:</a:t>
            </a:r>
            <a:endParaRPr lang="en-US" sz="950" dirty="0"/>
          </a:p>
          <a:p>
            <a:pPr marL="342900" indent="-342900">
              <a:spcAft>
                <a:spcPts val="400"/>
              </a:spcAft>
              <a:buSzPct val="100000"/>
              <a:buChar char="•"/>
            </a:pPr>
            <a:r>
              <a:rPr lang="en-US" sz="950" dirty="0">
                <a:solidFill>
                  <a:srgbClr val="1F2933"/>
                </a:solidFill>
                <a:latin typeface="Calibri" pitchFamily="34" charset="0"/>
                <a:ea typeface="Calibri" pitchFamily="34" charset="-122"/>
                <a:cs typeface="Calibri" pitchFamily="34" charset="-120"/>
              </a:rPr>
              <a:t>Clause 7.4 and Clause 8 now expect a characterised benefit: nature, magnitude, probability and duration. "It treats the disease" is not a benefit statement</a:t>
            </a:r>
            <a:endParaRPr lang="en-US" sz="950" dirty="0"/>
          </a:p>
        </p:txBody>
      </p:sp>
      <p:sp>
        <p:nvSpPr>
          <p:cNvPr id="11" name="Shape 8"/>
          <p:cNvSpPr/>
          <p:nvPr/>
        </p:nvSpPr>
        <p:spPr>
          <a:xfrm>
            <a:off x="3261360" y="1097280"/>
            <a:ext cx="2621280" cy="2971800"/>
          </a:xfrm>
          <a:prstGeom prst="roundRect">
            <a:avLst>
              <a:gd name="adj" fmla="val 2093"/>
            </a:avLst>
          </a:prstGeom>
          <a:solidFill>
            <a:srgbClr val="EAF0F6"/>
          </a:solidFill>
          <a:ln w="12700">
            <a:solidFill>
              <a:srgbClr val="EAF0F6"/>
            </a:solidFill>
            <a:prstDash val="solid"/>
          </a:ln>
        </p:spPr>
      </p:sp>
      <p:sp>
        <p:nvSpPr>
          <p:cNvPr id="12" name="Text 9"/>
          <p:cNvSpPr txBox="1"/>
          <p:nvPr/>
        </p:nvSpPr>
        <p:spPr>
          <a:xfrm>
            <a:off x="3389376" y="1188720"/>
            <a:ext cx="2365248" cy="182880"/>
          </a:xfrm>
          <a:prstGeom prst="rect">
            <a:avLst/>
          </a:prstGeom>
          <a:noFill/>
          <a:ln/>
        </p:spPr>
        <p:txBody>
          <a:bodyPr wrap="square" lIns="0" tIns="0" rIns="0" bIns="0" rtlCol="0" anchor="ctr"/>
          <a:lstStyle/>
          <a:p>
            <a:pPr indent="0" marL="0">
              <a:buNone/>
            </a:pPr>
            <a:r>
              <a:rPr lang="en-US" sz="900" b="1" spc="150" kern="0" dirty="0">
                <a:solidFill>
                  <a:srgbClr val="A8730F"/>
                </a:solidFill>
                <a:latin typeface="Calibri" pitchFamily="34" charset="0"/>
                <a:ea typeface="Calibri" pitchFamily="34" charset="-122"/>
                <a:cs typeface="Calibri" pitchFamily="34" charset="-120"/>
              </a:rPr>
              <a:t>3.15</a:t>
            </a:r>
            <a:endParaRPr lang="en-US" sz="900" dirty="0"/>
          </a:p>
        </p:txBody>
      </p:sp>
      <p:sp>
        <p:nvSpPr>
          <p:cNvPr id="13" name="Text 10"/>
          <p:cNvSpPr txBox="1"/>
          <p:nvPr/>
        </p:nvSpPr>
        <p:spPr>
          <a:xfrm>
            <a:off x="3389376" y="1408176"/>
            <a:ext cx="2365248" cy="274320"/>
          </a:xfrm>
          <a:prstGeom prst="rect">
            <a:avLst/>
          </a:prstGeom>
          <a:noFill/>
          <a:ln/>
        </p:spPr>
        <p:txBody>
          <a:bodyPr wrap="square" lIns="0" tIns="0" rIns="0" bIns="0" rtlCol="0" anchor="ctr"/>
          <a:lstStyle/>
          <a:p>
            <a:pPr indent="0" marL="0">
              <a:buNone/>
            </a:pPr>
            <a:r>
              <a:rPr lang="en-US" sz="1300" b="1" dirty="0">
                <a:solidFill>
                  <a:srgbClr val="0F2A4A"/>
                </a:solidFill>
                <a:latin typeface="Calibri" pitchFamily="34" charset="0"/>
                <a:ea typeface="Calibri" pitchFamily="34" charset="-122"/>
                <a:cs typeface="Calibri" pitchFamily="34" charset="-120"/>
              </a:rPr>
              <a:t>reasonably foreseeable misuse</a:t>
            </a:r>
            <a:endParaRPr lang="en-US" sz="1300" dirty="0"/>
          </a:p>
        </p:txBody>
      </p:sp>
      <p:sp>
        <p:nvSpPr>
          <p:cNvPr id="14" name="Text 11"/>
          <p:cNvSpPr txBox="1"/>
          <p:nvPr/>
        </p:nvSpPr>
        <p:spPr>
          <a:xfrm>
            <a:off x="3389376" y="1719072"/>
            <a:ext cx="2365248" cy="2258568"/>
          </a:xfrm>
          <a:prstGeom prst="rect">
            <a:avLst/>
          </a:prstGeom>
          <a:noFill/>
          <a:ln/>
        </p:spPr>
        <p:txBody>
          <a:bodyPr wrap="square" lIns="0" tIns="0" rIns="0" bIns="0" rtlCol="0" anchor="t"/>
          <a:lstStyle/>
          <a:p>
            <a:pPr marL="342900" indent="-342900">
              <a:spcAft>
                <a:spcPts val="400"/>
              </a:spcAft>
              <a:buSzPct val="100000"/>
              <a:buChar char="•"/>
            </a:pPr>
            <a:r>
              <a:rPr lang="en-US" sz="950" dirty="0">
                <a:solidFill>
                  <a:srgbClr val="1F2933"/>
                </a:solidFill>
                <a:latin typeface="Calibri" pitchFamily="34" charset="0"/>
                <a:ea typeface="Calibri" pitchFamily="34" charset="-122"/>
                <a:cs typeface="Calibri" pitchFamily="34" charset="-120"/>
              </a:rPr>
              <a:t>Use in a way not intended by the manufacturer but which can result from readily predictable human behaviour</a:t>
            </a:r>
            <a:endParaRPr lang="en-US" sz="950" dirty="0"/>
          </a:p>
          <a:p>
            <a:pPr marL="342900" indent="-342900">
              <a:spcAft>
                <a:spcPts val="400"/>
              </a:spcAft>
              <a:buSzPct val="100000"/>
              <a:buChar char="•"/>
            </a:pPr>
            <a:r>
              <a:rPr lang="en-US" sz="950" b="1" dirty="0">
                <a:solidFill>
                  <a:srgbClr val="1F2933"/>
                </a:solidFill>
                <a:latin typeface="Calibri" pitchFamily="34" charset="0"/>
                <a:ea typeface="Calibri" pitchFamily="34" charset="-122"/>
                <a:cs typeface="Calibri" pitchFamily="34" charset="-120"/>
              </a:rPr>
              <a:t>What it costs you:</a:t>
            </a:r>
            <a:endParaRPr lang="en-US" sz="950" dirty="0"/>
          </a:p>
          <a:p>
            <a:pPr marL="342900" indent="-342900">
              <a:spcAft>
                <a:spcPts val="400"/>
              </a:spcAft>
              <a:buSzPct val="100000"/>
              <a:buChar char="•"/>
            </a:pPr>
            <a:r>
              <a:rPr lang="en-US" sz="950" dirty="0">
                <a:solidFill>
                  <a:srgbClr val="1F2933"/>
                </a:solidFill>
                <a:latin typeface="Calibri" pitchFamily="34" charset="0"/>
                <a:ea typeface="Calibri" pitchFamily="34" charset="-122"/>
                <a:cs typeface="Calibri" pitchFamily="34" charset="-120"/>
              </a:rPr>
              <a:t>Clause 5.2 is now "intended use AND reasonably foreseeable misuse". Misuse can be intentional. Workarounds you know about are foreseeable</a:t>
            </a:r>
            <a:endParaRPr lang="en-US" sz="950" dirty="0"/>
          </a:p>
        </p:txBody>
      </p:sp>
      <p:sp>
        <p:nvSpPr>
          <p:cNvPr id="15" name="Shape 12"/>
          <p:cNvSpPr/>
          <p:nvPr/>
        </p:nvSpPr>
        <p:spPr>
          <a:xfrm>
            <a:off x="6065520" y="1097280"/>
            <a:ext cx="2621280" cy="2971800"/>
          </a:xfrm>
          <a:prstGeom prst="roundRect">
            <a:avLst>
              <a:gd name="adj" fmla="val 2093"/>
            </a:avLst>
          </a:prstGeom>
          <a:solidFill>
            <a:srgbClr val="FBF2DE"/>
          </a:solidFill>
          <a:ln w="12700">
            <a:solidFill>
              <a:srgbClr val="FBF2DE"/>
            </a:solidFill>
            <a:prstDash val="solid"/>
          </a:ln>
        </p:spPr>
      </p:sp>
      <p:sp>
        <p:nvSpPr>
          <p:cNvPr id="16" name="Text 13"/>
          <p:cNvSpPr txBox="1"/>
          <p:nvPr/>
        </p:nvSpPr>
        <p:spPr>
          <a:xfrm>
            <a:off x="6193536" y="1188720"/>
            <a:ext cx="2365248" cy="182880"/>
          </a:xfrm>
          <a:prstGeom prst="rect">
            <a:avLst/>
          </a:prstGeom>
          <a:noFill/>
          <a:ln/>
        </p:spPr>
        <p:txBody>
          <a:bodyPr wrap="square" lIns="0" tIns="0" rIns="0" bIns="0" rtlCol="0" anchor="ctr"/>
          <a:lstStyle/>
          <a:p>
            <a:pPr indent="0" marL="0">
              <a:buNone/>
            </a:pPr>
            <a:r>
              <a:rPr lang="en-US" sz="900" b="1" spc="150" kern="0" dirty="0">
                <a:solidFill>
                  <a:srgbClr val="A8730F"/>
                </a:solidFill>
                <a:latin typeface="Calibri" pitchFamily="34" charset="0"/>
                <a:ea typeface="Calibri" pitchFamily="34" charset="-122"/>
                <a:cs typeface="Calibri" pitchFamily="34" charset="-120"/>
              </a:rPr>
              <a:t>3.28</a:t>
            </a:r>
            <a:endParaRPr lang="en-US" sz="900" dirty="0"/>
          </a:p>
        </p:txBody>
      </p:sp>
      <p:sp>
        <p:nvSpPr>
          <p:cNvPr id="17" name="Text 14"/>
          <p:cNvSpPr txBox="1"/>
          <p:nvPr/>
        </p:nvSpPr>
        <p:spPr>
          <a:xfrm>
            <a:off x="6193536" y="1408176"/>
            <a:ext cx="2365248" cy="274320"/>
          </a:xfrm>
          <a:prstGeom prst="rect">
            <a:avLst/>
          </a:prstGeom>
          <a:noFill/>
          <a:ln/>
        </p:spPr>
        <p:txBody>
          <a:bodyPr wrap="square" lIns="0" tIns="0" rIns="0" bIns="0" rtlCol="0" anchor="ctr"/>
          <a:lstStyle/>
          <a:p>
            <a:pPr indent="0" marL="0">
              <a:buNone/>
            </a:pPr>
            <a:r>
              <a:rPr lang="en-US" sz="1300" b="1" dirty="0">
                <a:solidFill>
                  <a:srgbClr val="0F2A4A"/>
                </a:solidFill>
                <a:latin typeface="Calibri" pitchFamily="34" charset="0"/>
                <a:ea typeface="Calibri" pitchFamily="34" charset="-122"/>
                <a:cs typeface="Calibri" pitchFamily="34" charset="-120"/>
              </a:rPr>
              <a:t>state of the art</a:t>
            </a:r>
            <a:endParaRPr lang="en-US" sz="1300" dirty="0"/>
          </a:p>
        </p:txBody>
      </p:sp>
      <p:sp>
        <p:nvSpPr>
          <p:cNvPr id="18" name="Text 15"/>
          <p:cNvSpPr txBox="1"/>
          <p:nvPr/>
        </p:nvSpPr>
        <p:spPr>
          <a:xfrm>
            <a:off x="6193536" y="1719072"/>
            <a:ext cx="2365248" cy="2258568"/>
          </a:xfrm>
          <a:prstGeom prst="rect">
            <a:avLst/>
          </a:prstGeom>
          <a:noFill/>
          <a:ln/>
        </p:spPr>
        <p:txBody>
          <a:bodyPr wrap="square" lIns="0" tIns="0" rIns="0" bIns="0" rtlCol="0" anchor="t"/>
          <a:lstStyle/>
          <a:p>
            <a:pPr marL="342900" indent="-342900">
              <a:spcAft>
                <a:spcPts val="400"/>
              </a:spcAft>
              <a:buSzPct val="100000"/>
              <a:buChar char="•"/>
            </a:pPr>
            <a:r>
              <a:rPr lang="en-US" sz="950" dirty="0">
                <a:solidFill>
                  <a:srgbClr val="1F2933"/>
                </a:solidFill>
                <a:latin typeface="Calibri" pitchFamily="34" charset="0"/>
                <a:ea typeface="Calibri" pitchFamily="34" charset="-122"/>
                <a:cs typeface="Calibri" pitchFamily="34" charset="-120"/>
              </a:rPr>
              <a:t>The developed stage of technical capability at a given time, based on consolidated findings of science, technology and experience</a:t>
            </a:r>
            <a:endParaRPr lang="en-US" sz="950" dirty="0"/>
          </a:p>
          <a:p>
            <a:pPr marL="342900" indent="-342900">
              <a:spcAft>
                <a:spcPts val="400"/>
              </a:spcAft>
              <a:buSzPct val="100000"/>
              <a:buChar char="•"/>
            </a:pPr>
            <a:r>
              <a:rPr lang="en-US" sz="950" b="1" dirty="0">
                <a:solidFill>
                  <a:srgbClr val="1F2933"/>
                </a:solidFill>
                <a:latin typeface="Calibri" pitchFamily="34" charset="0"/>
                <a:ea typeface="Calibri" pitchFamily="34" charset="-122"/>
                <a:cs typeface="Calibri" pitchFamily="34" charset="-120"/>
              </a:rPr>
              <a:t>What it costs you:</a:t>
            </a:r>
            <a:endParaRPr lang="en-US" sz="950" dirty="0"/>
          </a:p>
          <a:p>
            <a:pPr marL="342900" indent="-342900">
              <a:spcAft>
                <a:spcPts val="400"/>
              </a:spcAft>
              <a:buSzPct val="100000"/>
              <a:buChar char="•"/>
            </a:pPr>
            <a:r>
              <a:rPr lang="en-US" sz="950" dirty="0">
                <a:solidFill>
                  <a:srgbClr val="1F2933"/>
                </a:solidFill>
                <a:latin typeface="Calibri" pitchFamily="34" charset="0"/>
                <a:ea typeface="Calibri" pitchFamily="34" charset="-122"/>
                <a:cs typeface="Calibri" pitchFamily="34" charset="-120"/>
              </a:rPr>
              <a:t>Not the most advanced solution - generally accepted good practice. An input to 4.2 policy and a trigger in 10.3, so it ages your file without any failure occurring</a:t>
            </a:r>
            <a:endParaRPr lang="en-US" sz="950" dirty="0"/>
          </a:p>
        </p:txBody>
      </p:sp>
      <p:sp>
        <p:nvSpPr>
          <p:cNvPr id="19" name="Shape 16"/>
          <p:cNvSpPr/>
          <p:nvPr/>
        </p:nvSpPr>
        <p:spPr>
          <a:xfrm>
            <a:off x="457200" y="4251960"/>
            <a:ext cx="8229600" cy="365760"/>
          </a:xfrm>
          <a:prstGeom prst="roundRect">
            <a:avLst>
              <a:gd name="adj" fmla="val 15000"/>
            </a:avLst>
          </a:prstGeom>
          <a:solidFill>
            <a:srgbClr val="0F2A4A"/>
          </a:solidFill>
          <a:ln w="12700">
            <a:solidFill>
              <a:srgbClr val="0F2A4A"/>
            </a:solidFill>
            <a:prstDash val="solid"/>
          </a:ln>
        </p:spPr>
      </p:sp>
      <p:sp>
        <p:nvSpPr>
          <p:cNvPr id="20" name="Text 17"/>
          <p:cNvSpPr txBox="1"/>
          <p:nvPr/>
        </p:nvSpPr>
        <p:spPr>
          <a:xfrm>
            <a:off x="640080" y="4251960"/>
            <a:ext cx="7863840" cy="365760"/>
          </a:xfrm>
          <a:prstGeom prst="rect">
            <a:avLst/>
          </a:prstGeom>
          <a:noFill/>
          <a:ln/>
        </p:spPr>
        <p:txBody>
          <a:bodyPr wrap="square" lIns="0" tIns="0" rIns="0" bIns="0" rtlCol="0" anchor="ctr"/>
          <a:lstStyle/>
          <a:p>
            <a:pPr indent="0" marL="0">
              <a:buNone/>
            </a:pPr>
            <a:r>
              <a:rPr lang="en-US" sz="1050" i="1" dirty="0">
                <a:solidFill>
                  <a:srgbClr val="FFFFFF"/>
                </a:solidFill>
                <a:latin typeface="Calibri" pitchFamily="34" charset="0"/>
                <a:ea typeface="Calibri" pitchFamily="34" charset="-122"/>
                <a:cs typeface="Calibri" pitchFamily="34" charset="-120"/>
              </a:rPr>
              <a:t>Clause 2 is also new, and it says there are no normative references. Conforming to ISO 14971 does not pull in ISO/TR 24971: the TR is guidance, not requirement.</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4814316"/>
            <a:ext cx="5943600" cy="201168"/>
          </a:xfrm>
          <a:prstGeom prst="rect">
            <a:avLst/>
          </a:prstGeom>
          <a:noFill/>
          <a:ln/>
        </p:spPr>
        <p:txBody>
          <a:bodyPr wrap="square" lIns="0" tIns="0" rIns="0" bIns="0" rtlCol="0" anchor="ctr"/>
          <a:lstStyle/>
          <a:p>
            <a:pPr indent="0" marL="0">
              <a:buNone/>
            </a:pPr>
            <a:r>
              <a:rPr lang="en-US" sz="900" dirty="0">
                <a:solidFill>
                  <a:srgbClr val="5A6B7B"/>
                </a:solidFill>
                <a:latin typeface="Calibri" pitchFamily="34" charset="0"/>
                <a:ea typeface="Calibri" pitchFamily="34" charset="-122"/>
                <a:cs typeface="Calibri" pitchFamily="34" charset="-120"/>
              </a:rPr>
              <a:t>Risk Management  |  ISO 14971  |  Elder Consulting, LLC</a:t>
            </a:r>
            <a:endParaRPr lang="en-US" sz="900" dirty="0"/>
          </a:p>
        </p:txBody>
      </p:sp>
      <p:sp>
        <p:nvSpPr>
          <p:cNvPr id="3" name="Text 1"/>
          <p:cNvSpPr txBox="1"/>
          <p:nvPr/>
        </p:nvSpPr>
        <p:spPr>
          <a:xfrm>
            <a:off x="8138160" y="4814316"/>
            <a:ext cx="548640" cy="201168"/>
          </a:xfrm>
          <a:prstGeom prst="rect">
            <a:avLst/>
          </a:prstGeom>
          <a:noFill/>
          <a:ln/>
        </p:spPr>
        <p:txBody>
          <a:bodyPr wrap="square" lIns="0" tIns="0" rIns="0" bIns="0" rtlCol="0" anchor="ctr"/>
          <a:lstStyle/>
          <a:p>
            <a:pPr algn="r" indent="0" marL="0">
              <a:buNone/>
            </a:pPr>
            <a:r>
              <a:rPr lang="en-US" sz="900" dirty="0">
                <a:solidFill>
                  <a:srgbClr val="5A6B7B"/>
                </a:solidFill>
                <a:latin typeface="Calibri" pitchFamily="34" charset="0"/>
                <a:ea typeface="Calibri" pitchFamily="34" charset="-122"/>
                <a:cs typeface="Calibri" pitchFamily="34" charset="-120"/>
              </a:rPr>
              <a:t>9</a:t>
            </a:r>
            <a:endParaRPr lang="en-US" sz="900" dirty="0"/>
          </a:p>
        </p:txBody>
      </p:sp>
      <p:sp>
        <p:nvSpPr>
          <p:cNvPr id="4" name="Text 2"/>
          <p:cNvSpPr txBox="1"/>
          <p:nvPr/>
        </p:nvSpPr>
        <p:spPr>
          <a:xfrm>
            <a:off x="457200" y="274320"/>
            <a:ext cx="8229600" cy="219456"/>
          </a:xfrm>
          <a:prstGeom prst="rect">
            <a:avLst/>
          </a:prstGeom>
          <a:noFill/>
          <a:ln/>
        </p:spPr>
        <p:txBody>
          <a:bodyPr wrap="square" lIns="0" tIns="0" rIns="0" bIns="0" rtlCol="0" anchor="ctr"/>
          <a:lstStyle/>
          <a:p>
            <a:pPr indent="0" marL="0">
              <a:buNone/>
            </a:pPr>
            <a:r>
              <a:rPr lang="en-US" sz="1000" b="1" spc="200" kern="0" dirty="0">
                <a:solidFill>
                  <a:srgbClr val="A8730F"/>
                </a:solidFill>
                <a:latin typeface="Calibri" pitchFamily="34" charset="0"/>
                <a:ea typeface="Calibri" pitchFamily="34" charset="-122"/>
                <a:cs typeface="Calibri" pitchFamily="34" charset="-120"/>
              </a:rPr>
              <a:t>SECTION 1  |  THE FILE</a:t>
            </a:r>
            <a:endParaRPr lang="en-US" sz="1000" dirty="0"/>
          </a:p>
        </p:txBody>
      </p:sp>
      <p:sp>
        <p:nvSpPr>
          <p:cNvPr id="5" name="Text 3"/>
          <p:cNvSpPr txBox="1"/>
          <p:nvPr/>
        </p:nvSpPr>
        <p:spPr>
          <a:xfrm>
            <a:off x="457200" y="502920"/>
            <a:ext cx="8229600" cy="548640"/>
          </a:xfrm>
          <a:prstGeom prst="rect">
            <a:avLst/>
          </a:prstGeom>
          <a:noFill/>
          <a:ln/>
        </p:spPr>
        <p:txBody>
          <a:bodyPr wrap="square" lIns="0" tIns="0" rIns="0" bIns="0" rtlCol="0" anchor="t"/>
          <a:lstStyle/>
          <a:p>
            <a:pPr indent="0" marL="0">
              <a:buNone/>
            </a:pPr>
            <a:r>
              <a:rPr lang="en-US" sz="2400" b="1" dirty="0">
                <a:solidFill>
                  <a:srgbClr val="0F2A4A"/>
                </a:solidFill>
                <a:latin typeface="Cambria" pitchFamily="34" charset="0"/>
                <a:ea typeface="Cambria" pitchFamily="34" charset="-122"/>
                <a:cs typeface="Cambria" pitchFamily="34" charset="-120"/>
              </a:rPr>
              <a:t>The plan decides the answer before you know it</a:t>
            </a:r>
            <a:endParaRPr lang="en-US" sz="24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914400"/>
        </p:xfrm>
        <a:graphic>
          <a:graphicData uri="http://schemas.openxmlformats.org/drawingml/2006/table">
            <a:tbl>
              <a:tblPr/>
              <a:tblGrid>
                <a:gridCol w="457200"/>
                <a:gridCol w="4572000"/>
                <a:gridCol w="3200400"/>
              </a:tblGrid>
              <a:tr h="310896">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4.4</a:t>
                      </a:r>
                      <a:endParaRPr lang="en-US" sz="900" dirty="0">
                        <a:latin typeface="Calibri" charset="0"/>
                        <a:ea typeface="Calibri" charset="0"/>
                        <a:cs typeface="Calibri" charset="0"/>
                      </a:endParaRPr>
                    </a:p>
                  </a:txBody>
                  <a:tcPr marL="54864" marR="54864" marT="54864" marB="54864" anchor="ctr">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0F2A4A"/>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The plan shall include</a:t>
                      </a:r>
                      <a:endParaRPr lang="en-US" sz="900" dirty="0">
                        <a:latin typeface="Calibri" charset="0"/>
                        <a:ea typeface="Calibri" charset="0"/>
                        <a:cs typeface="Calibri" charset="0"/>
                      </a:endParaRPr>
                    </a:p>
                  </a:txBody>
                  <a:tcPr marL="54864" marR="54864" marT="54864" marB="54864" anchor="ctr">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0F2A4A"/>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What it really decides</a:t>
                      </a:r>
                      <a:endParaRPr lang="en-US" sz="900" dirty="0">
                        <a:latin typeface="Calibri" charset="0"/>
                        <a:ea typeface="Calibri" charset="0"/>
                        <a:cs typeface="Calibri" charset="0"/>
                      </a:endParaRPr>
                    </a:p>
                  </a:txBody>
                  <a:tcPr marL="54864" marR="54864" marT="54864" marB="54864" anchor="ctr">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0F2A4A"/>
                    </a:solidFill>
                  </a:tcPr>
                </a:tc>
              </a:tr>
              <a:tr h="310896">
                <a:tc>
                  <a:txBody>
                    <a:bodyPr/>
                    <a:lstStyle/>
                    <a:p>
                      <a:pPr indent="0" marL="0">
                        <a:buNone/>
                      </a:pPr>
                      <a:r>
                        <a:rPr lang="en-US" sz="900" b="1" dirty="0">
                          <a:solidFill>
                            <a:srgbClr val="1F2933"/>
                          </a:solidFill>
                          <a:latin typeface="Calibri" pitchFamily="34" charset="0"/>
                          <a:ea typeface="Calibri" pitchFamily="34" charset="-122"/>
                          <a:cs typeface="Calibri" pitchFamily="34" charset="-120"/>
                        </a:rPr>
                        <a:t>a)</a:t>
                      </a:r>
                      <a:endParaRPr lang="en-US" sz="9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900" dirty="0">
                          <a:solidFill>
                            <a:srgbClr val="1F2933"/>
                          </a:solidFill>
                          <a:latin typeface="Calibri" pitchFamily="34" charset="0"/>
                          <a:ea typeface="Calibri" pitchFamily="34" charset="-122"/>
                          <a:cs typeface="Calibri" pitchFamily="34" charset="-120"/>
                        </a:rPr>
                        <a:t>The scope of the planned risk management activities, identifying and describing the device and the life cycle phases covered</a:t>
                      </a:r>
                      <a:endParaRPr lang="en-US" sz="9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900" dirty="0">
                          <a:solidFill>
                            <a:srgbClr val="1F2933"/>
                          </a:solidFill>
                          <a:latin typeface="Calibri" pitchFamily="34" charset="0"/>
                          <a:ea typeface="Calibri" pitchFamily="34" charset="-122"/>
                          <a:cs typeface="Calibri" pitchFamily="34" charset="-120"/>
                        </a:rPr>
                        <a:t>What is in and what is excluded, with a reason</a:t>
                      </a:r>
                      <a:endParaRPr lang="en-US" sz="9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r>
              <a:tr h="310896">
                <a:tc>
                  <a:txBody>
                    <a:bodyPr/>
                    <a:lstStyle/>
                    <a:p>
                      <a:pPr indent="0" marL="0">
                        <a:buNone/>
                      </a:pPr>
                      <a:r>
                        <a:rPr lang="en-US" sz="900" b="1" dirty="0">
                          <a:solidFill>
                            <a:srgbClr val="1F2933"/>
                          </a:solidFill>
                          <a:latin typeface="Calibri" pitchFamily="34" charset="0"/>
                          <a:ea typeface="Calibri" pitchFamily="34" charset="-122"/>
                          <a:cs typeface="Calibri" pitchFamily="34" charset="-120"/>
                        </a:rPr>
                        <a:t>b)</a:t>
                      </a:r>
                      <a:endParaRPr lang="en-US" sz="9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c>
                  <a:txBody>
                    <a:bodyPr/>
                    <a:lstStyle/>
                    <a:p>
                      <a:pPr indent="0" marL="0">
                        <a:buNone/>
                      </a:pPr>
                      <a:r>
                        <a:rPr lang="en-US" sz="900" dirty="0">
                          <a:solidFill>
                            <a:srgbClr val="1F2933"/>
                          </a:solidFill>
                          <a:latin typeface="Calibri" pitchFamily="34" charset="0"/>
                          <a:ea typeface="Calibri" pitchFamily="34" charset="-122"/>
                          <a:cs typeface="Calibri" pitchFamily="34" charset="-120"/>
                        </a:rPr>
                        <a:t>Assignment of responsibilities and authorities</a:t>
                      </a:r>
                      <a:endParaRPr lang="en-US" sz="9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c>
                  <a:txBody>
                    <a:bodyPr/>
                    <a:lstStyle/>
                    <a:p>
                      <a:pPr indent="0" marL="0">
                        <a:buNone/>
                      </a:pPr>
                      <a:r>
                        <a:rPr lang="en-US" sz="900" dirty="0">
                          <a:solidFill>
                            <a:srgbClr val="1F2933"/>
                          </a:solidFill>
                          <a:latin typeface="Calibri" pitchFamily="34" charset="0"/>
                          <a:ea typeface="Calibri" pitchFamily="34" charset="-122"/>
                          <a:cs typeface="Calibri" pitchFamily="34" charset="-120"/>
                        </a:rPr>
                        <a:t>Who may sign a residual risk acceptable, and who may sign the overall residual risk. Two authorities</a:t>
                      </a:r>
                      <a:endParaRPr lang="en-US" sz="9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r>
              <a:tr h="310896">
                <a:tc>
                  <a:txBody>
                    <a:bodyPr/>
                    <a:lstStyle/>
                    <a:p>
                      <a:pPr indent="0" marL="0">
                        <a:buNone/>
                      </a:pPr>
                      <a:r>
                        <a:rPr lang="en-US" sz="900" b="1" dirty="0">
                          <a:solidFill>
                            <a:srgbClr val="1F2933"/>
                          </a:solidFill>
                          <a:latin typeface="Calibri" pitchFamily="34" charset="0"/>
                          <a:ea typeface="Calibri" pitchFamily="34" charset="-122"/>
                          <a:cs typeface="Calibri" pitchFamily="34" charset="-120"/>
                        </a:rPr>
                        <a:t>c)</a:t>
                      </a:r>
                      <a:endParaRPr lang="en-US" sz="9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900" dirty="0">
                          <a:solidFill>
                            <a:srgbClr val="1F2933"/>
                          </a:solidFill>
                          <a:latin typeface="Calibri" pitchFamily="34" charset="0"/>
                          <a:ea typeface="Calibri" pitchFamily="34" charset="-122"/>
                          <a:cs typeface="Calibri" pitchFamily="34" charset="-120"/>
                        </a:rPr>
                        <a:t>Requirements for review of risk management activities</a:t>
                      </a:r>
                      <a:endParaRPr lang="en-US" sz="9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900" dirty="0">
                          <a:solidFill>
                            <a:srgbClr val="1F2933"/>
                          </a:solidFill>
                          <a:latin typeface="Calibri" pitchFamily="34" charset="0"/>
                          <a:ea typeface="Calibri" pitchFamily="34" charset="-122"/>
                          <a:cs typeface="Calibri" pitchFamily="34" charset="-120"/>
                        </a:rPr>
                        <a:t>The milestones that produce the Clause 9 report</a:t>
                      </a:r>
                      <a:endParaRPr lang="en-US" sz="9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r>
              <a:tr h="310896">
                <a:tc>
                  <a:txBody>
                    <a:bodyPr/>
                    <a:lstStyle/>
                    <a:p>
                      <a:pPr indent="0" marL="0">
                        <a:buNone/>
                      </a:pPr>
                      <a:r>
                        <a:rPr lang="en-US" sz="900" b="1" dirty="0">
                          <a:solidFill>
                            <a:srgbClr val="1F2933"/>
                          </a:solidFill>
                          <a:latin typeface="Calibri" pitchFamily="34" charset="0"/>
                          <a:ea typeface="Calibri" pitchFamily="34" charset="-122"/>
                          <a:cs typeface="Calibri" pitchFamily="34" charset="-120"/>
                        </a:rPr>
                        <a:t>d)</a:t>
                      </a:r>
                      <a:endParaRPr lang="en-US" sz="9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c>
                  <a:txBody>
                    <a:bodyPr/>
                    <a:lstStyle/>
                    <a:p>
                      <a:pPr indent="0" marL="0">
                        <a:buNone/>
                      </a:pPr>
                      <a:r>
                        <a:rPr lang="en-US" sz="900" dirty="0">
                          <a:solidFill>
                            <a:srgbClr val="1F2933"/>
                          </a:solidFill>
                          <a:latin typeface="Calibri" pitchFamily="34" charset="0"/>
                          <a:ea typeface="Calibri" pitchFamily="34" charset="-122"/>
                          <a:cs typeface="Calibri" pitchFamily="34" charset="-120"/>
                        </a:rPr>
                        <a:t>Criteria for risk acceptability, based on the manufacturer's policy for determining acceptable risk, including criteria for when the probability of occurrence of harm cannot be estimated</a:t>
                      </a:r>
                      <a:endParaRPr lang="en-US" sz="9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c>
                  <a:txBody>
                    <a:bodyPr/>
                    <a:lstStyle/>
                    <a:p>
                      <a:pPr indent="0" marL="0">
                        <a:buNone/>
                      </a:pPr>
                      <a:r>
                        <a:rPr lang="en-US" sz="900" dirty="0">
                          <a:solidFill>
                            <a:srgbClr val="1F2933"/>
                          </a:solidFill>
                          <a:latin typeface="Calibri" pitchFamily="34" charset="0"/>
                          <a:ea typeface="Calibri" pitchFamily="34" charset="-122"/>
                          <a:cs typeface="Calibri" pitchFamily="34" charset="-120"/>
                        </a:rPr>
                        <a:t>The matrix AND the policy behind it AND the severity-only rule</a:t>
                      </a:r>
                      <a:endParaRPr lang="en-US" sz="9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r>
              <a:tr h="310896">
                <a:tc>
                  <a:txBody>
                    <a:bodyPr/>
                    <a:lstStyle/>
                    <a:p>
                      <a:pPr indent="0" marL="0">
                        <a:buNone/>
                      </a:pPr>
                      <a:r>
                        <a:rPr lang="en-US" sz="900" b="1" dirty="0">
                          <a:solidFill>
                            <a:srgbClr val="1F2933"/>
                          </a:solidFill>
                          <a:latin typeface="Calibri" pitchFamily="34" charset="0"/>
                          <a:ea typeface="Calibri" pitchFamily="34" charset="-122"/>
                          <a:cs typeface="Calibri" pitchFamily="34" charset="-120"/>
                        </a:rPr>
                        <a:t>e)</a:t>
                      </a:r>
                      <a:endParaRPr lang="en-US" sz="9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900" dirty="0">
                          <a:solidFill>
                            <a:srgbClr val="1F2933"/>
                          </a:solidFill>
                          <a:latin typeface="Calibri" pitchFamily="34" charset="0"/>
                          <a:ea typeface="Calibri" pitchFamily="34" charset="-122"/>
                          <a:cs typeface="Calibri" pitchFamily="34" charset="-120"/>
                        </a:rPr>
                        <a:t>A method to evaluate overall residual risk, and criteria for its acceptability</a:t>
                      </a:r>
                      <a:endParaRPr lang="en-US" sz="9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900" dirty="0">
                          <a:solidFill>
                            <a:srgbClr val="1F2933"/>
                          </a:solidFill>
                          <a:latin typeface="Calibri" pitchFamily="34" charset="0"/>
                          <a:ea typeface="Calibri" pitchFamily="34" charset="-122"/>
                          <a:cs typeface="Calibri" pitchFamily="34" charset="-120"/>
                        </a:rPr>
                        <a:t>How Clause 8 will be done, decided before the answer is known</a:t>
                      </a:r>
                      <a:endParaRPr lang="en-US" sz="9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r>
              <a:tr h="310896">
                <a:tc>
                  <a:txBody>
                    <a:bodyPr/>
                    <a:lstStyle/>
                    <a:p>
                      <a:pPr indent="0" marL="0">
                        <a:buNone/>
                      </a:pPr>
                      <a:r>
                        <a:rPr lang="en-US" sz="900" b="1" dirty="0">
                          <a:solidFill>
                            <a:srgbClr val="1F2933"/>
                          </a:solidFill>
                          <a:latin typeface="Calibri" pitchFamily="34" charset="0"/>
                          <a:ea typeface="Calibri" pitchFamily="34" charset="-122"/>
                          <a:cs typeface="Calibri" pitchFamily="34" charset="-120"/>
                        </a:rPr>
                        <a:t>f)</a:t>
                      </a:r>
                      <a:endParaRPr lang="en-US" sz="9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c>
                  <a:txBody>
                    <a:bodyPr/>
                    <a:lstStyle/>
                    <a:p>
                      <a:pPr indent="0" marL="0">
                        <a:buNone/>
                      </a:pPr>
                      <a:r>
                        <a:rPr lang="en-US" sz="900" dirty="0">
                          <a:solidFill>
                            <a:srgbClr val="1F2933"/>
                          </a:solidFill>
                          <a:latin typeface="Calibri" pitchFamily="34" charset="0"/>
                          <a:ea typeface="Calibri" pitchFamily="34" charset="-122"/>
                          <a:cs typeface="Calibri" pitchFamily="34" charset="-120"/>
                        </a:rPr>
                        <a:t>Activities for verification of the implementation and effectiveness of risk control measures</a:t>
                      </a:r>
                      <a:endParaRPr lang="en-US" sz="9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c>
                  <a:txBody>
                    <a:bodyPr/>
                    <a:lstStyle/>
                    <a:p>
                      <a:pPr indent="0" marL="0">
                        <a:buNone/>
                      </a:pPr>
                      <a:r>
                        <a:rPr lang="en-US" sz="900" dirty="0">
                          <a:solidFill>
                            <a:srgbClr val="1F2933"/>
                          </a:solidFill>
                          <a:latin typeface="Calibri" pitchFamily="34" charset="0"/>
                          <a:ea typeface="Calibri" pitchFamily="34" charset="-122"/>
                          <a:cs typeface="Calibri" pitchFamily="34" charset="-120"/>
                        </a:rPr>
                        <a:t>Which records will prove each of the two</a:t>
                      </a:r>
                      <a:endParaRPr lang="en-US" sz="9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r>
              <a:tr h="310896">
                <a:tc>
                  <a:txBody>
                    <a:bodyPr/>
                    <a:lstStyle/>
                    <a:p>
                      <a:pPr indent="0" marL="0">
                        <a:buNone/>
                      </a:pPr>
                      <a:r>
                        <a:rPr lang="en-US" sz="900" b="1" dirty="0">
                          <a:solidFill>
                            <a:srgbClr val="1F2933"/>
                          </a:solidFill>
                          <a:latin typeface="Calibri" pitchFamily="34" charset="0"/>
                          <a:ea typeface="Calibri" pitchFamily="34" charset="-122"/>
                          <a:cs typeface="Calibri" pitchFamily="34" charset="-120"/>
                        </a:rPr>
                        <a:t>g)</a:t>
                      </a:r>
                      <a:endParaRPr lang="en-US" sz="9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900" dirty="0">
                          <a:solidFill>
                            <a:srgbClr val="1F2933"/>
                          </a:solidFill>
                          <a:latin typeface="Calibri" pitchFamily="34" charset="0"/>
                          <a:ea typeface="Calibri" pitchFamily="34" charset="-122"/>
                          <a:cs typeface="Calibri" pitchFamily="34" charset="-120"/>
                        </a:rPr>
                        <a:t>Activities related to collection and review of relevant production and post-production information</a:t>
                      </a:r>
                      <a:endParaRPr lang="en-US" sz="9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900" dirty="0">
                          <a:solidFill>
                            <a:srgbClr val="1F2933"/>
                          </a:solidFill>
                          <a:latin typeface="Calibri" pitchFamily="34" charset="0"/>
                          <a:ea typeface="Calibri" pitchFamily="34" charset="-122"/>
                          <a:cs typeface="Calibri" pitchFamily="34" charset="-120"/>
                        </a:rPr>
                        <a:t>Whether Clause 10 will happen at all</a:t>
                      </a:r>
                      <a:endParaRPr lang="en-US" sz="9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r>
            </a:tbl>
          </a:graphicData>
        </a:graphic>
      </p:graphicFrame>
      <p:sp>
        <p:nvSpPr>
          <p:cNvPr id="8" name="Shape 4"/>
          <p:cNvSpPr/>
          <p:nvPr/>
        </p:nvSpPr>
        <p:spPr>
          <a:xfrm>
            <a:off x="457200" y="4315968"/>
            <a:ext cx="8229600" cy="347472"/>
          </a:xfrm>
          <a:prstGeom prst="roundRect">
            <a:avLst>
              <a:gd name="adj" fmla="val 15789"/>
            </a:avLst>
          </a:prstGeom>
          <a:solidFill>
            <a:srgbClr val="FBF2DE"/>
          </a:solidFill>
          <a:ln w="12700">
            <a:solidFill>
              <a:srgbClr val="FBF2DE"/>
            </a:solidFill>
            <a:prstDash val="solid"/>
          </a:ln>
        </p:spPr>
      </p:sp>
      <p:sp>
        <p:nvSpPr>
          <p:cNvPr id="9" name="Text 5"/>
          <p:cNvSpPr txBox="1"/>
          <p:nvPr/>
        </p:nvSpPr>
        <p:spPr>
          <a:xfrm>
            <a:off x="640080" y="4315968"/>
            <a:ext cx="7863840" cy="347472"/>
          </a:xfrm>
          <a:prstGeom prst="rect">
            <a:avLst/>
          </a:prstGeom>
          <a:noFill/>
          <a:ln/>
        </p:spPr>
        <p:txBody>
          <a:bodyPr wrap="square" lIns="0" tIns="0" rIns="0" bIns="0" rtlCol="0" anchor="ctr"/>
          <a:lstStyle/>
          <a:p>
            <a:pPr indent="0" marL="0">
              <a:buNone/>
            </a:pPr>
            <a:r>
              <a:rPr lang="en-US" sz="1050" dirty="0">
                <a:solidFill>
                  <a:srgbClr val="0F2A4A"/>
                </a:solidFill>
                <a:latin typeface="Calibri" pitchFamily="34" charset="0"/>
                <a:ea typeface="Calibri" pitchFamily="34" charset="-122"/>
                <a:cs typeface="Calibri" pitchFamily="34" charset="-120"/>
              </a:rPr>
              <a:t>Changes to the plan are themselves recorded in the risk management file. A plan at revision 1 next to a risk table at revision 7 is a finding on its own.</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1F38"/>
        </a:solidFill>
      </p:bgPr>
    </p:bg>
    <p:spTree>
      <p:nvGrpSpPr>
        <p:cNvPr id="1" name=""/>
        <p:cNvGrpSpPr/>
        <p:nvPr/>
      </p:nvGrpSpPr>
      <p:grpSpPr>
        <a:xfrm>
          <a:off x="0" y="0"/>
          <a:ext cx="0" cy="0"/>
          <a:chOff x="0" y="0"/>
          <a:chExt cx="0" cy="0"/>
        </a:xfrm>
      </p:grpSpPr>
      <p:sp>
        <p:nvSpPr>
          <p:cNvPr id="2" name="Text 0"/>
          <p:cNvSpPr txBox="1"/>
          <p:nvPr/>
        </p:nvSpPr>
        <p:spPr>
          <a:xfrm>
            <a:off x="457200" y="4814316"/>
            <a:ext cx="5943600" cy="201168"/>
          </a:xfrm>
          <a:prstGeom prst="rect">
            <a:avLst/>
          </a:prstGeom>
          <a:noFill/>
          <a:ln/>
        </p:spPr>
        <p:txBody>
          <a:bodyPr wrap="square" lIns="0" tIns="0" rIns="0" bIns="0" rtlCol="0" anchor="ctr"/>
          <a:lstStyle/>
          <a:p>
            <a:pPr indent="0" marL="0">
              <a:buNone/>
            </a:pPr>
            <a:r>
              <a:rPr lang="en-US" sz="900" dirty="0">
                <a:solidFill>
                  <a:srgbClr val="8FA1B5"/>
                </a:solidFill>
                <a:latin typeface="Calibri" pitchFamily="34" charset="0"/>
                <a:ea typeface="Calibri" pitchFamily="34" charset="-122"/>
                <a:cs typeface="Calibri" pitchFamily="34" charset="-120"/>
              </a:rPr>
              <a:t>Risk Management  |  ISO 14971  |  Elder Consulting, LLC</a:t>
            </a:r>
            <a:endParaRPr lang="en-US" sz="900" dirty="0"/>
          </a:p>
        </p:txBody>
      </p:sp>
      <p:sp>
        <p:nvSpPr>
          <p:cNvPr id="3" name="Text 1"/>
          <p:cNvSpPr txBox="1"/>
          <p:nvPr/>
        </p:nvSpPr>
        <p:spPr>
          <a:xfrm>
            <a:off x="8138160" y="4814316"/>
            <a:ext cx="548640" cy="201168"/>
          </a:xfrm>
          <a:prstGeom prst="rect">
            <a:avLst/>
          </a:prstGeom>
          <a:noFill/>
          <a:ln/>
        </p:spPr>
        <p:txBody>
          <a:bodyPr wrap="square" lIns="0" tIns="0" rIns="0" bIns="0" rtlCol="0" anchor="ctr"/>
          <a:lstStyle/>
          <a:p>
            <a:pPr algn="r" indent="0" marL="0">
              <a:buNone/>
            </a:pPr>
            <a:r>
              <a:rPr lang="en-US" sz="900" dirty="0">
                <a:solidFill>
                  <a:srgbClr val="8FA1B5"/>
                </a:solidFill>
                <a:latin typeface="Calibri" pitchFamily="34" charset="0"/>
                <a:ea typeface="Calibri" pitchFamily="34" charset="-122"/>
                <a:cs typeface="Calibri" pitchFamily="34" charset="-120"/>
              </a:rPr>
              <a:t>10</a:t>
            </a:r>
            <a:endParaRPr lang="en-US" sz="900" dirty="0"/>
          </a:p>
        </p:txBody>
      </p:sp>
      <p:sp>
        <p:nvSpPr>
          <p:cNvPr id="4" name="Text 2"/>
          <p:cNvSpPr txBox="1"/>
          <p:nvPr/>
        </p:nvSpPr>
        <p:spPr>
          <a:xfrm>
            <a:off x="457200" y="1417320"/>
            <a:ext cx="8229600" cy="320040"/>
          </a:xfrm>
          <a:prstGeom prst="rect">
            <a:avLst/>
          </a:prstGeom>
          <a:noFill/>
          <a:ln/>
        </p:spPr>
        <p:txBody>
          <a:bodyPr wrap="square" lIns="0" tIns="0" rIns="0" bIns="0" rtlCol="0" anchor="ctr"/>
          <a:lstStyle/>
          <a:p>
            <a:pPr indent="0" marL="0">
              <a:buNone/>
            </a:pPr>
            <a:r>
              <a:rPr lang="en-US" sz="1300" b="1" spc="300" kern="0" dirty="0">
                <a:solidFill>
                  <a:srgbClr val="E0A126"/>
                </a:solidFill>
                <a:latin typeface="Calibri" pitchFamily="34" charset="0"/>
                <a:ea typeface="Calibri" pitchFamily="34" charset="-122"/>
                <a:cs typeface="Calibri" pitchFamily="34" charset="-120"/>
              </a:rPr>
              <a:t>SECTION 2</a:t>
            </a:r>
            <a:endParaRPr lang="en-US" sz="1300" dirty="0"/>
          </a:p>
        </p:txBody>
      </p:sp>
      <p:sp>
        <p:nvSpPr>
          <p:cNvPr id="5" name="Text 3"/>
          <p:cNvSpPr txBox="1"/>
          <p:nvPr/>
        </p:nvSpPr>
        <p:spPr>
          <a:xfrm>
            <a:off x="457200" y="1783080"/>
            <a:ext cx="8229600" cy="1234440"/>
          </a:xfrm>
          <a:prstGeom prst="rect">
            <a:avLst/>
          </a:prstGeom>
          <a:noFill/>
          <a:ln/>
        </p:spPr>
        <p:txBody>
          <a:bodyPr wrap="square" lIns="0" tIns="0" rIns="0" bIns="0" rtlCol="0" anchor="t"/>
          <a:lstStyle/>
          <a:p>
            <a:pPr indent="0" marL="0">
              <a:buNone/>
            </a:pPr>
            <a:r>
              <a:rPr lang="en-US" sz="3600" b="1" dirty="0">
                <a:solidFill>
                  <a:srgbClr val="FFFFFF"/>
                </a:solidFill>
                <a:latin typeface="Cambria" pitchFamily="34" charset="0"/>
                <a:ea typeface="Cambria" pitchFamily="34" charset="-122"/>
                <a:cs typeface="Cambria" pitchFamily="34" charset="-120"/>
              </a:rPr>
              <a:t>Two regulators, one standard</a:t>
            </a:r>
            <a:endParaRPr lang="en-US" sz="3600" dirty="0"/>
          </a:p>
        </p:txBody>
      </p:sp>
      <p:sp>
        <p:nvSpPr>
          <p:cNvPr id="6" name="Text 4"/>
          <p:cNvSpPr txBox="1"/>
          <p:nvPr/>
        </p:nvSpPr>
        <p:spPr>
          <a:xfrm>
            <a:off x="457200" y="3108960"/>
            <a:ext cx="7863840" cy="914400"/>
          </a:xfrm>
          <a:prstGeom prst="rect">
            <a:avLst/>
          </a:prstGeom>
          <a:noFill/>
          <a:ln/>
        </p:spPr>
        <p:txBody>
          <a:bodyPr wrap="square" lIns="0" tIns="0" rIns="0" bIns="0" rtlCol="0" anchor="t"/>
          <a:lstStyle/>
          <a:p>
            <a:pPr indent="0" marL="0">
              <a:buNone/>
            </a:pPr>
            <a:r>
              <a:rPr lang="en-US" sz="1600" dirty="0">
                <a:solidFill>
                  <a:srgbClr val="C9D3DE"/>
                </a:solidFill>
                <a:latin typeface="Calibri" pitchFamily="34" charset="0"/>
                <a:ea typeface="Calibri" pitchFamily="34" charset="-122"/>
                <a:cs typeface="Calibri" pitchFamily="34" charset="-120"/>
              </a:rPr>
              <a:t>ISO 14971 is not incorporated into US law and is only narrowly harmonised in the EU. Both regulators still expect it</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4814316"/>
            <a:ext cx="5943600" cy="201168"/>
          </a:xfrm>
          <a:prstGeom prst="rect">
            <a:avLst/>
          </a:prstGeom>
          <a:noFill/>
          <a:ln/>
        </p:spPr>
        <p:txBody>
          <a:bodyPr wrap="square" lIns="0" tIns="0" rIns="0" bIns="0" rtlCol="0" anchor="ctr"/>
          <a:lstStyle/>
          <a:p>
            <a:pPr indent="0" marL="0">
              <a:buNone/>
            </a:pPr>
            <a:r>
              <a:rPr lang="en-US" sz="900" dirty="0">
                <a:solidFill>
                  <a:srgbClr val="5A6B7B"/>
                </a:solidFill>
                <a:latin typeface="Calibri" pitchFamily="34" charset="0"/>
                <a:ea typeface="Calibri" pitchFamily="34" charset="-122"/>
                <a:cs typeface="Calibri" pitchFamily="34" charset="-120"/>
              </a:rPr>
              <a:t>Risk Management  |  ISO 14971  |  Elder Consulting, LLC</a:t>
            </a:r>
            <a:endParaRPr lang="en-US" sz="900" dirty="0"/>
          </a:p>
        </p:txBody>
      </p:sp>
      <p:sp>
        <p:nvSpPr>
          <p:cNvPr id="3" name="Text 1"/>
          <p:cNvSpPr txBox="1"/>
          <p:nvPr/>
        </p:nvSpPr>
        <p:spPr>
          <a:xfrm>
            <a:off x="8138160" y="4814316"/>
            <a:ext cx="548640" cy="201168"/>
          </a:xfrm>
          <a:prstGeom prst="rect">
            <a:avLst/>
          </a:prstGeom>
          <a:noFill/>
          <a:ln/>
        </p:spPr>
        <p:txBody>
          <a:bodyPr wrap="square" lIns="0" tIns="0" rIns="0" bIns="0" rtlCol="0" anchor="ctr"/>
          <a:lstStyle/>
          <a:p>
            <a:pPr algn="r" indent="0" marL="0">
              <a:buNone/>
            </a:pPr>
            <a:r>
              <a:rPr lang="en-US" sz="900" dirty="0">
                <a:solidFill>
                  <a:srgbClr val="5A6B7B"/>
                </a:solidFill>
                <a:latin typeface="Calibri" pitchFamily="34" charset="0"/>
                <a:ea typeface="Calibri" pitchFamily="34" charset="-122"/>
                <a:cs typeface="Calibri" pitchFamily="34" charset="-120"/>
              </a:rPr>
              <a:t>11</a:t>
            </a:r>
            <a:endParaRPr lang="en-US" sz="900" dirty="0"/>
          </a:p>
        </p:txBody>
      </p:sp>
      <p:sp>
        <p:nvSpPr>
          <p:cNvPr id="4" name="Text 2"/>
          <p:cNvSpPr txBox="1"/>
          <p:nvPr/>
        </p:nvSpPr>
        <p:spPr>
          <a:xfrm>
            <a:off x="457200" y="274320"/>
            <a:ext cx="8229600" cy="219456"/>
          </a:xfrm>
          <a:prstGeom prst="rect">
            <a:avLst/>
          </a:prstGeom>
          <a:noFill/>
          <a:ln/>
        </p:spPr>
        <p:txBody>
          <a:bodyPr wrap="square" lIns="0" tIns="0" rIns="0" bIns="0" rtlCol="0" anchor="ctr"/>
          <a:lstStyle/>
          <a:p>
            <a:pPr indent="0" marL="0">
              <a:buNone/>
            </a:pPr>
            <a:r>
              <a:rPr lang="en-US" sz="1000" b="1" spc="200" kern="0" dirty="0">
                <a:solidFill>
                  <a:srgbClr val="A8730F"/>
                </a:solidFill>
                <a:latin typeface="Calibri" pitchFamily="34" charset="0"/>
                <a:ea typeface="Calibri" pitchFamily="34" charset="-122"/>
                <a:cs typeface="Calibri" pitchFamily="34" charset="-120"/>
              </a:rPr>
              <a:t>SECTION 2  |  TWO REGULATORS</a:t>
            </a:r>
            <a:endParaRPr lang="en-US" sz="1000" dirty="0"/>
          </a:p>
        </p:txBody>
      </p:sp>
      <p:sp>
        <p:nvSpPr>
          <p:cNvPr id="5" name="Text 3"/>
          <p:cNvSpPr txBox="1"/>
          <p:nvPr/>
        </p:nvSpPr>
        <p:spPr>
          <a:xfrm>
            <a:off x="457200" y="502920"/>
            <a:ext cx="8229600" cy="548640"/>
          </a:xfrm>
          <a:prstGeom prst="rect">
            <a:avLst/>
          </a:prstGeom>
          <a:noFill/>
          <a:ln/>
        </p:spPr>
        <p:txBody>
          <a:bodyPr wrap="square" lIns="0" tIns="0" rIns="0" bIns="0" rtlCol="0" anchor="t"/>
          <a:lstStyle/>
          <a:p>
            <a:pPr indent="0" marL="0">
              <a:buNone/>
            </a:pPr>
            <a:r>
              <a:rPr lang="en-US" sz="2400" b="1" dirty="0">
                <a:solidFill>
                  <a:srgbClr val="0F2A4A"/>
                </a:solidFill>
                <a:latin typeface="Cambria" pitchFamily="34" charset="0"/>
                <a:ea typeface="Cambria" pitchFamily="34" charset="-122"/>
                <a:cs typeface="Cambria" pitchFamily="34" charset="-120"/>
              </a:rPr>
              <a:t>FDA: not incorporated, and still inspected</a:t>
            </a:r>
            <a:endParaRPr lang="en-US" sz="2400" dirty="0"/>
          </a:p>
        </p:txBody>
      </p:sp>
      <p:sp>
        <p:nvSpPr>
          <p:cNvPr id="7" name="Shape 4"/>
          <p:cNvSpPr/>
          <p:nvPr/>
        </p:nvSpPr>
        <p:spPr>
          <a:xfrm>
            <a:off x="457200" y="1097280"/>
            <a:ext cx="3977640" cy="1508760"/>
          </a:xfrm>
          <a:prstGeom prst="roundRect">
            <a:avLst>
              <a:gd name="adj" fmla="val 3636"/>
            </a:avLst>
          </a:prstGeom>
          <a:solidFill>
            <a:srgbClr val="F9ECEA"/>
          </a:solidFill>
          <a:ln w="12700">
            <a:solidFill>
              <a:srgbClr val="F9ECEA"/>
            </a:solidFill>
            <a:prstDash val="solid"/>
          </a:ln>
        </p:spPr>
      </p:sp>
      <p:sp>
        <p:nvSpPr>
          <p:cNvPr id="8" name="Text 5"/>
          <p:cNvSpPr txBox="1"/>
          <p:nvPr/>
        </p:nvSpPr>
        <p:spPr>
          <a:xfrm>
            <a:off x="585216" y="1188720"/>
            <a:ext cx="3721608" cy="182880"/>
          </a:xfrm>
          <a:prstGeom prst="rect">
            <a:avLst/>
          </a:prstGeom>
          <a:noFill/>
          <a:ln/>
        </p:spPr>
        <p:txBody>
          <a:bodyPr wrap="square" lIns="0" tIns="0" rIns="0" bIns="0" rtlCol="0" anchor="ctr"/>
          <a:lstStyle/>
          <a:p>
            <a:pPr indent="0" marL="0">
              <a:buNone/>
            </a:pPr>
            <a:r>
              <a:rPr lang="en-US" sz="900" b="1" spc="150" kern="0" dirty="0">
                <a:solidFill>
                  <a:srgbClr val="A8730F"/>
                </a:solidFill>
                <a:latin typeface="Calibri" pitchFamily="34" charset="0"/>
                <a:ea typeface="Calibri" pitchFamily="34" charset="-122"/>
                <a:cs typeface="Calibri" pitchFamily="34" charset="-120"/>
              </a:rPr>
              <a:t>THE LEGAL POSITION</a:t>
            </a:r>
            <a:endParaRPr lang="en-US" sz="900" dirty="0"/>
          </a:p>
        </p:txBody>
      </p:sp>
      <p:sp>
        <p:nvSpPr>
          <p:cNvPr id="9" name="Text 6"/>
          <p:cNvSpPr txBox="1"/>
          <p:nvPr/>
        </p:nvSpPr>
        <p:spPr>
          <a:xfrm>
            <a:off x="585216" y="1408176"/>
            <a:ext cx="3721608" cy="274320"/>
          </a:xfrm>
          <a:prstGeom prst="rect">
            <a:avLst/>
          </a:prstGeom>
          <a:noFill/>
          <a:ln/>
        </p:spPr>
        <p:txBody>
          <a:bodyPr wrap="square" lIns="0" tIns="0" rIns="0" bIns="0" rtlCol="0" anchor="ctr"/>
          <a:lstStyle/>
          <a:p>
            <a:pPr indent="0" marL="0">
              <a:buNone/>
            </a:pPr>
            <a:r>
              <a:rPr lang="en-US" sz="1300" b="1" dirty="0">
                <a:solidFill>
                  <a:srgbClr val="0F2A4A"/>
                </a:solidFill>
                <a:latin typeface="Calibri" pitchFamily="34" charset="0"/>
                <a:ea typeface="Calibri" pitchFamily="34" charset="-122"/>
                <a:cs typeface="Calibri" pitchFamily="34" charset="-120"/>
              </a:rPr>
              <a:t>ISO 14971 is not in Part 820</a:t>
            </a:r>
            <a:endParaRPr lang="en-US" sz="1300" dirty="0"/>
          </a:p>
        </p:txBody>
      </p:sp>
      <p:sp>
        <p:nvSpPr>
          <p:cNvPr id="10" name="Text 7"/>
          <p:cNvSpPr txBox="1"/>
          <p:nvPr/>
        </p:nvSpPr>
        <p:spPr>
          <a:xfrm>
            <a:off x="585216" y="1719072"/>
            <a:ext cx="3721608" cy="795528"/>
          </a:xfrm>
          <a:prstGeom prst="rect">
            <a:avLst/>
          </a:prstGeom>
          <a:noFill/>
          <a:ln/>
        </p:spPr>
        <p:txBody>
          <a:bodyPr wrap="square" lIns="0" tIns="0" rIns="0" bIns="0" rtlCol="0" anchor="t"/>
          <a:lstStyle/>
          <a:p>
            <a:pPr indent="0" marL="0">
              <a:buNone/>
            </a:pPr>
            <a:r>
              <a:rPr lang="en-US" sz="1000" dirty="0">
                <a:solidFill>
                  <a:srgbClr val="1F2933"/>
                </a:solidFill>
                <a:latin typeface="Calibri" pitchFamily="34" charset="0"/>
                <a:ea typeface="Calibri" pitchFamily="34" charset="-122"/>
                <a:cs typeface="Calibri" pitchFamily="34" charset="-120"/>
              </a:rPr>
              <a:t>21 CFR 820.7 incorporates ISO 13485:2016 by reference. It does not incorporate ISO 14971. FDA was asked to and declined, on the basis that the risk management requirements are already captured through ISO 13485.</a:t>
            </a:r>
            <a:endParaRPr lang="en-US" sz="1000" dirty="0"/>
          </a:p>
        </p:txBody>
      </p:sp>
      <p:sp>
        <p:nvSpPr>
          <p:cNvPr id="11" name="Shape 8"/>
          <p:cNvSpPr/>
          <p:nvPr/>
        </p:nvSpPr>
        <p:spPr>
          <a:xfrm>
            <a:off x="4617720" y="1097280"/>
            <a:ext cx="4069080" cy="1508760"/>
          </a:xfrm>
          <a:prstGeom prst="roundRect">
            <a:avLst>
              <a:gd name="adj" fmla="val 3636"/>
            </a:avLst>
          </a:prstGeom>
          <a:solidFill>
            <a:srgbClr val="E8F3EE"/>
          </a:solidFill>
          <a:ln w="12700">
            <a:solidFill>
              <a:srgbClr val="E8F3EE"/>
            </a:solidFill>
            <a:prstDash val="solid"/>
          </a:ln>
        </p:spPr>
      </p:sp>
      <p:sp>
        <p:nvSpPr>
          <p:cNvPr id="12" name="Text 9"/>
          <p:cNvSpPr txBox="1"/>
          <p:nvPr/>
        </p:nvSpPr>
        <p:spPr>
          <a:xfrm>
            <a:off x="4745736" y="1188720"/>
            <a:ext cx="3813048" cy="182880"/>
          </a:xfrm>
          <a:prstGeom prst="rect">
            <a:avLst/>
          </a:prstGeom>
          <a:noFill/>
          <a:ln/>
        </p:spPr>
        <p:txBody>
          <a:bodyPr wrap="square" lIns="0" tIns="0" rIns="0" bIns="0" rtlCol="0" anchor="ctr"/>
          <a:lstStyle/>
          <a:p>
            <a:pPr indent="0" marL="0">
              <a:buNone/>
            </a:pPr>
            <a:r>
              <a:rPr lang="en-US" sz="900" b="1" spc="150" kern="0" dirty="0">
                <a:solidFill>
                  <a:srgbClr val="A8730F"/>
                </a:solidFill>
                <a:latin typeface="Calibri" pitchFamily="34" charset="0"/>
                <a:ea typeface="Calibri" pitchFamily="34" charset="-122"/>
                <a:cs typeface="Calibri" pitchFamily="34" charset="-120"/>
              </a:rPr>
              <a:t>THE PRACTICAL POSITION</a:t>
            </a:r>
            <a:endParaRPr lang="en-US" sz="900" dirty="0"/>
          </a:p>
        </p:txBody>
      </p:sp>
      <p:sp>
        <p:nvSpPr>
          <p:cNvPr id="13" name="Text 10"/>
          <p:cNvSpPr txBox="1"/>
          <p:nvPr/>
        </p:nvSpPr>
        <p:spPr>
          <a:xfrm>
            <a:off x="4745736" y="1408176"/>
            <a:ext cx="3813048" cy="274320"/>
          </a:xfrm>
          <a:prstGeom prst="rect">
            <a:avLst/>
          </a:prstGeom>
          <a:noFill/>
          <a:ln/>
        </p:spPr>
        <p:txBody>
          <a:bodyPr wrap="square" lIns="0" tIns="0" rIns="0" bIns="0" rtlCol="0" anchor="ctr"/>
          <a:lstStyle/>
          <a:p>
            <a:pPr indent="0" marL="0">
              <a:buNone/>
            </a:pPr>
            <a:r>
              <a:rPr lang="en-US" sz="1300" b="1" dirty="0">
                <a:solidFill>
                  <a:srgbClr val="0F2A4A"/>
                </a:solidFill>
                <a:latin typeface="Calibri" pitchFamily="34" charset="0"/>
                <a:ea typeface="Calibri" pitchFamily="34" charset="-122"/>
                <a:cs typeface="Calibri" pitchFamily="34" charset="-120"/>
              </a:rPr>
              <a:t>The obligation moved, it did not shrink</a:t>
            </a:r>
            <a:endParaRPr lang="en-US" sz="1300" dirty="0"/>
          </a:p>
        </p:txBody>
      </p:sp>
      <p:sp>
        <p:nvSpPr>
          <p:cNvPr id="14" name="Text 11"/>
          <p:cNvSpPr txBox="1"/>
          <p:nvPr/>
        </p:nvSpPr>
        <p:spPr>
          <a:xfrm>
            <a:off x="4745736" y="1719072"/>
            <a:ext cx="3813048" cy="795528"/>
          </a:xfrm>
          <a:prstGeom prst="rect">
            <a:avLst/>
          </a:prstGeom>
          <a:noFill/>
          <a:ln/>
        </p:spPr>
        <p:txBody>
          <a:bodyPr wrap="square" lIns="0" tIns="0" rIns="0" bIns="0" rtlCol="0" anchor="t"/>
          <a:lstStyle/>
          <a:p>
            <a:pPr indent="0" marL="0">
              <a:buNone/>
            </a:pPr>
            <a:r>
              <a:rPr lang="en-US" sz="1000" dirty="0">
                <a:solidFill>
                  <a:srgbClr val="1F2933"/>
                </a:solidFill>
                <a:latin typeface="Calibri" pitchFamily="34" charset="0"/>
                <a:ea typeface="Calibri" pitchFamily="34" charset="-122"/>
                <a:cs typeface="Calibri" pitchFamily="34" charset="-120"/>
              </a:rPr>
              <a:t>Risk management is enforced through the ISO 13485 clauses that Part 820 does incorporate. An observation is written against the clause, not against ISO 14971.</a:t>
            </a:r>
            <a:endParaRPr lang="en-US" sz="10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457200" y="2697480"/>
          <a:ext cx="8229600" cy="914400"/>
        </p:xfrm>
        <a:graphic>
          <a:graphicData uri="http://schemas.openxmlformats.org/drawingml/2006/table">
            <a:tbl>
              <a:tblPr/>
              <a:tblGrid>
                <a:gridCol w="3017520"/>
                <a:gridCol w="5212080"/>
              </a:tblGrid>
              <a:tr h="256032">
                <a:tc>
                  <a:txBody>
                    <a:bodyPr/>
                    <a:lstStyle/>
                    <a:p>
                      <a:pPr indent="0" marL="0">
                        <a:buNone/>
                      </a:pPr>
                      <a:r>
                        <a:rPr lang="en-US" sz="850" b="1" dirty="0">
                          <a:solidFill>
                            <a:srgbClr val="FFFFFF"/>
                          </a:solidFill>
                          <a:latin typeface="Calibri" pitchFamily="34" charset="0"/>
                          <a:ea typeface="Calibri" pitchFamily="34" charset="-122"/>
                          <a:cs typeface="Calibri" pitchFamily="34" charset="-120"/>
                        </a:rPr>
                        <a:t>Where FDA reaches risk management</a:t>
                      </a:r>
                      <a:endParaRPr lang="en-US" sz="850" dirty="0">
                        <a:latin typeface="Calibri" charset="0"/>
                        <a:ea typeface="Calibri" charset="0"/>
                        <a:cs typeface="Calibri" charset="0"/>
                      </a:endParaRPr>
                    </a:p>
                  </a:txBody>
                  <a:tcPr marL="54864" marR="54864" marT="54864" marB="54864" anchor="ctr">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0F2A4A"/>
                    </a:solidFill>
                  </a:tcPr>
                </a:tc>
                <a:tc>
                  <a:txBody>
                    <a:bodyPr/>
                    <a:lstStyle/>
                    <a:p>
                      <a:pPr indent="0" marL="0">
                        <a:buNone/>
                      </a:pPr>
                      <a:r>
                        <a:rPr lang="en-US" sz="850" b="1" dirty="0">
                          <a:solidFill>
                            <a:srgbClr val="FFFFFF"/>
                          </a:solidFill>
                          <a:latin typeface="Calibri" pitchFamily="34" charset="0"/>
                          <a:ea typeface="Calibri" pitchFamily="34" charset="-122"/>
                          <a:cs typeface="Calibri" pitchFamily="34" charset="-120"/>
                        </a:rPr>
                        <a:t>What it asks for</a:t>
                      </a:r>
                      <a:endParaRPr lang="en-US" sz="850" dirty="0">
                        <a:latin typeface="Calibri" charset="0"/>
                        <a:ea typeface="Calibri" charset="0"/>
                        <a:cs typeface="Calibri" charset="0"/>
                      </a:endParaRPr>
                    </a:p>
                  </a:txBody>
                  <a:tcPr marL="54864" marR="54864" marT="54864" marB="54864" anchor="ctr">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0F2A4A"/>
                    </a:solidFill>
                  </a:tcPr>
                </a:tc>
              </a:tr>
              <a:tr h="256032">
                <a:tc>
                  <a:txBody>
                    <a:bodyPr/>
                    <a:lstStyle/>
                    <a:p>
                      <a:pPr indent="0" marL="0">
                        <a:buNone/>
                      </a:pPr>
                      <a:r>
                        <a:rPr lang="en-US" sz="850" b="1" dirty="0">
                          <a:solidFill>
                            <a:srgbClr val="1F2933"/>
                          </a:solidFill>
                          <a:latin typeface="Calibri" pitchFamily="34" charset="0"/>
                          <a:ea typeface="Calibri" pitchFamily="34" charset="-122"/>
                          <a:cs typeface="Calibri" pitchFamily="34" charset="-120"/>
                        </a:rPr>
                        <a:t>ISO 13485 Clause 4.1.2 b)</a:t>
                      </a:r>
                      <a:endParaRPr lang="en-US" sz="8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850" dirty="0">
                          <a:solidFill>
                            <a:srgbClr val="1F2933"/>
                          </a:solidFill>
                          <a:latin typeface="Calibri" pitchFamily="34" charset="0"/>
                          <a:ea typeface="Calibri" pitchFamily="34" charset="-122"/>
                          <a:cs typeface="Calibri" pitchFamily="34" charset="-120"/>
                        </a:rPr>
                        <a:t>A risk-based approach applied to the control of the appropriate QMS processes. This is an inspectable element in its own right</a:t>
                      </a:r>
                      <a:endParaRPr lang="en-US" sz="8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r>
              <a:tr h="256032">
                <a:tc>
                  <a:txBody>
                    <a:bodyPr/>
                    <a:lstStyle/>
                    <a:p>
                      <a:pPr indent="0" marL="0">
                        <a:buNone/>
                      </a:pPr>
                      <a:r>
                        <a:rPr lang="en-US" sz="850" b="1" dirty="0">
                          <a:solidFill>
                            <a:srgbClr val="1F2933"/>
                          </a:solidFill>
                          <a:latin typeface="Calibri" pitchFamily="34" charset="0"/>
                          <a:ea typeface="Calibri" pitchFamily="34" charset="-122"/>
                          <a:cs typeface="Calibri" pitchFamily="34" charset="-120"/>
                        </a:rPr>
                        <a:t>ISO 13485 Clause 7.1</a:t>
                      </a:r>
                      <a:endParaRPr lang="en-US" sz="8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c>
                  <a:txBody>
                    <a:bodyPr/>
                    <a:lstStyle/>
                    <a:p>
                      <a:pPr indent="0" marL="0">
                        <a:buNone/>
                      </a:pPr>
                      <a:r>
                        <a:rPr lang="en-US" sz="850" dirty="0">
                          <a:solidFill>
                            <a:srgbClr val="1F2933"/>
                          </a:solidFill>
                          <a:latin typeface="Calibri" pitchFamily="34" charset="0"/>
                          <a:ea typeface="Calibri" pitchFamily="34" charset="-122"/>
                          <a:cs typeface="Calibri" pitchFamily="34" charset="-120"/>
                        </a:rPr>
                        <a:t>Risk management in product realization: documented requirements, and records of the results</a:t>
                      </a:r>
                      <a:endParaRPr lang="en-US" sz="8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r>
              <a:tr h="256032">
                <a:tc>
                  <a:txBody>
                    <a:bodyPr/>
                    <a:lstStyle/>
                    <a:p>
                      <a:pPr indent="0" marL="0">
                        <a:buNone/>
                      </a:pPr>
                      <a:r>
                        <a:rPr lang="en-US" sz="850" b="1" dirty="0">
                          <a:solidFill>
                            <a:srgbClr val="1F2933"/>
                          </a:solidFill>
                          <a:latin typeface="Calibri" pitchFamily="34" charset="0"/>
                          <a:ea typeface="Calibri" pitchFamily="34" charset="-122"/>
                          <a:cs typeface="Calibri" pitchFamily="34" charset="-120"/>
                        </a:rPr>
                        <a:t>Clauses 7.3 design, 7.4 purchasing, 7.5 production, 7.6 monitoring equipment</a:t>
                      </a:r>
                      <a:endParaRPr lang="en-US" sz="8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850" dirty="0">
                          <a:solidFill>
                            <a:srgbClr val="1F2933"/>
                          </a:solidFill>
                          <a:latin typeface="Calibri" pitchFamily="34" charset="0"/>
                          <a:ea typeface="Calibri" pitchFamily="34" charset="-122"/>
                          <a:cs typeface="Calibri" pitchFamily="34" charset="-120"/>
                        </a:rPr>
                        <a:t>Risk proportionality in each: supplier controls, process validation, acceptance activities</a:t>
                      </a:r>
                      <a:endParaRPr lang="en-US" sz="8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r>
              <a:tr h="256032">
                <a:tc>
                  <a:txBody>
                    <a:bodyPr/>
                    <a:lstStyle/>
                    <a:p>
                      <a:pPr indent="0" marL="0">
                        <a:buNone/>
                      </a:pPr>
                      <a:r>
                        <a:rPr lang="en-US" sz="850" b="1" dirty="0">
                          <a:solidFill>
                            <a:srgbClr val="1F2933"/>
                          </a:solidFill>
                          <a:latin typeface="Calibri" pitchFamily="34" charset="0"/>
                          <a:ea typeface="Calibri" pitchFamily="34" charset="-122"/>
                          <a:cs typeface="Calibri" pitchFamily="34" charset="-120"/>
                        </a:rPr>
                        <a:t>Clause 8.2 feedback, complaints and reporting</a:t>
                      </a:r>
                      <a:endParaRPr lang="en-US" sz="8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c>
                  <a:txBody>
                    <a:bodyPr/>
                    <a:lstStyle/>
                    <a:p>
                      <a:pPr indent="0" marL="0">
                        <a:buNone/>
                      </a:pPr>
                      <a:r>
                        <a:rPr lang="en-US" sz="850" dirty="0">
                          <a:solidFill>
                            <a:srgbClr val="1F2933"/>
                          </a:solidFill>
                          <a:latin typeface="Calibri" pitchFamily="34" charset="0"/>
                          <a:ea typeface="Calibri" pitchFamily="34" charset="-122"/>
                          <a:cs typeface="Calibri" pitchFamily="34" charset="-120"/>
                        </a:rPr>
                        <a:t>Post-market information used as an input to risk management. This is the FDA analogue of Clause 10</a:t>
                      </a:r>
                      <a:endParaRPr lang="en-US" sz="8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r>
            </a:tbl>
          </a:graphicData>
        </a:graphic>
      </p:graphicFrame>
      <p:sp>
        <p:nvSpPr>
          <p:cNvPr id="16" name="Shape 12"/>
          <p:cNvSpPr/>
          <p:nvPr/>
        </p:nvSpPr>
        <p:spPr>
          <a:xfrm>
            <a:off x="457200" y="4315968"/>
            <a:ext cx="8229600" cy="347472"/>
          </a:xfrm>
          <a:prstGeom prst="roundRect">
            <a:avLst>
              <a:gd name="adj" fmla="val 15789"/>
            </a:avLst>
          </a:prstGeom>
          <a:solidFill>
            <a:srgbClr val="0F2A4A"/>
          </a:solidFill>
          <a:ln w="12700">
            <a:solidFill>
              <a:srgbClr val="0F2A4A"/>
            </a:solidFill>
            <a:prstDash val="solid"/>
          </a:ln>
        </p:spPr>
      </p:sp>
      <p:sp>
        <p:nvSpPr>
          <p:cNvPr id="17" name="Text 13"/>
          <p:cNvSpPr txBox="1"/>
          <p:nvPr/>
        </p:nvSpPr>
        <p:spPr>
          <a:xfrm>
            <a:off x="640080" y="4315968"/>
            <a:ext cx="7863840" cy="347472"/>
          </a:xfrm>
          <a:prstGeom prst="rect">
            <a:avLst/>
          </a:prstGeom>
          <a:noFill/>
          <a:ln/>
        </p:spPr>
        <p:txBody>
          <a:bodyPr wrap="square" lIns="0" tIns="0" rIns="0" bIns="0" rtlCol="0" anchor="ctr"/>
          <a:lstStyle/>
          <a:p>
            <a:pPr indent="0" marL="0">
              <a:buNone/>
            </a:pPr>
            <a:r>
              <a:rPr lang="en-US" sz="950" i="1" dirty="0">
                <a:solidFill>
                  <a:srgbClr val="FFFFFF"/>
                </a:solidFill>
                <a:latin typeface="Calibri" pitchFamily="34" charset="0"/>
                <a:ea typeface="Calibri" pitchFamily="34" charset="-122"/>
                <a:cs typeface="Calibri" pitchFamily="34" charset="-120"/>
              </a:rPr>
              <a:t>Recognition number 5-125, complete standard, unchanged as of Recognition List 066 (24 August 2026). And the word "14971" appears nowhere in the 78 pages of Compliance Program 7382.850.</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4814316"/>
            <a:ext cx="5943600" cy="201168"/>
          </a:xfrm>
          <a:prstGeom prst="rect">
            <a:avLst/>
          </a:prstGeom>
          <a:noFill/>
          <a:ln/>
        </p:spPr>
        <p:txBody>
          <a:bodyPr wrap="square" lIns="0" tIns="0" rIns="0" bIns="0" rtlCol="0" anchor="ctr"/>
          <a:lstStyle/>
          <a:p>
            <a:pPr indent="0" marL="0">
              <a:buNone/>
            </a:pPr>
            <a:r>
              <a:rPr lang="en-US" sz="900" dirty="0">
                <a:solidFill>
                  <a:srgbClr val="5A6B7B"/>
                </a:solidFill>
                <a:latin typeface="Calibri" pitchFamily="34" charset="0"/>
                <a:ea typeface="Calibri" pitchFamily="34" charset="-122"/>
                <a:cs typeface="Calibri" pitchFamily="34" charset="-120"/>
              </a:rPr>
              <a:t>Risk Management  |  ISO 14971  |  Elder Consulting, LLC</a:t>
            </a:r>
            <a:endParaRPr lang="en-US" sz="900" dirty="0"/>
          </a:p>
        </p:txBody>
      </p:sp>
      <p:sp>
        <p:nvSpPr>
          <p:cNvPr id="3" name="Text 1"/>
          <p:cNvSpPr txBox="1"/>
          <p:nvPr/>
        </p:nvSpPr>
        <p:spPr>
          <a:xfrm>
            <a:off x="8138160" y="4814316"/>
            <a:ext cx="548640" cy="201168"/>
          </a:xfrm>
          <a:prstGeom prst="rect">
            <a:avLst/>
          </a:prstGeom>
          <a:noFill/>
          <a:ln/>
        </p:spPr>
        <p:txBody>
          <a:bodyPr wrap="square" lIns="0" tIns="0" rIns="0" bIns="0" rtlCol="0" anchor="ctr"/>
          <a:lstStyle/>
          <a:p>
            <a:pPr algn="r" indent="0" marL="0">
              <a:buNone/>
            </a:pPr>
            <a:r>
              <a:rPr lang="en-US" sz="900" dirty="0">
                <a:solidFill>
                  <a:srgbClr val="5A6B7B"/>
                </a:solidFill>
                <a:latin typeface="Calibri" pitchFamily="34" charset="0"/>
                <a:ea typeface="Calibri" pitchFamily="34" charset="-122"/>
                <a:cs typeface="Calibri" pitchFamily="34" charset="-120"/>
              </a:rPr>
              <a:t>12</a:t>
            </a:r>
            <a:endParaRPr lang="en-US" sz="900" dirty="0"/>
          </a:p>
        </p:txBody>
      </p:sp>
      <p:sp>
        <p:nvSpPr>
          <p:cNvPr id="4" name="Text 2"/>
          <p:cNvSpPr txBox="1"/>
          <p:nvPr/>
        </p:nvSpPr>
        <p:spPr>
          <a:xfrm>
            <a:off x="457200" y="274320"/>
            <a:ext cx="8229600" cy="219456"/>
          </a:xfrm>
          <a:prstGeom prst="rect">
            <a:avLst/>
          </a:prstGeom>
          <a:noFill/>
          <a:ln/>
        </p:spPr>
        <p:txBody>
          <a:bodyPr wrap="square" lIns="0" tIns="0" rIns="0" bIns="0" rtlCol="0" anchor="ctr"/>
          <a:lstStyle/>
          <a:p>
            <a:pPr indent="0" marL="0">
              <a:buNone/>
            </a:pPr>
            <a:r>
              <a:rPr lang="en-US" sz="1000" b="1" spc="200" kern="0" dirty="0">
                <a:solidFill>
                  <a:srgbClr val="A8730F"/>
                </a:solidFill>
                <a:latin typeface="Calibri" pitchFamily="34" charset="0"/>
                <a:ea typeface="Calibri" pitchFamily="34" charset="-122"/>
                <a:cs typeface="Calibri" pitchFamily="34" charset="-120"/>
              </a:rPr>
              <a:t>SECTION 2  |  TWO REGULATORS</a:t>
            </a:r>
            <a:endParaRPr lang="en-US" sz="1000" dirty="0"/>
          </a:p>
        </p:txBody>
      </p:sp>
      <p:sp>
        <p:nvSpPr>
          <p:cNvPr id="5" name="Text 3"/>
          <p:cNvSpPr txBox="1"/>
          <p:nvPr/>
        </p:nvSpPr>
        <p:spPr>
          <a:xfrm>
            <a:off x="457200" y="502920"/>
            <a:ext cx="8229600" cy="548640"/>
          </a:xfrm>
          <a:prstGeom prst="rect">
            <a:avLst/>
          </a:prstGeom>
          <a:noFill/>
          <a:ln/>
        </p:spPr>
        <p:txBody>
          <a:bodyPr wrap="square" lIns="0" tIns="0" rIns="0" bIns="0" rtlCol="0" anchor="t"/>
          <a:lstStyle/>
          <a:p>
            <a:pPr indent="0" marL="0">
              <a:buNone/>
            </a:pPr>
            <a:r>
              <a:rPr lang="en-US" sz="2400" b="1" dirty="0">
                <a:solidFill>
                  <a:srgbClr val="0F2A4A"/>
                </a:solidFill>
                <a:latin typeface="Cambria" pitchFamily="34" charset="0"/>
                <a:ea typeface="Cambria" pitchFamily="34" charset="-122"/>
                <a:cs typeface="Cambria" pitchFamily="34" charset="-120"/>
              </a:rPr>
              <a:t>EU: harmonised, but only for five of the nine</a:t>
            </a:r>
            <a:endParaRPr lang="en-US" sz="24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914400"/>
        </p:xfrm>
        <a:graphic>
          <a:graphicData uri="http://schemas.openxmlformats.org/drawingml/2006/table">
            <a:tbl>
              <a:tblPr/>
              <a:tblGrid>
                <a:gridCol w="914400"/>
                <a:gridCol w="5943600"/>
                <a:gridCol w="1371600"/>
              </a:tblGrid>
              <a:tr h="274320">
                <a:tc>
                  <a:txBody>
                    <a:bodyPr/>
                    <a:lstStyle/>
                    <a:p>
                      <a:pPr indent="0" marL="0">
                        <a:buNone/>
                      </a:pPr>
                      <a:r>
                        <a:rPr lang="en-US" sz="850" b="1" dirty="0">
                          <a:solidFill>
                            <a:srgbClr val="FFFFFF"/>
                          </a:solidFill>
                          <a:latin typeface="Calibri" pitchFamily="34" charset="0"/>
                          <a:ea typeface="Calibri" pitchFamily="34" charset="-122"/>
                          <a:cs typeface="Calibri" pitchFamily="34" charset="-120"/>
                        </a:rPr>
                        <a:t>MDR Annex I Chapter I</a:t>
                      </a:r>
                      <a:endParaRPr lang="en-US" sz="850" dirty="0">
                        <a:latin typeface="Calibri" charset="0"/>
                        <a:ea typeface="Calibri" charset="0"/>
                        <a:cs typeface="Calibri" charset="0"/>
                      </a:endParaRPr>
                    </a:p>
                  </a:txBody>
                  <a:tcPr marL="54864" marR="54864" marT="54864" marB="54864" anchor="ctr">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0F2A4A"/>
                    </a:solidFill>
                  </a:tcPr>
                </a:tc>
                <a:tc>
                  <a:txBody>
                    <a:bodyPr/>
                    <a:lstStyle/>
                    <a:p>
                      <a:pPr indent="0" marL="0">
                        <a:buNone/>
                      </a:pPr>
                      <a:r>
                        <a:rPr lang="en-US" sz="850" b="1" dirty="0">
                          <a:solidFill>
                            <a:srgbClr val="FFFFFF"/>
                          </a:solidFill>
                          <a:latin typeface="Calibri" pitchFamily="34" charset="0"/>
                          <a:ea typeface="Calibri" pitchFamily="34" charset="-122"/>
                          <a:cs typeface="Calibri" pitchFamily="34" charset="-120"/>
                        </a:rPr>
                        <a:t>Subject</a:t>
                      </a:r>
                      <a:endParaRPr lang="en-US" sz="850" dirty="0">
                        <a:latin typeface="Calibri" charset="0"/>
                        <a:ea typeface="Calibri" charset="0"/>
                        <a:cs typeface="Calibri" charset="0"/>
                      </a:endParaRPr>
                    </a:p>
                  </a:txBody>
                  <a:tcPr marL="54864" marR="54864" marT="54864" marB="54864" anchor="ctr">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0F2A4A"/>
                    </a:solidFill>
                  </a:tcPr>
                </a:tc>
                <a:tc>
                  <a:txBody>
                    <a:bodyPr/>
                    <a:lstStyle/>
                    <a:p>
                      <a:pPr indent="0" marL="0">
                        <a:buNone/>
                      </a:pPr>
                      <a:r>
                        <a:rPr lang="en-US" sz="850" b="1" dirty="0">
                          <a:solidFill>
                            <a:srgbClr val="FFFFFF"/>
                          </a:solidFill>
                          <a:latin typeface="Calibri" pitchFamily="34" charset="0"/>
                          <a:ea typeface="Calibri" pitchFamily="34" charset="-122"/>
                          <a:cs typeface="Calibri" pitchFamily="34" charset="-120"/>
                        </a:rPr>
                        <a:t>Annex ZA</a:t>
                      </a:r>
                      <a:endParaRPr lang="en-US" sz="850" dirty="0">
                        <a:latin typeface="Calibri" charset="0"/>
                        <a:ea typeface="Calibri" charset="0"/>
                        <a:cs typeface="Calibri" charset="0"/>
                      </a:endParaRPr>
                    </a:p>
                  </a:txBody>
                  <a:tcPr marL="54864" marR="54864" marT="54864" marB="54864" anchor="ctr">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0F2A4A"/>
                    </a:solidFill>
                  </a:tcPr>
                </a:tc>
              </a:tr>
              <a:tr h="274320">
                <a:tc>
                  <a:txBody>
                    <a:bodyPr/>
                    <a:lstStyle/>
                    <a:p>
                      <a:pPr indent="0" marL="0">
                        <a:buNone/>
                      </a:pPr>
                      <a:r>
                        <a:rPr lang="en-US" sz="850" b="1" dirty="0">
                          <a:solidFill>
                            <a:srgbClr val="1F2933"/>
                          </a:solidFill>
                          <a:latin typeface="Calibri" pitchFamily="34" charset="0"/>
                          <a:ea typeface="Calibri" pitchFamily="34" charset="-122"/>
                          <a:cs typeface="Calibri" pitchFamily="34" charset="-120"/>
                        </a:rPr>
                        <a:t>Point 1</a:t>
                      </a:r>
                      <a:endParaRPr lang="en-US" sz="8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850" dirty="0">
                          <a:solidFill>
                            <a:srgbClr val="1F2933"/>
                          </a:solidFill>
                          <a:latin typeface="Calibri" pitchFamily="34" charset="0"/>
                          <a:ea typeface="Calibri" pitchFamily="34" charset="-122"/>
                          <a:cs typeface="Calibri" pitchFamily="34" charset="-120"/>
                        </a:rPr>
                        <a:t>Intended performance; safe and effective; risks acceptable when weighed against benefits; state of the art</a:t>
                      </a:r>
                      <a:endParaRPr lang="en-US" sz="8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850" b="1" dirty="0">
                          <a:solidFill>
                            <a:srgbClr val="1F2933"/>
                          </a:solidFill>
                          <a:latin typeface="Calibri" pitchFamily="34" charset="0"/>
                          <a:ea typeface="Calibri" pitchFamily="34" charset="-122"/>
                          <a:cs typeface="Calibri" pitchFamily="34" charset="-120"/>
                        </a:rPr>
                        <a:t>Not listed</a:t>
                      </a:r>
                      <a:endParaRPr lang="en-US" sz="8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9ECEA"/>
                    </a:solidFill>
                  </a:tcPr>
                </a:tc>
              </a:tr>
              <a:tr h="274320">
                <a:tc>
                  <a:txBody>
                    <a:bodyPr/>
                    <a:lstStyle/>
                    <a:p>
                      <a:pPr indent="0" marL="0">
                        <a:buNone/>
                      </a:pPr>
                      <a:r>
                        <a:rPr lang="en-US" sz="850" b="1" dirty="0">
                          <a:solidFill>
                            <a:srgbClr val="1F2933"/>
                          </a:solidFill>
                          <a:latin typeface="Calibri" pitchFamily="34" charset="0"/>
                          <a:ea typeface="Calibri" pitchFamily="34" charset="-122"/>
                          <a:cs typeface="Calibri" pitchFamily="34" charset="-120"/>
                        </a:rPr>
                        <a:t>Point 2</a:t>
                      </a:r>
                      <a:endParaRPr lang="en-US" sz="8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c>
                  <a:txBody>
                    <a:bodyPr/>
                    <a:lstStyle/>
                    <a:p>
                      <a:pPr indent="0" marL="0">
                        <a:buNone/>
                      </a:pPr>
                      <a:r>
                        <a:rPr lang="en-US" sz="850" dirty="0">
                          <a:solidFill>
                            <a:srgbClr val="1F2933"/>
                          </a:solidFill>
                          <a:latin typeface="Calibri" pitchFamily="34" charset="0"/>
                          <a:ea typeface="Calibri" pitchFamily="34" charset="-122"/>
                          <a:cs typeface="Calibri" pitchFamily="34" charset="-120"/>
                        </a:rPr>
                        <a:t>The definition of "reduce risks as far as possible": without adversely affecting the benefit-risk ratio</a:t>
                      </a:r>
                      <a:endParaRPr lang="en-US" sz="8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c>
                  <a:txBody>
                    <a:bodyPr/>
                    <a:lstStyle/>
                    <a:p>
                      <a:pPr indent="0" marL="0">
                        <a:buNone/>
                      </a:pPr>
                      <a:r>
                        <a:rPr lang="en-US" sz="850" b="1" dirty="0">
                          <a:solidFill>
                            <a:srgbClr val="1F2933"/>
                          </a:solidFill>
                          <a:latin typeface="Calibri" pitchFamily="34" charset="0"/>
                          <a:ea typeface="Calibri" pitchFamily="34" charset="-122"/>
                          <a:cs typeface="Calibri" pitchFamily="34" charset="-120"/>
                        </a:rPr>
                        <a:t>Not listed</a:t>
                      </a:r>
                      <a:endParaRPr lang="en-US" sz="8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9ECEA"/>
                    </a:solidFill>
                  </a:tcPr>
                </a:tc>
              </a:tr>
              <a:tr h="274320">
                <a:tc>
                  <a:txBody>
                    <a:bodyPr/>
                    <a:lstStyle/>
                    <a:p>
                      <a:pPr indent="0" marL="0">
                        <a:buNone/>
                      </a:pPr>
                      <a:r>
                        <a:rPr lang="en-US" sz="850" b="1" dirty="0">
                          <a:solidFill>
                            <a:srgbClr val="1F2933"/>
                          </a:solidFill>
                          <a:latin typeface="Calibri" pitchFamily="34" charset="0"/>
                          <a:ea typeface="Calibri" pitchFamily="34" charset="-122"/>
                          <a:cs typeface="Calibri" pitchFamily="34" charset="-120"/>
                        </a:rPr>
                        <a:t>Point 3</a:t>
                      </a:r>
                      <a:endParaRPr lang="en-US" sz="8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850" dirty="0">
                          <a:solidFill>
                            <a:srgbClr val="1F2933"/>
                          </a:solidFill>
                          <a:latin typeface="Calibri" pitchFamily="34" charset="0"/>
                          <a:ea typeface="Calibri" pitchFamily="34" charset="-122"/>
                          <a:cs typeface="Calibri" pitchFamily="34" charset="-120"/>
                        </a:rPr>
                        <a:t>Establish, implement, document and maintain a risk management system; the iterative process a) to f)</a:t>
                      </a:r>
                      <a:endParaRPr lang="en-US" sz="8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850" b="1" dirty="0">
                          <a:solidFill>
                            <a:srgbClr val="1F2933"/>
                          </a:solidFill>
                          <a:latin typeface="Calibri" pitchFamily="34" charset="0"/>
                          <a:ea typeface="Calibri" pitchFamily="34" charset="-122"/>
                          <a:cs typeface="Calibri" pitchFamily="34" charset="-120"/>
                        </a:rPr>
                        <a:t>Covered</a:t>
                      </a:r>
                      <a:endParaRPr lang="en-US" sz="8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E8F3EE"/>
                    </a:solidFill>
                  </a:tcPr>
                </a:tc>
              </a:tr>
              <a:tr h="274320">
                <a:tc>
                  <a:txBody>
                    <a:bodyPr/>
                    <a:lstStyle/>
                    <a:p>
                      <a:pPr indent="0" marL="0">
                        <a:buNone/>
                      </a:pPr>
                      <a:r>
                        <a:rPr lang="en-US" sz="850" b="1" dirty="0">
                          <a:solidFill>
                            <a:srgbClr val="1F2933"/>
                          </a:solidFill>
                          <a:latin typeface="Calibri" pitchFamily="34" charset="0"/>
                          <a:ea typeface="Calibri" pitchFamily="34" charset="-122"/>
                          <a:cs typeface="Calibri" pitchFamily="34" charset="-120"/>
                        </a:rPr>
                        <a:t>Point 4</a:t>
                      </a:r>
                      <a:endParaRPr lang="en-US" sz="8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c>
                  <a:txBody>
                    <a:bodyPr/>
                    <a:lstStyle/>
                    <a:p>
                      <a:pPr indent="0" marL="0">
                        <a:buNone/>
                      </a:pPr>
                      <a:r>
                        <a:rPr lang="en-US" sz="850" dirty="0">
                          <a:solidFill>
                            <a:srgbClr val="1F2933"/>
                          </a:solidFill>
                          <a:latin typeface="Calibri" pitchFamily="34" charset="0"/>
                          <a:ea typeface="Calibri" pitchFamily="34" charset="-122"/>
                          <a:cs typeface="Calibri" pitchFamily="34" charset="-120"/>
                        </a:rPr>
                        <a:t>Risk control measures and the mandatory order of priority; inform users of residual risks</a:t>
                      </a:r>
                      <a:endParaRPr lang="en-US" sz="8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c>
                  <a:txBody>
                    <a:bodyPr/>
                    <a:lstStyle/>
                    <a:p>
                      <a:pPr indent="0" marL="0">
                        <a:buNone/>
                      </a:pPr>
                      <a:r>
                        <a:rPr lang="en-US" sz="850" b="1" dirty="0">
                          <a:solidFill>
                            <a:srgbClr val="1F2933"/>
                          </a:solidFill>
                          <a:latin typeface="Calibri" pitchFamily="34" charset="0"/>
                          <a:ea typeface="Calibri" pitchFamily="34" charset="-122"/>
                          <a:cs typeface="Calibri" pitchFamily="34" charset="-120"/>
                        </a:rPr>
                        <a:t>Covered</a:t>
                      </a:r>
                      <a:endParaRPr lang="en-US" sz="8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E8F3EE"/>
                    </a:solidFill>
                  </a:tcPr>
                </a:tc>
              </a:tr>
              <a:tr h="274320">
                <a:tc>
                  <a:txBody>
                    <a:bodyPr/>
                    <a:lstStyle/>
                    <a:p>
                      <a:pPr indent="0" marL="0">
                        <a:buNone/>
                      </a:pPr>
                      <a:r>
                        <a:rPr lang="en-US" sz="850" b="1" dirty="0">
                          <a:solidFill>
                            <a:srgbClr val="1F2933"/>
                          </a:solidFill>
                          <a:latin typeface="Calibri" pitchFamily="34" charset="0"/>
                          <a:ea typeface="Calibri" pitchFamily="34" charset="-122"/>
                          <a:cs typeface="Calibri" pitchFamily="34" charset="-120"/>
                        </a:rPr>
                        <a:t>Point 5</a:t>
                      </a:r>
                      <a:endParaRPr lang="en-US" sz="8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850" dirty="0">
                          <a:solidFill>
                            <a:srgbClr val="1F2933"/>
                          </a:solidFill>
                          <a:latin typeface="Calibri" pitchFamily="34" charset="0"/>
                          <a:ea typeface="Calibri" pitchFamily="34" charset="-122"/>
                          <a:cs typeface="Calibri" pitchFamily="34" charset="-120"/>
                        </a:rPr>
                        <a:t>Use error: reduce risks related to ergonomic features and the intended user environment</a:t>
                      </a:r>
                      <a:endParaRPr lang="en-US" sz="8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850" b="1" dirty="0">
                          <a:solidFill>
                            <a:srgbClr val="1F2933"/>
                          </a:solidFill>
                          <a:latin typeface="Calibri" pitchFamily="34" charset="0"/>
                          <a:ea typeface="Calibri" pitchFamily="34" charset="-122"/>
                          <a:cs typeface="Calibri" pitchFamily="34" charset="-120"/>
                        </a:rPr>
                        <a:t>Covered</a:t>
                      </a:r>
                      <a:endParaRPr lang="en-US" sz="8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E8F3EE"/>
                    </a:solidFill>
                  </a:tcPr>
                </a:tc>
              </a:tr>
              <a:tr h="274320">
                <a:tc>
                  <a:txBody>
                    <a:bodyPr/>
                    <a:lstStyle/>
                    <a:p>
                      <a:pPr indent="0" marL="0">
                        <a:buNone/>
                      </a:pPr>
                      <a:r>
                        <a:rPr lang="en-US" sz="850" b="1" dirty="0">
                          <a:solidFill>
                            <a:srgbClr val="1F2933"/>
                          </a:solidFill>
                          <a:latin typeface="Calibri" pitchFamily="34" charset="0"/>
                          <a:ea typeface="Calibri" pitchFamily="34" charset="-122"/>
                          <a:cs typeface="Calibri" pitchFamily="34" charset="-120"/>
                        </a:rPr>
                        <a:t>Point 6</a:t>
                      </a:r>
                      <a:endParaRPr lang="en-US" sz="8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c>
                  <a:txBody>
                    <a:bodyPr/>
                    <a:lstStyle/>
                    <a:p>
                      <a:pPr indent="0" marL="0">
                        <a:buNone/>
                      </a:pPr>
                      <a:r>
                        <a:rPr lang="en-US" sz="850" dirty="0">
                          <a:solidFill>
                            <a:srgbClr val="1F2933"/>
                          </a:solidFill>
                          <a:latin typeface="Calibri" pitchFamily="34" charset="0"/>
                          <a:ea typeface="Calibri" pitchFamily="34" charset="-122"/>
                          <a:cs typeface="Calibri" pitchFamily="34" charset="-120"/>
                        </a:rPr>
                        <a:t>Lifetime of the device</a:t>
                      </a:r>
                      <a:endParaRPr lang="en-US" sz="8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c>
                  <a:txBody>
                    <a:bodyPr/>
                    <a:lstStyle/>
                    <a:p>
                      <a:pPr indent="0" marL="0">
                        <a:buNone/>
                      </a:pPr>
                      <a:r>
                        <a:rPr lang="en-US" sz="850" dirty="0">
                          <a:solidFill>
                            <a:srgbClr val="1F2933"/>
                          </a:solidFill>
                          <a:latin typeface="Calibri" pitchFamily="34" charset="0"/>
                          <a:ea typeface="Calibri" pitchFamily="34" charset="-122"/>
                          <a:cs typeface="Calibri" pitchFamily="34" charset="-120"/>
                        </a:rPr>
                        <a:t>Not listed</a:t>
                      </a:r>
                      <a:endParaRPr lang="en-US" sz="8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9ECEA"/>
                    </a:solidFill>
                  </a:tcPr>
                </a:tc>
              </a:tr>
              <a:tr h="274320">
                <a:tc>
                  <a:txBody>
                    <a:bodyPr/>
                    <a:lstStyle/>
                    <a:p>
                      <a:pPr indent="0" marL="0">
                        <a:buNone/>
                      </a:pPr>
                      <a:r>
                        <a:rPr lang="en-US" sz="850" b="1" dirty="0">
                          <a:solidFill>
                            <a:srgbClr val="1F2933"/>
                          </a:solidFill>
                          <a:latin typeface="Calibri" pitchFamily="34" charset="0"/>
                          <a:ea typeface="Calibri" pitchFamily="34" charset="-122"/>
                          <a:cs typeface="Calibri" pitchFamily="34" charset="-120"/>
                        </a:rPr>
                        <a:t>Point 7</a:t>
                      </a:r>
                      <a:endParaRPr lang="en-US" sz="8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850" dirty="0">
                          <a:solidFill>
                            <a:srgbClr val="1F2933"/>
                          </a:solidFill>
                          <a:latin typeface="Calibri" pitchFamily="34" charset="0"/>
                          <a:ea typeface="Calibri" pitchFamily="34" charset="-122"/>
                          <a:cs typeface="Calibri" pitchFamily="34" charset="-120"/>
                        </a:rPr>
                        <a:t>Transport and storage</a:t>
                      </a:r>
                      <a:endParaRPr lang="en-US" sz="8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850" dirty="0">
                          <a:solidFill>
                            <a:srgbClr val="1F2933"/>
                          </a:solidFill>
                          <a:latin typeface="Calibri" pitchFamily="34" charset="0"/>
                          <a:ea typeface="Calibri" pitchFamily="34" charset="-122"/>
                          <a:cs typeface="Calibri" pitchFamily="34" charset="-120"/>
                        </a:rPr>
                        <a:t>Not listed</a:t>
                      </a:r>
                      <a:endParaRPr lang="en-US" sz="8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9ECEA"/>
                    </a:solidFill>
                  </a:tcPr>
                </a:tc>
              </a:tr>
              <a:tr h="274320">
                <a:tc>
                  <a:txBody>
                    <a:bodyPr/>
                    <a:lstStyle/>
                    <a:p>
                      <a:pPr indent="0" marL="0">
                        <a:buNone/>
                      </a:pPr>
                      <a:r>
                        <a:rPr lang="en-US" sz="850" b="1" dirty="0">
                          <a:solidFill>
                            <a:srgbClr val="1F2933"/>
                          </a:solidFill>
                          <a:latin typeface="Calibri" pitchFamily="34" charset="0"/>
                          <a:ea typeface="Calibri" pitchFamily="34" charset="-122"/>
                          <a:cs typeface="Calibri" pitchFamily="34" charset="-120"/>
                        </a:rPr>
                        <a:t>Point 8</a:t>
                      </a:r>
                      <a:endParaRPr lang="en-US" sz="8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c>
                  <a:txBody>
                    <a:bodyPr/>
                    <a:lstStyle/>
                    <a:p>
                      <a:pPr indent="0" marL="0">
                        <a:buNone/>
                      </a:pPr>
                      <a:r>
                        <a:rPr lang="en-US" sz="850" dirty="0">
                          <a:solidFill>
                            <a:srgbClr val="1F2933"/>
                          </a:solidFill>
                          <a:latin typeface="Calibri" pitchFamily="34" charset="0"/>
                          <a:ea typeface="Calibri" pitchFamily="34" charset="-122"/>
                          <a:cs typeface="Calibri" pitchFamily="34" charset="-120"/>
                        </a:rPr>
                        <a:t>All known and foreseeable risks minimised and acceptable against the evaluated benefits</a:t>
                      </a:r>
                      <a:endParaRPr lang="en-US" sz="8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c>
                  <a:txBody>
                    <a:bodyPr/>
                    <a:lstStyle/>
                    <a:p>
                      <a:pPr indent="0" marL="0">
                        <a:buNone/>
                      </a:pPr>
                      <a:r>
                        <a:rPr lang="en-US" sz="850" b="1" dirty="0">
                          <a:solidFill>
                            <a:srgbClr val="1F2933"/>
                          </a:solidFill>
                          <a:latin typeface="Calibri" pitchFamily="34" charset="0"/>
                          <a:ea typeface="Calibri" pitchFamily="34" charset="-122"/>
                          <a:cs typeface="Calibri" pitchFamily="34" charset="-120"/>
                        </a:rPr>
                        <a:t>Covered</a:t>
                      </a:r>
                      <a:endParaRPr lang="en-US" sz="8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E8F3EE"/>
                    </a:solidFill>
                  </a:tcPr>
                </a:tc>
              </a:tr>
              <a:tr h="274320">
                <a:tc>
                  <a:txBody>
                    <a:bodyPr/>
                    <a:lstStyle/>
                    <a:p>
                      <a:pPr indent="0" marL="0">
                        <a:buNone/>
                      </a:pPr>
                      <a:r>
                        <a:rPr lang="en-US" sz="850" b="1" dirty="0">
                          <a:solidFill>
                            <a:srgbClr val="1F2933"/>
                          </a:solidFill>
                          <a:latin typeface="Calibri" pitchFamily="34" charset="0"/>
                          <a:ea typeface="Calibri" pitchFamily="34" charset="-122"/>
                          <a:cs typeface="Calibri" pitchFamily="34" charset="-120"/>
                        </a:rPr>
                        <a:t>Point 9</a:t>
                      </a:r>
                      <a:endParaRPr lang="en-US" sz="8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850" dirty="0">
                          <a:solidFill>
                            <a:srgbClr val="1F2933"/>
                          </a:solidFill>
                          <a:latin typeface="Calibri" pitchFamily="34" charset="0"/>
                          <a:ea typeface="Calibri" pitchFamily="34" charset="-122"/>
                          <a:cs typeface="Calibri" pitchFamily="34" charset="-120"/>
                        </a:rPr>
                        <a:t>Annex XVI devices without an intended medical purpose</a:t>
                      </a:r>
                      <a:endParaRPr lang="en-US" sz="8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850" dirty="0">
                          <a:solidFill>
                            <a:srgbClr val="1F2933"/>
                          </a:solidFill>
                          <a:latin typeface="Calibri" pitchFamily="34" charset="0"/>
                          <a:ea typeface="Calibri" pitchFamily="34" charset="-122"/>
                          <a:cs typeface="Calibri" pitchFamily="34" charset="-120"/>
                        </a:rPr>
                        <a:t>Covered</a:t>
                      </a:r>
                      <a:endParaRPr lang="en-US" sz="8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E8F3EE"/>
                    </a:solidFill>
                  </a:tcPr>
                </a:tc>
              </a:tr>
            </a:tbl>
          </a:graphicData>
        </a:graphic>
      </p:graphicFrame>
      <p:sp>
        <p:nvSpPr>
          <p:cNvPr id="8" name="Shape 4"/>
          <p:cNvSpPr/>
          <p:nvPr/>
        </p:nvSpPr>
        <p:spPr>
          <a:xfrm>
            <a:off x="457200" y="4041648"/>
            <a:ext cx="8229600" cy="457200"/>
          </a:xfrm>
          <a:prstGeom prst="roundRect">
            <a:avLst>
              <a:gd name="adj" fmla="val 12000"/>
            </a:avLst>
          </a:prstGeom>
          <a:solidFill>
            <a:srgbClr val="0F2A4A"/>
          </a:solidFill>
          <a:ln w="12700">
            <a:solidFill>
              <a:srgbClr val="0F2A4A"/>
            </a:solidFill>
            <a:prstDash val="solid"/>
          </a:ln>
        </p:spPr>
      </p:sp>
      <p:sp>
        <p:nvSpPr>
          <p:cNvPr id="9" name="Text 5"/>
          <p:cNvSpPr txBox="1"/>
          <p:nvPr/>
        </p:nvSpPr>
        <p:spPr>
          <a:xfrm>
            <a:off x="640080" y="4041648"/>
            <a:ext cx="7863840" cy="457200"/>
          </a:xfrm>
          <a:prstGeom prst="rect">
            <a:avLst/>
          </a:prstGeom>
          <a:noFill/>
          <a:ln/>
        </p:spPr>
        <p:txBody>
          <a:bodyPr wrap="square" lIns="0" tIns="0" rIns="0" bIns="0" rtlCol="0" anchor="ctr"/>
          <a:lstStyle/>
          <a:p>
            <a:pPr indent="0" marL="0">
              <a:buNone/>
            </a:pPr>
            <a:r>
              <a:rPr lang="en-US" sz="1000" i="1" dirty="0">
                <a:solidFill>
                  <a:srgbClr val="FFFFFF"/>
                </a:solidFill>
                <a:latin typeface="Calibri" pitchFamily="34" charset="0"/>
                <a:ea typeface="Calibri" pitchFamily="34" charset="-122"/>
                <a:cs typeface="Calibri" pitchFamily="34" charset="-120"/>
              </a:rPr>
              <a:t>Cited for the MDR by Commission Implementing Decision (EU) 2022/757, OJ L 138, 17.5.2022 - still live on the Commission list generated 17 June 2026. A11:2021 has NO content deviations; the seven belong to the withdrawn EN ISO 14971:2012.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4814316"/>
            <a:ext cx="5943600" cy="201168"/>
          </a:xfrm>
          <a:prstGeom prst="rect">
            <a:avLst/>
          </a:prstGeom>
          <a:noFill/>
          <a:ln/>
        </p:spPr>
        <p:txBody>
          <a:bodyPr wrap="square" lIns="0" tIns="0" rIns="0" bIns="0" rtlCol="0" anchor="ctr"/>
          <a:lstStyle/>
          <a:p>
            <a:pPr indent="0" marL="0">
              <a:buNone/>
            </a:pPr>
            <a:r>
              <a:rPr lang="en-US" sz="900" dirty="0">
                <a:solidFill>
                  <a:srgbClr val="5A6B7B"/>
                </a:solidFill>
                <a:latin typeface="Calibri" pitchFamily="34" charset="0"/>
                <a:ea typeface="Calibri" pitchFamily="34" charset="-122"/>
                <a:cs typeface="Calibri" pitchFamily="34" charset="-120"/>
              </a:rPr>
              <a:t>Risk Management  |  ISO 14971  |  Elder Consulting, LLC</a:t>
            </a:r>
            <a:endParaRPr lang="en-US" sz="900" dirty="0"/>
          </a:p>
        </p:txBody>
      </p:sp>
      <p:sp>
        <p:nvSpPr>
          <p:cNvPr id="3" name="Text 1"/>
          <p:cNvSpPr txBox="1"/>
          <p:nvPr/>
        </p:nvSpPr>
        <p:spPr>
          <a:xfrm>
            <a:off x="8138160" y="4814316"/>
            <a:ext cx="548640" cy="201168"/>
          </a:xfrm>
          <a:prstGeom prst="rect">
            <a:avLst/>
          </a:prstGeom>
          <a:noFill/>
          <a:ln/>
        </p:spPr>
        <p:txBody>
          <a:bodyPr wrap="square" lIns="0" tIns="0" rIns="0" bIns="0" rtlCol="0" anchor="ctr"/>
          <a:lstStyle/>
          <a:p>
            <a:pPr algn="r" indent="0" marL="0">
              <a:buNone/>
            </a:pPr>
            <a:r>
              <a:rPr lang="en-US" sz="900" dirty="0">
                <a:solidFill>
                  <a:srgbClr val="5A6B7B"/>
                </a:solidFill>
                <a:latin typeface="Calibri" pitchFamily="34" charset="0"/>
                <a:ea typeface="Calibri" pitchFamily="34" charset="-122"/>
                <a:cs typeface="Calibri" pitchFamily="34" charset="-120"/>
              </a:rPr>
              <a:t>13</a:t>
            </a:r>
            <a:endParaRPr lang="en-US" sz="900" dirty="0"/>
          </a:p>
        </p:txBody>
      </p:sp>
      <p:sp>
        <p:nvSpPr>
          <p:cNvPr id="4" name="Text 2"/>
          <p:cNvSpPr txBox="1"/>
          <p:nvPr/>
        </p:nvSpPr>
        <p:spPr>
          <a:xfrm>
            <a:off x="457200" y="274320"/>
            <a:ext cx="8229600" cy="219456"/>
          </a:xfrm>
          <a:prstGeom prst="rect">
            <a:avLst/>
          </a:prstGeom>
          <a:noFill/>
          <a:ln/>
        </p:spPr>
        <p:txBody>
          <a:bodyPr wrap="square" lIns="0" tIns="0" rIns="0" bIns="0" rtlCol="0" anchor="ctr"/>
          <a:lstStyle/>
          <a:p>
            <a:pPr indent="0" marL="0">
              <a:buNone/>
            </a:pPr>
            <a:r>
              <a:rPr lang="en-US" sz="1000" b="1" spc="200" kern="0" dirty="0">
                <a:solidFill>
                  <a:srgbClr val="A8730F"/>
                </a:solidFill>
                <a:latin typeface="Calibri" pitchFamily="34" charset="0"/>
                <a:ea typeface="Calibri" pitchFamily="34" charset="-122"/>
                <a:cs typeface="Calibri" pitchFamily="34" charset="-120"/>
              </a:rPr>
              <a:t>SECTION 2  |  TWO REGULATORS</a:t>
            </a:r>
            <a:endParaRPr lang="en-US" sz="1000" dirty="0"/>
          </a:p>
        </p:txBody>
      </p:sp>
      <p:sp>
        <p:nvSpPr>
          <p:cNvPr id="5" name="Text 3"/>
          <p:cNvSpPr txBox="1"/>
          <p:nvPr/>
        </p:nvSpPr>
        <p:spPr>
          <a:xfrm>
            <a:off x="457200" y="502920"/>
            <a:ext cx="8229600" cy="548640"/>
          </a:xfrm>
          <a:prstGeom prst="rect">
            <a:avLst/>
          </a:prstGeom>
          <a:noFill/>
          <a:ln/>
        </p:spPr>
        <p:txBody>
          <a:bodyPr wrap="square" lIns="0" tIns="0" rIns="0" bIns="0" rtlCol="0" anchor="t"/>
          <a:lstStyle/>
          <a:p>
            <a:pPr indent="0" marL="0">
              <a:buNone/>
            </a:pPr>
            <a:r>
              <a:rPr lang="en-US" sz="2400" b="1" dirty="0">
                <a:solidFill>
                  <a:srgbClr val="0F2A4A"/>
                </a:solidFill>
                <a:latin typeface="Cambria" pitchFamily="34" charset="0"/>
                <a:ea typeface="Cambria" pitchFamily="34" charset="-122"/>
                <a:cs typeface="Cambria" pitchFamily="34" charset="-120"/>
              </a:rPr>
              <a:t>AFAP is not ALARP, and the difference is money</a:t>
            </a:r>
            <a:endParaRPr lang="en-US" sz="2400" dirty="0"/>
          </a:p>
        </p:txBody>
      </p:sp>
      <p:sp>
        <p:nvSpPr>
          <p:cNvPr id="7" name="Shape 4"/>
          <p:cNvSpPr/>
          <p:nvPr/>
        </p:nvSpPr>
        <p:spPr>
          <a:xfrm>
            <a:off x="457200" y="1097280"/>
            <a:ext cx="3977640" cy="1737360"/>
          </a:xfrm>
          <a:prstGeom prst="roundRect">
            <a:avLst>
              <a:gd name="adj" fmla="val 3158"/>
            </a:avLst>
          </a:prstGeom>
          <a:solidFill>
            <a:srgbClr val="EAF0F6"/>
          </a:solidFill>
          <a:ln w="12700">
            <a:solidFill>
              <a:srgbClr val="EAF0F6"/>
            </a:solidFill>
            <a:prstDash val="solid"/>
          </a:ln>
        </p:spPr>
      </p:sp>
      <p:sp>
        <p:nvSpPr>
          <p:cNvPr id="8" name="Text 5"/>
          <p:cNvSpPr txBox="1"/>
          <p:nvPr/>
        </p:nvSpPr>
        <p:spPr>
          <a:xfrm>
            <a:off x="585216" y="1188720"/>
            <a:ext cx="3721608" cy="182880"/>
          </a:xfrm>
          <a:prstGeom prst="rect">
            <a:avLst/>
          </a:prstGeom>
          <a:noFill/>
          <a:ln/>
        </p:spPr>
        <p:txBody>
          <a:bodyPr wrap="square" lIns="0" tIns="0" rIns="0" bIns="0" rtlCol="0" anchor="ctr"/>
          <a:lstStyle/>
          <a:p>
            <a:pPr indent="0" marL="0">
              <a:buNone/>
            </a:pPr>
            <a:r>
              <a:rPr lang="en-US" sz="900" b="1" spc="150" kern="0" dirty="0">
                <a:solidFill>
                  <a:srgbClr val="A8730F"/>
                </a:solidFill>
                <a:latin typeface="Calibri" pitchFamily="34" charset="0"/>
                <a:ea typeface="Calibri" pitchFamily="34" charset="-122"/>
                <a:cs typeface="Calibri" pitchFamily="34" charset="-120"/>
              </a:rPr>
              <a:t>ALARP</a:t>
            </a:r>
            <a:endParaRPr lang="en-US" sz="900" dirty="0"/>
          </a:p>
        </p:txBody>
      </p:sp>
      <p:sp>
        <p:nvSpPr>
          <p:cNvPr id="9" name="Text 6"/>
          <p:cNvSpPr txBox="1"/>
          <p:nvPr/>
        </p:nvSpPr>
        <p:spPr>
          <a:xfrm>
            <a:off x="585216" y="1408176"/>
            <a:ext cx="3721608" cy="274320"/>
          </a:xfrm>
          <a:prstGeom prst="rect">
            <a:avLst/>
          </a:prstGeom>
          <a:noFill/>
          <a:ln/>
        </p:spPr>
        <p:txBody>
          <a:bodyPr wrap="square" lIns="0" tIns="0" rIns="0" bIns="0" rtlCol="0" anchor="ctr"/>
          <a:lstStyle/>
          <a:p>
            <a:pPr indent="0" marL="0">
              <a:buNone/>
            </a:pPr>
            <a:r>
              <a:rPr lang="en-US" sz="1300" b="1" dirty="0">
                <a:solidFill>
                  <a:srgbClr val="0F2A4A"/>
                </a:solidFill>
                <a:latin typeface="Calibri" pitchFamily="34" charset="0"/>
                <a:ea typeface="Calibri" pitchFamily="34" charset="-122"/>
                <a:cs typeface="Calibri" pitchFamily="34" charset="-120"/>
              </a:rPr>
              <a:t>As low as reasonably practicable</a:t>
            </a:r>
            <a:endParaRPr lang="en-US" sz="1300" dirty="0"/>
          </a:p>
        </p:txBody>
      </p:sp>
      <p:sp>
        <p:nvSpPr>
          <p:cNvPr id="10" name="Text 7"/>
          <p:cNvSpPr txBox="1"/>
          <p:nvPr/>
        </p:nvSpPr>
        <p:spPr>
          <a:xfrm>
            <a:off x="585216" y="1719072"/>
            <a:ext cx="3721608" cy="1024128"/>
          </a:xfrm>
          <a:prstGeom prst="rect">
            <a:avLst/>
          </a:prstGeom>
          <a:noFill/>
          <a:ln/>
        </p:spPr>
        <p:txBody>
          <a:bodyPr wrap="square" lIns="0" tIns="0" rIns="0" bIns="0" rtlCol="0" anchor="t"/>
          <a:lstStyle/>
          <a:p>
            <a:pPr marL="342900" indent="-342900">
              <a:spcAft>
                <a:spcPts val="400"/>
              </a:spcAft>
              <a:buSzPct val="100000"/>
              <a:buChar char="•"/>
            </a:pPr>
            <a:r>
              <a:rPr lang="en-US" sz="1000" dirty="0">
                <a:solidFill>
                  <a:srgbClr val="1F2933"/>
                </a:solidFill>
                <a:latin typeface="Calibri" pitchFamily="34" charset="0"/>
                <a:ea typeface="Calibri" pitchFamily="34" charset="-122"/>
                <a:cs typeface="Calibri" pitchFamily="34" charset="-120"/>
              </a:rPr>
              <a:t>Admits cost, effort and time into the judgement of how far to go</a:t>
            </a:r>
            <a:endParaRPr lang="en-US" sz="1000" dirty="0"/>
          </a:p>
          <a:p>
            <a:pPr marL="342900" indent="-342900">
              <a:spcAft>
                <a:spcPts val="400"/>
              </a:spcAft>
              <a:buSzPct val="100000"/>
              <a:buChar char="•"/>
            </a:pPr>
            <a:r>
              <a:rPr lang="en-US" sz="1000" dirty="0">
                <a:solidFill>
                  <a:srgbClr val="1F2933"/>
                </a:solidFill>
                <a:latin typeface="Calibri" pitchFamily="34" charset="0"/>
                <a:ea typeface="Calibri" pitchFamily="34" charset="-122"/>
                <a:cs typeface="Calibri" pitchFamily="34" charset="-120"/>
              </a:rPr>
              <a:t>Familiar from occupational safety regimes and from the Directive era</a:t>
            </a:r>
            <a:endParaRPr lang="en-US" sz="1000" dirty="0"/>
          </a:p>
          <a:p>
            <a:pPr marL="342900" indent="-342900">
              <a:spcAft>
                <a:spcPts val="400"/>
              </a:spcAft>
              <a:buSzPct val="100000"/>
              <a:buChar char="•"/>
            </a:pPr>
            <a:r>
              <a:rPr lang="en-US" sz="1000" dirty="0">
                <a:solidFill>
                  <a:srgbClr val="1F2933"/>
                </a:solidFill>
                <a:latin typeface="Calibri" pitchFamily="34" charset="0"/>
                <a:ea typeface="Calibri" pitchFamily="34" charset="-122"/>
                <a:cs typeface="Calibri" pitchFamily="34" charset="-120"/>
              </a:rPr>
              <a:t>Produces a defensible stopping point on economic grounds</a:t>
            </a:r>
            <a:endParaRPr lang="en-US" sz="1000" dirty="0"/>
          </a:p>
          <a:p>
            <a:pPr marL="342900" indent="-342900">
              <a:spcAft>
                <a:spcPts val="400"/>
              </a:spcAft>
              <a:buSzPct val="100000"/>
              <a:buChar char="•"/>
            </a:pPr>
            <a:r>
              <a:rPr lang="en-US" sz="1000" b="1" dirty="0">
                <a:solidFill>
                  <a:srgbClr val="1F2933"/>
                </a:solidFill>
                <a:latin typeface="Calibri" pitchFamily="34" charset="0"/>
                <a:ea typeface="Calibri" pitchFamily="34" charset="-122"/>
                <a:cs typeface="Calibri" pitchFamily="34" charset="-120"/>
              </a:rPr>
              <a:t>Not the MDR test</a:t>
            </a:r>
            <a:endParaRPr lang="en-US" sz="1000" dirty="0"/>
          </a:p>
        </p:txBody>
      </p:sp>
      <p:sp>
        <p:nvSpPr>
          <p:cNvPr id="11" name="Shape 8"/>
          <p:cNvSpPr/>
          <p:nvPr/>
        </p:nvSpPr>
        <p:spPr>
          <a:xfrm>
            <a:off x="4617720" y="1097280"/>
            <a:ext cx="4069080" cy="1737360"/>
          </a:xfrm>
          <a:prstGeom prst="roundRect">
            <a:avLst>
              <a:gd name="adj" fmla="val 3158"/>
            </a:avLst>
          </a:prstGeom>
          <a:solidFill>
            <a:srgbClr val="FBF2DE"/>
          </a:solidFill>
          <a:ln w="12700">
            <a:solidFill>
              <a:srgbClr val="FBF2DE"/>
            </a:solidFill>
            <a:prstDash val="solid"/>
          </a:ln>
        </p:spPr>
      </p:sp>
      <p:sp>
        <p:nvSpPr>
          <p:cNvPr id="12" name="Text 9"/>
          <p:cNvSpPr txBox="1"/>
          <p:nvPr/>
        </p:nvSpPr>
        <p:spPr>
          <a:xfrm>
            <a:off x="4745736" y="1188720"/>
            <a:ext cx="3813048" cy="182880"/>
          </a:xfrm>
          <a:prstGeom prst="rect">
            <a:avLst/>
          </a:prstGeom>
          <a:noFill/>
          <a:ln/>
        </p:spPr>
        <p:txBody>
          <a:bodyPr wrap="square" lIns="0" tIns="0" rIns="0" bIns="0" rtlCol="0" anchor="ctr"/>
          <a:lstStyle/>
          <a:p>
            <a:pPr indent="0" marL="0">
              <a:buNone/>
            </a:pPr>
            <a:r>
              <a:rPr lang="en-US" sz="900" b="1" spc="150" kern="0" dirty="0">
                <a:solidFill>
                  <a:srgbClr val="A8730F"/>
                </a:solidFill>
                <a:latin typeface="Calibri" pitchFamily="34" charset="0"/>
                <a:ea typeface="Calibri" pitchFamily="34" charset="-122"/>
                <a:cs typeface="Calibri" pitchFamily="34" charset="-120"/>
              </a:rPr>
              <a:t>AFAP</a:t>
            </a:r>
            <a:endParaRPr lang="en-US" sz="900" dirty="0"/>
          </a:p>
        </p:txBody>
      </p:sp>
      <p:sp>
        <p:nvSpPr>
          <p:cNvPr id="13" name="Text 10"/>
          <p:cNvSpPr txBox="1"/>
          <p:nvPr/>
        </p:nvSpPr>
        <p:spPr>
          <a:xfrm>
            <a:off x="4745736" y="1408176"/>
            <a:ext cx="3813048" cy="274320"/>
          </a:xfrm>
          <a:prstGeom prst="rect">
            <a:avLst/>
          </a:prstGeom>
          <a:noFill/>
          <a:ln/>
        </p:spPr>
        <p:txBody>
          <a:bodyPr wrap="square" lIns="0" tIns="0" rIns="0" bIns="0" rtlCol="0" anchor="ctr"/>
          <a:lstStyle/>
          <a:p>
            <a:pPr indent="0" marL="0">
              <a:buNone/>
            </a:pPr>
            <a:r>
              <a:rPr lang="en-US" sz="1300" b="1" dirty="0">
                <a:solidFill>
                  <a:srgbClr val="0F2A4A"/>
                </a:solidFill>
                <a:latin typeface="Calibri" pitchFamily="34" charset="0"/>
                <a:ea typeface="Calibri" pitchFamily="34" charset="-122"/>
                <a:cs typeface="Calibri" pitchFamily="34" charset="-120"/>
              </a:rPr>
              <a:t>As far as possible</a:t>
            </a:r>
            <a:endParaRPr lang="en-US" sz="1300" dirty="0"/>
          </a:p>
        </p:txBody>
      </p:sp>
      <p:sp>
        <p:nvSpPr>
          <p:cNvPr id="14" name="Text 11"/>
          <p:cNvSpPr txBox="1"/>
          <p:nvPr/>
        </p:nvSpPr>
        <p:spPr>
          <a:xfrm>
            <a:off x="4745736" y="1719072"/>
            <a:ext cx="3813048" cy="1024128"/>
          </a:xfrm>
          <a:prstGeom prst="rect">
            <a:avLst/>
          </a:prstGeom>
          <a:noFill/>
          <a:ln/>
        </p:spPr>
        <p:txBody>
          <a:bodyPr wrap="square" lIns="0" tIns="0" rIns="0" bIns="0" rtlCol="0" anchor="t"/>
          <a:lstStyle/>
          <a:p>
            <a:pPr marL="342900" indent="-342900">
              <a:spcAft>
                <a:spcPts val="400"/>
              </a:spcAft>
              <a:buSzPct val="100000"/>
              <a:buChar char="•"/>
            </a:pPr>
            <a:r>
              <a:rPr lang="en-US" sz="1000" dirty="0">
                <a:solidFill>
                  <a:srgbClr val="1F2933"/>
                </a:solidFill>
                <a:latin typeface="Calibri" pitchFamily="34" charset="0"/>
                <a:ea typeface="Calibri" pitchFamily="34" charset="-122"/>
                <a:cs typeface="Calibri" pitchFamily="34" charset="-120"/>
              </a:rPr>
              <a:t>MDR Annex I point 2: reduction as far as possible means without adversely affecting the benefit-risk ratio</a:t>
            </a:r>
            <a:endParaRPr lang="en-US" sz="1000" dirty="0"/>
          </a:p>
          <a:p>
            <a:pPr marL="342900" indent="-342900">
              <a:spcAft>
                <a:spcPts val="400"/>
              </a:spcAft>
              <a:buSzPct val="100000"/>
              <a:buChar char="•"/>
            </a:pPr>
            <a:r>
              <a:rPr lang="en-US" sz="1000" dirty="0">
                <a:solidFill>
                  <a:srgbClr val="1F2933"/>
                </a:solidFill>
                <a:latin typeface="Calibri" pitchFamily="34" charset="0"/>
                <a:ea typeface="Calibri" pitchFamily="34" charset="-122"/>
                <a:cs typeface="Calibri" pitchFamily="34" charset="-120"/>
              </a:rPr>
              <a:t>The only stated limit is the benefit-risk ratio</a:t>
            </a:r>
            <a:endParaRPr lang="en-US" sz="1000" dirty="0"/>
          </a:p>
          <a:p>
            <a:pPr marL="342900" indent="-342900">
              <a:spcAft>
                <a:spcPts val="400"/>
              </a:spcAft>
              <a:buSzPct val="100000"/>
              <a:buChar char="•"/>
            </a:pPr>
            <a:r>
              <a:rPr lang="en-US" sz="1000" dirty="0">
                <a:solidFill>
                  <a:srgbClr val="1F2933"/>
                </a:solidFill>
                <a:latin typeface="Calibri" pitchFamily="34" charset="0"/>
                <a:ea typeface="Calibri" pitchFamily="34" charset="-122"/>
                <a:cs typeface="Calibri" pitchFamily="34" charset="-120"/>
              </a:rPr>
              <a:t>Bounded in practice by the state of the art (points 1 and 4)</a:t>
            </a:r>
            <a:endParaRPr lang="en-US" sz="1000" dirty="0"/>
          </a:p>
          <a:p>
            <a:pPr marL="342900" indent="-342900">
              <a:spcAft>
                <a:spcPts val="400"/>
              </a:spcAft>
              <a:buSzPct val="100000"/>
              <a:buChar char="•"/>
            </a:pPr>
            <a:r>
              <a:rPr lang="en-US" sz="1000" b="1" dirty="0">
                <a:solidFill>
                  <a:srgbClr val="1F2933"/>
                </a:solidFill>
                <a:latin typeface="Calibri" pitchFamily="34" charset="0"/>
                <a:ea typeface="Calibri" pitchFamily="34" charset="-122"/>
                <a:cs typeface="Calibri" pitchFamily="34" charset="-120"/>
              </a:rPr>
              <a:t>The word ALARP does not appear in the MDR</a:t>
            </a:r>
            <a:endParaRPr lang="en-US" sz="10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457200" y="2971800"/>
          <a:ext cx="8229600" cy="914400"/>
        </p:xfrm>
        <a:graphic>
          <a:graphicData uri="http://schemas.openxmlformats.org/drawingml/2006/table">
            <a:tbl>
              <a:tblPr/>
              <a:tblGrid>
                <a:gridCol w="3017520"/>
                <a:gridCol w="521208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What is absent from the MDR text</a:t>
                      </a:r>
                      <a:endParaRPr lang="en-US" sz="950" dirty="0">
                        <a:latin typeface="Calibri" charset="0"/>
                        <a:ea typeface="Calibri" charset="0"/>
                        <a:cs typeface="Calibri" charset="0"/>
                      </a:endParaRPr>
                    </a:p>
                  </a:txBody>
                  <a:tcPr marL="54864" marR="54864" marT="54864" marB="54864" anchor="ctr">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0F2A4A"/>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Why it matters</a:t>
                      </a:r>
                      <a:endParaRPr lang="en-US" sz="950" dirty="0">
                        <a:latin typeface="Calibri" charset="0"/>
                        <a:ea typeface="Calibri" charset="0"/>
                        <a:cs typeface="Calibri" charset="0"/>
                      </a:endParaRPr>
                    </a:p>
                  </a:txBody>
                  <a:tcPr marL="54864" marR="54864" marT="54864" marB="54864" anchor="ctr">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0F2A4A"/>
                    </a:solidFill>
                  </a:tcPr>
                </a:tc>
              </a:tr>
              <a:tr h="274320">
                <a:tc>
                  <a:txBody>
                    <a:bodyPr/>
                    <a:lstStyle/>
                    <a:p>
                      <a:pPr indent="0" marL="0">
                        <a:buNone/>
                      </a:pPr>
                      <a:r>
                        <a:rPr lang="en-US" sz="950" b="1" dirty="0">
                          <a:solidFill>
                            <a:srgbClr val="1F2933"/>
                          </a:solidFill>
                          <a:latin typeface="Calibri" pitchFamily="34" charset="0"/>
                          <a:ea typeface="Calibri" pitchFamily="34" charset="-122"/>
                          <a:cs typeface="Calibri" pitchFamily="34" charset="-120"/>
                        </a:rPr>
                        <a:t>The word "ALARP"</a:t>
                      </a:r>
                      <a:endParaRPr lang="en-US" sz="9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950" dirty="0">
                          <a:solidFill>
                            <a:srgbClr val="1F2933"/>
                          </a:solidFill>
                          <a:latin typeface="Calibri" pitchFamily="34" charset="0"/>
                          <a:ea typeface="Calibri" pitchFamily="34" charset="-122"/>
                          <a:cs typeface="Calibri" pitchFamily="34" charset="-120"/>
                        </a:rPr>
                        <a:t>No textual basis for an economic stopping argument</a:t>
                      </a:r>
                      <a:endParaRPr lang="en-US" sz="9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r>
              <a:tr h="274320">
                <a:tc>
                  <a:txBody>
                    <a:bodyPr/>
                    <a:lstStyle/>
                    <a:p>
                      <a:pPr indent="0" marL="0">
                        <a:buNone/>
                      </a:pPr>
                      <a:r>
                        <a:rPr lang="en-US" sz="950" b="1" dirty="0">
                          <a:solidFill>
                            <a:srgbClr val="1F2933"/>
                          </a:solidFill>
                          <a:latin typeface="Calibri" pitchFamily="34" charset="0"/>
                          <a:ea typeface="Calibri" pitchFamily="34" charset="-122"/>
                          <a:cs typeface="Calibri" pitchFamily="34" charset="-120"/>
                        </a:rPr>
                        <a:t>Any reference to economic considerations</a:t>
                      </a:r>
                      <a:endParaRPr lang="en-US" sz="9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c>
                  <a:txBody>
                    <a:bodyPr/>
                    <a:lstStyle/>
                    <a:p>
                      <a:pPr indent="0" marL="0">
                        <a:buNone/>
                      </a:pPr>
                      <a:r>
                        <a:rPr lang="en-US" sz="950" dirty="0">
                          <a:solidFill>
                            <a:srgbClr val="1F2933"/>
                          </a:solidFill>
                          <a:latin typeface="Calibri" pitchFamily="34" charset="0"/>
                          <a:ea typeface="Calibri" pitchFamily="34" charset="-122"/>
                          <a:cs typeface="Calibri" pitchFamily="34" charset="-120"/>
                        </a:rPr>
                        <a:t>The Directive 93/42/EEC recital permitting "technical and economical considerations" was not carried over</a:t>
                      </a:r>
                      <a:endParaRPr lang="en-US" sz="9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r>
              <a:tr h="274320">
                <a:tc>
                  <a:txBody>
                    <a:bodyPr/>
                    <a:lstStyle/>
                    <a:p>
                      <a:pPr indent="0" marL="0">
                        <a:buNone/>
                      </a:pPr>
                      <a:r>
                        <a:rPr lang="en-US" sz="950" b="1" dirty="0">
                          <a:solidFill>
                            <a:srgbClr val="1F2933"/>
                          </a:solidFill>
                          <a:latin typeface="Calibri" pitchFamily="34" charset="0"/>
                          <a:ea typeface="Calibri" pitchFamily="34" charset="-122"/>
                          <a:cs typeface="Calibri" pitchFamily="34" charset="-120"/>
                        </a:rPr>
                        <a:t>A "negligible risk" carve-out in point 8</a:t>
                      </a:r>
                      <a:endParaRPr lang="en-US" sz="9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950" dirty="0">
                          <a:solidFill>
                            <a:srgbClr val="1F2933"/>
                          </a:solidFill>
                          <a:latin typeface="Calibri" pitchFamily="34" charset="0"/>
                          <a:ea typeface="Calibri" pitchFamily="34" charset="-122"/>
                          <a:cs typeface="Calibri" pitchFamily="34" charset="-120"/>
                        </a:rPr>
                        <a:t>All known and foreseeable risks must be minimised, not just the ones above a threshold</a:t>
                      </a:r>
                      <a:endParaRPr lang="en-US" sz="9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r>
            </a:tbl>
          </a:graphicData>
        </a:graphic>
      </p:graphicFrame>
      <p:sp>
        <p:nvSpPr>
          <p:cNvPr id="16" name="Shape 12"/>
          <p:cNvSpPr/>
          <p:nvPr/>
        </p:nvSpPr>
        <p:spPr>
          <a:xfrm>
            <a:off x="457200" y="4224528"/>
            <a:ext cx="8229600" cy="384048"/>
          </a:xfrm>
          <a:prstGeom prst="roundRect">
            <a:avLst>
              <a:gd name="adj" fmla="val 14286"/>
            </a:avLst>
          </a:prstGeom>
          <a:solidFill>
            <a:srgbClr val="0F2A4A"/>
          </a:solidFill>
          <a:ln w="12700">
            <a:solidFill>
              <a:srgbClr val="0F2A4A"/>
            </a:solidFill>
            <a:prstDash val="solid"/>
          </a:ln>
        </p:spPr>
      </p:sp>
      <p:sp>
        <p:nvSpPr>
          <p:cNvPr id="17" name="Text 13"/>
          <p:cNvSpPr txBox="1"/>
          <p:nvPr/>
        </p:nvSpPr>
        <p:spPr>
          <a:xfrm>
            <a:off x="640080" y="4224528"/>
            <a:ext cx="7863840" cy="384048"/>
          </a:xfrm>
          <a:prstGeom prst="rect">
            <a:avLst/>
          </a:prstGeom>
          <a:noFill/>
          <a:ln/>
        </p:spPr>
        <p:txBody>
          <a:bodyPr wrap="square" lIns="0" tIns="0" rIns="0" bIns="0" rtlCol="0" anchor="ctr"/>
          <a:lstStyle/>
          <a:p>
            <a:pPr indent="0" marL="0">
              <a:buNone/>
            </a:pPr>
            <a:r>
              <a:rPr lang="en-US" sz="1050" i="1" dirty="0">
                <a:solidFill>
                  <a:srgbClr val="FFFFFF"/>
                </a:solidFill>
                <a:latin typeface="Calibri" pitchFamily="34" charset="0"/>
                <a:ea typeface="Calibri" pitchFamily="34" charset="-122"/>
                <a:cs typeface="Calibri" pitchFamily="34" charset="-120"/>
              </a:rPr>
              <a:t>ISO/TR 24971:2020 Annex C is where ALARP, AFAP, ALARA and ALAP are compared, as guidance on the Clause 4.2 policy. The standard does not choose; your policy does, and the regulation constrains it.</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4814316"/>
            <a:ext cx="5943600" cy="201168"/>
          </a:xfrm>
          <a:prstGeom prst="rect">
            <a:avLst/>
          </a:prstGeom>
          <a:noFill/>
          <a:ln/>
        </p:spPr>
        <p:txBody>
          <a:bodyPr wrap="square" lIns="0" tIns="0" rIns="0" bIns="0" rtlCol="0" anchor="ctr"/>
          <a:lstStyle/>
          <a:p>
            <a:pPr indent="0" marL="0">
              <a:buNone/>
            </a:pPr>
            <a:r>
              <a:rPr lang="en-US" sz="900" dirty="0">
                <a:solidFill>
                  <a:srgbClr val="5A6B7B"/>
                </a:solidFill>
                <a:latin typeface="Calibri" pitchFamily="34" charset="0"/>
                <a:ea typeface="Calibri" pitchFamily="34" charset="-122"/>
                <a:cs typeface="Calibri" pitchFamily="34" charset="-120"/>
              </a:rPr>
              <a:t>Risk Management  |  ISO 14971  |  Elder Consulting, LLC</a:t>
            </a:r>
            <a:endParaRPr lang="en-US" sz="900" dirty="0"/>
          </a:p>
        </p:txBody>
      </p:sp>
      <p:sp>
        <p:nvSpPr>
          <p:cNvPr id="3" name="Text 1"/>
          <p:cNvSpPr txBox="1"/>
          <p:nvPr/>
        </p:nvSpPr>
        <p:spPr>
          <a:xfrm>
            <a:off x="8138160" y="4814316"/>
            <a:ext cx="548640" cy="201168"/>
          </a:xfrm>
          <a:prstGeom prst="rect">
            <a:avLst/>
          </a:prstGeom>
          <a:noFill/>
          <a:ln/>
        </p:spPr>
        <p:txBody>
          <a:bodyPr wrap="square" lIns="0" tIns="0" rIns="0" bIns="0" rtlCol="0" anchor="ctr"/>
          <a:lstStyle/>
          <a:p>
            <a:pPr algn="r" indent="0" marL="0">
              <a:buNone/>
            </a:pPr>
            <a:r>
              <a:rPr lang="en-US" sz="900" dirty="0">
                <a:solidFill>
                  <a:srgbClr val="5A6B7B"/>
                </a:solidFill>
                <a:latin typeface="Calibri" pitchFamily="34" charset="0"/>
                <a:ea typeface="Calibri" pitchFamily="34" charset="-122"/>
                <a:cs typeface="Calibri" pitchFamily="34" charset="-120"/>
              </a:rPr>
              <a:t>14</a:t>
            </a:r>
            <a:endParaRPr lang="en-US" sz="900" dirty="0"/>
          </a:p>
        </p:txBody>
      </p:sp>
      <p:sp>
        <p:nvSpPr>
          <p:cNvPr id="4" name="Text 2"/>
          <p:cNvSpPr txBox="1"/>
          <p:nvPr/>
        </p:nvSpPr>
        <p:spPr>
          <a:xfrm>
            <a:off x="457200" y="274320"/>
            <a:ext cx="8229600" cy="219456"/>
          </a:xfrm>
          <a:prstGeom prst="rect">
            <a:avLst/>
          </a:prstGeom>
          <a:noFill/>
          <a:ln/>
        </p:spPr>
        <p:txBody>
          <a:bodyPr wrap="square" lIns="0" tIns="0" rIns="0" bIns="0" rtlCol="0" anchor="ctr"/>
          <a:lstStyle/>
          <a:p>
            <a:pPr indent="0" marL="0">
              <a:buNone/>
            </a:pPr>
            <a:r>
              <a:rPr lang="en-US" sz="1000" b="1" spc="200" kern="0" dirty="0">
                <a:solidFill>
                  <a:srgbClr val="A8730F"/>
                </a:solidFill>
                <a:latin typeface="Calibri" pitchFamily="34" charset="0"/>
                <a:ea typeface="Calibri" pitchFamily="34" charset="-122"/>
                <a:cs typeface="Calibri" pitchFamily="34" charset="-120"/>
              </a:rPr>
              <a:t>SECTION 2  |  TWO REGULATORS</a:t>
            </a:r>
            <a:endParaRPr lang="en-US" sz="1000" dirty="0"/>
          </a:p>
        </p:txBody>
      </p:sp>
      <p:sp>
        <p:nvSpPr>
          <p:cNvPr id="5" name="Text 3"/>
          <p:cNvSpPr txBox="1"/>
          <p:nvPr/>
        </p:nvSpPr>
        <p:spPr>
          <a:xfrm>
            <a:off x="457200" y="502920"/>
            <a:ext cx="8229600" cy="548640"/>
          </a:xfrm>
          <a:prstGeom prst="rect">
            <a:avLst/>
          </a:prstGeom>
          <a:noFill/>
          <a:ln/>
        </p:spPr>
        <p:txBody>
          <a:bodyPr wrap="square" lIns="0" tIns="0" rIns="0" bIns="0" rtlCol="0" anchor="t"/>
          <a:lstStyle/>
          <a:p>
            <a:pPr indent="0" marL="0">
              <a:buNone/>
            </a:pPr>
            <a:r>
              <a:rPr lang="en-US" sz="2400" b="1" dirty="0">
                <a:solidFill>
                  <a:srgbClr val="0F2A4A"/>
                </a:solidFill>
                <a:latin typeface="Cambria" pitchFamily="34" charset="0"/>
                <a:ea typeface="Cambria" pitchFamily="34" charset="-122"/>
                <a:cs typeface="Cambria" pitchFamily="34" charset="-120"/>
              </a:rPr>
              <a:t>Where they agree, and where they genuinely differ</a:t>
            </a:r>
            <a:endParaRPr lang="en-US" sz="24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914400"/>
        </p:xfrm>
        <a:graphic>
          <a:graphicData uri="http://schemas.openxmlformats.org/drawingml/2006/table">
            <a:tbl>
              <a:tblPr/>
              <a:tblGrid>
                <a:gridCol w="1737360"/>
                <a:gridCol w="3291840"/>
                <a:gridCol w="3200400"/>
              </a:tblGrid>
              <a:tr h="292608">
                <a:tc>
                  <a:txBody>
                    <a:bodyPr/>
                    <a:lstStyle/>
                    <a:p>
                      <a:pPr indent="0" marL="0">
                        <a:buNone/>
                      </a:pPr>
                      <a:endParaRPr lang="en-US" sz="850" dirty="0">
                        <a:latin typeface="Calibri" charset="0"/>
                        <a:ea typeface="Calibri" charset="0"/>
                        <a:cs typeface="Calibri" charset="0"/>
                      </a:endParaRPr>
                    </a:p>
                  </a:txBody>
                  <a:tcPr marL="54864" marR="54864" marT="54864" marB="54864" anchor="ctr">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0F2A4A"/>
                    </a:solidFill>
                  </a:tcPr>
                </a:tc>
                <a:tc>
                  <a:txBody>
                    <a:bodyPr/>
                    <a:lstStyle/>
                    <a:p>
                      <a:pPr indent="0" marL="0">
                        <a:buNone/>
                      </a:pPr>
                      <a:r>
                        <a:rPr lang="en-US" sz="850" b="1" dirty="0">
                          <a:solidFill>
                            <a:srgbClr val="FFFFFF"/>
                          </a:solidFill>
                          <a:latin typeface="Calibri" pitchFamily="34" charset="0"/>
                          <a:ea typeface="Calibri" pitchFamily="34" charset="-122"/>
                          <a:cs typeface="Calibri" pitchFamily="34" charset="-120"/>
                        </a:rPr>
                        <a:t>EU MDR</a:t>
                      </a:r>
                      <a:endParaRPr lang="en-US" sz="850" dirty="0">
                        <a:latin typeface="Calibri" charset="0"/>
                        <a:ea typeface="Calibri" charset="0"/>
                        <a:cs typeface="Calibri" charset="0"/>
                      </a:endParaRPr>
                    </a:p>
                  </a:txBody>
                  <a:tcPr marL="54864" marR="54864" marT="54864" marB="54864" anchor="ctr">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0F2A4A"/>
                    </a:solidFill>
                  </a:tcPr>
                </a:tc>
                <a:tc>
                  <a:txBody>
                    <a:bodyPr/>
                    <a:lstStyle/>
                    <a:p>
                      <a:pPr indent="0" marL="0">
                        <a:buNone/>
                      </a:pPr>
                      <a:r>
                        <a:rPr lang="en-US" sz="850" b="1" dirty="0">
                          <a:solidFill>
                            <a:srgbClr val="FFFFFF"/>
                          </a:solidFill>
                          <a:latin typeface="Calibri" pitchFamily="34" charset="0"/>
                          <a:ea typeface="Calibri" pitchFamily="34" charset="-122"/>
                          <a:cs typeface="Calibri" pitchFamily="34" charset="-120"/>
                        </a:rPr>
                        <a:t>FDA</a:t>
                      </a:r>
                      <a:endParaRPr lang="en-US" sz="850" dirty="0">
                        <a:latin typeface="Calibri" charset="0"/>
                        <a:ea typeface="Calibri" charset="0"/>
                        <a:cs typeface="Calibri" charset="0"/>
                      </a:endParaRPr>
                    </a:p>
                  </a:txBody>
                  <a:tcPr marL="54864" marR="54864" marT="54864" marB="54864" anchor="ctr">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0F2A4A"/>
                    </a:solidFill>
                  </a:tcPr>
                </a:tc>
              </a:tr>
              <a:tr h="292608">
                <a:tc>
                  <a:txBody>
                    <a:bodyPr/>
                    <a:lstStyle/>
                    <a:p>
                      <a:pPr indent="0" marL="0">
                        <a:buNone/>
                      </a:pPr>
                      <a:r>
                        <a:rPr lang="en-US" sz="850" b="1" dirty="0">
                          <a:solidFill>
                            <a:srgbClr val="1F2933"/>
                          </a:solidFill>
                          <a:latin typeface="Calibri" pitchFamily="34" charset="0"/>
                          <a:ea typeface="Calibri" pitchFamily="34" charset="-122"/>
                          <a:cs typeface="Calibri" pitchFamily="34" charset="-120"/>
                        </a:rPr>
                        <a:t>Is ISO 14971 required?</a:t>
                      </a:r>
                      <a:endParaRPr lang="en-US" sz="8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850" dirty="0">
                          <a:solidFill>
                            <a:srgbClr val="1F2933"/>
                          </a:solidFill>
                          <a:latin typeface="Calibri" pitchFamily="34" charset="0"/>
                          <a:ea typeface="Calibri" pitchFamily="34" charset="-122"/>
                          <a:cs typeface="Calibri" pitchFamily="34" charset="-120"/>
                        </a:rPr>
                        <a:t>Voluntary, but harmonised - presumption of conformity for the points Annex ZA lists</a:t>
                      </a:r>
                      <a:endParaRPr lang="en-US" sz="8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850" dirty="0">
                          <a:solidFill>
                            <a:srgbClr val="1F2933"/>
                          </a:solidFill>
                          <a:latin typeface="Calibri" pitchFamily="34" charset="0"/>
                          <a:ea typeface="Calibri" pitchFamily="34" charset="-122"/>
                          <a:cs typeface="Calibri" pitchFamily="34" charset="-120"/>
                        </a:rPr>
                        <a:t>Not incorporated into Part 820. Recognized consensus standard, so declarable in a submission</a:t>
                      </a:r>
                      <a:endParaRPr lang="en-US" sz="8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r>
              <a:tr h="292608">
                <a:tc>
                  <a:txBody>
                    <a:bodyPr/>
                    <a:lstStyle/>
                    <a:p>
                      <a:pPr indent="0" marL="0">
                        <a:buNone/>
                      </a:pPr>
                      <a:r>
                        <a:rPr lang="en-US" sz="850" b="1" dirty="0">
                          <a:solidFill>
                            <a:srgbClr val="1F2933"/>
                          </a:solidFill>
                          <a:latin typeface="Calibri" pitchFamily="34" charset="0"/>
                          <a:ea typeface="Calibri" pitchFamily="34" charset="-122"/>
                          <a:cs typeface="Calibri" pitchFamily="34" charset="-120"/>
                        </a:rPr>
                        <a:t>How far must risk be reduced?</a:t>
                      </a:r>
                      <a:endParaRPr lang="en-US" sz="8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c>
                  <a:txBody>
                    <a:bodyPr/>
                    <a:lstStyle/>
                    <a:p>
                      <a:pPr indent="0" marL="0">
                        <a:buNone/>
                      </a:pPr>
                      <a:r>
                        <a:rPr lang="en-US" sz="850" dirty="0">
                          <a:solidFill>
                            <a:srgbClr val="1F2933"/>
                          </a:solidFill>
                          <a:latin typeface="Calibri" pitchFamily="34" charset="0"/>
                          <a:ea typeface="Calibri" pitchFamily="34" charset="-122"/>
                          <a:cs typeface="Calibri" pitchFamily="34" charset="-120"/>
                        </a:rPr>
                        <a:t>As far as possible, limited only by the benefit-risk ratio (Annex I point 2)</a:t>
                      </a:r>
                      <a:endParaRPr lang="en-US" sz="8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c>
                  <a:txBody>
                    <a:bodyPr/>
                    <a:lstStyle/>
                    <a:p>
                      <a:pPr indent="0" marL="0">
                        <a:buNone/>
                      </a:pPr>
                      <a:r>
                        <a:rPr lang="en-US" sz="850" dirty="0">
                          <a:solidFill>
                            <a:srgbClr val="1F2933"/>
                          </a:solidFill>
                          <a:latin typeface="Calibri" pitchFamily="34" charset="0"/>
                          <a:ea typeface="Calibri" pitchFamily="34" charset="-122"/>
                          <a:cs typeface="Calibri" pitchFamily="34" charset="-120"/>
                        </a:rPr>
                        <a:t>To acceptable levels as defined by the manufacturer, through ISO 13485 Clauses 4.1.2 b) and 7.1</a:t>
                      </a:r>
                      <a:endParaRPr lang="en-US" sz="8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r>
              <a:tr h="292608">
                <a:tc>
                  <a:txBody>
                    <a:bodyPr/>
                    <a:lstStyle/>
                    <a:p>
                      <a:pPr indent="0" marL="0">
                        <a:buNone/>
                      </a:pPr>
                      <a:r>
                        <a:rPr lang="en-US" sz="850" b="1" dirty="0">
                          <a:solidFill>
                            <a:srgbClr val="1F2933"/>
                          </a:solidFill>
                          <a:latin typeface="Calibri" pitchFamily="34" charset="0"/>
                          <a:ea typeface="Calibri" pitchFamily="34" charset="-122"/>
                          <a:cs typeface="Calibri" pitchFamily="34" charset="-120"/>
                        </a:rPr>
                        <a:t>Benefit-risk for an individual risk?</a:t>
                      </a:r>
                      <a:endParaRPr lang="en-US" sz="8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850" dirty="0">
                          <a:solidFill>
                            <a:srgbClr val="1F2933"/>
                          </a:solidFill>
                          <a:latin typeface="Calibri" pitchFamily="34" charset="0"/>
                          <a:ea typeface="Calibri" pitchFamily="34" charset="-122"/>
                          <a:cs typeface="Calibri" pitchFamily="34" charset="-120"/>
                        </a:rPr>
                        <a:t>Expected. Annex I point 4 speaks of the residual risk associated with each hazard; Team-NB rejects RPN-alone and green-zone acceptance</a:t>
                      </a:r>
                      <a:endParaRPr lang="en-US" sz="8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850" dirty="0">
                          <a:solidFill>
                            <a:srgbClr val="1F2933"/>
                          </a:solidFill>
                          <a:latin typeface="Calibri" pitchFamily="34" charset="0"/>
                          <a:ea typeface="Calibri" pitchFamily="34" charset="-122"/>
                          <a:cs typeface="Calibri" pitchFamily="34" charset="-120"/>
                        </a:rPr>
                        <a:t>Clause 7.4 applies if you declare conformity to ISO 14971; not separately mandated by Part 820</a:t>
                      </a:r>
                      <a:endParaRPr lang="en-US" sz="8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r>
              <a:tr h="292608">
                <a:tc>
                  <a:txBody>
                    <a:bodyPr/>
                    <a:lstStyle/>
                    <a:p>
                      <a:pPr indent="0" marL="0">
                        <a:buNone/>
                      </a:pPr>
                      <a:r>
                        <a:rPr lang="en-US" sz="850" b="1" dirty="0">
                          <a:solidFill>
                            <a:srgbClr val="1F2933"/>
                          </a:solidFill>
                          <a:latin typeface="Calibri" pitchFamily="34" charset="0"/>
                          <a:ea typeface="Calibri" pitchFamily="34" charset="-122"/>
                          <a:cs typeface="Calibri" pitchFamily="34" charset="-120"/>
                        </a:rPr>
                        <a:t>Where the risk file is filed</a:t>
                      </a:r>
                      <a:endParaRPr lang="en-US" sz="8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c>
                  <a:txBody>
                    <a:bodyPr/>
                    <a:lstStyle/>
                    <a:p>
                      <a:pPr indent="0" marL="0">
                        <a:buNone/>
                      </a:pPr>
                      <a:r>
                        <a:rPr lang="en-US" sz="850" dirty="0">
                          <a:solidFill>
                            <a:srgbClr val="1F2933"/>
                          </a:solidFill>
                          <a:latin typeface="Calibri" pitchFamily="34" charset="0"/>
                          <a:ea typeface="Calibri" pitchFamily="34" charset="-122"/>
                          <a:cs typeface="Calibri" pitchFamily="34" charset="-120"/>
                        </a:rPr>
                        <a:t>Annex II point 5: the benefit-risk analysis and the results of risk management, inside the technical documentation</a:t>
                      </a:r>
                      <a:endParaRPr lang="en-US" sz="8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c>
                  <a:txBody>
                    <a:bodyPr/>
                    <a:lstStyle/>
                    <a:p>
                      <a:pPr indent="0" marL="0">
                        <a:buNone/>
                      </a:pPr>
                      <a:r>
                        <a:rPr lang="en-US" sz="850" dirty="0">
                          <a:solidFill>
                            <a:srgbClr val="1F2933"/>
                          </a:solidFill>
                          <a:latin typeface="Calibri" pitchFamily="34" charset="0"/>
                          <a:ea typeface="Calibri" pitchFamily="34" charset="-122"/>
                          <a:cs typeface="Calibri" pitchFamily="34" charset="-120"/>
                        </a:rPr>
                        <a:t>Design and development file / medical device file, reviewed at inspection rather than submitted</a:t>
                      </a:r>
                      <a:endParaRPr lang="en-US" sz="8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r>
              <a:tr h="292608">
                <a:tc>
                  <a:txBody>
                    <a:bodyPr/>
                    <a:lstStyle/>
                    <a:p>
                      <a:pPr indent="0" marL="0">
                        <a:buNone/>
                      </a:pPr>
                      <a:r>
                        <a:rPr lang="en-US" sz="850" b="1" dirty="0">
                          <a:solidFill>
                            <a:srgbClr val="1F2933"/>
                          </a:solidFill>
                          <a:latin typeface="Calibri" pitchFamily="34" charset="0"/>
                          <a:ea typeface="Calibri" pitchFamily="34" charset="-122"/>
                          <a:cs typeface="Calibri" pitchFamily="34" charset="-120"/>
                        </a:rPr>
                        <a:t>Post-market feedback into the file</a:t>
                      </a:r>
                      <a:endParaRPr lang="en-US" sz="8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850" dirty="0">
                          <a:solidFill>
                            <a:srgbClr val="1F2933"/>
                          </a:solidFill>
                          <a:latin typeface="Calibri" pitchFamily="34" charset="0"/>
                          <a:ea typeface="Calibri" pitchFamily="34" charset="-122"/>
                          <a:cs typeface="Calibri" pitchFamily="34" charset="-120"/>
                        </a:rPr>
                        <a:t>Article 83(3)(a), Annex III point 1(b) indicators and thresholds, PSUR, PMCF, trend reporting under Article 88</a:t>
                      </a:r>
                      <a:endParaRPr lang="en-US" sz="8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850" dirty="0">
                          <a:solidFill>
                            <a:srgbClr val="1F2933"/>
                          </a:solidFill>
                          <a:latin typeface="Calibri" pitchFamily="34" charset="0"/>
                          <a:ea typeface="Calibri" pitchFamily="34" charset="-122"/>
                          <a:cs typeface="Calibri" pitchFamily="34" charset="-120"/>
                        </a:rPr>
                        <a:t>ISO 13485 Clause 8.2 feedback and complaints; MDR reporting under 21 CFR 803</a:t>
                      </a:r>
                      <a:endParaRPr lang="en-US" sz="8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B1F38"/>
        </a:solidFill>
      </p:bgPr>
    </p:bg>
    <p:spTree>
      <p:nvGrpSpPr>
        <p:cNvPr id="1" name=""/>
        <p:cNvGrpSpPr/>
        <p:nvPr/>
      </p:nvGrpSpPr>
      <p:grpSpPr>
        <a:xfrm>
          <a:off x="0" y="0"/>
          <a:ext cx="0" cy="0"/>
          <a:chOff x="0" y="0"/>
          <a:chExt cx="0" cy="0"/>
        </a:xfrm>
      </p:grpSpPr>
      <p:sp>
        <p:nvSpPr>
          <p:cNvPr id="2" name="Text 0"/>
          <p:cNvSpPr txBox="1"/>
          <p:nvPr/>
        </p:nvSpPr>
        <p:spPr>
          <a:xfrm>
            <a:off x="457200" y="4814316"/>
            <a:ext cx="5943600" cy="201168"/>
          </a:xfrm>
          <a:prstGeom prst="rect">
            <a:avLst/>
          </a:prstGeom>
          <a:noFill/>
          <a:ln/>
        </p:spPr>
        <p:txBody>
          <a:bodyPr wrap="square" lIns="0" tIns="0" rIns="0" bIns="0" rtlCol="0" anchor="ctr"/>
          <a:lstStyle/>
          <a:p>
            <a:pPr indent="0" marL="0">
              <a:buNone/>
            </a:pPr>
            <a:r>
              <a:rPr lang="en-US" sz="900" dirty="0">
                <a:solidFill>
                  <a:srgbClr val="8FA1B5"/>
                </a:solidFill>
                <a:latin typeface="Calibri" pitchFamily="34" charset="0"/>
                <a:ea typeface="Calibri" pitchFamily="34" charset="-122"/>
                <a:cs typeface="Calibri" pitchFamily="34" charset="-120"/>
              </a:rPr>
              <a:t>Risk Management  |  ISO 14971  |  Elder Consulting, LLC</a:t>
            </a:r>
            <a:endParaRPr lang="en-US" sz="900" dirty="0"/>
          </a:p>
        </p:txBody>
      </p:sp>
      <p:sp>
        <p:nvSpPr>
          <p:cNvPr id="3" name="Text 1"/>
          <p:cNvSpPr txBox="1"/>
          <p:nvPr/>
        </p:nvSpPr>
        <p:spPr>
          <a:xfrm>
            <a:off x="8138160" y="4814316"/>
            <a:ext cx="548640" cy="201168"/>
          </a:xfrm>
          <a:prstGeom prst="rect">
            <a:avLst/>
          </a:prstGeom>
          <a:noFill/>
          <a:ln/>
        </p:spPr>
        <p:txBody>
          <a:bodyPr wrap="square" lIns="0" tIns="0" rIns="0" bIns="0" rtlCol="0" anchor="ctr"/>
          <a:lstStyle/>
          <a:p>
            <a:pPr algn="r" indent="0" marL="0">
              <a:buNone/>
            </a:pPr>
            <a:r>
              <a:rPr lang="en-US" sz="900" dirty="0">
                <a:solidFill>
                  <a:srgbClr val="8FA1B5"/>
                </a:solidFill>
                <a:latin typeface="Calibri" pitchFamily="34" charset="0"/>
                <a:ea typeface="Calibri" pitchFamily="34" charset="-122"/>
                <a:cs typeface="Calibri" pitchFamily="34" charset="-120"/>
              </a:rPr>
              <a:t>15</a:t>
            </a:r>
            <a:endParaRPr lang="en-US" sz="900" dirty="0"/>
          </a:p>
        </p:txBody>
      </p:sp>
      <p:sp>
        <p:nvSpPr>
          <p:cNvPr id="4" name="Text 2"/>
          <p:cNvSpPr txBox="1"/>
          <p:nvPr/>
        </p:nvSpPr>
        <p:spPr>
          <a:xfrm>
            <a:off x="457200" y="1417320"/>
            <a:ext cx="8229600" cy="320040"/>
          </a:xfrm>
          <a:prstGeom prst="rect">
            <a:avLst/>
          </a:prstGeom>
          <a:noFill/>
          <a:ln/>
        </p:spPr>
        <p:txBody>
          <a:bodyPr wrap="square" lIns="0" tIns="0" rIns="0" bIns="0" rtlCol="0" anchor="ctr"/>
          <a:lstStyle/>
          <a:p>
            <a:pPr indent="0" marL="0">
              <a:buNone/>
            </a:pPr>
            <a:r>
              <a:rPr lang="en-US" sz="1300" b="1" spc="300" kern="0" dirty="0">
                <a:solidFill>
                  <a:srgbClr val="E0A126"/>
                </a:solidFill>
                <a:latin typeface="Calibri" pitchFamily="34" charset="0"/>
                <a:ea typeface="Calibri" pitchFamily="34" charset="-122"/>
                <a:cs typeface="Calibri" pitchFamily="34" charset="-120"/>
              </a:rPr>
              <a:t>SECTION 3</a:t>
            </a:r>
            <a:endParaRPr lang="en-US" sz="1300" dirty="0"/>
          </a:p>
        </p:txBody>
      </p:sp>
      <p:sp>
        <p:nvSpPr>
          <p:cNvPr id="5" name="Text 3"/>
          <p:cNvSpPr txBox="1"/>
          <p:nvPr/>
        </p:nvSpPr>
        <p:spPr>
          <a:xfrm>
            <a:off x="457200" y="1783080"/>
            <a:ext cx="8229600" cy="1234440"/>
          </a:xfrm>
          <a:prstGeom prst="rect">
            <a:avLst/>
          </a:prstGeom>
          <a:noFill/>
          <a:ln/>
        </p:spPr>
        <p:txBody>
          <a:bodyPr wrap="square" lIns="0" tIns="0" rIns="0" bIns="0" rtlCol="0" anchor="t"/>
          <a:lstStyle/>
          <a:p>
            <a:pPr indent="0" marL="0">
              <a:buNone/>
            </a:pPr>
            <a:r>
              <a:rPr lang="en-US" sz="3600" b="1" dirty="0">
                <a:solidFill>
                  <a:srgbClr val="FFFFFF"/>
                </a:solidFill>
                <a:latin typeface="Cambria" pitchFamily="34" charset="0"/>
                <a:ea typeface="Cambria" pitchFamily="34" charset="-122"/>
                <a:cs typeface="Cambria" pitchFamily="34" charset="-120"/>
              </a:rPr>
              <a:t>Exercise A: repair the hazard chain</a:t>
            </a:r>
            <a:endParaRPr lang="en-US" sz="3600" dirty="0"/>
          </a:p>
        </p:txBody>
      </p:sp>
      <p:sp>
        <p:nvSpPr>
          <p:cNvPr id="6" name="Text 4"/>
          <p:cNvSpPr txBox="1"/>
          <p:nvPr/>
        </p:nvSpPr>
        <p:spPr>
          <a:xfrm>
            <a:off x="457200" y="3108960"/>
            <a:ext cx="7863840" cy="914400"/>
          </a:xfrm>
          <a:prstGeom prst="rect">
            <a:avLst/>
          </a:prstGeom>
          <a:noFill/>
          <a:ln/>
        </p:spPr>
        <p:txBody>
          <a:bodyPr wrap="square" lIns="0" tIns="0" rIns="0" bIns="0" rtlCol="0" anchor="t"/>
          <a:lstStyle/>
          <a:p>
            <a:pPr indent="0" marL="0">
              <a:buNone/>
            </a:pPr>
            <a:r>
              <a:rPr lang="en-US" sz="1600" dirty="0">
                <a:solidFill>
                  <a:srgbClr val="C9D3DE"/>
                </a:solidFill>
                <a:latin typeface="Calibri" pitchFamily="34" charset="0"/>
                <a:ea typeface="Calibri" pitchFamily="34" charset="-122"/>
                <a:cs typeface="Calibri" pitchFamily="34" charset="-120"/>
              </a:rPr>
              <a:t>Fifteen minutes. One broken row, rebuilt by the table, then the deficiency you would have received</a:t>
            </a:r>
            <a:endParaRPr lang="en-US" sz="1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4814316"/>
            <a:ext cx="5943600" cy="201168"/>
          </a:xfrm>
          <a:prstGeom prst="rect">
            <a:avLst/>
          </a:prstGeom>
          <a:noFill/>
          <a:ln/>
        </p:spPr>
        <p:txBody>
          <a:bodyPr wrap="square" lIns="0" tIns="0" rIns="0" bIns="0" rtlCol="0" anchor="ctr"/>
          <a:lstStyle/>
          <a:p>
            <a:pPr indent="0" marL="0">
              <a:buNone/>
            </a:pPr>
            <a:r>
              <a:rPr lang="en-US" sz="900" dirty="0">
                <a:solidFill>
                  <a:srgbClr val="5A6B7B"/>
                </a:solidFill>
                <a:latin typeface="Calibri" pitchFamily="34" charset="0"/>
                <a:ea typeface="Calibri" pitchFamily="34" charset="-122"/>
                <a:cs typeface="Calibri" pitchFamily="34" charset="-120"/>
              </a:rPr>
              <a:t>Risk Management  |  ISO 14971  |  Elder Consulting, LLC</a:t>
            </a:r>
            <a:endParaRPr lang="en-US" sz="900" dirty="0"/>
          </a:p>
        </p:txBody>
      </p:sp>
      <p:sp>
        <p:nvSpPr>
          <p:cNvPr id="3" name="Text 1"/>
          <p:cNvSpPr txBox="1"/>
          <p:nvPr/>
        </p:nvSpPr>
        <p:spPr>
          <a:xfrm>
            <a:off x="8138160" y="4814316"/>
            <a:ext cx="548640" cy="201168"/>
          </a:xfrm>
          <a:prstGeom prst="rect">
            <a:avLst/>
          </a:prstGeom>
          <a:noFill/>
          <a:ln/>
        </p:spPr>
        <p:txBody>
          <a:bodyPr wrap="square" lIns="0" tIns="0" rIns="0" bIns="0" rtlCol="0" anchor="ctr"/>
          <a:lstStyle/>
          <a:p>
            <a:pPr algn="r" indent="0" marL="0">
              <a:buNone/>
            </a:pPr>
            <a:r>
              <a:rPr lang="en-US" sz="900" dirty="0">
                <a:solidFill>
                  <a:srgbClr val="5A6B7B"/>
                </a:solidFill>
                <a:latin typeface="Calibri" pitchFamily="34" charset="0"/>
                <a:ea typeface="Calibri" pitchFamily="34" charset="-122"/>
                <a:cs typeface="Calibri" pitchFamily="34" charset="-120"/>
              </a:rPr>
              <a:t>16</a:t>
            </a:r>
            <a:endParaRPr lang="en-US" sz="900" dirty="0"/>
          </a:p>
        </p:txBody>
      </p:sp>
      <p:sp>
        <p:nvSpPr>
          <p:cNvPr id="4" name="Text 2"/>
          <p:cNvSpPr txBox="1"/>
          <p:nvPr/>
        </p:nvSpPr>
        <p:spPr>
          <a:xfrm>
            <a:off x="457200" y="274320"/>
            <a:ext cx="8229600" cy="219456"/>
          </a:xfrm>
          <a:prstGeom prst="rect">
            <a:avLst/>
          </a:prstGeom>
          <a:noFill/>
          <a:ln/>
        </p:spPr>
        <p:txBody>
          <a:bodyPr wrap="square" lIns="0" tIns="0" rIns="0" bIns="0" rtlCol="0" anchor="ctr"/>
          <a:lstStyle/>
          <a:p>
            <a:pPr indent="0" marL="0">
              <a:buNone/>
            </a:pPr>
            <a:r>
              <a:rPr lang="en-US" sz="1000" b="1" spc="200" kern="0" dirty="0">
                <a:solidFill>
                  <a:srgbClr val="A8730F"/>
                </a:solidFill>
                <a:latin typeface="Calibri" pitchFamily="34" charset="0"/>
                <a:ea typeface="Calibri" pitchFamily="34" charset="-122"/>
                <a:cs typeface="Calibri" pitchFamily="34" charset="-120"/>
              </a:rPr>
              <a:t>EXERCISE A  |  SETUP</a:t>
            </a:r>
            <a:endParaRPr lang="en-US" sz="1000" dirty="0"/>
          </a:p>
        </p:txBody>
      </p:sp>
      <p:sp>
        <p:nvSpPr>
          <p:cNvPr id="5" name="Text 3"/>
          <p:cNvSpPr txBox="1"/>
          <p:nvPr/>
        </p:nvSpPr>
        <p:spPr>
          <a:xfrm>
            <a:off x="457200" y="502920"/>
            <a:ext cx="8229600" cy="548640"/>
          </a:xfrm>
          <a:prstGeom prst="rect">
            <a:avLst/>
          </a:prstGeom>
          <a:noFill/>
          <a:ln/>
        </p:spPr>
        <p:txBody>
          <a:bodyPr wrap="square" lIns="0" tIns="0" rIns="0" bIns="0" rtlCol="0" anchor="t"/>
          <a:lstStyle/>
          <a:p>
            <a:pPr indent="0" marL="0">
              <a:buNone/>
            </a:pPr>
            <a:r>
              <a:rPr lang="en-US" sz="2400" b="1" dirty="0">
                <a:solidFill>
                  <a:srgbClr val="0F2A4A"/>
                </a:solidFill>
                <a:latin typeface="Cambria" pitchFamily="34" charset="0"/>
                <a:ea typeface="Cambria" pitchFamily="34" charset="-122"/>
                <a:cs typeface="Cambria" pitchFamily="34" charset="-120"/>
              </a:rPr>
              <a:t>The chain a reviewer expects to see</a:t>
            </a:r>
            <a:endParaRPr lang="en-US" sz="2400" dirty="0"/>
          </a:p>
        </p:txBody>
      </p:sp>
      <p:sp>
        <p:nvSpPr>
          <p:cNvPr id="7" name="Shape 4"/>
          <p:cNvSpPr/>
          <p:nvPr/>
        </p:nvSpPr>
        <p:spPr>
          <a:xfrm>
            <a:off x="457200" y="1234440"/>
            <a:ext cx="1984248" cy="1051560"/>
          </a:xfrm>
          <a:prstGeom prst="roundRect">
            <a:avLst>
              <a:gd name="adj" fmla="val 5217"/>
            </a:avLst>
          </a:prstGeom>
          <a:solidFill>
            <a:srgbClr val="EAF0F6"/>
          </a:solidFill>
          <a:ln w="12700">
            <a:solidFill>
              <a:srgbClr val="EAF0F6"/>
            </a:solidFill>
            <a:prstDash val="solid"/>
          </a:ln>
        </p:spPr>
      </p:sp>
      <p:sp>
        <p:nvSpPr>
          <p:cNvPr id="8" name="Text 5"/>
          <p:cNvSpPr txBox="1"/>
          <p:nvPr/>
        </p:nvSpPr>
        <p:spPr>
          <a:xfrm>
            <a:off x="585216" y="1325880"/>
            <a:ext cx="1728216" cy="310896"/>
          </a:xfrm>
          <a:prstGeom prst="rect">
            <a:avLst/>
          </a:prstGeom>
          <a:noFill/>
          <a:ln/>
        </p:spPr>
        <p:txBody>
          <a:bodyPr wrap="square" lIns="0" tIns="0" rIns="0" bIns="0" rtlCol="0" anchor="ctr"/>
          <a:lstStyle/>
          <a:p>
            <a:pPr indent="0" marL="0">
              <a:buNone/>
            </a:pPr>
            <a:r>
              <a:rPr lang="en-US" sz="950" b="1" dirty="0">
                <a:solidFill>
                  <a:srgbClr val="0F2A4A"/>
                </a:solidFill>
                <a:latin typeface="Calibri" pitchFamily="34" charset="0"/>
                <a:ea typeface="Calibri" pitchFamily="34" charset="-122"/>
                <a:cs typeface="Calibri" pitchFamily="34" charset="-120"/>
              </a:rPr>
              <a:t>HAZARD</a:t>
            </a:r>
            <a:endParaRPr lang="en-US" sz="950" dirty="0"/>
          </a:p>
        </p:txBody>
      </p:sp>
      <p:sp>
        <p:nvSpPr>
          <p:cNvPr id="9" name="Text 6"/>
          <p:cNvSpPr txBox="1"/>
          <p:nvPr/>
        </p:nvSpPr>
        <p:spPr>
          <a:xfrm>
            <a:off x="585216" y="1673352"/>
            <a:ext cx="1728216" cy="521208"/>
          </a:xfrm>
          <a:prstGeom prst="rect">
            <a:avLst/>
          </a:prstGeom>
          <a:noFill/>
          <a:ln/>
        </p:spPr>
        <p:txBody>
          <a:bodyPr wrap="square" lIns="0" tIns="0" rIns="0" bIns="0" rtlCol="0" anchor="t"/>
          <a:lstStyle/>
          <a:p>
            <a:pPr indent="0" marL="0">
              <a:buNone/>
            </a:pPr>
            <a:r>
              <a:rPr lang="en-US" sz="900" dirty="0">
                <a:solidFill>
                  <a:srgbClr val="1F2933"/>
                </a:solidFill>
                <a:latin typeface="Calibri" pitchFamily="34" charset="0"/>
                <a:ea typeface="Calibri" pitchFamily="34" charset="-122"/>
                <a:cs typeface="Calibri" pitchFamily="34" charset="-120"/>
              </a:rPr>
              <a:t>Potential source of harm (3.4)</a:t>
            </a:r>
            <a:endParaRPr lang="en-US" sz="900" dirty="0"/>
          </a:p>
        </p:txBody>
      </p:sp>
      <p:sp>
        <p:nvSpPr>
          <p:cNvPr id="10" name="Text 7"/>
          <p:cNvSpPr txBox="1"/>
          <p:nvPr/>
        </p:nvSpPr>
        <p:spPr>
          <a:xfrm>
            <a:off x="2468880" y="1554480"/>
            <a:ext cx="228600" cy="365760"/>
          </a:xfrm>
          <a:prstGeom prst="rect">
            <a:avLst/>
          </a:prstGeom>
          <a:noFill/>
          <a:ln/>
        </p:spPr>
        <p:txBody>
          <a:bodyPr wrap="square" lIns="0" tIns="0" rIns="0" bIns="0" rtlCol="0" anchor="t"/>
          <a:lstStyle/>
          <a:p>
            <a:pPr algn="ctr" indent="0" marL="0">
              <a:buNone/>
            </a:pPr>
            <a:r>
              <a:rPr lang="en-US" sz="2000" b="1" dirty="0">
                <a:solidFill>
                  <a:srgbClr val="A8730F"/>
                </a:solidFill>
                <a:latin typeface="Calibri" pitchFamily="34" charset="0"/>
                <a:ea typeface="Calibri" pitchFamily="34" charset="-122"/>
                <a:cs typeface="Calibri" pitchFamily="34" charset="-120"/>
              </a:rPr>
              <a:t>&gt;</a:t>
            </a:r>
            <a:endParaRPr lang="en-US" sz="2000" dirty="0"/>
          </a:p>
        </p:txBody>
      </p:sp>
      <p:sp>
        <p:nvSpPr>
          <p:cNvPr id="11" name="Shape 8"/>
          <p:cNvSpPr/>
          <p:nvPr/>
        </p:nvSpPr>
        <p:spPr>
          <a:xfrm>
            <a:off x="2697480" y="1234440"/>
            <a:ext cx="1984248" cy="1051560"/>
          </a:xfrm>
          <a:prstGeom prst="roundRect">
            <a:avLst>
              <a:gd name="adj" fmla="val 5217"/>
            </a:avLst>
          </a:prstGeom>
          <a:solidFill>
            <a:srgbClr val="EAF0F6"/>
          </a:solidFill>
          <a:ln w="12700">
            <a:solidFill>
              <a:srgbClr val="EAF0F6"/>
            </a:solidFill>
            <a:prstDash val="solid"/>
          </a:ln>
        </p:spPr>
      </p:sp>
      <p:sp>
        <p:nvSpPr>
          <p:cNvPr id="12" name="Text 9"/>
          <p:cNvSpPr txBox="1"/>
          <p:nvPr/>
        </p:nvSpPr>
        <p:spPr>
          <a:xfrm>
            <a:off x="2825496" y="1325880"/>
            <a:ext cx="1728216" cy="310896"/>
          </a:xfrm>
          <a:prstGeom prst="rect">
            <a:avLst/>
          </a:prstGeom>
          <a:noFill/>
          <a:ln/>
        </p:spPr>
        <p:txBody>
          <a:bodyPr wrap="square" lIns="0" tIns="0" rIns="0" bIns="0" rtlCol="0" anchor="ctr"/>
          <a:lstStyle/>
          <a:p>
            <a:pPr indent="0" marL="0">
              <a:buNone/>
            </a:pPr>
            <a:r>
              <a:rPr lang="en-US" sz="950" b="1" dirty="0">
                <a:solidFill>
                  <a:srgbClr val="0F2A4A"/>
                </a:solidFill>
                <a:latin typeface="Calibri" pitchFamily="34" charset="0"/>
                <a:ea typeface="Calibri" pitchFamily="34" charset="-122"/>
                <a:cs typeface="Calibri" pitchFamily="34" charset="-120"/>
              </a:rPr>
              <a:t>SEQUENCE OF EVENTS</a:t>
            </a:r>
            <a:endParaRPr lang="en-US" sz="950" dirty="0"/>
          </a:p>
        </p:txBody>
      </p:sp>
      <p:sp>
        <p:nvSpPr>
          <p:cNvPr id="13" name="Text 10"/>
          <p:cNvSpPr txBox="1"/>
          <p:nvPr/>
        </p:nvSpPr>
        <p:spPr>
          <a:xfrm>
            <a:off x="2825496" y="1673352"/>
            <a:ext cx="1728216" cy="521208"/>
          </a:xfrm>
          <a:prstGeom prst="rect">
            <a:avLst/>
          </a:prstGeom>
          <a:noFill/>
          <a:ln/>
        </p:spPr>
        <p:txBody>
          <a:bodyPr wrap="square" lIns="0" tIns="0" rIns="0" bIns="0" rtlCol="0" anchor="t"/>
          <a:lstStyle/>
          <a:p>
            <a:pPr indent="0" marL="0">
              <a:buNone/>
            </a:pPr>
            <a:r>
              <a:rPr lang="en-US" sz="900" dirty="0">
                <a:solidFill>
                  <a:srgbClr val="1F2933"/>
                </a:solidFill>
                <a:latin typeface="Calibri" pitchFamily="34" charset="0"/>
                <a:ea typeface="Calibri" pitchFamily="34" charset="-122"/>
                <a:cs typeface="Calibri" pitchFamily="34" charset="-120"/>
              </a:rPr>
              <a:t>Foreseeable, and often several in series (5.4)</a:t>
            </a:r>
            <a:endParaRPr lang="en-US" sz="900" dirty="0"/>
          </a:p>
        </p:txBody>
      </p:sp>
      <p:sp>
        <p:nvSpPr>
          <p:cNvPr id="14" name="Text 11"/>
          <p:cNvSpPr txBox="1"/>
          <p:nvPr/>
        </p:nvSpPr>
        <p:spPr>
          <a:xfrm>
            <a:off x="4709160" y="1554480"/>
            <a:ext cx="228600" cy="365760"/>
          </a:xfrm>
          <a:prstGeom prst="rect">
            <a:avLst/>
          </a:prstGeom>
          <a:noFill/>
          <a:ln/>
        </p:spPr>
        <p:txBody>
          <a:bodyPr wrap="square" lIns="0" tIns="0" rIns="0" bIns="0" rtlCol="0" anchor="t"/>
          <a:lstStyle/>
          <a:p>
            <a:pPr algn="ctr" indent="0" marL="0">
              <a:buNone/>
            </a:pPr>
            <a:r>
              <a:rPr lang="en-US" sz="2000" b="1" dirty="0">
                <a:solidFill>
                  <a:srgbClr val="A8730F"/>
                </a:solidFill>
                <a:latin typeface="Calibri" pitchFamily="34" charset="0"/>
                <a:ea typeface="Calibri" pitchFamily="34" charset="-122"/>
                <a:cs typeface="Calibri" pitchFamily="34" charset="-120"/>
              </a:rPr>
              <a:t>&gt;</a:t>
            </a:r>
            <a:endParaRPr lang="en-US" sz="2000" dirty="0"/>
          </a:p>
        </p:txBody>
      </p:sp>
      <p:sp>
        <p:nvSpPr>
          <p:cNvPr id="15" name="Shape 12"/>
          <p:cNvSpPr/>
          <p:nvPr/>
        </p:nvSpPr>
        <p:spPr>
          <a:xfrm>
            <a:off x="4937760" y="1234440"/>
            <a:ext cx="1984248" cy="1051560"/>
          </a:xfrm>
          <a:prstGeom prst="roundRect">
            <a:avLst>
              <a:gd name="adj" fmla="val 5217"/>
            </a:avLst>
          </a:prstGeom>
          <a:solidFill>
            <a:srgbClr val="FBF2DE"/>
          </a:solidFill>
          <a:ln w="12700">
            <a:solidFill>
              <a:srgbClr val="FBF2DE"/>
            </a:solidFill>
            <a:prstDash val="solid"/>
          </a:ln>
        </p:spPr>
      </p:sp>
      <p:sp>
        <p:nvSpPr>
          <p:cNvPr id="16" name="Text 13"/>
          <p:cNvSpPr txBox="1"/>
          <p:nvPr/>
        </p:nvSpPr>
        <p:spPr>
          <a:xfrm>
            <a:off x="5065776" y="1325880"/>
            <a:ext cx="1728216" cy="310896"/>
          </a:xfrm>
          <a:prstGeom prst="rect">
            <a:avLst/>
          </a:prstGeom>
          <a:noFill/>
          <a:ln/>
        </p:spPr>
        <p:txBody>
          <a:bodyPr wrap="square" lIns="0" tIns="0" rIns="0" bIns="0" rtlCol="0" anchor="ctr"/>
          <a:lstStyle/>
          <a:p>
            <a:pPr indent="0" marL="0">
              <a:buNone/>
            </a:pPr>
            <a:r>
              <a:rPr lang="en-US" sz="950" b="1" dirty="0">
                <a:solidFill>
                  <a:srgbClr val="0F2A4A"/>
                </a:solidFill>
                <a:latin typeface="Calibri" pitchFamily="34" charset="0"/>
                <a:ea typeface="Calibri" pitchFamily="34" charset="-122"/>
                <a:cs typeface="Calibri" pitchFamily="34" charset="-120"/>
              </a:rPr>
              <a:t>HAZARDOUS SITUATION</a:t>
            </a:r>
            <a:endParaRPr lang="en-US" sz="950" dirty="0"/>
          </a:p>
        </p:txBody>
      </p:sp>
      <p:sp>
        <p:nvSpPr>
          <p:cNvPr id="17" name="Text 14"/>
          <p:cNvSpPr txBox="1"/>
          <p:nvPr/>
        </p:nvSpPr>
        <p:spPr>
          <a:xfrm>
            <a:off x="5065776" y="1673352"/>
            <a:ext cx="1728216" cy="521208"/>
          </a:xfrm>
          <a:prstGeom prst="rect">
            <a:avLst/>
          </a:prstGeom>
          <a:noFill/>
          <a:ln/>
        </p:spPr>
        <p:txBody>
          <a:bodyPr wrap="square" lIns="0" tIns="0" rIns="0" bIns="0" rtlCol="0" anchor="t"/>
          <a:lstStyle/>
          <a:p>
            <a:pPr indent="0" marL="0">
              <a:buNone/>
            </a:pPr>
            <a:r>
              <a:rPr lang="en-US" sz="900" dirty="0">
                <a:solidFill>
                  <a:srgbClr val="1F2933"/>
                </a:solidFill>
                <a:latin typeface="Calibri" pitchFamily="34" charset="0"/>
                <a:ea typeface="Calibri" pitchFamily="34" charset="-122"/>
                <a:cs typeface="Calibri" pitchFamily="34" charset="-120"/>
              </a:rPr>
              <a:t>People exposed to the hazard (3.5)</a:t>
            </a:r>
            <a:endParaRPr lang="en-US" sz="900" dirty="0"/>
          </a:p>
        </p:txBody>
      </p:sp>
      <p:sp>
        <p:nvSpPr>
          <p:cNvPr id="18" name="Text 15"/>
          <p:cNvSpPr txBox="1"/>
          <p:nvPr/>
        </p:nvSpPr>
        <p:spPr>
          <a:xfrm>
            <a:off x="6949440" y="1554480"/>
            <a:ext cx="228600" cy="365760"/>
          </a:xfrm>
          <a:prstGeom prst="rect">
            <a:avLst/>
          </a:prstGeom>
          <a:noFill/>
          <a:ln/>
        </p:spPr>
        <p:txBody>
          <a:bodyPr wrap="square" lIns="0" tIns="0" rIns="0" bIns="0" rtlCol="0" anchor="t"/>
          <a:lstStyle/>
          <a:p>
            <a:pPr algn="ctr" indent="0" marL="0">
              <a:buNone/>
            </a:pPr>
            <a:r>
              <a:rPr lang="en-US" sz="2000" b="1" dirty="0">
                <a:solidFill>
                  <a:srgbClr val="A8730F"/>
                </a:solidFill>
                <a:latin typeface="Calibri" pitchFamily="34" charset="0"/>
                <a:ea typeface="Calibri" pitchFamily="34" charset="-122"/>
                <a:cs typeface="Calibri" pitchFamily="34" charset="-120"/>
              </a:rPr>
              <a:t>&gt;</a:t>
            </a:r>
            <a:endParaRPr lang="en-US" sz="2000" dirty="0"/>
          </a:p>
        </p:txBody>
      </p:sp>
      <p:sp>
        <p:nvSpPr>
          <p:cNvPr id="19" name="Shape 16"/>
          <p:cNvSpPr/>
          <p:nvPr/>
        </p:nvSpPr>
        <p:spPr>
          <a:xfrm>
            <a:off x="7178040" y="1234440"/>
            <a:ext cx="1984248" cy="1051560"/>
          </a:xfrm>
          <a:prstGeom prst="roundRect">
            <a:avLst>
              <a:gd name="adj" fmla="val 5217"/>
            </a:avLst>
          </a:prstGeom>
          <a:solidFill>
            <a:srgbClr val="F9ECEA"/>
          </a:solidFill>
          <a:ln w="12700">
            <a:solidFill>
              <a:srgbClr val="F9ECEA"/>
            </a:solidFill>
            <a:prstDash val="solid"/>
          </a:ln>
        </p:spPr>
      </p:sp>
      <p:sp>
        <p:nvSpPr>
          <p:cNvPr id="20" name="Text 17"/>
          <p:cNvSpPr txBox="1"/>
          <p:nvPr/>
        </p:nvSpPr>
        <p:spPr>
          <a:xfrm>
            <a:off x="7306056" y="1325880"/>
            <a:ext cx="1728216" cy="310896"/>
          </a:xfrm>
          <a:prstGeom prst="rect">
            <a:avLst/>
          </a:prstGeom>
          <a:noFill/>
          <a:ln/>
        </p:spPr>
        <p:txBody>
          <a:bodyPr wrap="square" lIns="0" tIns="0" rIns="0" bIns="0" rtlCol="0" anchor="ctr"/>
          <a:lstStyle/>
          <a:p>
            <a:pPr indent="0" marL="0">
              <a:buNone/>
            </a:pPr>
            <a:r>
              <a:rPr lang="en-US" sz="950" b="1" dirty="0">
                <a:solidFill>
                  <a:srgbClr val="0F2A4A"/>
                </a:solidFill>
                <a:latin typeface="Calibri" pitchFamily="34" charset="0"/>
                <a:ea typeface="Calibri" pitchFamily="34" charset="-122"/>
                <a:cs typeface="Calibri" pitchFamily="34" charset="-120"/>
              </a:rPr>
              <a:t>HARM</a:t>
            </a:r>
            <a:endParaRPr lang="en-US" sz="950" dirty="0"/>
          </a:p>
        </p:txBody>
      </p:sp>
      <p:sp>
        <p:nvSpPr>
          <p:cNvPr id="21" name="Text 18"/>
          <p:cNvSpPr txBox="1"/>
          <p:nvPr/>
        </p:nvSpPr>
        <p:spPr>
          <a:xfrm>
            <a:off x="7306056" y="1673352"/>
            <a:ext cx="1728216" cy="521208"/>
          </a:xfrm>
          <a:prstGeom prst="rect">
            <a:avLst/>
          </a:prstGeom>
          <a:noFill/>
          <a:ln/>
        </p:spPr>
        <p:txBody>
          <a:bodyPr wrap="square" lIns="0" tIns="0" rIns="0" bIns="0" rtlCol="0" anchor="t"/>
          <a:lstStyle/>
          <a:p>
            <a:pPr indent="0" marL="0">
              <a:buNone/>
            </a:pPr>
            <a:r>
              <a:rPr lang="en-US" sz="900" dirty="0">
                <a:solidFill>
                  <a:srgbClr val="1F2933"/>
                </a:solidFill>
                <a:latin typeface="Calibri" pitchFamily="34" charset="0"/>
                <a:ea typeface="Calibri" pitchFamily="34" charset="-122"/>
                <a:cs typeface="Calibri" pitchFamily="34" charset="-120"/>
              </a:rPr>
              <a:t>Injury or damage to health (3.3)</a:t>
            </a:r>
            <a:endParaRPr lang="en-US" sz="900" dirty="0"/>
          </a:p>
        </p:txBody>
      </p:sp>
      <p:sp>
        <p:nvSpPr>
          <p:cNvPr id="22" name="Text 19"/>
          <p:cNvSpPr txBox="1"/>
          <p:nvPr/>
        </p:nvSpPr>
        <p:spPr>
          <a:xfrm>
            <a:off x="731520" y="2395728"/>
            <a:ext cx="3931920" cy="228600"/>
          </a:xfrm>
          <a:prstGeom prst="rect">
            <a:avLst/>
          </a:prstGeom>
          <a:noFill/>
          <a:ln/>
        </p:spPr>
        <p:txBody>
          <a:bodyPr wrap="square" lIns="0" tIns="0" rIns="0" bIns="0" rtlCol="0" anchor="t"/>
          <a:lstStyle/>
          <a:p>
            <a:pPr indent="0" marL="0">
              <a:buNone/>
            </a:pPr>
            <a:r>
              <a:rPr lang="en-US" sz="1050" b="1" dirty="0">
                <a:solidFill>
                  <a:srgbClr val="0F2A4A"/>
                </a:solidFill>
                <a:latin typeface="Calibri" pitchFamily="34" charset="0"/>
                <a:ea typeface="Calibri" pitchFamily="34" charset="-122"/>
                <a:cs typeface="Calibri" pitchFamily="34" charset="-120"/>
              </a:rPr>
              <a:t>P1  probability the hazardous situation arises</a:t>
            </a:r>
            <a:endParaRPr lang="en-US" sz="1050" dirty="0"/>
          </a:p>
        </p:txBody>
      </p:sp>
      <p:sp>
        <p:nvSpPr>
          <p:cNvPr id="23" name="Text 20"/>
          <p:cNvSpPr txBox="1"/>
          <p:nvPr/>
        </p:nvSpPr>
        <p:spPr>
          <a:xfrm>
            <a:off x="4937760" y="2395728"/>
            <a:ext cx="3749040" cy="228600"/>
          </a:xfrm>
          <a:prstGeom prst="rect">
            <a:avLst/>
          </a:prstGeom>
          <a:noFill/>
          <a:ln/>
        </p:spPr>
        <p:txBody>
          <a:bodyPr wrap="square" lIns="0" tIns="0" rIns="0" bIns="0" rtlCol="0" anchor="t"/>
          <a:lstStyle/>
          <a:p>
            <a:pPr indent="0" marL="0">
              <a:buNone/>
            </a:pPr>
            <a:r>
              <a:rPr lang="en-US" sz="1050" b="1" dirty="0">
                <a:solidFill>
                  <a:srgbClr val="0F2A4A"/>
                </a:solidFill>
                <a:latin typeface="Calibri" pitchFamily="34" charset="0"/>
                <a:ea typeface="Calibri" pitchFamily="34" charset="-122"/>
                <a:cs typeface="Calibri" pitchFamily="34" charset="-120"/>
              </a:rPr>
              <a:t>P2  conditional probability it leads to the harm</a:t>
            </a:r>
            <a:endParaRPr lang="en-US" sz="1050" dirty="0"/>
          </a:p>
        </p:txBody>
      </p:sp>
      <p:sp>
        <p:nvSpPr>
          <p:cNvPr id="24" name="Shape 21"/>
          <p:cNvSpPr/>
          <p:nvPr/>
        </p:nvSpPr>
        <p:spPr>
          <a:xfrm>
            <a:off x="457200" y="2697480"/>
            <a:ext cx="3977640" cy="1371600"/>
          </a:xfrm>
          <a:prstGeom prst="roundRect">
            <a:avLst>
              <a:gd name="adj" fmla="val 4000"/>
            </a:avLst>
          </a:prstGeom>
          <a:solidFill>
            <a:srgbClr val="F5F8FB"/>
          </a:solidFill>
          <a:ln w="12700">
            <a:solidFill>
              <a:srgbClr val="F5F8FB"/>
            </a:solidFill>
            <a:prstDash val="solid"/>
          </a:ln>
        </p:spPr>
      </p:sp>
      <p:sp>
        <p:nvSpPr>
          <p:cNvPr id="25" name="Text 22"/>
          <p:cNvSpPr txBox="1"/>
          <p:nvPr/>
        </p:nvSpPr>
        <p:spPr>
          <a:xfrm>
            <a:off x="585216" y="2788920"/>
            <a:ext cx="3721608" cy="256032"/>
          </a:xfrm>
          <a:prstGeom prst="rect">
            <a:avLst/>
          </a:prstGeom>
          <a:noFill/>
          <a:ln/>
        </p:spPr>
        <p:txBody>
          <a:bodyPr wrap="square" lIns="0" tIns="0" rIns="0" bIns="0" rtlCol="0" anchor="ctr"/>
          <a:lstStyle/>
          <a:p>
            <a:pPr indent="0" marL="0">
              <a:buNone/>
            </a:pPr>
            <a:r>
              <a:rPr lang="en-US" sz="1150" b="1" dirty="0">
                <a:solidFill>
                  <a:srgbClr val="0F2A4A"/>
                </a:solidFill>
                <a:latin typeface="Calibri" pitchFamily="34" charset="0"/>
                <a:ea typeface="Calibri" pitchFamily="34" charset="-122"/>
                <a:cs typeface="Calibri" pitchFamily="34" charset="-120"/>
              </a:rPr>
              <a:t>P1 is defended with engineering</a:t>
            </a:r>
            <a:endParaRPr lang="en-US" sz="1150" dirty="0"/>
          </a:p>
        </p:txBody>
      </p:sp>
      <p:sp>
        <p:nvSpPr>
          <p:cNvPr id="26" name="Text 23"/>
          <p:cNvSpPr txBox="1"/>
          <p:nvPr/>
        </p:nvSpPr>
        <p:spPr>
          <a:xfrm>
            <a:off x="585216" y="3081528"/>
            <a:ext cx="3721608" cy="896112"/>
          </a:xfrm>
          <a:prstGeom prst="rect">
            <a:avLst/>
          </a:prstGeom>
          <a:noFill/>
          <a:ln/>
        </p:spPr>
        <p:txBody>
          <a:bodyPr wrap="square" lIns="0" tIns="0" rIns="0" bIns="0" rtlCol="0" anchor="t"/>
          <a:lstStyle/>
          <a:p>
            <a:pPr marL="342900" indent="-342900">
              <a:spcAft>
                <a:spcPts val="300"/>
              </a:spcAft>
              <a:buSzPct val="100000"/>
              <a:buChar char="•"/>
            </a:pPr>
            <a:r>
              <a:rPr lang="en-US" sz="950" dirty="0">
                <a:solidFill>
                  <a:srgbClr val="1F2933"/>
                </a:solidFill>
                <a:latin typeface="Calibri" pitchFamily="34" charset="0"/>
                <a:ea typeface="Calibri" pitchFamily="34" charset="-122"/>
                <a:cs typeface="Calibri" pitchFamily="34" charset="-120"/>
              </a:rPr>
              <a:t>Failure rates, bench test results, field return rates</a:t>
            </a:r>
            <a:endParaRPr lang="en-US" sz="950" dirty="0"/>
          </a:p>
          <a:p>
            <a:pPr marL="342900" indent="-342900">
              <a:spcAft>
                <a:spcPts val="300"/>
              </a:spcAft>
              <a:buSzPct val="100000"/>
              <a:buChar char="•"/>
            </a:pPr>
            <a:r>
              <a:rPr lang="en-US" sz="950" dirty="0">
                <a:solidFill>
                  <a:srgbClr val="1F2933"/>
                </a:solidFill>
                <a:latin typeface="Calibri" pitchFamily="34" charset="0"/>
                <a:ea typeface="Calibri" pitchFamily="34" charset="-122"/>
                <a:cs typeface="Calibri" pitchFamily="34" charset="-120"/>
              </a:rPr>
              <a:t>Use frequency and exposure in the intended environment</a:t>
            </a:r>
            <a:endParaRPr lang="en-US" sz="950" dirty="0"/>
          </a:p>
          <a:p>
            <a:pPr marL="342900" indent="-342900">
              <a:spcAft>
                <a:spcPts val="300"/>
              </a:spcAft>
              <a:buSzPct val="100000"/>
              <a:buChar char="•"/>
            </a:pPr>
            <a:r>
              <a:rPr lang="en-US" sz="950" dirty="0">
                <a:solidFill>
                  <a:srgbClr val="1F2933"/>
                </a:solidFill>
                <a:latin typeface="Calibri" pitchFamily="34" charset="0"/>
                <a:ea typeface="Calibri" pitchFamily="34" charset="-122"/>
                <a:cs typeface="Calibri" pitchFamily="34" charset="-120"/>
              </a:rPr>
              <a:t>Observed rates from complaints and service data</a:t>
            </a:r>
            <a:endParaRPr lang="en-US" sz="950" dirty="0"/>
          </a:p>
        </p:txBody>
      </p:sp>
      <p:sp>
        <p:nvSpPr>
          <p:cNvPr id="27" name="Shape 24"/>
          <p:cNvSpPr/>
          <p:nvPr/>
        </p:nvSpPr>
        <p:spPr>
          <a:xfrm>
            <a:off x="4617720" y="2697480"/>
            <a:ext cx="4069080" cy="1371600"/>
          </a:xfrm>
          <a:prstGeom prst="roundRect">
            <a:avLst>
              <a:gd name="adj" fmla="val 4000"/>
            </a:avLst>
          </a:prstGeom>
          <a:solidFill>
            <a:srgbClr val="F5F8FB"/>
          </a:solidFill>
          <a:ln w="12700">
            <a:solidFill>
              <a:srgbClr val="F5F8FB"/>
            </a:solidFill>
            <a:prstDash val="solid"/>
          </a:ln>
        </p:spPr>
      </p:sp>
      <p:sp>
        <p:nvSpPr>
          <p:cNvPr id="28" name="Text 25"/>
          <p:cNvSpPr txBox="1"/>
          <p:nvPr/>
        </p:nvSpPr>
        <p:spPr>
          <a:xfrm>
            <a:off x="4745736" y="2788920"/>
            <a:ext cx="3813048" cy="256032"/>
          </a:xfrm>
          <a:prstGeom prst="rect">
            <a:avLst/>
          </a:prstGeom>
          <a:noFill/>
          <a:ln/>
        </p:spPr>
        <p:txBody>
          <a:bodyPr wrap="square" lIns="0" tIns="0" rIns="0" bIns="0" rtlCol="0" anchor="ctr"/>
          <a:lstStyle/>
          <a:p>
            <a:pPr indent="0" marL="0">
              <a:buNone/>
            </a:pPr>
            <a:r>
              <a:rPr lang="en-US" sz="1150" b="1" dirty="0">
                <a:solidFill>
                  <a:srgbClr val="0F2A4A"/>
                </a:solidFill>
                <a:latin typeface="Calibri" pitchFamily="34" charset="0"/>
                <a:ea typeface="Calibri" pitchFamily="34" charset="-122"/>
                <a:cs typeface="Calibri" pitchFamily="34" charset="-120"/>
              </a:rPr>
              <a:t>P2 is defended clinically</a:t>
            </a:r>
            <a:endParaRPr lang="en-US" sz="1150" dirty="0"/>
          </a:p>
        </p:txBody>
      </p:sp>
      <p:sp>
        <p:nvSpPr>
          <p:cNvPr id="29" name="Text 26"/>
          <p:cNvSpPr txBox="1"/>
          <p:nvPr/>
        </p:nvSpPr>
        <p:spPr>
          <a:xfrm>
            <a:off x="4745736" y="3081528"/>
            <a:ext cx="3813048" cy="896112"/>
          </a:xfrm>
          <a:prstGeom prst="rect">
            <a:avLst/>
          </a:prstGeom>
          <a:noFill/>
          <a:ln/>
        </p:spPr>
        <p:txBody>
          <a:bodyPr wrap="square" lIns="0" tIns="0" rIns="0" bIns="0" rtlCol="0" anchor="t"/>
          <a:lstStyle/>
          <a:p>
            <a:pPr marL="342900" indent="-342900">
              <a:spcAft>
                <a:spcPts val="300"/>
              </a:spcAft>
              <a:buSzPct val="100000"/>
              <a:buChar char="•"/>
            </a:pPr>
            <a:r>
              <a:rPr lang="en-US" sz="950" dirty="0">
                <a:solidFill>
                  <a:srgbClr val="1F2933"/>
                </a:solidFill>
                <a:latin typeface="Calibri" pitchFamily="34" charset="0"/>
                <a:ea typeface="Calibri" pitchFamily="34" charset="-122"/>
                <a:cs typeface="Calibri" pitchFamily="34" charset="-120"/>
              </a:rPr>
              <a:t>Who is exposed, and for how long</a:t>
            </a:r>
            <a:endParaRPr lang="en-US" sz="950" dirty="0"/>
          </a:p>
          <a:p>
            <a:pPr marL="342900" indent="-342900">
              <a:spcAft>
                <a:spcPts val="300"/>
              </a:spcAft>
              <a:buSzPct val="100000"/>
              <a:buChar char="•"/>
            </a:pPr>
            <a:r>
              <a:rPr lang="en-US" sz="950" dirty="0">
                <a:solidFill>
                  <a:srgbClr val="1F2933"/>
                </a:solidFill>
                <a:latin typeface="Calibri" pitchFamily="34" charset="0"/>
                <a:ea typeface="Calibri" pitchFamily="34" charset="-122"/>
                <a:cs typeface="Calibri" pitchFamily="34" charset="-120"/>
              </a:rPr>
              <a:t>Whether the harm is detectable before it becomes harm</a:t>
            </a:r>
            <a:endParaRPr lang="en-US" sz="950" dirty="0"/>
          </a:p>
          <a:p>
            <a:pPr marL="342900" indent="-342900">
              <a:spcAft>
                <a:spcPts val="300"/>
              </a:spcAft>
              <a:buSzPct val="100000"/>
              <a:buChar char="•"/>
            </a:pPr>
            <a:r>
              <a:rPr lang="en-US" sz="950" dirty="0">
                <a:solidFill>
                  <a:srgbClr val="1F2933"/>
                </a:solidFill>
                <a:latin typeface="Calibri" pitchFamily="34" charset="0"/>
                <a:ea typeface="Calibri" pitchFamily="34" charset="-122"/>
                <a:cs typeface="Calibri" pitchFamily="34" charset="-120"/>
              </a:rPr>
              <a:t>Whether it is reversible, and whether anyone intervenes in time</a:t>
            </a:r>
            <a:endParaRPr lang="en-US" sz="950" dirty="0"/>
          </a:p>
        </p:txBody>
      </p:sp>
      <p:sp>
        <p:nvSpPr>
          <p:cNvPr id="30" name="Shape 27"/>
          <p:cNvSpPr/>
          <p:nvPr/>
        </p:nvSpPr>
        <p:spPr>
          <a:xfrm>
            <a:off x="457200" y="4206240"/>
            <a:ext cx="8229600" cy="384048"/>
          </a:xfrm>
          <a:prstGeom prst="roundRect">
            <a:avLst>
              <a:gd name="adj" fmla="val 14286"/>
            </a:avLst>
          </a:prstGeom>
          <a:solidFill>
            <a:srgbClr val="0F2A4A"/>
          </a:solidFill>
          <a:ln w="12700">
            <a:solidFill>
              <a:srgbClr val="0F2A4A"/>
            </a:solidFill>
            <a:prstDash val="solid"/>
          </a:ln>
        </p:spPr>
      </p:sp>
      <p:sp>
        <p:nvSpPr>
          <p:cNvPr id="31" name="Text 28"/>
          <p:cNvSpPr txBox="1"/>
          <p:nvPr/>
        </p:nvSpPr>
        <p:spPr>
          <a:xfrm>
            <a:off x="640080" y="4206240"/>
            <a:ext cx="7863840" cy="384048"/>
          </a:xfrm>
          <a:prstGeom prst="rect">
            <a:avLst/>
          </a:prstGeom>
          <a:noFill/>
          <a:ln/>
        </p:spPr>
        <p:txBody>
          <a:bodyPr wrap="square" lIns="0" tIns="0" rIns="0" bIns="0" rtlCol="0" anchor="ctr"/>
          <a:lstStyle/>
          <a:p>
            <a:pPr indent="0" marL="0">
              <a:buNone/>
            </a:pPr>
            <a:r>
              <a:rPr lang="en-US" sz="1150" i="1" dirty="0">
                <a:solidFill>
                  <a:srgbClr val="FFFFFF"/>
                </a:solidFill>
                <a:latin typeface="Calibri" pitchFamily="34" charset="0"/>
                <a:ea typeface="Calibri" pitchFamily="34" charset="-122"/>
                <a:cs typeface="Calibri" pitchFamily="34" charset="-120"/>
              </a:rPr>
              <a:t>One row per hazardous situation. Collapsing several sequences into one row is what makes a probability estimate impossible to defend.</a:t>
            </a:r>
            <a:endParaRPr lang="en-US" sz="11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4814316"/>
            <a:ext cx="5943600" cy="201168"/>
          </a:xfrm>
          <a:prstGeom prst="rect">
            <a:avLst/>
          </a:prstGeom>
          <a:noFill/>
          <a:ln/>
        </p:spPr>
        <p:txBody>
          <a:bodyPr wrap="square" lIns="0" tIns="0" rIns="0" bIns="0" rtlCol="0" anchor="ctr"/>
          <a:lstStyle/>
          <a:p>
            <a:pPr indent="0" marL="0">
              <a:buNone/>
            </a:pPr>
            <a:r>
              <a:rPr lang="en-US" sz="900" dirty="0">
                <a:solidFill>
                  <a:srgbClr val="5A6B7B"/>
                </a:solidFill>
                <a:latin typeface="Calibri" pitchFamily="34" charset="0"/>
                <a:ea typeface="Calibri" pitchFamily="34" charset="-122"/>
                <a:cs typeface="Calibri" pitchFamily="34" charset="-120"/>
              </a:rPr>
              <a:t>Risk Management  |  ISO 14971  |  Elder Consulting, LLC</a:t>
            </a:r>
            <a:endParaRPr lang="en-US" sz="900" dirty="0"/>
          </a:p>
        </p:txBody>
      </p:sp>
      <p:sp>
        <p:nvSpPr>
          <p:cNvPr id="3" name="Text 1"/>
          <p:cNvSpPr txBox="1"/>
          <p:nvPr/>
        </p:nvSpPr>
        <p:spPr>
          <a:xfrm>
            <a:off x="8138160" y="4814316"/>
            <a:ext cx="548640" cy="201168"/>
          </a:xfrm>
          <a:prstGeom prst="rect">
            <a:avLst/>
          </a:prstGeom>
          <a:noFill/>
          <a:ln/>
        </p:spPr>
        <p:txBody>
          <a:bodyPr wrap="square" lIns="0" tIns="0" rIns="0" bIns="0" rtlCol="0" anchor="ctr"/>
          <a:lstStyle/>
          <a:p>
            <a:pPr algn="r" indent="0" marL="0">
              <a:buNone/>
            </a:pPr>
            <a:r>
              <a:rPr lang="en-US" sz="900" dirty="0">
                <a:solidFill>
                  <a:srgbClr val="5A6B7B"/>
                </a:solidFill>
                <a:latin typeface="Calibri" pitchFamily="34" charset="0"/>
                <a:ea typeface="Calibri" pitchFamily="34" charset="-122"/>
                <a:cs typeface="Calibri" pitchFamily="34" charset="-120"/>
              </a:rPr>
              <a:t>17</a:t>
            </a:r>
            <a:endParaRPr lang="en-US" sz="900" dirty="0"/>
          </a:p>
        </p:txBody>
      </p:sp>
      <p:sp>
        <p:nvSpPr>
          <p:cNvPr id="4" name="Text 2"/>
          <p:cNvSpPr txBox="1"/>
          <p:nvPr/>
        </p:nvSpPr>
        <p:spPr>
          <a:xfrm>
            <a:off x="457200" y="274320"/>
            <a:ext cx="8229600" cy="219456"/>
          </a:xfrm>
          <a:prstGeom prst="rect">
            <a:avLst/>
          </a:prstGeom>
          <a:noFill/>
          <a:ln/>
        </p:spPr>
        <p:txBody>
          <a:bodyPr wrap="square" lIns="0" tIns="0" rIns="0" bIns="0" rtlCol="0" anchor="ctr"/>
          <a:lstStyle/>
          <a:p>
            <a:pPr indent="0" marL="0">
              <a:buNone/>
            </a:pPr>
            <a:r>
              <a:rPr lang="en-US" sz="1000" b="1" spc="200" kern="0" dirty="0">
                <a:solidFill>
                  <a:srgbClr val="A8730F"/>
                </a:solidFill>
                <a:latin typeface="Calibri" pitchFamily="34" charset="0"/>
                <a:ea typeface="Calibri" pitchFamily="34" charset="-122"/>
                <a:cs typeface="Calibri" pitchFamily="34" charset="-120"/>
              </a:rPr>
              <a:t>EXERCISE A  |  BRIEF</a:t>
            </a:r>
            <a:endParaRPr lang="en-US" sz="1000" dirty="0"/>
          </a:p>
        </p:txBody>
      </p:sp>
      <p:sp>
        <p:nvSpPr>
          <p:cNvPr id="5" name="Text 3"/>
          <p:cNvSpPr txBox="1"/>
          <p:nvPr/>
        </p:nvSpPr>
        <p:spPr>
          <a:xfrm>
            <a:off x="457200" y="502920"/>
            <a:ext cx="8229600" cy="548640"/>
          </a:xfrm>
          <a:prstGeom prst="rect">
            <a:avLst/>
          </a:prstGeom>
          <a:noFill/>
          <a:ln/>
        </p:spPr>
        <p:txBody>
          <a:bodyPr wrap="square" lIns="0" tIns="0" rIns="0" bIns="0" rtlCol="0" anchor="t"/>
          <a:lstStyle/>
          <a:p>
            <a:pPr indent="0" marL="0">
              <a:buNone/>
            </a:pPr>
            <a:r>
              <a:rPr lang="en-US" sz="2400" b="1" dirty="0">
                <a:solidFill>
                  <a:srgbClr val="0F2A4A"/>
                </a:solidFill>
                <a:latin typeface="Cambria" pitchFamily="34" charset="0"/>
                <a:ea typeface="Cambria" pitchFamily="34" charset="-122"/>
                <a:cs typeface="Cambria" pitchFamily="34" charset="-120"/>
              </a:rPr>
              <a:t>Your task, in three steps</a:t>
            </a:r>
            <a:endParaRPr lang="en-US" sz="2400" dirty="0"/>
          </a:p>
        </p:txBody>
      </p:sp>
      <p:sp>
        <p:nvSpPr>
          <p:cNvPr id="7" name="Shape 4"/>
          <p:cNvSpPr/>
          <p:nvPr/>
        </p:nvSpPr>
        <p:spPr>
          <a:xfrm>
            <a:off x="457200" y="1188720"/>
            <a:ext cx="2621280" cy="1828800"/>
          </a:xfrm>
          <a:prstGeom prst="roundRect">
            <a:avLst>
              <a:gd name="adj" fmla="val 3000"/>
            </a:avLst>
          </a:prstGeom>
          <a:solidFill>
            <a:srgbClr val="EAF0F6"/>
          </a:solidFill>
          <a:ln w="12700">
            <a:solidFill>
              <a:srgbClr val="EAF0F6"/>
            </a:solidFill>
            <a:prstDash val="solid"/>
          </a:ln>
        </p:spPr>
      </p:sp>
      <p:sp>
        <p:nvSpPr>
          <p:cNvPr id="8" name="Shape 5"/>
          <p:cNvSpPr/>
          <p:nvPr/>
        </p:nvSpPr>
        <p:spPr>
          <a:xfrm>
            <a:off x="585216" y="1298448"/>
            <a:ext cx="310896" cy="310896"/>
          </a:xfrm>
          <a:prstGeom prst="ellipse">
            <a:avLst/>
          </a:prstGeom>
          <a:solidFill>
            <a:srgbClr val="0F2A4A"/>
          </a:solidFill>
          <a:ln w="12700">
            <a:solidFill>
              <a:srgbClr val="0F2A4A"/>
            </a:solidFill>
            <a:prstDash val="solid"/>
          </a:ln>
        </p:spPr>
      </p:sp>
      <p:sp>
        <p:nvSpPr>
          <p:cNvPr id="9" name="Text 6"/>
          <p:cNvSpPr txBox="1"/>
          <p:nvPr/>
        </p:nvSpPr>
        <p:spPr>
          <a:xfrm>
            <a:off x="585216" y="1298448"/>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0" name="Text 7"/>
          <p:cNvSpPr txBox="1"/>
          <p:nvPr/>
        </p:nvSpPr>
        <p:spPr>
          <a:xfrm>
            <a:off x="987552" y="1280160"/>
            <a:ext cx="1962912" cy="274320"/>
          </a:xfrm>
          <a:prstGeom prst="rect">
            <a:avLst/>
          </a:prstGeom>
          <a:noFill/>
          <a:ln/>
        </p:spPr>
        <p:txBody>
          <a:bodyPr wrap="square" lIns="0" tIns="0" rIns="0" bIns="0" rtlCol="0" anchor="ctr"/>
          <a:lstStyle/>
          <a:p>
            <a:pPr indent="0" marL="0">
              <a:buNone/>
            </a:pPr>
            <a:r>
              <a:rPr lang="en-US" sz="1250" b="1" dirty="0">
                <a:solidFill>
                  <a:srgbClr val="0F2A4A"/>
                </a:solidFill>
                <a:latin typeface="Calibri" pitchFamily="34" charset="0"/>
                <a:ea typeface="Calibri" pitchFamily="34" charset="-122"/>
                <a:cs typeface="Calibri" pitchFamily="34" charset="-120"/>
              </a:rPr>
              <a:t>Take the row apart</a:t>
            </a:r>
            <a:endParaRPr lang="en-US" sz="1250" dirty="0"/>
          </a:p>
        </p:txBody>
      </p:sp>
      <p:sp>
        <p:nvSpPr>
          <p:cNvPr id="11" name="Text 8"/>
          <p:cNvSpPr txBox="1"/>
          <p:nvPr/>
        </p:nvSpPr>
        <p:spPr>
          <a:xfrm>
            <a:off x="585216" y="1591056"/>
            <a:ext cx="2365248" cy="1335024"/>
          </a:xfrm>
          <a:prstGeom prst="rect">
            <a:avLst/>
          </a:prstGeom>
          <a:noFill/>
          <a:ln/>
        </p:spPr>
        <p:txBody>
          <a:bodyPr wrap="square" lIns="0" tIns="0" rIns="0" bIns="0" rtlCol="0" anchor="t"/>
          <a:lstStyle/>
          <a:p>
            <a:pPr indent="0" marL="0">
              <a:buNone/>
            </a:pPr>
            <a:r>
              <a:rPr lang="en-US" sz="1000" dirty="0">
                <a:solidFill>
                  <a:srgbClr val="1F2933"/>
                </a:solidFill>
                <a:latin typeface="Calibri" pitchFamily="34" charset="0"/>
                <a:ea typeface="Calibri" pitchFamily="34" charset="-122"/>
                <a:cs typeface="Calibri" pitchFamily="34" charset="-120"/>
              </a:rPr>
              <a:t>Identify what the row has actually written in each of the four positions: hazard, sequence of events, hazardous situation, harm. Name which positions are empty or duplicated.</a:t>
            </a:r>
            <a:endParaRPr lang="en-US" sz="1000" dirty="0"/>
          </a:p>
        </p:txBody>
      </p:sp>
      <p:sp>
        <p:nvSpPr>
          <p:cNvPr id="12" name="Shape 9"/>
          <p:cNvSpPr/>
          <p:nvPr/>
        </p:nvSpPr>
        <p:spPr>
          <a:xfrm>
            <a:off x="3261360" y="1188720"/>
            <a:ext cx="2621280" cy="1828800"/>
          </a:xfrm>
          <a:prstGeom prst="roundRect">
            <a:avLst>
              <a:gd name="adj" fmla="val 3000"/>
            </a:avLst>
          </a:prstGeom>
          <a:solidFill>
            <a:srgbClr val="EAF0F6"/>
          </a:solidFill>
          <a:ln w="12700">
            <a:solidFill>
              <a:srgbClr val="EAF0F6"/>
            </a:solidFill>
            <a:prstDash val="solid"/>
          </a:ln>
        </p:spPr>
      </p:sp>
      <p:sp>
        <p:nvSpPr>
          <p:cNvPr id="13" name="Shape 10"/>
          <p:cNvSpPr/>
          <p:nvPr/>
        </p:nvSpPr>
        <p:spPr>
          <a:xfrm>
            <a:off x="3389376" y="1298448"/>
            <a:ext cx="310896" cy="310896"/>
          </a:xfrm>
          <a:prstGeom prst="ellipse">
            <a:avLst/>
          </a:prstGeom>
          <a:solidFill>
            <a:srgbClr val="0F2A4A"/>
          </a:solidFill>
          <a:ln w="12700">
            <a:solidFill>
              <a:srgbClr val="0F2A4A"/>
            </a:solidFill>
            <a:prstDash val="solid"/>
          </a:ln>
        </p:spPr>
      </p:sp>
      <p:sp>
        <p:nvSpPr>
          <p:cNvPr id="14" name="Text 11"/>
          <p:cNvSpPr txBox="1"/>
          <p:nvPr/>
        </p:nvSpPr>
        <p:spPr>
          <a:xfrm>
            <a:off x="3389376" y="1298448"/>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5" name="Text 12"/>
          <p:cNvSpPr txBox="1"/>
          <p:nvPr/>
        </p:nvSpPr>
        <p:spPr>
          <a:xfrm>
            <a:off x="3791712" y="1280160"/>
            <a:ext cx="1962912" cy="274320"/>
          </a:xfrm>
          <a:prstGeom prst="rect">
            <a:avLst/>
          </a:prstGeom>
          <a:noFill/>
          <a:ln/>
        </p:spPr>
        <p:txBody>
          <a:bodyPr wrap="square" lIns="0" tIns="0" rIns="0" bIns="0" rtlCol="0" anchor="ctr"/>
          <a:lstStyle/>
          <a:p>
            <a:pPr indent="0" marL="0">
              <a:buNone/>
            </a:pPr>
            <a:r>
              <a:rPr lang="en-US" sz="1250" b="1" dirty="0">
                <a:solidFill>
                  <a:srgbClr val="0F2A4A"/>
                </a:solidFill>
                <a:latin typeface="Calibri" pitchFamily="34" charset="0"/>
                <a:ea typeface="Calibri" pitchFamily="34" charset="-122"/>
                <a:cs typeface="Calibri" pitchFamily="34" charset="-120"/>
              </a:rPr>
              <a:t>Rebuild it</a:t>
            </a:r>
            <a:endParaRPr lang="en-US" sz="1250" dirty="0"/>
          </a:p>
        </p:txBody>
      </p:sp>
      <p:sp>
        <p:nvSpPr>
          <p:cNvPr id="16" name="Text 13"/>
          <p:cNvSpPr txBox="1"/>
          <p:nvPr/>
        </p:nvSpPr>
        <p:spPr>
          <a:xfrm>
            <a:off x="3389376" y="1591056"/>
            <a:ext cx="2365248" cy="1335024"/>
          </a:xfrm>
          <a:prstGeom prst="rect">
            <a:avLst/>
          </a:prstGeom>
          <a:noFill/>
          <a:ln/>
        </p:spPr>
        <p:txBody>
          <a:bodyPr wrap="square" lIns="0" tIns="0" rIns="0" bIns="0" rtlCol="0" anchor="t"/>
          <a:lstStyle/>
          <a:p>
            <a:pPr indent="0" marL="0">
              <a:buNone/>
            </a:pPr>
            <a:r>
              <a:rPr lang="en-US" sz="1000" dirty="0">
                <a:solidFill>
                  <a:srgbClr val="1F2933"/>
                </a:solidFill>
                <a:latin typeface="Calibri" pitchFamily="34" charset="0"/>
                <a:ea typeface="Calibri" pitchFamily="34" charset="-122"/>
                <a:cs typeface="Calibri" pitchFamily="34" charset="-120"/>
              </a:rPr>
              <a:t>Write as many rows as the hazard needs - one per hazardous situation. Assign P1, P2 and severity, and for each one write the basis you would cite.</a:t>
            </a:r>
            <a:endParaRPr lang="en-US" sz="1000" dirty="0"/>
          </a:p>
        </p:txBody>
      </p:sp>
      <p:sp>
        <p:nvSpPr>
          <p:cNvPr id="17" name="Shape 14"/>
          <p:cNvSpPr/>
          <p:nvPr/>
        </p:nvSpPr>
        <p:spPr>
          <a:xfrm>
            <a:off x="6065520" y="1188720"/>
            <a:ext cx="2621280" cy="1828800"/>
          </a:xfrm>
          <a:prstGeom prst="roundRect">
            <a:avLst>
              <a:gd name="adj" fmla="val 3000"/>
            </a:avLst>
          </a:prstGeom>
          <a:solidFill>
            <a:srgbClr val="EAF0F6"/>
          </a:solidFill>
          <a:ln w="12700">
            <a:solidFill>
              <a:srgbClr val="EAF0F6"/>
            </a:solidFill>
            <a:prstDash val="solid"/>
          </a:ln>
        </p:spPr>
      </p:sp>
      <p:sp>
        <p:nvSpPr>
          <p:cNvPr id="18" name="Shape 15"/>
          <p:cNvSpPr/>
          <p:nvPr/>
        </p:nvSpPr>
        <p:spPr>
          <a:xfrm>
            <a:off x="6193536" y="1298448"/>
            <a:ext cx="310896" cy="310896"/>
          </a:xfrm>
          <a:prstGeom prst="ellipse">
            <a:avLst/>
          </a:prstGeom>
          <a:solidFill>
            <a:srgbClr val="0F2A4A"/>
          </a:solidFill>
          <a:ln w="12700">
            <a:solidFill>
              <a:srgbClr val="0F2A4A"/>
            </a:solidFill>
            <a:prstDash val="solid"/>
          </a:ln>
        </p:spPr>
      </p:sp>
      <p:sp>
        <p:nvSpPr>
          <p:cNvPr id="19" name="Text 16"/>
          <p:cNvSpPr txBox="1"/>
          <p:nvPr/>
        </p:nvSpPr>
        <p:spPr>
          <a:xfrm>
            <a:off x="6193536" y="1298448"/>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20" name="Text 17"/>
          <p:cNvSpPr txBox="1"/>
          <p:nvPr/>
        </p:nvSpPr>
        <p:spPr>
          <a:xfrm>
            <a:off x="6595872" y="1280160"/>
            <a:ext cx="1962912" cy="274320"/>
          </a:xfrm>
          <a:prstGeom prst="rect">
            <a:avLst/>
          </a:prstGeom>
          <a:noFill/>
          <a:ln/>
        </p:spPr>
        <p:txBody>
          <a:bodyPr wrap="square" lIns="0" tIns="0" rIns="0" bIns="0" rtlCol="0" anchor="ctr"/>
          <a:lstStyle/>
          <a:p>
            <a:pPr indent="0" marL="0">
              <a:buNone/>
            </a:pPr>
            <a:r>
              <a:rPr lang="en-US" sz="1250" b="1" dirty="0">
                <a:solidFill>
                  <a:srgbClr val="0F2A4A"/>
                </a:solidFill>
                <a:latin typeface="Calibri" pitchFamily="34" charset="0"/>
                <a:ea typeface="Calibri" pitchFamily="34" charset="-122"/>
                <a:cs typeface="Calibri" pitchFamily="34" charset="-120"/>
              </a:rPr>
              <a:t>Write the finding</a:t>
            </a:r>
            <a:endParaRPr lang="en-US" sz="1250" dirty="0"/>
          </a:p>
        </p:txBody>
      </p:sp>
      <p:sp>
        <p:nvSpPr>
          <p:cNvPr id="21" name="Text 18"/>
          <p:cNvSpPr txBox="1"/>
          <p:nvPr/>
        </p:nvSpPr>
        <p:spPr>
          <a:xfrm>
            <a:off x="6193536" y="1591056"/>
            <a:ext cx="2365248" cy="1335024"/>
          </a:xfrm>
          <a:prstGeom prst="rect">
            <a:avLst/>
          </a:prstGeom>
          <a:noFill/>
          <a:ln/>
        </p:spPr>
        <p:txBody>
          <a:bodyPr wrap="square" lIns="0" tIns="0" rIns="0" bIns="0" rtlCol="0" anchor="t"/>
          <a:lstStyle/>
          <a:p>
            <a:pPr indent="0" marL="0">
              <a:buNone/>
            </a:pPr>
            <a:r>
              <a:rPr lang="en-US" sz="1000" dirty="0">
                <a:solidFill>
                  <a:srgbClr val="1F2933"/>
                </a:solidFill>
                <a:latin typeface="Calibri" pitchFamily="34" charset="0"/>
                <a:ea typeface="Calibri" pitchFamily="34" charset="-122"/>
                <a:cs typeface="Calibri" pitchFamily="34" charset="-120"/>
              </a:rPr>
              <a:t>Draft the deficiency a notified body reviewer would raise against the original row. Cite the clause. One or two sentences.</a:t>
            </a:r>
            <a:endParaRPr lang="en-US" sz="10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457200" y="3246120"/>
          <a:ext cx="8229600" cy="914400"/>
        </p:xfrm>
        <a:graphic>
          <a:graphicData uri="http://schemas.openxmlformats.org/drawingml/2006/table">
            <a:tbl>
              <a:tblPr/>
              <a:tblGrid>
                <a:gridCol w="1371600"/>
                <a:gridCol w="6858000"/>
              </a:tblGrid>
              <a:tr h="292608">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Timing</a:t>
                      </a:r>
                      <a:endParaRPr lang="en-US" sz="1050" dirty="0">
                        <a:latin typeface="Calibri" charset="0"/>
                        <a:ea typeface="Calibri" charset="0"/>
                        <a:cs typeface="Calibri" charset="0"/>
                      </a:endParaRPr>
                    </a:p>
                  </a:txBody>
                  <a:tcPr marL="54864" marR="54864" marT="54864" marB="54864" anchor="ctr">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0F2A4A"/>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Who</a:t>
                      </a:r>
                      <a:endParaRPr lang="en-US" sz="1050" dirty="0">
                        <a:latin typeface="Calibri" charset="0"/>
                        <a:ea typeface="Calibri" charset="0"/>
                        <a:cs typeface="Calibri" charset="0"/>
                      </a:endParaRPr>
                    </a:p>
                  </a:txBody>
                  <a:tcPr marL="54864" marR="54864" marT="54864" marB="54864" anchor="ctr">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0F2A4A"/>
                    </a:solidFill>
                  </a:tcPr>
                </a:tc>
              </a:tr>
              <a:tr h="292608">
                <a:tc>
                  <a:txBody>
                    <a:bodyPr/>
                    <a:lstStyle/>
                    <a:p>
                      <a:pPr indent="0" marL="0">
                        <a:buNone/>
                      </a:pPr>
                      <a:r>
                        <a:rPr lang="en-US" sz="1050" b="1" dirty="0">
                          <a:solidFill>
                            <a:srgbClr val="1F2933"/>
                          </a:solidFill>
                          <a:latin typeface="Calibri" pitchFamily="34" charset="0"/>
                          <a:ea typeface="Calibri" pitchFamily="34" charset="-122"/>
                          <a:cs typeface="Calibri" pitchFamily="34" charset="-120"/>
                        </a:rPr>
                        <a:t>10 minutes</a:t>
                      </a:r>
                      <a:endParaRPr lang="en-US" sz="10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1050" dirty="0">
                          <a:solidFill>
                            <a:srgbClr val="1F2933"/>
                          </a:solidFill>
                          <a:latin typeface="Calibri" pitchFamily="34" charset="0"/>
                          <a:ea typeface="Calibri" pitchFamily="34" charset="-122"/>
                          <a:cs typeface="Calibri" pitchFamily="34" charset="-120"/>
                        </a:rPr>
                        <a:t>In groups of three or four. Exercise pack page 2. Use the blank rows on page 3</a:t>
                      </a:r>
                      <a:endParaRPr lang="en-US" sz="10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r>
              <a:tr h="292608">
                <a:tc>
                  <a:txBody>
                    <a:bodyPr/>
                    <a:lstStyle/>
                    <a:p>
                      <a:pPr indent="0" marL="0">
                        <a:buNone/>
                      </a:pPr>
                      <a:r>
                        <a:rPr lang="en-US" sz="1050" b="1" dirty="0">
                          <a:solidFill>
                            <a:srgbClr val="1F2933"/>
                          </a:solidFill>
                          <a:latin typeface="Calibri" pitchFamily="34" charset="0"/>
                          <a:ea typeface="Calibri" pitchFamily="34" charset="-122"/>
                          <a:cs typeface="Calibri" pitchFamily="34" charset="-120"/>
                        </a:rPr>
                        <a:t>5 minutes</a:t>
                      </a:r>
                      <a:endParaRPr lang="en-US" sz="10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c>
                  <a:txBody>
                    <a:bodyPr/>
                    <a:lstStyle/>
                    <a:p>
                      <a:pPr indent="0" marL="0">
                        <a:buNone/>
                      </a:pPr>
                      <a:r>
                        <a:rPr lang="en-US" sz="1050" dirty="0">
                          <a:solidFill>
                            <a:srgbClr val="1F2933"/>
                          </a:solidFill>
                          <a:latin typeface="Calibri" pitchFamily="34" charset="0"/>
                          <a:ea typeface="Calibri" pitchFamily="34" charset="-122"/>
                          <a:cs typeface="Calibri" pitchFamily="34" charset="-120"/>
                        </a:rPr>
                        <a:t>Two or three tables read their rebuilt rows and their deficiency wording</a:t>
                      </a:r>
                      <a:endParaRPr lang="en-US" sz="10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r>
            </a:tbl>
          </a:graphicData>
        </a:graphic>
      </p:graphicFrame>
      <p:sp>
        <p:nvSpPr>
          <p:cNvPr id="23" name="Shape 19"/>
          <p:cNvSpPr/>
          <p:nvPr/>
        </p:nvSpPr>
        <p:spPr>
          <a:xfrm>
            <a:off x="457200" y="4160520"/>
            <a:ext cx="8229600" cy="411480"/>
          </a:xfrm>
          <a:prstGeom prst="roundRect">
            <a:avLst>
              <a:gd name="adj" fmla="val 13333"/>
            </a:avLst>
          </a:prstGeom>
          <a:solidFill>
            <a:srgbClr val="FBF2DE"/>
          </a:solidFill>
          <a:ln w="12700">
            <a:solidFill>
              <a:srgbClr val="FBF2DE"/>
            </a:solidFill>
            <a:prstDash val="solid"/>
          </a:ln>
        </p:spPr>
      </p:sp>
      <p:sp>
        <p:nvSpPr>
          <p:cNvPr id="24" name="Text 20"/>
          <p:cNvSpPr txBox="1"/>
          <p:nvPr/>
        </p:nvSpPr>
        <p:spPr>
          <a:xfrm>
            <a:off x="640080" y="4160520"/>
            <a:ext cx="7863840" cy="411480"/>
          </a:xfrm>
          <a:prstGeom prst="rect">
            <a:avLst/>
          </a:prstGeom>
          <a:noFill/>
          <a:ln/>
        </p:spPr>
        <p:txBody>
          <a:bodyPr wrap="square" lIns="0" tIns="0" rIns="0" bIns="0" rtlCol="0" anchor="ctr"/>
          <a:lstStyle/>
          <a:p>
            <a:pPr indent="0" marL="0">
              <a:buNone/>
            </a:pPr>
            <a:r>
              <a:rPr lang="en-US" sz="1100" dirty="0">
                <a:solidFill>
                  <a:srgbClr val="0F2A4A"/>
                </a:solidFill>
                <a:latin typeface="Calibri" pitchFamily="34" charset="0"/>
                <a:ea typeface="Calibri" pitchFamily="34" charset="-122"/>
                <a:cs typeface="Calibri" pitchFamily="34" charset="-120"/>
              </a:rPr>
              <a:t>Device: programmable ambulatory infusion pump for home use, with a single-use administration set. The same device as the Excel toolkit.</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4814316"/>
            <a:ext cx="5943600" cy="201168"/>
          </a:xfrm>
          <a:prstGeom prst="rect">
            <a:avLst/>
          </a:prstGeom>
          <a:noFill/>
          <a:ln/>
        </p:spPr>
        <p:txBody>
          <a:bodyPr wrap="square" lIns="0" tIns="0" rIns="0" bIns="0" rtlCol="0" anchor="ctr"/>
          <a:lstStyle/>
          <a:p>
            <a:pPr indent="0" marL="0">
              <a:buNone/>
            </a:pPr>
            <a:r>
              <a:rPr lang="en-US" sz="900" dirty="0">
                <a:solidFill>
                  <a:srgbClr val="5A6B7B"/>
                </a:solidFill>
                <a:latin typeface="Calibri" pitchFamily="34" charset="0"/>
                <a:ea typeface="Calibri" pitchFamily="34" charset="-122"/>
                <a:cs typeface="Calibri" pitchFamily="34" charset="-120"/>
              </a:rPr>
              <a:t>Risk Management  |  ISO 14971  |  Elder Consulting, LLC</a:t>
            </a:r>
            <a:endParaRPr lang="en-US" sz="900" dirty="0"/>
          </a:p>
        </p:txBody>
      </p:sp>
      <p:sp>
        <p:nvSpPr>
          <p:cNvPr id="3" name="Text 1"/>
          <p:cNvSpPr txBox="1"/>
          <p:nvPr/>
        </p:nvSpPr>
        <p:spPr>
          <a:xfrm>
            <a:off x="8138160" y="4814316"/>
            <a:ext cx="548640" cy="201168"/>
          </a:xfrm>
          <a:prstGeom prst="rect">
            <a:avLst/>
          </a:prstGeom>
          <a:noFill/>
          <a:ln/>
        </p:spPr>
        <p:txBody>
          <a:bodyPr wrap="square" lIns="0" tIns="0" rIns="0" bIns="0" rtlCol="0" anchor="ctr"/>
          <a:lstStyle/>
          <a:p>
            <a:pPr algn="r" indent="0" marL="0">
              <a:buNone/>
            </a:pPr>
            <a:r>
              <a:rPr lang="en-US" sz="900" dirty="0">
                <a:solidFill>
                  <a:srgbClr val="5A6B7B"/>
                </a:solidFill>
                <a:latin typeface="Calibri" pitchFamily="34" charset="0"/>
                <a:ea typeface="Calibri" pitchFamily="34" charset="-122"/>
                <a:cs typeface="Calibri" pitchFamily="34" charset="-120"/>
              </a:rPr>
              <a:t>18</a:t>
            </a:r>
            <a:endParaRPr lang="en-US" sz="900" dirty="0"/>
          </a:p>
        </p:txBody>
      </p:sp>
      <p:sp>
        <p:nvSpPr>
          <p:cNvPr id="4" name="Text 2"/>
          <p:cNvSpPr txBox="1"/>
          <p:nvPr/>
        </p:nvSpPr>
        <p:spPr>
          <a:xfrm>
            <a:off x="457200" y="274320"/>
            <a:ext cx="8229600" cy="219456"/>
          </a:xfrm>
          <a:prstGeom prst="rect">
            <a:avLst/>
          </a:prstGeom>
          <a:noFill/>
          <a:ln/>
        </p:spPr>
        <p:txBody>
          <a:bodyPr wrap="square" lIns="0" tIns="0" rIns="0" bIns="0" rtlCol="0" anchor="ctr"/>
          <a:lstStyle/>
          <a:p>
            <a:pPr indent="0" marL="0">
              <a:buNone/>
            </a:pPr>
            <a:r>
              <a:rPr lang="en-US" sz="1000" b="1" spc="200" kern="0" dirty="0">
                <a:solidFill>
                  <a:srgbClr val="A8730F"/>
                </a:solidFill>
                <a:latin typeface="Calibri" pitchFamily="34" charset="0"/>
                <a:ea typeface="Calibri" pitchFamily="34" charset="-122"/>
                <a:cs typeface="Calibri" pitchFamily="34" charset="-120"/>
              </a:rPr>
              <a:t>EXERCISE A  |  THE ROW</a:t>
            </a:r>
            <a:endParaRPr lang="en-US" sz="1000" dirty="0"/>
          </a:p>
        </p:txBody>
      </p:sp>
      <p:sp>
        <p:nvSpPr>
          <p:cNvPr id="5" name="Text 3"/>
          <p:cNvSpPr txBox="1"/>
          <p:nvPr/>
        </p:nvSpPr>
        <p:spPr>
          <a:xfrm>
            <a:off x="457200" y="502920"/>
            <a:ext cx="8229600" cy="548640"/>
          </a:xfrm>
          <a:prstGeom prst="rect">
            <a:avLst/>
          </a:prstGeom>
          <a:noFill/>
          <a:ln/>
        </p:spPr>
        <p:txBody>
          <a:bodyPr wrap="square" lIns="0" tIns="0" rIns="0" bIns="0" rtlCol="0" anchor="t"/>
          <a:lstStyle/>
          <a:p>
            <a:pPr indent="0" marL="0">
              <a:buNone/>
            </a:pPr>
            <a:r>
              <a:rPr lang="en-US" sz="2400" b="1" dirty="0">
                <a:solidFill>
                  <a:srgbClr val="0F2A4A"/>
                </a:solidFill>
                <a:latin typeface="Cambria" pitchFamily="34" charset="0"/>
                <a:ea typeface="Cambria" pitchFamily="34" charset="-122"/>
                <a:cs typeface="Cambria" pitchFamily="34" charset="-120"/>
              </a:rPr>
              <a:t>HZ-15, exactly as it appears in the file</a:t>
            </a:r>
            <a:endParaRPr lang="en-US" sz="24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457200" y="1078992"/>
          <a:ext cx="8229600" cy="914400"/>
        </p:xfrm>
        <a:graphic>
          <a:graphicData uri="http://schemas.openxmlformats.org/drawingml/2006/table">
            <a:tbl>
              <a:tblPr/>
              <a:tblGrid>
                <a:gridCol w="2377440"/>
                <a:gridCol w="5852160"/>
              </a:tblGrid>
              <a:tr h="224028">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Column</a:t>
                      </a:r>
                      <a:endParaRPr lang="en-US" sz="900" dirty="0">
                        <a:latin typeface="Calibri" charset="0"/>
                        <a:ea typeface="Calibri" charset="0"/>
                        <a:cs typeface="Calibri" charset="0"/>
                      </a:endParaRPr>
                    </a:p>
                  </a:txBody>
                  <a:tcPr marL="54864" marR="54864" marT="54864" marB="54864" anchor="ctr">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0F2A4A"/>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What the row says</a:t>
                      </a:r>
                      <a:endParaRPr lang="en-US" sz="900" dirty="0">
                        <a:latin typeface="Calibri" charset="0"/>
                        <a:ea typeface="Calibri" charset="0"/>
                        <a:cs typeface="Calibri" charset="0"/>
                      </a:endParaRPr>
                    </a:p>
                  </a:txBody>
                  <a:tcPr marL="54864" marR="54864" marT="54864" marB="54864" anchor="ctr">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0F2A4A"/>
                    </a:solidFill>
                  </a:tcPr>
                </a:tc>
              </a:tr>
              <a:tr h="224028">
                <a:tc>
                  <a:txBody>
                    <a:bodyPr/>
                    <a:lstStyle/>
                    <a:p>
                      <a:pPr indent="0" marL="0">
                        <a:buNone/>
                      </a:pPr>
                      <a:r>
                        <a:rPr lang="en-US" sz="900" b="1" dirty="0">
                          <a:solidFill>
                            <a:srgbClr val="1F2933"/>
                          </a:solidFill>
                          <a:latin typeface="Calibri" pitchFamily="34" charset="0"/>
                          <a:ea typeface="Calibri" pitchFamily="34" charset="-122"/>
                          <a:cs typeface="Calibri" pitchFamily="34" charset="-120"/>
                        </a:rPr>
                        <a:t>ID</a:t>
                      </a:r>
                      <a:endParaRPr lang="en-US" sz="9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900" dirty="0">
                          <a:solidFill>
                            <a:srgbClr val="1F2933"/>
                          </a:solidFill>
                          <a:latin typeface="Calibri" pitchFamily="34" charset="0"/>
                          <a:ea typeface="Calibri" pitchFamily="34" charset="-122"/>
                          <a:cs typeface="Calibri" pitchFamily="34" charset="-120"/>
                        </a:rPr>
                        <a:t>HZ-15</a:t>
                      </a:r>
                      <a:endParaRPr lang="en-US" sz="9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r>
              <a:tr h="224028">
                <a:tc>
                  <a:txBody>
                    <a:bodyPr/>
                    <a:lstStyle/>
                    <a:p>
                      <a:pPr indent="0" marL="0">
                        <a:buNone/>
                      </a:pPr>
                      <a:r>
                        <a:rPr lang="en-US" sz="900" b="1" dirty="0">
                          <a:solidFill>
                            <a:srgbClr val="1F2933"/>
                          </a:solidFill>
                          <a:latin typeface="Calibri" pitchFamily="34" charset="0"/>
                          <a:ea typeface="Calibri" pitchFamily="34" charset="-122"/>
                          <a:cs typeface="Calibri" pitchFamily="34" charset="-120"/>
                        </a:rPr>
                        <a:t>Device function or part</a:t>
                      </a:r>
                      <a:endParaRPr lang="en-US" sz="9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c>
                  <a:txBody>
                    <a:bodyPr/>
                    <a:lstStyle/>
                    <a:p>
                      <a:pPr indent="0" marL="0">
                        <a:buNone/>
                      </a:pPr>
                      <a:r>
                        <a:rPr lang="en-US" sz="900" dirty="0">
                          <a:solidFill>
                            <a:srgbClr val="1F2933"/>
                          </a:solidFill>
                          <a:latin typeface="Calibri" pitchFamily="34" charset="0"/>
                          <a:ea typeface="Calibri" pitchFamily="34" charset="-122"/>
                          <a:cs typeface="Calibri" pitchFamily="34" charset="-120"/>
                        </a:rPr>
                        <a:t>Pumping mechanism</a:t>
                      </a:r>
                      <a:endParaRPr lang="en-US" sz="9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r>
              <a:tr h="224028">
                <a:tc>
                  <a:txBody>
                    <a:bodyPr/>
                    <a:lstStyle/>
                    <a:p>
                      <a:pPr indent="0" marL="0">
                        <a:buNone/>
                      </a:pPr>
                      <a:r>
                        <a:rPr lang="en-US" sz="900" b="1" dirty="0">
                          <a:solidFill>
                            <a:srgbClr val="1F2933"/>
                          </a:solidFill>
                          <a:latin typeface="Calibri" pitchFamily="34" charset="0"/>
                          <a:ea typeface="Calibri" pitchFamily="34" charset="-122"/>
                          <a:cs typeface="Calibri" pitchFamily="34" charset="-120"/>
                        </a:rPr>
                        <a:t>Hazard</a:t>
                      </a:r>
                      <a:endParaRPr lang="en-US" sz="9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9ECEA"/>
                    </a:solidFill>
                  </a:tcPr>
                </a:tc>
                <a:tc>
                  <a:txBody>
                    <a:bodyPr/>
                    <a:lstStyle/>
                    <a:p>
                      <a:pPr indent="0" marL="0">
                        <a:buNone/>
                      </a:pPr>
                      <a:r>
                        <a:rPr lang="en-US" sz="900" dirty="0">
                          <a:solidFill>
                            <a:srgbClr val="1F2933"/>
                          </a:solidFill>
                          <a:latin typeface="Calibri" pitchFamily="34" charset="0"/>
                          <a:ea typeface="Calibri" pitchFamily="34" charset="-122"/>
                          <a:cs typeface="Calibri" pitchFamily="34" charset="-120"/>
                        </a:rPr>
                        <a:t>Pump failure</a:t>
                      </a:r>
                      <a:endParaRPr lang="en-US" sz="9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9ECEA"/>
                    </a:solidFill>
                  </a:tcPr>
                </a:tc>
              </a:tr>
              <a:tr h="224028">
                <a:tc>
                  <a:txBody>
                    <a:bodyPr/>
                    <a:lstStyle/>
                    <a:p>
                      <a:pPr indent="0" marL="0">
                        <a:buNone/>
                      </a:pPr>
                      <a:r>
                        <a:rPr lang="en-US" sz="900" b="1" dirty="0">
                          <a:solidFill>
                            <a:srgbClr val="1F2933"/>
                          </a:solidFill>
                          <a:latin typeface="Calibri" pitchFamily="34" charset="0"/>
                          <a:ea typeface="Calibri" pitchFamily="34" charset="-122"/>
                          <a:cs typeface="Calibri" pitchFamily="34" charset="-120"/>
                        </a:rPr>
                        <a:t>Foreseeable sequence of events</a:t>
                      </a:r>
                      <a:endParaRPr lang="en-US" sz="9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9ECEA"/>
                    </a:solidFill>
                  </a:tcPr>
                </a:tc>
                <a:tc>
                  <a:txBody>
                    <a:bodyPr/>
                    <a:lstStyle/>
                    <a:p>
                      <a:pPr indent="0" marL="0">
                        <a:buNone/>
                      </a:pPr>
                      <a:r>
                        <a:rPr lang="en-US" sz="900" dirty="0">
                          <a:solidFill>
                            <a:srgbClr val="1F2933"/>
                          </a:solidFill>
                          <a:latin typeface="Calibri" pitchFamily="34" charset="0"/>
                          <a:ea typeface="Calibri" pitchFamily="34" charset="-122"/>
                          <a:cs typeface="Calibri" pitchFamily="34" charset="-120"/>
                        </a:rPr>
                        <a:t>Pump fails.</a:t>
                      </a:r>
                      <a:endParaRPr lang="en-US" sz="9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9ECEA"/>
                    </a:solidFill>
                  </a:tcPr>
                </a:tc>
              </a:tr>
              <a:tr h="224028">
                <a:tc>
                  <a:txBody>
                    <a:bodyPr/>
                    <a:lstStyle/>
                    <a:p>
                      <a:pPr indent="0" marL="0">
                        <a:buNone/>
                      </a:pPr>
                      <a:r>
                        <a:rPr lang="en-US" sz="900" b="1" dirty="0">
                          <a:solidFill>
                            <a:srgbClr val="1F2933"/>
                          </a:solidFill>
                          <a:latin typeface="Calibri" pitchFamily="34" charset="0"/>
                          <a:ea typeface="Calibri" pitchFamily="34" charset="-122"/>
                          <a:cs typeface="Calibri" pitchFamily="34" charset="-120"/>
                        </a:rPr>
                        <a:t>Hazardous situation</a:t>
                      </a:r>
                      <a:endParaRPr lang="en-US" sz="9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9ECEA"/>
                    </a:solidFill>
                  </a:tcPr>
                </a:tc>
                <a:tc>
                  <a:txBody>
                    <a:bodyPr/>
                    <a:lstStyle/>
                    <a:p>
                      <a:pPr indent="0" marL="0">
                        <a:buNone/>
                      </a:pPr>
                      <a:r>
                        <a:rPr lang="en-US" sz="900" dirty="0">
                          <a:solidFill>
                            <a:srgbClr val="1F2933"/>
                          </a:solidFill>
                          <a:latin typeface="Calibri" pitchFamily="34" charset="0"/>
                          <a:ea typeface="Calibri" pitchFamily="34" charset="-122"/>
                          <a:cs typeface="Calibri" pitchFamily="34" charset="-120"/>
                        </a:rPr>
                        <a:t>Pump failure.</a:t>
                      </a:r>
                      <a:endParaRPr lang="en-US" sz="9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9ECEA"/>
                    </a:solidFill>
                  </a:tcPr>
                </a:tc>
              </a:tr>
              <a:tr h="224028">
                <a:tc>
                  <a:txBody>
                    <a:bodyPr/>
                    <a:lstStyle/>
                    <a:p>
                      <a:pPr indent="0" marL="0">
                        <a:buNone/>
                      </a:pPr>
                      <a:r>
                        <a:rPr lang="en-US" sz="900" b="1" dirty="0">
                          <a:solidFill>
                            <a:srgbClr val="1F2933"/>
                          </a:solidFill>
                          <a:latin typeface="Calibri" pitchFamily="34" charset="0"/>
                          <a:ea typeface="Calibri" pitchFamily="34" charset="-122"/>
                          <a:cs typeface="Calibri" pitchFamily="34" charset="-120"/>
                        </a:rPr>
                        <a:t>Harm</a:t>
                      </a:r>
                      <a:endParaRPr lang="en-US" sz="9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9ECEA"/>
                    </a:solidFill>
                  </a:tcPr>
                </a:tc>
                <a:tc>
                  <a:txBody>
                    <a:bodyPr/>
                    <a:lstStyle/>
                    <a:p>
                      <a:pPr indent="0" marL="0">
                        <a:buNone/>
                      </a:pPr>
                      <a:r>
                        <a:rPr lang="en-US" sz="900" dirty="0">
                          <a:solidFill>
                            <a:srgbClr val="1F2933"/>
                          </a:solidFill>
                          <a:latin typeface="Calibri" pitchFamily="34" charset="0"/>
                          <a:ea typeface="Calibri" pitchFamily="34" charset="-122"/>
                          <a:cs typeface="Calibri" pitchFamily="34" charset="-120"/>
                        </a:rPr>
                        <a:t>Harm to patient.</a:t>
                      </a:r>
                      <a:endParaRPr lang="en-US" sz="9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9ECEA"/>
                    </a:solidFill>
                  </a:tcPr>
                </a:tc>
              </a:tr>
              <a:tr h="224028">
                <a:tc>
                  <a:txBody>
                    <a:bodyPr/>
                    <a:lstStyle/>
                    <a:p>
                      <a:pPr indent="0" marL="0">
                        <a:buNone/>
                      </a:pPr>
                      <a:r>
                        <a:rPr lang="en-US" sz="900" b="1" dirty="0">
                          <a:solidFill>
                            <a:srgbClr val="1F2933"/>
                          </a:solidFill>
                          <a:latin typeface="Calibri" pitchFamily="34" charset="0"/>
                          <a:ea typeface="Calibri" pitchFamily="34" charset="-122"/>
                          <a:cs typeface="Calibri" pitchFamily="34" charset="-120"/>
                        </a:rPr>
                        <a:t>MDR Annex I GSPR link</a:t>
                      </a:r>
                      <a:endParaRPr lang="en-US" sz="9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900" dirty="0">
                          <a:solidFill>
                            <a:srgbClr val="1F2933"/>
                          </a:solidFill>
                          <a:latin typeface="Calibri" pitchFamily="34" charset="0"/>
                          <a:ea typeface="Calibri" pitchFamily="34" charset="-122"/>
                          <a:cs typeface="Calibri" pitchFamily="34" charset="-120"/>
                        </a:rPr>
                        <a:t>(blank)</a:t>
                      </a:r>
                      <a:endParaRPr lang="en-US" sz="9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r>
              <a:tr h="224028">
                <a:tc>
                  <a:txBody>
                    <a:bodyPr/>
                    <a:lstStyle/>
                    <a:p>
                      <a:pPr indent="0" marL="0">
                        <a:buNone/>
                      </a:pPr>
                      <a:r>
                        <a:rPr lang="en-US" sz="900" b="1" dirty="0">
                          <a:solidFill>
                            <a:srgbClr val="1F2933"/>
                          </a:solidFill>
                          <a:latin typeface="Calibri" pitchFamily="34" charset="0"/>
                          <a:ea typeface="Calibri" pitchFamily="34" charset="-122"/>
                          <a:cs typeface="Calibri" pitchFamily="34" charset="-120"/>
                        </a:rPr>
                        <a:t>P1 / P2 / Severity</a:t>
                      </a:r>
                      <a:endParaRPr lang="en-US" sz="9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c>
                  <a:txBody>
                    <a:bodyPr/>
                    <a:lstStyle/>
                    <a:p>
                      <a:pPr indent="0" marL="0">
                        <a:buNone/>
                      </a:pPr>
                      <a:r>
                        <a:rPr lang="en-US" sz="900" dirty="0">
                          <a:solidFill>
                            <a:srgbClr val="1F2933"/>
                          </a:solidFill>
                          <a:latin typeface="Calibri" pitchFamily="34" charset="0"/>
                          <a:ea typeface="Calibri" pitchFamily="34" charset="-122"/>
                          <a:cs typeface="Calibri" pitchFamily="34" charset="-120"/>
                        </a:rPr>
                        <a:t>2  /  2  /  3</a:t>
                      </a:r>
                      <a:endParaRPr lang="en-US" sz="9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r>
              <a:tr h="224028">
                <a:tc>
                  <a:txBody>
                    <a:bodyPr/>
                    <a:lstStyle/>
                    <a:p>
                      <a:pPr indent="0" marL="0">
                        <a:buNone/>
                      </a:pPr>
                      <a:r>
                        <a:rPr lang="en-US" sz="900" b="1" dirty="0">
                          <a:solidFill>
                            <a:srgbClr val="1F2933"/>
                          </a:solidFill>
                          <a:latin typeface="Calibri" pitchFamily="34" charset="0"/>
                          <a:ea typeface="Calibri" pitchFamily="34" charset="-122"/>
                          <a:cs typeface="Calibri" pitchFamily="34" charset="-120"/>
                        </a:rPr>
                        <a:t>Basis for the estimate</a:t>
                      </a:r>
                      <a:endParaRPr lang="en-US" sz="9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900" dirty="0">
                          <a:solidFill>
                            <a:srgbClr val="1F2933"/>
                          </a:solidFill>
                          <a:latin typeface="Calibri" pitchFamily="34" charset="0"/>
                          <a:ea typeface="Calibri" pitchFamily="34" charset="-122"/>
                          <a:cs typeface="Calibri" pitchFamily="34" charset="-120"/>
                        </a:rPr>
                        <a:t>(blank)</a:t>
                      </a:r>
                      <a:endParaRPr lang="en-US" sz="9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r>
              <a:tr h="224028">
                <a:tc>
                  <a:txBody>
                    <a:bodyPr/>
                    <a:lstStyle/>
                    <a:p>
                      <a:pPr indent="0" marL="0">
                        <a:buNone/>
                      </a:pPr>
                      <a:r>
                        <a:rPr lang="en-US" sz="900" b="1" dirty="0">
                          <a:solidFill>
                            <a:srgbClr val="1F2933"/>
                          </a:solidFill>
                          <a:latin typeface="Calibri" pitchFamily="34" charset="0"/>
                          <a:ea typeface="Calibri" pitchFamily="34" charset="-122"/>
                          <a:cs typeface="Calibri" pitchFamily="34" charset="-120"/>
                        </a:rPr>
                        <a:t>Initial risk</a:t>
                      </a:r>
                      <a:endParaRPr lang="en-US" sz="9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c>
                  <a:txBody>
                    <a:bodyPr/>
                    <a:lstStyle/>
                    <a:p>
                      <a:pPr indent="0" marL="0">
                        <a:buNone/>
                      </a:pPr>
                      <a:r>
                        <a:rPr lang="en-US" sz="900" dirty="0">
                          <a:solidFill>
                            <a:srgbClr val="1F2933"/>
                          </a:solidFill>
                          <a:latin typeface="Calibri" pitchFamily="34" charset="0"/>
                          <a:ea typeface="Calibri" pitchFamily="34" charset="-122"/>
                          <a:cs typeface="Calibri" pitchFamily="34" charset="-120"/>
                        </a:rPr>
                        <a:t>Acceptable</a:t>
                      </a:r>
                      <a:endParaRPr lang="en-US" sz="9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r>
              <a:tr h="224028">
                <a:tc>
                  <a:txBody>
                    <a:bodyPr/>
                    <a:lstStyle/>
                    <a:p>
                      <a:pPr indent="0" marL="0">
                        <a:buNone/>
                      </a:pPr>
                      <a:r>
                        <a:rPr lang="en-US" sz="900" b="1" dirty="0">
                          <a:solidFill>
                            <a:srgbClr val="1F2933"/>
                          </a:solidFill>
                          <a:latin typeface="Calibri" pitchFamily="34" charset="0"/>
                          <a:ea typeface="Calibri" pitchFamily="34" charset="-122"/>
                          <a:cs typeface="Calibri" pitchFamily="34" charset="-120"/>
                        </a:rPr>
                        <a:t>Risk control</a:t>
                      </a:r>
                      <a:endParaRPr lang="en-US" sz="9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900" dirty="0">
                          <a:solidFill>
                            <a:srgbClr val="1F2933"/>
                          </a:solidFill>
                          <a:latin typeface="Calibri" pitchFamily="34" charset="0"/>
                          <a:ea typeface="Calibri" pitchFamily="34" charset="-122"/>
                          <a:cs typeface="Calibri" pitchFamily="34" charset="-120"/>
                        </a:rPr>
                        <a:t>Mitigated by design</a:t>
                      </a:r>
                      <a:endParaRPr lang="en-US" sz="9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r>
              <a:tr h="224028">
                <a:tc>
                  <a:txBody>
                    <a:bodyPr/>
                    <a:lstStyle/>
                    <a:p>
                      <a:pPr indent="0" marL="0">
                        <a:buNone/>
                      </a:pPr>
                      <a:r>
                        <a:rPr lang="en-US" sz="900" b="1" dirty="0">
                          <a:solidFill>
                            <a:srgbClr val="1F2933"/>
                          </a:solidFill>
                          <a:latin typeface="Calibri" pitchFamily="34" charset="0"/>
                          <a:ea typeface="Calibri" pitchFamily="34" charset="-122"/>
                          <a:cs typeface="Calibri" pitchFamily="34" charset="-120"/>
                        </a:rPr>
                        <a:t>Residual P1 / P2 / S</a:t>
                      </a:r>
                      <a:endParaRPr lang="en-US" sz="9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c>
                  <a:txBody>
                    <a:bodyPr/>
                    <a:lstStyle/>
                    <a:p>
                      <a:pPr indent="0" marL="0">
                        <a:buNone/>
                      </a:pPr>
                      <a:r>
                        <a:rPr lang="en-US" sz="900" dirty="0">
                          <a:solidFill>
                            <a:srgbClr val="1F2933"/>
                          </a:solidFill>
                          <a:latin typeface="Calibri" pitchFamily="34" charset="0"/>
                          <a:ea typeface="Calibri" pitchFamily="34" charset="-122"/>
                          <a:cs typeface="Calibri" pitchFamily="34" charset="-120"/>
                        </a:rPr>
                        <a:t>(blank)</a:t>
                      </a:r>
                      <a:endParaRPr lang="en-US" sz="9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r>
              <a:tr h="224028">
                <a:tc>
                  <a:txBody>
                    <a:bodyPr/>
                    <a:lstStyle/>
                    <a:p>
                      <a:pPr indent="0" marL="0">
                        <a:buNone/>
                      </a:pPr>
                      <a:r>
                        <a:rPr lang="en-US" sz="900" b="1" dirty="0">
                          <a:solidFill>
                            <a:srgbClr val="1F2933"/>
                          </a:solidFill>
                          <a:latin typeface="Calibri" pitchFamily="34" charset="0"/>
                          <a:ea typeface="Calibri" pitchFamily="34" charset="-122"/>
                          <a:cs typeface="Calibri" pitchFamily="34" charset="-120"/>
                        </a:rPr>
                        <a:t>Status</a:t>
                      </a:r>
                      <a:endParaRPr lang="en-US" sz="9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900" dirty="0">
                          <a:solidFill>
                            <a:srgbClr val="1F2933"/>
                          </a:solidFill>
                          <a:latin typeface="Calibri" pitchFamily="34" charset="0"/>
                          <a:ea typeface="Calibri" pitchFamily="34" charset="-122"/>
                          <a:cs typeface="Calibri" pitchFamily="34" charset="-120"/>
                        </a:rPr>
                        <a:t>Open</a:t>
                      </a:r>
                      <a:endParaRPr lang="en-US" sz="9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r>
            </a:tbl>
          </a:graphicData>
        </a:graphic>
      </p:graphicFrame>
      <p:sp>
        <p:nvSpPr>
          <p:cNvPr id="8" name="Shape 4"/>
          <p:cNvSpPr/>
          <p:nvPr/>
        </p:nvSpPr>
        <p:spPr>
          <a:xfrm>
            <a:off x="457200" y="4498848"/>
            <a:ext cx="8229600" cy="274320"/>
          </a:xfrm>
          <a:prstGeom prst="roundRect">
            <a:avLst>
              <a:gd name="adj" fmla="val 20000"/>
            </a:avLst>
          </a:prstGeom>
          <a:solidFill>
            <a:srgbClr val="0F2A4A"/>
          </a:solidFill>
          <a:ln w="12700">
            <a:solidFill>
              <a:srgbClr val="0F2A4A"/>
            </a:solidFill>
            <a:prstDash val="solid"/>
          </a:ln>
        </p:spPr>
      </p:sp>
      <p:sp>
        <p:nvSpPr>
          <p:cNvPr id="9" name="Text 5"/>
          <p:cNvSpPr txBox="1"/>
          <p:nvPr/>
        </p:nvSpPr>
        <p:spPr>
          <a:xfrm>
            <a:off x="640080" y="4498848"/>
            <a:ext cx="7863840" cy="274320"/>
          </a:xfrm>
          <a:prstGeom prst="rect">
            <a:avLst/>
          </a:prstGeom>
          <a:noFill/>
          <a:ln/>
        </p:spPr>
        <p:txBody>
          <a:bodyPr wrap="square" lIns="0" tIns="0" rIns="0" bIns="0" rtlCol="0" anchor="ctr"/>
          <a:lstStyle/>
          <a:p>
            <a:pPr indent="0" marL="0">
              <a:buNone/>
            </a:pPr>
            <a:r>
              <a:rPr lang="en-US" sz="1100" b="1" i="1" dirty="0">
                <a:solidFill>
                  <a:srgbClr val="FFFFFF"/>
                </a:solidFill>
                <a:latin typeface="Calibri" pitchFamily="34" charset="0"/>
                <a:ea typeface="Calibri" pitchFamily="34" charset="-122"/>
                <a:cs typeface="Calibri" pitchFamily="34" charset="-120"/>
              </a:rPr>
              <a:t>Ten minutes. Take it apart, rebuild it, write the deficiency.</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4814316"/>
            <a:ext cx="5943600" cy="201168"/>
          </a:xfrm>
          <a:prstGeom prst="rect">
            <a:avLst/>
          </a:prstGeom>
          <a:noFill/>
          <a:ln/>
        </p:spPr>
        <p:txBody>
          <a:bodyPr wrap="square" lIns="0" tIns="0" rIns="0" bIns="0" rtlCol="0" anchor="ctr"/>
          <a:lstStyle/>
          <a:p>
            <a:pPr indent="0" marL="0">
              <a:buNone/>
            </a:pPr>
            <a:r>
              <a:rPr lang="en-US" sz="900" dirty="0">
                <a:solidFill>
                  <a:srgbClr val="5A6B7B"/>
                </a:solidFill>
                <a:latin typeface="Calibri" pitchFamily="34" charset="0"/>
                <a:ea typeface="Calibri" pitchFamily="34" charset="-122"/>
                <a:cs typeface="Calibri" pitchFamily="34" charset="-120"/>
              </a:rPr>
              <a:t>Risk Management  |  ISO 14971  |  Elder Consulting, LLC</a:t>
            </a:r>
            <a:endParaRPr lang="en-US" sz="900" dirty="0"/>
          </a:p>
        </p:txBody>
      </p:sp>
      <p:sp>
        <p:nvSpPr>
          <p:cNvPr id="3" name="Text 1"/>
          <p:cNvSpPr txBox="1"/>
          <p:nvPr/>
        </p:nvSpPr>
        <p:spPr>
          <a:xfrm>
            <a:off x="8138160" y="4814316"/>
            <a:ext cx="548640" cy="201168"/>
          </a:xfrm>
          <a:prstGeom prst="rect">
            <a:avLst/>
          </a:prstGeom>
          <a:noFill/>
          <a:ln/>
        </p:spPr>
        <p:txBody>
          <a:bodyPr wrap="square" lIns="0" tIns="0" rIns="0" bIns="0" rtlCol="0" anchor="ctr"/>
          <a:lstStyle/>
          <a:p>
            <a:pPr algn="r" indent="0" marL="0">
              <a:buNone/>
            </a:pPr>
            <a:r>
              <a:rPr lang="en-US" sz="900" dirty="0">
                <a:solidFill>
                  <a:srgbClr val="5A6B7B"/>
                </a:solidFill>
                <a:latin typeface="Calibri" pitchFamily="34" charset="0"/>
                <a:ea typeface="Calibri" pitchFamily="34" charset="-122"/>
                <a:cs typeface="Calibri" pitchFamily="34" charset="-120"/>
              </a:rPr>
              <a:t>19</a:t>
            </a:r>
            <a:endParaRPr lang="en-US" sz="900" dirty="0"/>
          </a:p>
        </p:txBody>
      </p:sp>
      <p:sp>
        <p:nvSpPr>
          <p:cNvPr id="4" name="Text 2"/>
          <p:cNvSpPr txBox="1"/>
          <p:nvPr/>
        </p:nvSpPr>
        <p:spPr>
          <a:xfrm>
            <a:off x="457200" y="274320"/>
            <a:ext cx="8229600" cy="219456"/>
          </a:xfrm>
          <a:prstGeom prst="rect">
            <a:avLst/>
          </a:prstGeom>
          <a:noFill/>
          <a:ln/>
        </p:spPr>
        <p:txBody>
          <a:bodyPr wrap="square" lIns="0" tIns="0" rIns="0" bIns="0" rtlCol="0" anchor="ctr"/>
          <a:lstStyle/>
          <a:p>
            <a:pPr indent="0" marL="0">
              <a:buNone/>
            </a:pPr>
            <a:r>
              <a:rPr lang="en-US" sz="1000" b="1" spc="200" kern="0" dirty="0">
                <a:solidFill>
                  <a:srgbClr val="A8730F"/>
                </a:solidFill>
                <a:latin typeface="Calibri" pitchFamily="34" charset="0"/>
                <a:ea typeface="Calibri" pitchFamily="34" charset="-122"/>
                <a:cs typeface="Calibri" pitchFamily="34" charset="-120"/>
              </a:rPr>
              <a:t>EXERCISE A  |  MODEL ANSWER</a:t>
            </a:r>
            <a:endParaRPr lang="en-US" sz="1000" dirty="0"/>
          </a:p>
        </p:txBody>
      </p:sp>
      <p:sp>
        <p:nvSpPr>
          <p:cNvPr id="5" name="Text 3"/>
          <p:cNvSpPr txBox="1"/>
          <p:nvPr/>
        </p:nvSpPr>
        <p:spPr>
          <a:xfrm>
            <a:off x="457200" y="502920"/>
            <a:ext cx="8229600" cy="548640"/>
          </a:xfrm>
          <a:prstGeom prst="rect">
            <a:avLst/>
          </a:prstGeom>
          <a:noFill/>
          <a:ln/>
        </p:spPr>
        <p:txBody>
          <a:bodyPr wrap="square" lIns="0" tIns="0" rIns="0" bIns="0" rtlCol="0" anchor="t"/>
          <a:lstStyle/>
          <a:p>
            <a:pPr indent="0" marL="0">
              <a:buNone/>
            </a:pPr>
            <a:r>
              <a:rPr lang="en-US" sz="2400" b="1" dirty="0">
                <a:solidFill>
                  <a:srgbClr val="0F2A4A"/>
                </a:solidFill>
                <a:latin typeface="Cambria" pitchFamily="34" charset="0"/>
                <a:ea typeface="Cambria" pitchFamily="34" charset="-122"/>
                <a:cs typeface="Cambria" pitchFamily="34" charset="-120"/>
              </a:rPr>
              <a:t>What the row should have been: three rows, not one</a:t>
            </a:r>
            <a:endParaRPr lang="en-US" sz="24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914400"/>
        </p:xfrm>
        <a:graphic>
          <a:graphicData uri="http://schemas.openxmlformats.org/drawingml/2006/table">
            <a:tbl>
              <a:tblPr/>
              <a:tblGrid>
                <a:gridCol w="274320"/>
                <a:gridCol w="1371600"/>
                <a:gridCol w="2377440"/>
                <a:gridCol w="1371600"/>
                <a:gridCol w="1280160"/>
                <a:gridCol w="274320"/>
                <a:gridCol w="274320"/>
                <a:gridCol w="274320"/>
                <a:gridCol w="1188720"/>
              </a:tblGrid>
              <a:tr h="310896">
                <a:tc>
                  <a:txBody>
                    <a:bodyPr/>
                    <a:lstStyle/>
                    <a:p>
                      <a:pPr indent="0" marL="0">
                        <a:buNone/>
                      </a:pPr>
                      <a:r>
                        <a:rPr lang="en-US" sz="800" b="1" dirty="0">
                          <a:solidFill>
                            <a:srgbClr val="FFFFFF"/>
                          </a:solidFill>
                          <a:latin typeface="Calibri" pitchFamily="34" charset="0"/>
                          <a:ea typeface="Calibri" pitchFamily="34" charset="-122"/>
                          <a:cs typeface="Calibri" pitchFamily="34" charset="-120"/>
                        </a:rPr>
                        <a:t>#</a:t>
                      </a:r>
                      <a:endParaRPr lang="en-US" sz="800" dirty="0">
                        <a:latin typeface="Calibri" charset="0"/>
                        <a:ea typeface="Calibri" charset="0"/>
                        <a:cs typeface="Calibri" charset="0"/>
                      </a:endParaRPr>
                    </a:p>
                  </a:txBody>
                  <a:tcPr marL="54864" marR="54864" marT="54864" marB="54864" anchor="ctr">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0F2A4A"/>
                    </a:solidFill>
                  </a:tcPr>
                </a:tc>
                <a:tc>
                  <a:txBody>
                    <a:bodyPr/>
                    <a:lstStyle/>
                    <a:p>
                      <a:pPr indent="0" marL="0">
                        <a:buNone/>
                      </a:pPr>
                      <a:r>
                        <a:rPr lang="en-US" sz="800" b="1" dirty="0">
                          <a:solidFill>
                            <a:srgbClr val="FFFFFF"/>
                          </a:solidFill>
                          <a:latin typeface="Calibri" pitchFamily="34" charset="0"/>
                          <a:ea typeface="Calibri" pitchFamily="34" charset="-122"/>
                          <a:cs typeface="Calibri" pitchFamily="34" charset="-120"/>
                        </a:rPr>
                        <a:t>Hazard</a:t>
                      </a:r>
                      <a:endParaRPr lang="en-US" sz="800" dirty="0">
                        <a:latin typeface="Calibri" charset="0"/>
                        <a:ea typeface="Calibri" charset="0"/>
                        <a:cs typeface="Calibri" charset="0"/>
                      </a:endParaRPr>
                    </a:p>
                  </a:txBody>
                  <a:tcPr marL="54864" marR="54864" marT="54864" marB="54864" anchor="ctr">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0F2A4A"/>
                    </a:solidFill>
                  </a:tcPr>
                </a:tc>
                <a:tc>
                  <a:txBody>
                    <a:bodyPr/>
                    <a:lstStyle/>
                    <a:p>
                      <a:pPr indent="0" marL="0">
                        <a:buNone/>
                      </a:pPr>
                      <a:r>
                        <a:rPr lang="en-US" sz="800" b="1" dirty="0">
                          <a:solidFill>
                            <a:srgbClr val="FFFFFF"/>
                          </a:solidFill>
                          <a:latin typeface="Calibri" pitchFamily="34" charset="0"/>
                          <a:ea typeface="Calibri" pitchFamily="34" charset="-122"/>
                          <a:cs typeface="Calibri" pitchFamily="34" charset="-120"/>
                        </a:rPr>
                        <a:t>Sequence of events</a:t>
                      </a:r>
                      <a:endParaRPr lang="en-US" sz="800" dirty="0">
                        <a:latin typeface="Calibri" charset="0"/>
                        <a:ea typeface="Calibri" charset="0"/>
                        <a:cs typeface="Calibri" charset="0"/>
                      </a:endParaRPr>
                    </a:p>
                  </a:txBody>
                  <a:tcPr marL="54864" marR="54864" marT="54864" marB="54864" anchor="ctr">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0F2A4A"/>
                    </a:solidFill>
                  </a:tcPr>
                </a:tc>
                <a:tc>
                  <a:txBody>
                    <a:bodyPr/>
                    <a:lstStyle/>
                    <a:p>
                      <a:pPr indent="0" marL="0">
                        <a:buNone/>
                      </a:pPr>
                      <a:r>
                        <a:rPr lang="en-US" sz="800" b="1" dirty="0">
                          <a:solidFill>
                            <a:srgbClr val="FFFFFF"/>
                          </a:solidFill>
                          <a:latin typeface="Calibri" pitchFamily="34" charset="0"/>
                          <a:ea typeface="Calibri" pitchFamily="34" charset="-122"/>
                          <a:cs typeface="Calibri" pitchFamily="34" charset="-120"/>
                        </a:rPr>
                        <a:t>Hazardous situation</a:t>
                      </a:r>
                      <a:endParaRPr lang="en-US" sz="800" dirty="0">
                        <a:latin typeface="Calibri" charset="0"/>
                        <a:ea typeface="Calibri" charset="0"/>
                        <a:cs typeface="Calibri" charset="0"/>
                      </a:endParaRPr>
                    </a:p>
                  </a:txBody>
                  <a:tcPr marL="54864" marR="54864" marT="54864" marB="54864" anchor="ctr">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0F2A4A"/>
                    </a:solidFill>
                  </a:tcPr>
                </a:tc>
                <a:tc>
                  <a:txBody>
                    <a:bodyPr/>
                    <a:lstStyle/>
                    <a:p>
                      <a:pPr indent="0" marL="0">
                        <a:buNone/>
                      </a:pPr>
                      <a:r>
                        <a:rPr lang="en-US" sz="800" b="1" dirty="0">
                          <a:solidFill>
                            <a:srgbClr val="FFFFFF"/>
                          </a:solidFill>
                          <a:latin typeface="Calibri" pitchFamily="34" charset="0"/>
                          <a:ea typeface="Calibri" pitchFamily="34" charset="-122"/>
                          <a:cs typeface="Calibri" pitchFamily="34" charset="-120"/>
                        </a:rPr>
                        <a:t>Harm</a:t>
                      </a:r>
                      <a:endParaRPr lang="en-US" sz="800" dirty="0">
                        <a:latin typeface="Calibri" charset="0"/>
                        <a:ea typeface="Calibri" charset="0"/>
                        <a:cs typeface="Calibri" charset="0"/>
                      </a:endParaRPr>
                    </a:p>
                  </a:txBody>
                  <a:tcPr marL="54864" marR="54864" marT="54864" marB="54864" anchor="ctr">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0F2A4A"/>
                    </a:solidFill>
                  </a:tcPr>
                </a:tc>
                <a:tc>
                  <a:txBody>
                    <a:bodyPr/>
                    <a:lstStyle/>
                    <a:p>
                      <a:pPr indent="0" marL="0">
                        <a:buNone/>
                      </a:pPr>
                      <a:r>
                        <a:rPr lang="en-US" sz="800" b="1" dirty="0">
                          <a:solidFill>
                            <a:srgbClr val="FFFFFF"/>
                          </a:solidFill>
                          <a:latin typeface="Calibri" pitchFamily="34" charset="0"/>
                          <a:ea typeface="Calibri" pitchFamily="34" charset="-122"/>
                          <a:cs typeface="Calibri" pitchFamily="34" charset="-120"/>
                        </a:rPr>
                        <a:t>P1</a:t>
                      </a:r>
                      <a:endParaRPr lang="en-US" sz="800" dirty="0">
                        <a:latin typeface="Calibri" charset="0"/>
                        <a:ea typeface="Calibri" charset="0"/>
                        <a:cs typeface="Calibri" charset="0"/>
                      </a:endParaRPr>
                    </a:p>
                  </a:txBody>
                  <a:tcPr marL="54864" marR="54864" marT="54864" marB="54864" anchor="ctr">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0F2A4A"/>
                    </a:solidFill>
                  </a:tcPr>
                </a:tc>
                <a:tc>
                  <a:txBody>
                    <a:bodyPr/>
                    <a:lstStyle/>
                    <a:p>
                      <a:pPr indent="0" marL="0">
                        <a:buNone/>
                      </a:pPr>
                      <a:r>
                        <a:rPr lang="en-US" sz="800" b="1" dirty="0">
                          <a:solidFill>
                            <a:srgbClr val="FFFFFF"/>
                          </a:solidFill>
                          <a:latin typeface="Calibri" pitchFamily="34" charset="0"/>
                          <a:ea typeface="Calibri" pitchFamily="34" charset="-122"/>
                          <a:cs typeface="Calibri" pitchFamily="34" charset="-120"/>
                        </a:rPr>
                        <a:t>P2</a:t>
                      </a:r>
                      <a:endParaRPr lang="en-US" sz="800" dirty="0">
                        <a:latin typeface="Calibri" charset="0"/>
                        <a:ea typeface="Calibri" charset="0"/>
                        <a:cs typeface="Calibri" charset="0"/>
                      </a:endParaRPr>
                    </a:p>
                  </a:txBody>
                  <a:tcPr marL="54864" marR="54864" marT="54864" marB="54864" anchor="ctr">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0F2A4A"/>
                    </a:solidFill>
                  </a:tcPr>
                </a:tc>
                <a:tc>
                  <a:txBody>
                    <a:bodyPr/>
                    <a:lstStyle/>
                    <a:p>
                      <a:pPr indent="0" marL="0">
                        <a:buNone/>
                      </a:pPr>
                      <a:r>
                        <a:rPr lang="en-US" sz="800" b="1" dirty="0">
                          <a:solidFill>
                            <a:srgbClr val="FFFFFF"/>
                          </a:solidFill>
                          <a:latin typeface="Calibri" pitchFamily="34" charset="0"/>
                          <a:ea typeface="Calibri" pitchFamily="34" charset="-122"/>
                          <a:cs typeface="Calibri" pitchFamily="34" charset="-120"/>
                        </a:rPr>
                        <a:t>S</a:t>
                      </a:r>
                      <a:endParaRPr lang="en-US" sz="800" dirty="0">
                        <a:latin typeface="Calibri" charset="0"/>
                        <a:ea typeface="Calibri" charset="0"/>
                        <a:cs typeface="Calibri" charset="0"/>
                      </a:endParaRPr>
                    </a:p>
                  </a:txBody>
                  <a:tcPr marL="54864" marR="54864" marT="54864" marB="54864" anchor="ctr">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0F2A4A"/>
                    </a:solidFill>
                  </a:tcPr>
                </a:tc>
                <a:tc>
                  <a:txBody>
                    <a:bodyPr/>
                    <a:lstStyle/>
                    <a:p>
                      <a:pPr indent="0" marL="0">
                        <a:buNone/>
                      </a:pPr>
                      <a:r>
                        <a:rPr lang="en-US" sz="800" b="1" dirty="0">
                          <a:solidFill>
                            <a:srgbClr val="FFFFFF"/>
                          </a:solidFill>
                          <a:latin typeface="Calibri" pitchFamily="34" charset="0"/>
                          <a:ea typeface="Calibri" pitchFamily="34" charset="-122"/>
                          <a:cs typeface="Calibri" pitchFamily="34" charset="-120"/>
                        </a:rPr>
                        <a:t>GSPR</a:t>
                      </a:r>
                      <a:endParaRPr lang="en-US" sz="800" dirty="0">
                        <a:latin typeface="Calibri" charset="0"/>
                        <a:ea typeface="Calibri" charset="0"/>
                        <a:cs typeface="Calibri" charset="0"/>
                      </a:endParaRPr>
                    </a:p>
                  </a:txBody>
                  <a:tcPr marL="54864" marR="54864" marT="54864" marB="54864" anchor="ctr">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0F2A4A"/>
                    </a:solidFill>
                  </a:tcPr>
                </a:tc>
              </a:tr>
              <a:tr h="310896">
                <a:tc>
                  <a:txBody>
                    <a:bodyPr/>
                    <a:lstStyle/>
                    <a:p>
                      <a:pPr indent="0" marL="0">
                        <a:buNone/>
                      </a:pPr>
                      <a:r>
                        <a:rPr lang="en-US" sz="800" b="1" dirty="0">
                          <a:solidFill>
                            <a:srgbClr val="1F2933"/>
                          </a:solidFill>
                          <a:latin typeface="Calibri" pitchFamily="34" charset="0"/>
                          <a:ea typeface="Calibri" pitchFamily="34" charset="-122"/>
                          <a:cs typeface="Calibri" pitchFamily="34" charset="-120"/>
                        </a:rPr>
                        <a:t>1</a:t>
                      </a:r>
                      <a:endParaRPr lang="en-US" sz="8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800" dirty="0">
                          <a:solidFill>
                            <a:srgbClr val="1F2933"/>
                          </a:solidFill>
                          <a:latin typeface="Calibri" pitchFamily="34" charset="0"/>
                          <a:ea typeface="Calibri" pitchFamily="34" charset="-122"/>
                          <a:cs typeface="Calibri" pitchFamily="34" charset="-120"/>
                        </a:rPr>
                        <a:t>Energy - mechanical (unintended delivery)</a:t>
                      </a:r>
                      <a:endParaRPr lang="en-US" sz="8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800" dirty="0">
                          <a:solidFill>
                            <a:srgbClr val="1F2933"/>
                          </a:solidFill>
                          <a:latin typeface="Calibri" pitchFamily="34" charset="0"/>
                          <a:ea typeface="Calibri" pitchFamily="34" charset="-122"/>
                          <a:cs typeface="Calibri" pitchFamily="34" charset="-120"/>
                        </a:rPr>
                        <a:t>Occlusion raises pressure in the compliant set; it clears and the stored volume is released before the pump decompresses</a:t>
                      </a:r>
                      <a:endParaRPr lang="en-US" sz="8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800" dirty="0">
                          <a:solidFill>
                            <a:srgbClr val="1F2933"/>
                          </a:solidFill>
                          <a:latin typeface="Calibri" pitchFamily="34" charset="0"/>
                          <a:ea typeface="Calibri" pitchFamily="34" charset="-122"/>
                          <a:cs typeface="Calibri" pitchFamily="34" charset="-120"/>
                        </a:rPr>
                        <a:t>Patient receives a bolus above the prescribed rate</a:t>
                      </a:r>
                      <a:endParaRPr lang="en-US" sz="8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800" dirty="0">
                          <a:solidFill>
                            <a:srgbClr val="1F2933"/>
                          </a:solidFill>
                          <a:latin typeface="Calibri" pitchFamily="34" charset="0"/>
                          <a:ea typeface="Calibri" pitchFamily="34" charset="-122"/>
                          <a:cs typeface="Calibri" pitchFamily="34" charset="-120"/>
                        </a:rPr>
                        <a:t>Over-infusion: hypotension, respiratory depression</a:t>
                      </a:r>
                      <a:endParaRPr lang="en-US" sz="8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800" dirty="0">
                          <a:solidFill>
                            <a:srgbClr val="1F2933"/>
                          </a:solidFill>
                          <a:latin typeface="Calibri" pitchFamily="34" charset="0"/>
                          <a:ea typeface="Calibri" pitchFamily="34" charset="-122"/>
                          <a:cs typeface="Calibri" pitchFamily="34" charset="-120"/>
                        </a:rPr>
                        <a:t>4</a:t>
                      </a:r>
                      <a:endParaRPr lang="en-US" sz="8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800" dirty="0">
                          <a:solidFill>
                            <a:srgbClr val="1F2933"/>
                          </a:solidFill>
                          <a:latin typeface="Calibri" pitchFamily="34" charset="0"/>
                          <a:ea typeface="Calibri" pitchFamily="34" charset="-122"/>
                          <a:cs typeface="Calibri" pitchFamily="34" charset="-120"/>
                        </a:rPr>
                        <a:t>4</a:t>
                      </a:r>
                      <a:endParaRPr lang="en-US" sz="8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800" dirty="0">
                          <a:solidFill>
                            <a:srgbClr val="1F2933"/>
                          </a:solidFill>
                          <a:latin typeface="Calibri" pitchFamily="34" charset="0"/>
                          <a:ea typeface="Calibri" pitchFamily="34" charset="-122"/>
                          <a:cs typeface="Calibri" pitchFamily="34" charset="-120"/>
                        </a:rPr>
                        <a:t>4</a:t>
                      </a:r>
                      <a:endParaRPr lang="en-US" sz="8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800" dirty="0">
                          <a:solidFill>
                            <a:srgbClr val="1F2933"/>
                          </a:solidFill>
                          <a:latin typeface="Calibri" pitchFamily="34" charset="0"/>
                          <a:ea typeface="Calibri" pitchFamily="34" charset="-122"/>
                          <a:cs typeface="Calibri" pitchFamily="34" charset="-120"/>
                        </a:rPr>
                        <a:t>1, 4, 14.2(a), 21.1, 21.2</a:t>
                      </a:r>
                      <a:endParaRPr lang="en-US" sz="8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r>
              <a:tr h="310896">
                <a:tc>
                  <a:txBody>
                    <a:bodyPr/>
                    <a:lstStyle/>
                    <a:p>
                      <a:pPr indent="0" marL="0">
                        <a:buNone/>
                      </a:pPr>
                      <a:r>
                        <a:rPr lang="en-US" sz="800" b="1" dirty="0">
                          <a:solidFill>
                            <a:srgbClr val="1F2933"/>
                          </a:solidFill>
                          <a:latin typeface="Calibri" pitchFamily="34" charset="0"/>
                          <a:ea typeface="Calibri" pitchFamily="34" charset="-122"/>
                          <a:cs typeface="Calibri" pitchFamily="34" charset="-120"/>
                        </a:rPr>
                        <a:t>2</a:t>
                      </a:r>
                      <a:endParaRPr lang="en-US" sz="8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c>
                  <a:txBody>
                    <a:bodyPr/>
                    <a:lstStyle/>
                    <a:p>
                      <a:pPr indent="0" marL="0">
                        <a:buNone/>
                      </a:pPr>
                      <a:r>
                        <a:rPr lang="en-US" sz="800" dirty="0">
                          <a:solidFill>
                            <a:srgbClr val="1F2933"/>
                          </a:solidFill>
                          <a:latin typeface="Calibri" pitchFamily="34" charset="0"/>
                          <a:ea typeface="Calibri" pitchFamily="34" charset="-122"/>
                          <a:cs typeface="Calibri" pitchFamily="34" charset="-120"/>
                        </a:rPr>
                        <a:t>Energy - mechanical (delivery stops)</a:t>
                      </a:r>
                      <a:endParaRPr lang="en-US" sz="8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c>
                  <a:txBody>
                    <a:bodyPr/>
                    <a:lstStyle/>
                    <a:p>
                      <a:pPr indent="0" marL="0">
                        <a:buNone/>
                      </a:pPr>
                      <a:r>
                        <a:rPr lang="en-US" sz="800" dirty="0">
                          <a:solidFill>
                            <a:srgbClr val="1F2933"/>
                          </a:solidFill>
                          <a:latin typeface="Calibri" pitchFamily="34" charset="0"/>
                          <a:ea typeface="Calibri" pitchFamily="34" charset="-122"/>
                          <a:cs typeface="Calibri" pitchFamily="34" charset="-120"/>
                        </a:rPr>
                        <a:t>Drive train wears beyond the qualified cycle count; the pump stalls and the stall is not detected by the motion sensor</a:t>
                      </a:r>
                      <a:endParaRPr lang="en-US" sz="8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c>
                  <a:txBody>
                    <a:bodyPr/>
                    <a:lstStyle/>
                    <a:p>
                      <a:pPr indent="0" marL="0">
                        <a:buNone/>
                      </a:pPr>
                      <a:r>
                        <a:rPr lang="en-US" sz="800" dirty="0">
                          <a:solidFill>
                            <a:srgbClr val="1F2933"/>
                          </a:solidFill>
                          <a:latin typeface="Calibri" pitchFamily="34" charset="0"/>
                          <a:ea typeface="Calibri" pitchFamily="34" charset="-122"/>
                          <a:cs typeface="Calibri" pitchFamily="34" charset="-120"/>
                        </a:rPr>
                        <a:t>Therapy stops without the user being alerted</a:t>
                      </a:r>
                      <a:endParaRPr lang="en-US" sz="8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c>
                  <a:txBody>
                    <a:bodyPr/>
                    <a:lstStyle/>
                    <a:p>
                      <a:pPr indent="0" marL="0">
                        <a:buNone/>
                      </a:pPr>
                      <a:r>
                        <a:rPr lang="en-US" sz="800" dirty="0">
                          <a:solidFill>
                            <a:srgbClr val="1F2933"/>
                          </a:solidFill>
                          <a:latin typeface="Calibri" pitchFamily="34" charset="0"/>
                          <a:ea typeface="Calibri" pitchFamily="34" charset="-122"/>
                          <a:cs typeface="Calibri" pitchFamily="34" charset="-120"/>
                        </a:rPr>
                        <a:t>Under-infusion: loss of therapy</a:t>
                      </a:r>
                      <a:endParaRPr lang="en-US" sz="8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c>
                  <a:txBody>
                    <a:bodyPr/>
                    <a:lstStyle/>
                    <a:p>
                      <a:pPr indent="0" marL="0">
                        <a:buNone/>
                      </a:pPr>
                      <a:r>
                        <a:rPr lang="en-US" sz="800" dirty="0">
                          <a:solidFill>
                            <a:srgbClr val="1F2933"/>
                          </a:solidFill>
                          <a:latin typeface="Calibri" pitchFamily="34" charset="0"/>
                          <a:ea typeface="Calibri" pitchFamily="34" charset="-122"/>
                          <a:cs typeface="Calibri" pitchFamily="34" charset="-120"/>
                        </a:rPr>
                        <a:t>3</a:t>
                      </a:r>
                      <a:endParaRPr lang="en-US" sz="8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c>
                  <a:txBody>
                    <a:bodyPr/>
                    <a:lstStyle/>
                    <a:p>
                      <a:pPr indent="0" marL="0">
                        <a:buNone/>
                      </a:pPr>
                      <a:r>
                        <a:rPr lang="en-US" sz="800" dirty="0">
                          <a:solidFill>
                            <a:srgbClr val="1F2933"/>
                          </a:solidFill>
                          <a:latin typeface="Calibri" pitchFamily="34" charset="0"/>
                          <a:ea typeface="Calibri" pitchFamily="34" charset="-122"/>
                          <a:cs typeface="Calibri" pitchFamily="34" charset="-120"/>
                        </a:rPr>
                        <a:t>3</a:t>
                      </a:r>
                      <a:endParaRPr lang="en-US" sz="8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c>
                  <a:txBody>
                    <a:bodyPr/>
                    <a:lstStyle/>
                    <a:p>
                      <a:pPr indent="0" marL="0">
                        <a:buNone/>
                      </a:pPr>
                      <a:r>
                        <a:rPr lang="en-US" sz="800" dirty="0">
                          <a:solidFill>
                            <a:srgbClr val="1F2933"/>
                          </a:solidFill>
                          <a:latin typeface="Calibri" pitchFamily="34" charset="0"/>
                          <a:ea typeface="Calibri" pitchFamily="34" charset="-122"/>
                          <a:cs typeface="Calibri" pitchFamily="34" charset="-120"/>
                        </a:rPr>
                        <a:t>4</a:t>
                      </a:r>
                      <a:endParaRPr lang="en-US" sz="8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c>
                  <a:txBody>
                    <a:bodyPr/>
                    <a:lstStyle/>
                    <a:p>
                      <a:pPr indent="0" marL="0">
                        <a:buNone/>
                      </a:pPr>
                      <a:r>
                        <a:rPr lang="en-US" sz="800" dirty="0">
                          <a:solidFill>
                            <a:srgbClr val="1F2933"/>
                          </a:solidFill>
                          <a:latin typeface="Calibri" pitchFamily="34" charset="0"/>
                          <a:ea typeface="Calibri" pitchFamily="34" charset="-122"/>
                          <a:cs typeface="Calibri" pitchFamily="34" charset="-120"/>
                        </a:rPr>
                        <a:t>1, 4, 18.1, 21.2</a:t>
                      </a:r>
                      <a:endParaRPr lang="en-US" sz="8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r>
              <a:tr h="310896">
                <a:tc>
                  <a:txBody>
                    <a:bodyPr/>
                    <a:lstStyle/>
                    <a:p>
                      <a:pPr indent="0" marL="0">
                        <a:buNone/>
                      </a:pPr>
                      <a:r>
                        <a:rPr lang="en-US" sz="800" b="1" dirty="0">
                          <a:solidFill>
                            <a:srgbClr val="1F2933"/>
                          </a:solidFill>
                          <a:latin typeface="Calibri" pitchFamily="34" charset="0"/>
                          <a:ea typeface="Calibri" pitchFamily="34" charset="-122"/>
                          <a:cs typeface="Calibri" pitchFamily="34" charset="-120"/>
                        </a:rPr>
                        <a:t>3</a:t>
                      </a:r>
                      <a:endParaRPr lang="en-US" sz="8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800" dirty="0">
                          <a:solidFill>
                            <a:srgbClr val="1F2933"/>
                          </a:solidFill>
                          <a:latin typeface="Calibri" pitchFamily="34" charset="0"/>
                          <a:ea typeface="Calibri" pitchFamily="34" charset="-122"/>
                          <a:cs typeface="Calibri" pitchFamily="34" charset="-120"/>
                        </a:rPr>
                        <a:t>Energy - mechanical (inaccurate delivery)</a:t>
                      </a:r>
                      <a:endParaRPr lang="en-US" sz="8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800" dirty="0">
                          <a:solidFill>
                            <a:srgbClr val="1F2933"/>
                          </a:solidFill>
                          <a:latin typeface="Calibri" pitchFamily="34" charset="0"/>
                          <a:ea typeface="Calibri" pitchFamily="34" charset="-122"/>
                          <a:cs typeface="Calibri" pitchFamily="34" charset="-120"/>
                        </a:rPr>
                        <a:t>Plunger seal creeps over the infusion period; delivered volume drifts below the set rate within the alarm window</a:t>
                      </a:r>
                      <a:endParaRPr lang="en-US" sz="8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800" dirty="0">
                          <a:solidFill>
                            <a:srgbClr val="1F2933"/>
                          </a:solidFill>
                          <a:latin typeface="Calibri" pitchFamily="34" charset="0"/>
                          <a:ea typeface="Calibri" pitchFamily="34" charset="-122"/>
                          <a:cs typeface="Calibri" pitchFamily="34" charset="-120"/>
                        </a:rPr>
                        <a:t>Patient receives less than the prescribed rate, undetected</a:t>
                      </a:r>
                      <a:endParaRPr lang="en-US" sz="8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800" dirty="0">
                          <a:solidFill>
                            <a:srgbClr val="1F2933"/>
                          </a:solidFill>
                          <a:latin typeface="Calibri" pitchFamily="34" charset="0"/>
                          <a:ea typeface="Calibri" pitchFamily="34" charset="-122"/>
                          <a:cs typeface="Calibri" pitchFamily="34" charset="-120"/>
                        </a:rPr>
                        <a:t>Under-infusion: therapeutic failure</a:t>
                      </a:r>
                      <a:endParaRPr lang="en-US" sz="8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800" dirty="0">
                          <a:solidFill>
                            <a:srgbClr val="1F2933"/>
                          </a:solidFill>
                          <a:latin typeface="Calibri" pitchFamily="34" charset="0"/>
                          <a:ea typeface="Calibri" pitchFamily="34" charset="-122"/>
                          <a:cs typeface="Calibri" pitchFamily="34" charset="-120"/>
                        </a:rPr>
                        <a:t>3</a:t>
                      </a:r>
                      <a:endParaRPr lang="en-US" sz="8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800" dirty="0">
                          <a:solidFill>
                            <a:srgbClr val="1F2933"/>
                          </a:solidFill>
                          <a:latin typeface="Calibri" pitchFamily="34" charset="0"/>
                          <a:ea typeface="Calibri" pitchFamily="34" charset="-122"/>
                          <a:cs typeface="Calibri" pitchFamily="34" charset="-120"/>
                        </a:rPr>
                        <a:t>4</a:t>
                      </a:r>
                      <a:endParaRPr lang="en-US" sz="8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800" dirty="0">
                          <a:solidFill>
                            <a:srgbClr val="1F2933"/>
                          </a:solidFill>
                          <a:latin typeface="Calibri" pitchFamily="34" charset="0"/>
                          <a:ea typeface="Calibri" pitchFamily="34" charset="-122"/>
                          <a:cs typeface="Calibri" pitchFamily="34" charset="-120"/>
                        </a:rPr>
                        <a:t>3</a:t>
                      </a:r>
                      <a:endParaRPr lang="en-US" sz="8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800" dirty="0">
                          <a:solidFill>
                            <a:srgbClr val="1F2933"/>
                          </a:solidFill>
                          <a:latin typeface="Calibri" pitchFamily="34" charset="0"/>
                          <a:ea typeface="Calibri" pitchFamily="34" charset="-122"/>
                          <a:cs typeface="Calibri" pitchFamily="34" charset="-120"/>
                        </a:rPr>
                        <a:t>1, 21.1</a:t>
                      </a:r>
                      <a:endParaRPr lang="en-US" sz="8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r>
            </a:tbl>
          </a:graphicData>
        </a:graphic>
      </p:graphicFrame>
      <p:sp>
        <p:nvSpPr>
          <p:cNvPr id="8" name="Shape 4"/>
          <p:cNvSpPr/>
          <p:nvPr/>
        </p:nvSpPr>
        <p:spPr>
          <a:xfrm>
            <a:off x="457200" y="2834640"/>
            <a:ext cx="8229600" cy="1188720"/>
          </a:xfrm>
          <a:prstGeom prst="roundRect">
            <a:avLst>
              <a:gd name="adj" fmla="val 4615"/>
            </a:avLst>
          </a:prstGeom>
          <a:solidFill>
            <a:srgbClr val="F9ECEA"/>
          </a:solidFill>
          <a:ln w="12700">
            <a:solidFill>
              <a:srgbClr val="F9ECEA"/>
            </a:solidFill>
            <a:prstDash val="solid"/>
          </a:ln>
        </p:spPr>
      </p:sp>
      <p:sp>
        <p:nvSpPr>
          <p:cNvPr id="9" name="Text 5"/>
          <p:cNvSpPr txBox="1"/>
          <p:nvPr/>
        </p:nvSpPr>
        <p:spPr>
          <a:xfrm>
            <a:off x="585216" y="2926080"/>
            <a:ext cx="7973568" cy="182880"/>
          </a:xfrm>
          <a:prstGeom prst="rect">
            <a:avLst/>
          </a:prstGeom>
          <a:noFill/>
          <a:ln/>
        </p:spPr>
        <p:txBody>
          <a:bodyPr wrap="square" lIns="0" tIns="0" rIns="0" bIns="0" rtlCol="0" anchor="ctr"/>
          <a:lstStyle/>
          <a:p>
            <a:pPr indent="0" marL="0">
              <a:buNone/>
            </a:pPr>
            <a:r>
              <a:rPr lang="en-US" sz="900" b="1" spc="150" kern="0" dirty="0">
                <a:solidFill>
                  <a:srgbClr val="A8730F"/>
                </a:solidFill>
                <a:latin typeface="Calibri" pitchFamily="34" charset="0"/>
                <a:ea typeface="Calibri" pitchFamily="34" charset="-122"/>
                <a:cs typeface="Calibri" pitchFamily="34" charset="-120"/>
              </a:rPr>
              <a:t>THE DEFICIENCY</a:t>
            </a:r>
            <a:endParaRPr lang="en-US" sz="900" dirty="0"/>
          </a:p>
        </p:txBody>
      </p:sp>
      <p:sp>
        <p:nvSpPr>
          <p:cNvPr id="10" name="Text 6"/>
          <p:cNvSpPr txBox="1"/>
          <p:nvPr/>
        </p:nvSpPr>
        <p:spPr>
          <a:xfrm>
            <a:off x="585216" y="3145536"/>
            <a:ext cx="7973568" cy="237744"/>
          </a:xfrm>
          <a:prstGeom prst="rect">
            <a:avLst/>
          </a:prstGeom>
          <a:noFill/>
          <a:ln/>
        </p:spPr>
        <p:txBody>
          <a:bodyPr wrap="square" lIns="0" tIns="0" rIns="0" bIns="0" rtlCol="0" anchor="ctr"/>
          <a:lstStyle/>
          <a:p>
            <a:pPr indent="0" marL="0">
              <a:buNone/>
            </a:pPr>
            <a:r>
              <a:rPr lang="en-US" sz="1150" b="1" dirty="0">
                <a:solidFill>
                  <a:srgbClr val="0F2A4A"/>
                </a:solidFill>
                <a:latin typeface="Calibri" pitchFamily="34" charset="0"/>
                <a:ea typeface="Calibri" pitchFamily="34" charset="-122"/>
                <a:cs typeface="Calibri" pitchFamily="34" charset="-120"/>
              </a:rPr>
              <a:t>What a reviewer would write against the original</a:t>
            </a:r>
            <a:endParaRPr lang="en-US" sz="1150" dirty="0"/>
          </a:p>
        </p:txBody>
      </p:sp>
      <p:sp>
        <p:nvSpPr>
          <p:cNvPr id="11" name="Text 7"/>
          <p:cNvSpPr txBox="1"/>
          <p:nvPr/>
        </p:nvSpPr>
        <p:spPr>
          <a:xfrm>
            <a:off x="585216" y="3419856"/>
            <a:ext cx="7973568" cy="512064"/>
          </a:xfrm>
          <a:prstGeom prst="rect">
            <a:avLst/>
          </a:prstGeom>
          <a:noFill/>
          <a:ln/>
        </p:spPr>
        <p:txBody>
          <a:bodyPr wrap="square" lIns="0" tIns="0" rIns="0" bIns="0" rtlCol="0" anchor="t"/>
          <a:lstStyle/>
          <a:p>
            <a:pPr indent="0" marL="0">
              <a:buNone/>
            </a:pPr>
            <a:r>
              <a:rPr lang="en-US" sz="900" dirty="0">
                <a:solidFill>
                  <a:srgbClr val="1F2933"/>
                </a:solidFill>
                <a:latin typeface="Calibri" pitchFamily="34" charset="0"/>
                <a:ea typeface="Calibri" pitchFamily="34" charset="-122"/>
                <a:cs typeface="Calibri" pitchFamily="34" charset="-120"/>
              </a:rPr>
              <a:t>The file does not identify the foreseeable sequences of events by which the identified hazard leads to a hazardous situation, and does not distinguish the hazardous situation from the hazard or from the harm (5.4). No basis is recorded for the probability estimate (5.5). The stated risk control is not identified and is not traceable to a verification of implementation or of effectiveness (7.2). No residual risk has been evaluated (7.3), and the row is not linked to any general safety and performance requirement.</a:t>
            </a:r>
            <a:endParaRPr lang="en-US" sz="900" dirty="0"/>
          </a:p>
        </p:txBody>
      </p:sp>
      <p:sp>
        <p:nvSpPr>
          <p:cNvPr id="12" name="Shape 8"/>
          <p:cNvSpPr/>
          <p:nvPr/>
        </p:nvSpPr>
        <p:spPr>
          <a:xfrm>
            <a:off x="457200" y="4187952"/>
            <a:ext cx="8229600" cy="347472"/>
          </a:xfrm>
          <a:prstGeom prst="roundRect">
            <a:avLst>
              <a:gd name="adj" fmla="val 15789"/>
            </a:avLst>
          </a:prstGeom>
          <a:solidFill>
            <a:srgbClr val="0F2A4A"/>
          </a:solidFill>
          <a:ln w="12700">
            <a:solidFill>
              <a:srgbClr val="0F2A4A"/>
            </a:solidFill>
            <a:prstDash val="solid"/>
          </a:ln>
        </p:spPr>
      </p:sp>
      <p:sp>
        <p:nvSpPr>
          <p:cNvPr id="13" name="Text 9"/>
          <p:cNvSpPr txBox="1"/>
          <p:nvPr/>
        </p:nvSpPr>
        <p:spPr>
          <a:xfrm>
            <a:off x="640080" y="4187952"/>
            <a:ext cx="7863840" cy="347472"/>
          </a:xfrm>
          <a:prstGeom prst="rect">
            <a:avLst/>
          </a:prstGeom>
          <a:noFill/>
          <a:ln/>
        </p:spPr>
        <p:txBody>
          <a:bodyPr wrap="square" lIns="0" tIns="0" rIns="0" bIns="0" rtlCol="0" anchor="ctr"/>
          <a:lstStyle/>
          <a:p>
            <a:pPr indent="0" marL="0">
              <a:buNone/>
            </a:pPr>
            <a:r>
              <a:rPr lang="en-US" sz="1100" i="1" dirty="0">
                <a:solidFill>
                  <a:srgbClr val="FFFFFF"/>
                </a:solidFill>
                <a:latin typeface="Calibri" pitchFamily="34" charset="0"/>
                <a:ea typeface="Calibri" pitchFamily="34" charset="-122"/>
                <a:cs typeface="Calibri" pitchFamily="34" charset="-120"/>
              </a:rPr>
              <a:t>One line became three rows, and only now can any of them be argued with.</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4814316"/>
            <a:ext cx="5943600" cy="201168"/>
          </a:xfrm>
          <a:prstGeom prst="rect">
            <a:avLst/>
          </a:prstGeom>
          <a:noFill/>
          <a:ln/>
        </p:spPr>
        <p:txBody>
          <a:bodyPr wrap="square" lIns="0" tIns="0" rIns="0" bIns="0" rtlCol="0" anchor="ctr"/>
          <a:lstStyle/>
          <a:p>
            <a:pPr indent="0" marL="0">
              <a:buNone/>
            </a:pPr>
            <a:r>
              <a:rPr lang="en-US" sz="900" dirty="0">
                <a:solidFill>
                  <a:srgbClr val="5A6B7B"/>
                </a:solidFill>
                <a:latin typeface="Calibri" pitchFamily="34" charset="0"/>
                <a:ea typeface="Calibri" pitchFamily="34" charset="-122"/>
                <a:cs typeface="Calibri" pitchFamily="34" charset="-120"/>
              </a:rPr>
              <a:t>Risk Management  |  ISO 14971  |  Elder Consulting, LLC</a:t>
            </a:r>
            <a:endParaRPr lang="en-US" sz="900" dirty="0"/>
          </a:p>
        </p:txBody>
      </p:sp>
      <p:sp>
        <p:nvSpPr>
          <p:cNvPr id="3" name="Text 1"/>
          <p:cNvSpPr txBox="1"/>
          <p:nvPr/>
        </p:nvSpPr>
        <p:spPr>
          <a:xfrm>
            <a:off x="8138160" y="4814316"/>
            <a:ext cx="548640" cy="201168"/>
          </a:xfrm>
          <a:prstGeom prst="rect">
            <a:avLst/>
          </a:prstGeom>
          <a:noFill/>
          <a:ln/>
        </p:spPr>
        <p:txBody>
          <a:bodyPr wrap="square" lIns="0" tIns="0" rIns="0" bIns="0" rtlCol="0" anchor="ctr"/>
          <a:lstStyle/>
          <a:p>
            <a:pPr algn="r" indent="0" marL="0">
              <a:buNone/>
            </a:pPr>
            <a:r>
              <a:rPr lang="en-US" sz="900" dirty="0">
                <a:solidFill>
                  <a:srgbClr val="5A6B7B"/>
                </a:solidFill>
                <a:latin typeface="Calibri" pitchFamily="34" charset="0"/>
                <a:ea typeface="Calibri" pitchFamily="34" charset="-122"/>
                <a:cs typeface="Calibri" pitchFamily="34" charset="-120"/>
              </a:rPr>
              <a:t>20</a:t>
            </a:r>
            <a:endParaRPr lang="en-US" sz="900" dirty="0"/>
          </a:p>
        </p:txBody>
      </p:sp>
      <p:sp>
        <p:nvSpPr>
          <p:cNvPr id="4" name="Text 2"/>
          <p:cNvSpPr txBox="1"/>
          <p:nvPr/>
        </p:nvSpPr>
        <p:spPr>
          <a:xfrm>
            <a:off x="457200" y="274320"/>
            <a:ext cx="8229600" cy="219456"/>
          </a:xfrm>
          <a:prstGeom prst="rect">
            <a:avLst/>
          </a:prstGeom>
          <a:noFill/>
          <a:ln/>
        </p:spPr>
        <p:txBody>
          <a:bodyPr wrap="square" lIns="0" tIns="0" rIns="0" bIns="0" rtlCol="0" anchor="ctr"/>
          <a:lstStyle/>
          <a:p>
            <a:pPr indent="0" marL="0">
              <a:buNone/>
            </a:pPr>
            <a:r>
              <a:rPr lang="en-US" sz="1000" b="1" spc="200" kern="0" dirty="0">
                <a:solidFill>
                  <a:srgbClr val="A8730F"/>
                </a:solidFill>
                <a:latin typeface="Calibri" pitchFamily="34" charset="0"/>
                <a:ea typeface="Calibri" pitchFamily="34" charset="-122"/>
                <a:cs typeface="Calibri" pitchFamily="34" charset="-120"/>
              </a:rPr>
              <a:t>EXERCISE A  |  DEBRIEF</a:t>
            </a:r>
            <a:endParaRPr lang="en-US" sz="1000" dirty="0"/>
          </a:p>
        </p:txBody>
      </p:sp>
      <p:sp>
        <p:nvSpPr>
          <p:cNvPr id="5" name="Text 3"/>
          <p:cNvSpPr txBox="1"/>
          <p:nvPr/>
        </p:nvSpPr>
        <p:spPr>
          <a:xfrm>
            <a:off x="457200" y="502920"/>
            <a:ext cx="8229600" cy="548640"/>
          </a:xfrm>
          <a:prstGeom prst="rect">
            <a:avLst/>
          </a:prstGeom>
          <a:noFill/>
          <a:ln/>
        </p:spPr>
        <p:txBody>
          <a:bodyPr wrap="square" lIns="0" tIns="0" rIns="0" bIns="0" rtlCol="0" anchor="t"/>
          <a:lstStyle/>
          <a:p>
            <a:pPr indent="0" marL="0">
              <a:buNone/>
            </a:pPr>
            <a:r>
              <a:rPr lang="en-US" sz="2400" b="1" dirty="0">
                <a:solidFill>
                  <a:srgbClr val="0F2A4A"/>
                </a:solidFill>
                <a:latin typeface="Cambria" pitchFamily="34" charset="0"/>
                <a:ea typeface="Cambria" pitchFamily="34" charset="-122"/>
                <a:cs typeface="Cambria" pitchFamily="34" charset="-120"/>
              </a:rPr>
              <a:t>The four things the room reliably gets wrong</a:t>
            </a:r>
            <a:endParaRPr lang="en-US" sz="2400" dirty="0"/>
          </a:p>
        </p:txBody>
      </p:sp>
      <p:sp>
        <p:nvSpPr>
          <p:cNvPr id="7" name="Shape 4"/>
          <p:cNvSpPr/>
          <p:nvPr/>
        </p:nvSpPr>
        <p:spPr>
          <a:xfrm>
            <a:off x="457200" y="1115568"/>
            <a:ext cx="8229600" cy="777240"/>
          </a:xfrm>
          <a:prstGeom prst="roundRect">
            <a:avLst>
              <a:gd name="adj" fmla="val 7059"/>
            </a:avLst>
          </a:prstGeom>
          <a:solidFill>
            <a:srgbClr val="EAF0F6"/>
          </a:solidFill>
          <a:ln w="12700">
            <a:solidFill>
              <a:srgbClr val="EAF0F6"/>
            </a:solidFill>
            <a:prstDash val="solid"/>
          </a:ln>
        </p:spPr>
      </p:sp>
      <p:sp>
        <p:nvSpPr>
          <p:cNvPr id="8" name="Shape 5"/>
          <p:cNvSpPr/>
          <p:nvPr/>
        </p:nvSpPr>
        <p:spPr>
          <a:xfrm>
            <a:off x="585216" y="1225296"/>
            <a:ext cx="310896" cy="310896"/>
          </a:xfrm>
          <a:prstGeom prst="ellipse">
            <a:avLst/>
          </a:prstGeom>
          <a:solidFill>
            <a:srgbClr val="0F2A4A"/>
          </a:solidFill>
          <a:ln w="12700">
            <a:solidFill>
              <a:srgbClr val="0F2A4A"/>
            </a:solidFill>
            <a:prstDash val="solid"/>
          </a:ln>
        </p:spPr>
      </p:sp>
      <p:sp>
        <p:nvSpPr>
          <p:cNvPr id="9" name="Text 6"/>
          <p:cNvSpPr txBox="1"/>
          <p:nvPr/>
        </p:nvSpPr>
        <p:spPr>
          <a:xfrm>
            <a:off x="585216" y="122529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0" name="Text 7"/>
          <p:cNvSpPr txBox="1"/>
          <p:nvPr/>
        </p:nvSpPr>
        <p:spPr>
          <a:xfrm>
            <a:off x="987552" y="1207008"/>
            <a:ext cx="7571232" cy="274320"/>
          </a:xfrm>
          <a:prstGeom prst="rect">
            <a:avLst/>
          </a:prstGeom>
          <a:noFill/>
          <a:ln/>
        </p:spPr>
        <p:txBody>
          <a:bodyPr wrap="square" lIns="0" tIns="0" rIns="0" bIns="0" rtlCol="0" anchor="ctr"/>
          <a:lstStyle/>
          <a:p>
            <a:pPr indent="0" marL="0">
              <a:buNone/>
            </a:pPr>
            <a:r>
              <a:rPr lang="en-US" sz="1150" b="1" dirty="0">
                <a:solidFill>
                  <a:srgbClr val="0F2A4A"/>
                </a:solidFill>
                <a:latin typeface="Calibri" pitchFamily="34" charset="0"/>
                <a:ea typeface="Calibri" pitchFamily="34" charset="-122"/>
                <a:cs typeface="Calibri" pitchFamily="34" charset="-120"/>
              </a:rPr>
              <a:t>Rebuilding one row instead of several</a:t>
            </a:r>
            <a:endParaRPr lang="en-US" sz="1150" dirty="0"/>
          </a:p>
        </p:txBody>
      </p:sp>
      <p:sp>
        <p:nvSpPr>
          <p:cNvPr id="11" name="Text 8"/>
          <p:cNvSpPr txBox="1"/>
          <p:nvPr/>
        </p:nvSpPr>
        <p:spPr>
          <a:xfrm>
            <a:off x="585216" y="1517904"/>
            <a:ext cx="7973568" cy="283464"/>
          </a:xfrm>
          <a:prstGeom prst="rect">
            <a:avLst/>
          </a:prstGeom>
          <a:noFill/>
          <a:ln/>
        </p:spPr>
        <p:txBody>
          <a:bodyPr wrap="square" lIns="0" tIns="0" rIns="0" bIns="0" rtlCol="0" anchor="t"/>
          <a:lstStyle/>
          <a:p>
            <a:pPr indent="0" marL="0">
              <a:buNone/>
            </a:pPr>
            <a:r>
              <a:rPr lang="en-US" sz="950" dirty="0">
                <a:solidFill>
                  <a:srgbClr val="1F2933"/>
                </a:solidFill>
                <a:latin typeface="Calibri" pitchFamily="34" charset="0"/>
                <a:ea typeface="Calibri" pitchFamily="34" charset="-122"/>
                <a:cs typeface="Calibri" pitchFamily="34" charset="-120"/>
              </a:rPr>
              <a:t>The hazard reached more than one hazardous situation. If your rebuild has one row, you have renamed the problem rather than analysed it</a:t>
            </a:r>
            <a:endParaRPr lang="en-US" sz="950" dirty="0"/>
          </a:p>
        </p:txBody>
      </p:sp>
      <p:sp>
        <p:nvSpPr>
          <p:cNvPr id="12" name="Shape 9"/>
          <p:cNvSpPr/>
          <p:nvPr/>
        </p:nvSpPr>
        <p:spPr>
          <a:xfrm>
            <a:off x="457200" y="1965960"/>
            <a:ext cx="8229600" cy="777240"/>
          </a:xfrm>
          <a:prstGeom prst="roundRect">
            <a:avLst>
              <a:gd name="adj" fmla="val 7059"/>
            </a:avLst>
          </a:prstGeom>
          <a:solidFill>
            <a:srgbClr val="F5F8FB"/>
          </a:solidFill>
          <a:ln w="12700">
            <a:solidFill>
              <a:srgbClr val="F5F8FB"/>
            </a:solidFill>
            <a:prstDash val="solid"/>
          </a:ln>
        </p:spPr>
      </p:sp>
      <p:sp>
        <p:nvSpPr>
          <p:cNvPr id="13" name="Shape 10"/>
          <p:cNvSpPr/>
          <p:nvPr/>
        </p:nvSpPr>
        <p:spPr>
          <a:xfrm>
            <a:off x="585216" y="2075688"/>
            <a:ext cx="310896" cy="310896"/>
          </a:xfrm>
          <a:prstGeom prst="ellipse">
            <a:avLst/>
          </a:prstGeom>
          <a:solidFill>
            <a:srgbClr val="0F2A4A"/>
          </a:solidFill>
          <a:ln w="12700">
            <a:solidFill>
              <a:srgbClr val="0F2A4A"/>
            </a:solidFill>
            <a:prstDash val="solid"/>
          </a:ln>
        </p:spPr>
      </p:sp>
      <p:sp>
        <p:nvSpPr>
          <p:cNvPr id="14" name="Text 11"/>
          <p:cNvSpPr txBox="1"/>
          <p:nvPr/>
        </p:nvSpPr>
        <p:spPr>
          <a:xfrm>
            <a:off x="585216" y="2075688"/>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5" name="Text 12"/>
          <p:cNvSpPr txBox="1"/>
          <p:nvPr/>
        </p:nvSpPr>
        <p:spPr>
          <a:xfrm>
            <a:off x="987552" y="2057400"/>
            <a:ext cx="7571232" cy="274320"/>
          </a:xfrm>
          <a:prstGeom prst="rect">
            <a:avLst/>
          </a:prstGeom>
          <a:noFill/>
          <a:ln/>
        </p:spPr>
        <p:txBody>
          <a:bodyPr wrap="square" lIns="0" tIns="0" rIns="0" bIns="0" rtlCol="0" anchor="ctr"/>
          <a:lstStyle/>
          <a:p>
            <a:pPr indent="0" marL="0">
              <a:buNone/>
            </a:pPr>
            <a:r>
              <a:rPr lang="en-US" sz="1150" b="1" dirty="0">
                <a:solidFill>
                  <a:srgbClr val="0F2A4A"/>
                </a:solidFill>
                <a:latin typeface="Calibri" pitchFamily="34" charset="0"/>
                <a:ea typeface="Calibri" pitchFamily="34" charset="-122"/>
                <a:cs typeface="Calibri" pitchFamily="34" charset="-120"/>
              </a:rPr>
              <a:t>Writing a sequence that is one step long</a:t>
            </a:r>
            <a:endParaRPr lang="en-US" sz="1150" dirty="0"/>
          </a:p>
        </p:txBody>
      </p:sp>
      <p:sp>
        <p:nvSpPr>
          <p:cNvPr id="16" name="Text 13"/>
          <p:cNvSpPr txBox="1"/>
          <p:nvPr/>
        </p:nvSpPr>
        <p:spPr>
          <a:xfrm>
            <a:off x="585216" y="2368296"/>
            <a:ext cx="7973568" cy="283464"/>
          </a:xfrm>
          <a:prstGeom prst="rect">
            <a:avLst/>
          </a:prstGeom>
          <a:noFill/>
          <a:ln/>
        </p:spPr>
        <p:txBody>
          <a:bodyPr wrap="square" lIns="0" tIns="0" rIns="0" bIns="0" rtlCol="0" anchor="t"/>
          <a:lstStyle/>
          <a:p>
            <a:pPr indent="0" marL="0">
              <a:buNone/>
            </a:pPr>
            <a:r>
              <a:rPr lang="en-US" sz="950" dirty="0">
                <a:solidFill>
                  <a:srgbClr val="1F2933"/>
                </a:solidFill>
                <a:latin typeface="Calibri" pitchFamily="34" charset="0"/>
                <a:ea typeface="Calibri" pitchFamily="34" charset="-122"/>
                <a:cs typeface="Calibri" pitchFamily="34" charset="-120"/>
              </a:rPr>
              <a:t>"Pump fails" is a state, not a sequence. A sequence has a first event, an intermediate condition and an exposure. Clause 5.4 says sequences, plural, and combinations of events</a:t>
            </a:r>
            <a:endParaRPr lang="en-US" sz="950" dirty="0"/>
          </a:p>
        </p:txBody>
      </p:sp>
      <p:sp>
        <p:nvSpPr>
          <p:cNvPr id="17" name="Shape 14"/>
          <p:cNvSpPr/>
          <p:nvPr/>
        </p:nvSpPr>
        <p:spPr>
          <a:xfrm>
            <a:off x="457200" y="2816352"/>
            <a:ext cx="8229600" cy="777240"/>
          </a:xfrm>
          <a:prstGeom prst="roundRect">
            <a:avLst>
              <a:gd name="adj" fmla="val 7059"/>
            </a:avLst>
          </a:prstGeom>
          <a:solidFill>
            <a:srgbClr val="EAF0F6"/>
          </a:solidFill>
          <a:ln w="12700">
            <a:solidFill>
              <a:srgbClr val="EAF0F6"/>
            </a:solidFill>
            <a:prstDash val="solid"/>
          </a:ln>
        </p:spPr>
      </p:sp>
      <p:sp>
        <p:nvSpPr>
          <p:cNvPr id="18" name="Shape 15"/>
          <p:cNvSpPr/>
          <p:nvPr/>
        </p:nvSpPr>
        <p:spPr>
          <a:xfrm>
            <a:off x="585216" y="2926080"/>
            <a:ext cx="310896" cy="310896"/>
          </a:xfrm>
          <a:prstGeom prst="ellipse">
            <a:avLst/>
          </a:prstGeom>
          <a:solidFill>
            <a:srgbClr val="0F2A4A"/>
          </a:solidFill>
          <a:ln w="12700">
            <a:solidFill>
              <a:srgbClr val="0F2A4A"/>
            </a:solidFill>
            <a:prstDash val="solid"/>
          </a:ln>
        </p:spPr>
      </p:sp>
      <p:sp>
        <p:nvSpPr>
          <p:cNvPr id="19" name="Text 16"/>
          <p:cNvSpPr txBox="1"/>
          <p:nvPr/>
        </p:nvSpPr>
        <p:spPr>
          <a:xfrm>
            <a:off x="585216" y="2926080"/>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20" name="Text 17"/>
          <p:cNvSpPr txBox="1"/>
          <p:nvPr/>
        </p:nvSpPr>
        <p:spPr>
          <a:xfrm>
            <a:off x="987552" y="2907792"/>
            <a:ext cx="7571232" cy="274320"/>
          </a:xfrm>
          <a:prstGeom prst="rect">
            <a:avLst/>
          </a:prstGeom>
          <a:noFill/>
          <a:ln/>
        </p:spPr>
        <p:txBody>
          <a:bodyPr wrap="square" lIns="0" tIns="0" rIns="0" bIns="0" rtlCol="0" anchor="ctr"/>
          <a:lstStyle/>
          <a:p>
            <a:pPr indent="0" marL="0">
              <a:buNone/>
            </a:pPr>
            <a:r>
              <a:rPr lang="en-US" sz="1150" b="1" dirty="0">
                <a:solidFill>
                  <a:srgbClr val="0F2A4A"/>
                </a:solidFill>
                <a:latin typeface="Calibri" pitchFamily="34" charset="0"/>
                <a:ea typeface="Calibri" pitchFamily="34" charset="-122"/>
                <a:cs typeface="Calibri" pitchFamily="34" charset="-120"/>
              </a:rPr>
              <a:t>Assigning P1 and P2 without separating the evidence</a:t>
            </a:r>
            <a:endParaRPr lang="en-US" sz="1150" dirty="0"/>
          </a:p>
        </p:txBody>
      </p:sp>
      <p:sp>
        <p:nvSpPr>
          <p:cNvPr id="21" name="Text 18"/>
          <p:cNvSpPr txBox="1"/>
          <p:nvPr/>
        </p:nvSpPr>
        <p:spPr>
          <a:xfrm>
            <a:off x="585216" y="3218688"/>
            <a:ext cx="7973568" cy="283464"/>
          </a:xfrm>
          <a:prstGeom prst="rect">
            <a:avLst/>
          </a:prstGeom>
          <a:noFill/>
          <a:ln/>
        </p:spPr>
        <p:txBody>
          <a:bodyPr wrap="square" lIns="0" tIns="0" rIns="0" bIns="0" rtlCol="0" anchor="t"/>
          <a:lstStyle/>
          <a:p>
            <a:pPr indent="0" marL="0">
              <a:buNone/>
            </a:pPr>
            <a:r>
              <a:rPr lang="en-US" sz="950" dirty="0">
                <a:solidFill>
                  <a:srgbClr val="1F2933"/>
                </a:solidFill>
                <a:latin typeface="Calibri" pitchFamily="34" charset="0"/>
                <a:ea typeface="Calibri" pitchFamily="34" charset="-122"/>
                <a:cs typeface="Calibri" pitchFamily="34" charset="-120"/>
              </a:rPr>
              <a:t>If you cannot say which half of the number is engineering and which half is clinical, you have one number wearing two hats</a:t>
            </a:r>
            <a:endParaRPr lang="en-US" sz="950" dirty="0"/>
          </a:p>
        </p:txBody>
      </p:sp>
      <p:sp>
        <p:nvSpPr>
          <p:cNvPr id="22" name="Shape 19"/>
          <p:cNvSpPr/>
          <p:nvPr/>
        </p:nvSpPr>
        <p:spPr>
          <a:xfrm>
            <a:off x="457200" y="3666744"/>
            <a:ext cx="8229600" cy="777240"/>
          </a:xfrm>
          <a:prstGeom prst="roundRect">
            <a:avLst>
              <a:gd name="adj" fmla="val 7059"/>
            </a:avLst>
          </a:prstGeom>
          <a:solidFill>
            <a:srgbClr val="F5F8FB"/>
          </a:solidFill>
          <a:ln w="12700">
            <a:solidFill>
              <a:srgbClr val="F5F8FB"/>
            </a:solidFill>
            <a:prstDash val="solid"/>
          </a:ln>
        </p:spPr>
      </p:sp>
      <p:sp>
        <p:nvSpPr>
          <p:cNvPr id="23" name="Shape 20"/>
          <p:cNvSpPr/>
          <p:nvPr/>
        </p:nvSpPr>
        <p:spPr>
          <a:xfrm>
            <a:off x="585216" y="3776472"/>
            <a:ext cx="310896" cy="310896"/>
          </a:xfrm>
          <a:prstGeom prst="ellipse">
            <a:avLst/>
          </a:prstGeom>
          <a:solidFill>
            <a:srgbClr val="0F2A4A"/>
          </a:solidFill>
          <a:ln w="12700">
            <a:solidFill>
              <a:srgbClr val="0F2A4A"/>
            </a:solidFill>
            <a:prstDash val="solid"/>
          </a:ln>
        </p:spPr>
      </p:sp>
      <p:sp>
        <p:nvSpPr>
          <p:cNvPr id="24" name="Text 21"/>
          <p:cNvSpPr txBox="1"/>
          <p:nvPr/>
        </p:nvSpPr>
        <p:spPr>
          <a:xfrm>
            <a:off x="585216" y="37764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25" name="Text 22"/>
          <p:cNvSpPr txBox="1"/>
          <p:nvPr/>
        </p:nvSpPr>
        <p:spPr>
          <a:xfrm>
            <a:off x="987552" y="3758184"/>
            <a:ext cx="7571232" cy="274320"/>
          </a:xfrm>
          <a:prstGeom prst="rect">
            <a:avLst/>
          </a:prstGeom>
          <a:noFill/>
          <a:ln/>
        </p:spPr>
        <p:txBody>
          <a:bodyPr wrap="square" lIns="0" tIns="0" rIns="0" bIns="0" rtlCol="0" anchor="ctr"/>
          <a:lstStyle/>
          <a:p>
            <a:pPr indent="0" marL="0">
              <a:buNone/>
            </a:pPr>
            <a:r>
              <a:rPr lang="en-US" sz="1150" b="1" dirty="0">
                <a:solidFill>
                  <a:srgbClr val="0F2A4A"/>
                </a:solidFill>
                <a:latin typeface="Calibri" pitchFamily="34" charset="0"/>
                <a:ea typeface="Calibri" pitchFamily="34" charset="-122"/>
                <a:cs typeface="Calibri" pitchFamily="34" charset="-120"/>
              </a:rPr>
              <a:t>Writing the harm as a regulatory event</a:t>
            </a:r>
            <a:endParaRPr lang="en-US" sz="1150" dirty="0"/>
          </a:p>
        </p:txBody>
      </p:sp>
      <p:sp>
        <p:nvSpPr>
          <p:cNvPr id="26" name="Text 23"/>
          <p:cNvSpPr txBox="1"/>
          <p:nvPr/>
        </p:nvSpPr>
        <p:spPr>
          <a:xfrm>
            <a:off x="585216" y="4069080"/>
            <a:ext cx="7973568" cy="283464"/>
          </a:xfrm>
          <a:prstGeom prst="rect">
            <a:avLst/>
          </a:prstGeom>
          <a:noFill/>
          <a:ln/>
        </p:spPr>
        <p:txBody>
          <a:bodyPr wrap="square" lIns="0" tIns="0" rIns="0" bIns="0" rtlCol="0" anchor="t"/>
          <a:lstStyle/>
          <a:p>
            <a:pPr indent="0" marL="0">
              <a:buNone/>
            </a:pPr>
            <a:r>
              <a:rPr lang="en-US" sz="950" dirty="0">
                <a:solidFill>
                  <a:srgbClr val="1F2933"/>
                </a:solidFill>
                <a:latin typeface="Calibri" pitchFamily="34" charset="0"/>
                <a:ea typeface="Calibri" pitchFamily="34" charset="-122"/>
                <a:cs typeface="Calibri" pitchFamily="34" charset="-120"/>
              </a:rPr>
              <a:t>A harm is physical injury or damage to health (3.3). "Reportable incident", "complaint" and "recall" are consequences of harm, not harms</a:t>
            </a:r>
            <a:endParaRPr lang="en-US" sz="9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B1F38"/>
        </a:solidFill>
      </p:bgPr>
    </p:bg>
    <p:spTree>
      <p:nvGrpSpPr>
        <p:cNvPr id="1" name=""/>
        <p:cNvGrpSpPr/>
        <p:nvPr/>
      </p:nvGrpSpPr>
      <p:grpSpPr>
        <a:xfrm>
          <a:off x="0" y="0"/>
          <a:ext cx="0" cy="0"/>
          <a:chOff x="0" y="0"/>
          <a:chExt cx="0" cy="0"/>
        </a:xfrm>
      </p:grpSpPr>
      <p:sp>
        <p:nvSpPr>
          <p:cNvPr id="2" name="Text 0"/>
          <p:cNvSpPr txBox="1"/>
          <p:nvPr/>
        </p:nvSpPr>
        <p:spPr>
          <a:xfrm>
            <a:off x="457200" y="4814316"/>
            <a:ext cx="5943600" cy="201168"/>
          </a:xfrm>
          <a:prstGeom prst="rect">
            <a:avLst/>
          </a:prstGeom>
          <a:noFill/>
          <a:ln/>
        </p:spPr>
        <p:txBody>
          <a:bodyPr wrap="square" lIns="0" tIns="0" rIns="0" bIns="0" rtlCol="0" anchor="ctr"/>
          <a:lstStyle/>
          <a:p>
            <a:pPr indent="0" marL="0">
              <a:buNone/>
            </a:pPr>
            <a:r>
              <a:rPr lang="en-US" sz="900" dirty="0">
                <a:solidFill>
                  <a:srgbClr val="8FA1B5"/>
                </a:solidFill>
                <a:latin typeface="Calibri" pitchFamily="34" charset="0"/>
                <a:ea typeface="Calibri" pitchFamily="34" charset="-122"/>
                <a:cs typeface="Calibri" pitchFamily="34" charset="-120"/>
              </a:rPr>
              <a:t>Risk Management  |  ISO 14971  |  Elder Consulting, LLC</a:t>
            </a:r>
            <a:endParaRPr lang="en-US" sz="900" dirty="0"/>
          </a:p>
        </p:txBody>
      </p:sp>
      <p:sp>
        <p:nvSpPr>
          <p:cNvPr id="3" name="Text 1"/>
          <p:cNvSpPr txBox="1"/>
          <p:nvPr/>
        </p:nvSpPr>
        <p:spPr>
          <a:xfrm>
            <a:off x="8138160" y="4814316"/>
            <a:ext cx="548640" cy="201168"/>
          </a:xfrm>
          <a:prstGeom prst="rect">
            <a:avLst/>
          </a:prstGeom>
          <a:noFill/>
          <a:ln/>
        </p:spPr>
        <p:txBody>
          <a:bodyPr wrap="square" lIns="0" tIns="0" rIns="0" bIns="0" rtlCol="0" anchor="ctr"/>
          <a:lstStyle/>
          <a:p>
            <a:pPr algn="r" indent="0" marL="0">
              <a:buNone/>
            </a:pPr>
            <a:r>
              <a:rPr lang="en-US" sz="900" dirty="0">
                <a:solidFill>
                  <a:srgbClr val="8FA1B5"/>
                </a:solidFill>
                <a:latin typeface="Calibri" pitchFamily="34" charset="0"/>
                <a:ea typeface="Calibri" pitchFamily="34" charset="-122"/>
                <a:cs typeface="Calibri" pitchFamily="34" charset="-120"/>
              </a:rPr>
              <a:t>21</a:t>
            </a:r>
            <a:endParaRPr lang="en-US" sz="900" dirty="0"/>
          </a:p>
        </p:txBody>
      </p:sp>
      <p:sp>
        <p:nvSpPr>
          <p:cNvPr id="4" name="Text 2"/>
          <p:cNvSpPr txBox="1"/>
          <p:nvPr/>
        </p:nvSpPr>
        <p:spPr>
          <a:xfrm>
            <a:off x="457200" y="1417320"/>
            <a:ext cx="8229600" cy="320040"/>
          </a:xfrm>
          <a:prstGeom prst="rect">
            <a:avLst/>
          </a:prstGeom>
          <a:noFill/>
          <a:ln/>
        </p:spPr>
        <p:txBody>
          <a:bodyPr wrap="square" lIns="0" tIns="0" rIns="0" bIns="0" rtlCol="0" anchor="ctr"/>
          <a:lstStyle/>
          <a:p>
            <a:pPr indent="0" marL="0">
              <a:buNone/>
            </a:pPr>
            <a:r>
              <a:rPr lang="en-US" sz="1300" b="1" spc="300" kern="0" dirty="0">
                <a:solidFill>
                  <a:srgbClr val="E0A126"/>
                </a:solidFill>
                <a:latin typeface="Calibri" pitchFamily="34" charset="0"/>
                <a:ea typeface="Calibri" pitchFamily="34" charset="-122"/>
                <a:cs typeface="Calibri" pitchFamily="34" charset="-120"/>
              </a:rPr>
              <a:t>SECTION 4</a:t>
            </a:r>
            <a:endParaRPr lang="en-US" sz="1300" dirty="0"/>
          </a:p>
        </p:txBody>
      </p:sp>
      <p:sp>
        <p:nvSpPr>
          <p:cNvPr id="5" name="Text 3"/>
          <p:cNvSpPr txBox="1"/>
          <p:nvPr/>
        </p:nvSpPr>
        <p:spPr>
          <a:xfrm>
            <a:off x="457200" y="1783080"/>
            <a:ext cx="8229600" cy="1234440"/>
          </a:xfrm>
          <a:prstGeom prst="rect">
            <a:avLst/>
          </a:prstGeom>
          <a:noFill/>
          <a:ln/>
        </p:spPr>
        <p:txBody>
          <a:bodyPr wrap="square" lIns="0" tIns="0" rIns="0" bIns="0" rtlCol="0" anchor="t"/>
          <a:lstStyle/>
          <a:p>
            <a:pPr indent="0" marL="0">
              <a:buNone/>
            </a:pPr>
            <a:r>
              <a:rPr lang="en-US" sz="3600" b="1" dirty="0">
                <a:solidFill>
                  <a:srgbClr val="FFFFFF"/>
                </a:solidFill>
                <a:latin typeface="Cambria" pitchFamily="34" charset="0"/>
                <a:ea typeface="Cambria" pitchFamily="34" charset="-122"/>
                <a:cs typeface="Cambria" pitchFamily="34" charset="-120"/>
              </a:rPr>
              <a:t>Risk control and residual risk</a:t>
            </a:r>
            <a:endParaRPr lang="en-US" sz="3600" dirty="0"/>
          </a:p>
        </p:txBody>
      </p:sp>
      <p:sp>
        <p:nvSpPr>
          <p:cNvPr id="6" name="Text 4"/>
          <p:cNvSpPr txBox="1"/>
          <p:nvPr/>
        </p:nvSpPr>
        <p:spPr>
          <a:xfrm>
            <a:off x="457200" y="3108960"/>
            <a:ext cx="7863840" cy="914400"/>
          </a:xfrm>
          <a:prstGeom prst="rect">
            <a:avLst/>
          </a:prstGeom>
          <a:noFill/>
          <a:ln/>
        </p:spPr>
        <p:txBody>
          <a:bodyPr wrap="square" lIns="0" tIns="0" rIns="0" bIns="0" rtlCol="0" anchor="t"/>
          <a:lstStyle/>
          <a:p>
            <a:pPr indent="0" marL="0">
              <a:buNone/>
            </a:pPr>
            <a:r>
              <a:rPr lang="en-US" sz="1600" dirty="0">
                <a:solidFill>
                  <a:srgbClr val="C9D3DE"/>
                </a:solidFill>
                <a:latin typeface="Calibri" pitchFamily="34" charset="0"/>
                <a:ea typeface="Calibri" pitchFamily="34" charset="-122"/>
                <a:cs typeface="Calibri" pitchFamily="34" charset="-120"/>
              </a:rPr>
              <a:t>Clause 7 in six parts, and the three questions people answer as one</a:t>
            </a:r>
            <a:endParaRPr lang="en-US" sz="16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4814316"/>
            <a:ext cx="5943600" cy="201168"/>
          </a:xfrm>
          <a:prstGeom prst="rect">
            <a:avLst/>
          </a:prstGeom>
          <a:noFill/>
          <a:ln/>
        </p:spPr>
        <p:txBody>
          <a:bodyPr wrap="square" lIns="0" tIns="0" rIns="0" bIns="0" rtlCol="0" anchor="ctr"/>
          <a:lstStyle/>
          <a:p>
            <a:pPr indent="0" marL="0">
              <a:buNone/>
            </a:pPr>
            <a:r>
              <a:rPr lang="en-US" sz="900" dirty="0">
                <a:solidFill>
                  <a:srgbClr val="5A6B7B"/>
                </a:solidFill>
                <a:latin typeface="Calibri" pitchFamily="34" charset="0"/>
                <a:ea typeface="Calibri" pitchFamily="34" charset="-122"/>
                <a:cs typeface="Calibri" pitchFamily="34" charset="-120"/>
              </a:rPr>
              <a:t>Risk Management  |  ISO 14971  |  Elder Consulting, LLC</a:t>
            </a:r>
            <a:endParaRPr lang="en-US" sz="900" dirty="0"/>
          </a:p>
        </p:txBody>
      </p:sp>
      <p:sp>
        <p:nvSpPr>
          <p:cNvPr id="3" name="Text 1"/>
          <p:cNvSpPr txBox="1"/>
          <p:nvPr/>
        </p:nvSpPr>
        <p:spPr>
          <a:xfrm>
            <a:off x="8138160" y="4814316"/>
            <a:ext cx="548640" cy="201168"/>
          </a:xfrm>
          <a:prstGeom prst="rect">
            <a:avLst/>
          </a:prstGeom>
          <a:noFill/>
          <a:ln/>
        </p:spPr>
        <p:txBody>
          <a:bodyPr wrap="square" lIns="0" tIns="0" rIns="0" bIns="0" rtlCol="0" anchor="ctr"/>
          <a:lstStyle/>
          <a:p>
            <a:pPr algn="r" indent="0" marL="0">
              <a:buNone/>
            </a:pPr>
            <a:r>
              <a:rPr lang="en-US" sz="900" dirty="0">
                <a:solidFill>
                  <a:srgbClr val="5A6B7B"/>
                </a:solidFill>
                <a:latin typeface="Calibri" pitchFamily="34" charset="0"/>
                <a:ea typeface="Calibri" pitchFamily="34" charset="-122"/>
                <a:cs typeface="Calibri" pitchFamily="34" charset="-120"/>
              </a:rPr>
              <a:t>22</a:t>
            </a:r>
            <a:endParaRPr lang="en-US" sz="900" dirty="0"/>
          </a:p>
        </p:txBody>
      </p:sp>
      <p:sp>
        <p:nvSpPr>
          <p:cNvPr id="4" name="Text 2"/>
          <p:cNvSpPr txBox="1"/>
          <p:nvPr/>
        </p:nvSpPr>
        <p:spPr>
          <a:xfrm>
            <a:off x="457200" y="274320"/>
            <a:ext cx="8229600" cy="219456"/>
          </a:xfrm>
          <a:prstGeom prst="rect">
            <a:avLst/>
          </a:prstGeom>
          <a:noFill/>
          <a:ln/>
        </p:spPr>
        <p:txBody>
          <a:bodyPr wrap="square" lIns="0" tIns="0" rIns="0" bIns="0" rtlCol="0" anchor="ctr"/>
          <a:lstStyle/>
          <a:p>
            <a:pPr indent="0" marL="0">
              <a:buNone/>
            </a:pPr>
            <a:r>
              <a:rPr lang="en-US" sz="1000" b="1" spc="200" kern="0" dirty="0">
                <a:solidFill>
                  <a:srgbClr val="A8730F"/>
                </a:solidFill>
                <a:latin typeface="Calibri" pitchFamily="34" charset="0"/>
                <a:ea typeface="Calibri" pitchFamily="34" charset="-122"/>
                <a:cs typeface="Calibri" pitchFamily="34" charset="-120"/>
              </a:rPr>
              <a:t>SECTION 3  |  RISK CONTROL</a:t>
            </a:r>
            <a:endParaRPr lang="en-US" sz="1000" dirty="0"/>
          </a:p>
        </p:txBody>
      </p:sp>
      <p:sp>
        <p:nvSpPr>
          <p:cNvPr id="5" name="Text 3"/>
          <p:cNvSpPr txBox="1"/>
          <p:nvPr/>
        </p:nvSpPr>
        <p:spPr>
          <a:xfrm>
            <a:off x="457200" y="502920"/>
            <a:ext cx="8229600" cy="548640"/>
          </a:xfrm>
          <a:prstGeom prst="rect">
            <a:avLst/>
          </a:prstGeom>
          <a:noFill/>
          <a:ln/>
        </p:spPr>
        <p:txBody>
          <a:bodyPr wrap="square" lIns="0" tIns="0" rIns="0" bIns="0" rtlCol="0" anchor="t"/>
          <a:lstStyle/>
          <a:p>
            <a:pPr indent="0" marL="0">
              <a:buNone/>
            </a:pPr>
            <a:r>
              <a:rPr lang="en-US" sz="2400" b="1" dirty="0">
                <a:solidFill>
                  <a:srgbClr val="0F2A4A"/>
                </a:solidFill>
                <a:latin typeface="Cambria" pitchFamily="34" charset="0"/>
                <a:ea typeface="Cambria" pitchFamily="34" charset="-122"/>
                <a:cs typeface="Cambria" pitchFamily="34" charset="-120"/>
              </a:rPr>
              <a:t>The order of priority is an order, not a menu</a:t>
            </a:r>
            <a:endParaRPr lang="en-US" sz="2400" dirty="0"/>
          </a:p>
        </p:txBody>
      </p:sp>
      <p:sp>
        <p:nvSpPr>
          <p:cNvPr id="7" name="Shape 4"/>
          <p:cNvSpPr/>
          <p:nvPr/>
        </p:nvSpPr>
        <p:spPr>
          <a:xfrm>
            <a:off x="457200" y="1097280"/>
            <a:ext cx="5532120" cy="749808"/>
          </a:xfrm>
          <a:prstGeom prst="roundRect">
            <a:avLst>
              <a:gd name="adj" fmla="val 7317"/>
            </a:avLst>
          </a:prstGeom>
          <a:solidFill>
            <a:srgbClr val="E8F3EE"/>
          </a:solidFill>
          <a:ln w="12700">
            <a:solidFill>
              <a:srgbClr val="E8F3EE"/>
            </a:solidFill>
            <a:prstDash val="solid"/>
          </a:ln>
        </p:spPr>
      </p:sp>
      <p:sp>
        <p:nvSpPr>
          <p:cNvPr id="8" name="Shape 5"/>
          <p:cNvSpPr/>
          <p:nvPr/>
        </p:nvSpPr>
        <p:spPr>
          <a:xfrm>
            <a:off x="585216" y="1207008"/>
            <a:ext cx="310896" cy="310896"/>
          </a:xfrm>
          <a:prstGeom prst="ellipse">
            <a:avLst/>
          </a:prstGeom>
          <a:solidFill>
            <a:srgbClr val="0F2A4A"/>
          </a:solidFill>
          <a:ln w="12700">
            <a:solidFill>
              <a:srgbClr val="0F2A4A"/>
            </a:solidFill>
            <a:prstDash val="solid"/>
          </a:ln>
        </p:spPr>
      </p:sp>
      <p:sp>
        <p:nvSpPr>
          <p:cNvPr id="9" name="Text 6"/>
          <p:cNvSpPr txBox="1"/>
          <p:nvPr/>
        </p:nvSpPr>
        <p:spPr>
          <a:xfrm>
            <a:off x="585216" y="1207008"/>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0" name="Text 7"/>
          <p:cNvSpPr txBox="1"/>
          <p:nvPr/>
        </p:nvSpPr>
        <p:spPr>
          <a:xfrm>
            <a:off x="987552" y="1188720"/>
            <a:ext cx="4873752" cy="274320"/>
          </a:xfrm>
          <a:prstGeom prst="rect">
            <a:avLst/>
          </a:prstGeom>
          <a:noFill/>
          <a:ln/>
        </p:spPr>
        <p:txBody>
          <a:bodyPr wrap="square" lIns="0" tIns="0" rIns="0" bIns="0" rtlCol="0" anchor="ctr"/>
          <a:lstStyle/>
          <a:p>
            <a:pPr indent="0" marL="0">
              <a:buNone/>
            </a:pPr>
            <a:r>
              <a:rPr lang="en-US" sz="1150" b="1" dirty="0">
                <a:solidFill>
                  <a:srgbClr val="0F2A4A"/>
                </a:solidFill>
                <a:latin typeface="Calibri" pitchFamily="34" charset="0"/>
                <a:ea typeface="Calibri" pitchFamily="34" charset="-122"/>
                <a:cs typeface="Calibri" pitchFamily="34" charset="-120"/>
              </a:rPr>
              <a:t>Inherent safety by design</a:t>
            </a:r>
            <a:endParaRPr lang="en-US" sz="1150" dirty="0"/>
          </a:p>
        </p:txBody>
      </p:sp>
      <p:sp>
        <p:nvSpPr>
          <p:cNvPr id="11" name="Text 8"/>
          <p:cNvSpPr txBox="1"/>
          <p:nvPr/>
        </p:nvSpPr>
        <p:spPr>
          <a:xfrm>
            <a:off x="585216" y="1499616"/>
            <a:ext cx="5276088" cy="256032"/>
          </a:xfrm>
          <a:prstGeom prst="rect">
            <a:avLst/>
          </a:prstGeom>
          <a:noFill/>
          <a:ln/>
        </p:spPr>
        <p:txBody>
          <a:bodyPr wrap="square" lIns="0" tIns="0" rIns="0" bIns="0" rtlCol="0" anchor="t"/>
          <a:lstStyle/>
          <a:p>
            <a:pPr indent="0" marL="0">
              <a:buNone/>
            </a:pPr>
            <a:r>
              <a:rPr lang="en-US" sz="950" dirty="0">
                <a:solidFill>
                  <a:srgbClr val="1F2933"/>
                </a:solidFill>
                <a:latin typeface="Calibri" pitchFamily="34" charset="0"/>
                <a:ea typeface="Calibri" pitchFamily="34" charset="-122"/>
                <a:cs typeface="Calibri" pitchFamily="34" charset="-120"/>
              </a:rPr>
              <a:t>Eliminate the hazard, or eliminate the sequence of events that reaches it. Changes P1</a:t>
            </a:r>
            <a:endParaRPr lang="en-US" sz="950" dirty="0"/>
          </a:p>
        </p:txBody>
      </p:sp>
      <p:sp>
        <p:nvSpPr>
          <p:cNvPr id="12" name="Shape 9"/>
          <p:cNvSpPr/>
          <p:nvPr/>
        </p:nvSpPr>
        <p:spPr>
          <a:xfrm>
            <a:off x="457200" y="1920240"/>
            <a:ext cx="5532120" cy="749808"/>
          </a:xfrm>
          <a:prstGeom prst="roundRect">
            <a:avLst>
              <a:gd name="adj" fmla="val 7317"/>
            </a:avLst>
          </a:prstGeom>
          <a:solidFill>
            <a:srgbClr val="FBF2DE"/>
          </a:solidFill>
          <a:ln w="12700">
            <a:solidFill>
              <a:srgbClr val="FBF2DE"/>
            </a:solidFill>
            <a:prstDash val="solid"/>
          </a:ln>
        </p:spPr>
      </p:sp>
      <p:sp>
        <p:nvSpPr>
          <p:cNvPr id="13" name="Shape 10"/>
          <p:cNvSpPr/>
          <p:nvPr/>
        </p:nvSpPr>
        <p:spPr>
          <a:xfrm>
            <a:off x="585216" y="2029968"/>
            <a:ext cx="310896" cy="310896"/>
          </a:xfrm>
          <a:prstGeom prst="ellipse">
            <a:avLst/>
          </a:prstGeom>
          <a:solidFill>
            <a:srgbClr val="0F2A4A"/>
          </a:solidFill>
          <a:ln w="12700">
            <a:solidFill>
              <a:srgbClr val="0F2A4A"/>
            </a:solidFill>
            <a:prstDash val="solid"/>
          </a:ln>
        </p:spPr>
      </p:sp>
      <p:sp>
        <p:nvSpPr>
          <p:cNvPr id="14" name="Text 11"/>
          <p:cNvSpPr txBox="1"/>
          <p:nvPr/>
        </p:nvSpPr>
        <p:spPr>
          <a:xfrm>
            <a:off x="585216" y="2029968"/>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5" name="Text 12"/>
          <p:cNvSpPr txBox="1"/>
          <p:nvPr/>
        </p:nvSpPr>
        <p:spPr>
          <a:xfrm>
            <a:off x="987552" y="2011680"/>
            <a:ext cx="4873752" cy="274320"/>
          </a:xfrm>
          <a:prstGeom prst="rect">
            <a:avLst/>
          </a:prstGeom>
          <a:noFill/>
          <a:ln/>
        </p:spPr>
        <p:txBody>
          <a:bodyPr wrap="square" lIns="0" tIns="0" rIns="0" bIns="0" rtlCol="0" anchor="ctr"/>
          <a:lstStyle/>
          <a:p>
            <a:pPr indent="0" marL="0">
              <a:buNone/>
            </a:pPr>
            <a:r>
              <a:rPr lang="en-US" sz="1150" b="1" dirty="0">
                <a:solidFill>
                  <a:srgbClr val="0F2A4A"/>
                </a:solidFill>
                <a:latin typeface="Calibri" pitchFamily="34" charset="0"/>
                <a:ea typeface="Calibri" pitchFamily="34" charset="-122"/>
                <a:cs typeface="Calibri" pitchFamily="34" charset="-120"/>
              </a:rPr>
              <a:t>Protective measures in the device itself or in manufacture</a:t>
            </a:r>
            <a:endParaRPr lang="en-US" sz="1150" dirty="0"/>
          </a:p>
        </p:txBody>
      </p:sp>
      <p:sp>
        <p:nvSpPr>
          <p:cNvPr id="16" name="Text 13"/>
          <p:cNvSpPr txBox="1"/>
          <p:nvPr/>
        </p:nvSpPr>
        <p:spPr>
          <a:xfrm>
            <a:off x="585216" y="2322576"/>
            <a:ext cx="5276088" cy="256032"/>
          </a:xfrm>
          <a:prstGeom prst="rect">
            <a:avLst/>
          </a:prstGeom>
          <a:noFill/>
          <a:ln/>
        </p:spPr>
        <p:txBody>
          <a:bodyPr wrap="square" lIns="0" tIns="0" rIns="0" bIns="0" rtlCol="0" anchor="t"/>
          <a:lstStyle/>
          <a:p>
            <a:pPr indent="0" marL="0">
              <a:buNone/>
            </a:pPr>
            <a:r>
              <a:rPr lang="en-US" sz="950" dirty="0">
                <a:solidFill>
                  <a:srgbClr val="1F2933"/>
                </a:solidFill>
                <a:latin typeface="Calibri" pitchFamily="34" charset="0"/>
                <a:ea typeface="Calibri" pitchFamily="34" charset="-122"/>
                <a:cs typeface="Calibri" pitchFamily="34" charset="-120"/>
              </a:rPr>
              <a:t>Guards, interlocks, alarms, detection. Usually changes P1; sometimes P2</a:t>
            </a:r>
            <a:endParaRPr lang="en-US" sz="950" dirty="0"/>
          </a:p>
        </p:txBody>
      </p:sp>
      <p:sp>
        <p:nvSpPr>
          <p:cNvPr id="17" name="Shape 14"/>
          <p:cNvSpPr/>
          <p:nvPr/>
        </p:nvSpPr>
        <p:spPr>
          <a:xfrm>
            <a:off x="457200" y="2743200"/>
            <a:ext cx="5532120" cy="749808"/>
          </a:xfrm>
          <a:prstGeom prst="roundRect">
            <a:avLst>
              <a:gd name="adj" fmla="val 7317"/>
            </a:avLst>
          </a:prstGeom>
          <a:solidFill>
            <a:srgbClr val="F9ECEA"/>
          </a:solidFill>
          <a:ln w="12700">
            <a:solidFill>
              <a:srgbClr val="F9ECEA"/>
            </a:solidFill>
            <a:prstDash val="solid"/>
          </a:ln>
        </p:spPr>
      </p:sp>
      <p:sp>
        <p:nvSpPr>
          <p:cNvPr id="18" name="Shape 15"/>
          <p:cNvSpPr/>
          <p:nvPr/>
        </p:nvSpPr>
        <p:spPr>
          <a:xfrm>
            <a:off x="585216" y="2852928"/>
            <a:ext cx="310896" cy="310896"/>
          </a:xfrm>
          <a:prstGeom prst="ellipse">
            <a:avLst/>
          </a:prstGeom>
          <a:solidFill>
            <a:srgbClr val="0F2A4A"/>
          </a:solidFill>
          <a:ln w="12700">
            <a:solidFill>
              <a:srgbClr val="0F2A4A"/>
            </a:solidFill>
            <a:prstDash val="solid"/>
          </a:ln>
        </p:spPr>
      </p:sp>
      <p:sp>
        <p:nvSpPr>
          <p:cNvPr id="19" name="Text 16"/>
          <p:cNvSpPr txBox="1"/>
          <p:nvPr/>
        </p:nvSpPr>
        <p:spPr>
          <a:xfrm>
            <a:off x="585216" y="2852928"/>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20" name="Text 17"/>
          <p:cNvSpPr txBox="1"/>
          <p:nvPr/>
        </p:nvSpPr>
        <p:spPr>
          <a:xfrm>
            <a:off x="987552" y="2834640"/>
            <a:ext cx="4873752" cy="274320"/>
          </a:xfrm>
          <a:prstGeom prst="rect">
            <a:avLst/>
          </a:prstGeom>
          <a:noFill/>
          <a:ln/>
        </p:spPr>
        <p:txBody>
          <a:bodyPr wrap="square" lIns="0" tIns="0" rIns="0" bIns="0" rtlCol="0" anchor="ctr"/>
          <a:lstStyle/>
          <a:p>
            <a:pPr indent="0" marL="0">
              <a:buNone/>
            </a:pPr>
            <a:r>
              <a:rPr lang="en-US" sz="1150" b="1" dirty="0">
                <a:solidFill>
                  <a:srgbClr val="0F2A4A"/>
                </a:solidFill>
                <a:latin typeface="Calibri" pitchFamily="34" charset="0"/>
                <a:ea typeface="Calibri" pitchFamily="34" charset="-122"/>
                <a:cs typeface="Calibri" pitchFamily="34" charset="-120"/>
              </a:rPr>
              <a:t>Information for safety, and training</a:t>
            </a:r>
            <a:endParaRPr lang="en-US" sz="1150" dirty="0"/>
          </a:p>
        </p:txBody>
      </p:sp>
      <p:sp>
        <p:nvSpPr>
          <p:cNvPr id="21" name="Text 18"/>
          <p:cNvSpPr txBox="1"/>
          <p:nvPr/>
        </p:nvSpPr>
        <p:spPr>
          <a:xfrm>
            <a:off x="585216" y="3145536"/>
            <a:ext cx="5276088" cy="256032"/>
          </a:xfrm>
          <a:prstGeom prst="rect">
            <a:avLst/>
          </a:prstGeom>
          <a:noFill/>
          <a:ln/>
        </p:spPr>
        <p:txBody>
          <a:bodyPr wrap="square" lIns="0" tIns="0" rIns="0" bIns="0" rtlCol="0" anchor="t"/>
          <a:lstStyle/>
          <a:p>
            <a:pPr indent="0" marL="0">
              <a:buNone/>
            </a:pPr>
            <a:r>
              <a:rPr lang="en-US" sz="950" dirty="0">
                <a:solidFill>
                  <a:srgbClr val="1F2933"/>
                </a:solidFill>
                <a:latin typeface="Calibri" pitchFamily="34" charset="0"/>
                <a:ea typeface="Calibri" pitchFamily="34" charset="-122"/>
                <a:cs typeface="Calibri" pitchFamily="34" charset="-120"/>
              </a:rPr>
              <a:t>Warnings, precautions, contra-indications, IFU, training. Rarely changes P1 at all</a:t>
            </a:r>
            <a:endParaRPr lang="en-US" sz="950" dirty="0"/>
          </a:p>
        </p:txBody>
      </p:sp>
      <p:sp>
        <p:nvSpPr>
          <p:cNvPr id="22" name="Shape 19"/>
          <p:cNvSpPr/>
          <p:nvPr/>
        </p:nvSpPr>
        <p:spPr>
          <a:xfrm>
            <a:off x="6172200" y="1097280"/>
            <a:ext cx="2514600" cy="2103120"/>
          </a:xfrm>
          <a:prstGeom prst="roundRect">
            <a:avLst>
              <a:gd name="adj" fmla="val 2609"/>
            </a:avLst>
          </a:prstGeom>
          <a:solidFill>
            <a:srgbClr val="EAF0F6"/>
          </a:solidFill>
          <a:ln w="12700">
            <a:solidFill>
              <a:srgbClr val="EAF0F6"/>
            </a:solidFill>
            <a:prstDash val="solid"/>
          </a:ln>
        </p:spPr>
      </p:sp>
      <p:sp>
        <p:nvSpPr>
          <p:cNvPr id="23" name="Text 20"/>
          <p:cNvSpPr txBox="1"/>
          <p:nvPr/>
        </p:nvSpPr>
        <p:spPr>
          <a:xfrm>
            <a:off x="6300216" y="1188720"/>
            <a:ext cx="2258568" cy="182880"/>
          </a:xfrm>
          <a:prstGeom prst="rect">
            <a:avLst/>
          </a:prstGeom>
          <a:noFill/>
          <a:ln/>
        </p:spPr>
        <p:txBody>
          <a:bodyPr wrap="square" lIns="0" tIns="0" rIns="0" bIns="0" rtlCol="0" anchor="ctr"/>
          <a:lstStyle/>
          <a:p>
            <a:pPr indent="0" marL="0">
              <a:buNone/>
            </a:pPr>
            <a:r>
              <a:rPr lang="en-US" sz="900" b="1" spc="150" kern="0" dirty="0">
                <a:solidFill>
                  <a:srgbClr val="A8730F"/>
                </a:solidFill>
                <a:latin typeface="Calibri" pitchFamily="34" charset="0"/>
                <a:ea typeface="Calibri" pitchFamily="34" charset="-122"/>
                <a:cs typeface="Calibri" pitchFamily="34" charset="-120"/>
              </a:rPr>
              <a:t>MDR ANNEX I POINT 4</a:t>
            </a:r>
            <a:endParaRPr lang="en-US" sz="900" dirty="0"/>
          </a:p>
        </p:txBody>
      </p:sp>
      <p:sp>
        <p:nvSpPr>
          <p:cNvPr id="24" name="Text 21"/>
          <p:cNvSpPr txBox="1"/>
          <p:nvPr/>
        </p:nvSpPr>
        <p:spPr>
          <a:xfrm>
            <a:off x="6300216" y="1408176"/>
            <a:ext cx="2258568" cy="237744"/>
          </a:xfrm>
          <a:prstGeom prst="rect">
            <a:avLst/>
          </a:prstGeom>
          <a:noFill/>
          <a:ln/>
        </p:spPr>
        <p:txBody>
          <a:bodyPr wrap="square" lIns="0" tIns="0" rIns="0" bIns="0" rtlCol="0" anchor="ctr"/>
          <a:lstStyle/>
          <a:p>
            <a:pPr indent="0" marL="0">
              <a:buNone/>
            </a:pPr>
            <a:r>
              <a:rPr lang="en-US" sz="1150" b="1" dirty="0">
                <a:solidFill>
                  <a:srgbClr val="0F2A4A"/>
                </a:solidFill>
                <a:latin typeface="Calibri" pitchFamily="34" charset="0"/>
                <a:ea typeface="Calibri" pitchFamily="34" charset="-122"/>
                <a:cs typeface="Calibri" pitchFamily="34" charset="-120"/>
              </a:rPr>
              <a:t>Verbatim</a:t>
            </a:r>
            <a:endParaRPr lang="en-US" sz="1150" dirty="0"/>
          </a:p>
        </p:txBody>
      </p:sp>
      <p:sp>
        <p:nvSpPr>
          <p:cNvPr id="25" name="Text 22"/>
          <p:cNvSpPr txBox="1"/>
          <p:nvPr/>
        </p:nvSpPr>
        <p:spPr>
          <a:xfrm>
            <a:off x="6300216" y="1682496"/>
            <a:ext cx="2258568" cy="1426464"/>
          </a:xfrm>
          <a:prstGeom prst="rect">
            <a:avLst/>
          </a:prstGeom>
          <a:noFill/>
          <a:ln/>
        </p:spPr>
        <p:txBody>
          <a:bodyPr wrap="square" lIns="0" tIns="0" rIns="0" bIns="0" rtlCol="0" anchor="t"/>
          <a:lstStyle/>
          <a:p>
            <a:pPr indent="0" marL="0">
              <a:buNone/>
            </a:pPr>
            <a:r>
              <a:rPr lang="en-US" sz="950" dirty="0">
                <a:solidFill>
                  <a:srgbClr val="1F2933"/>
                </a:solidFill>
                <a:latin typeface="Calibri" pitchFamily="34" charset="0"/>
                <a:ea typeface="Calibri" pitchFamily="34" charset="-122"/>
                <a:cs typeface="Calibri" pitchFamily="34" charset="-120"/>
              </a:rPr>
              <a:t>"In selecting the most appropriate solutions, manufacturers shall, in the following order of priority ..." and, after the list, "Manufacturers shall inform users of any residual risks."</a:t>
            </a:r>
            <a:endParaRPr lang="en-US" sz="950" dirty="0"/>
          </a:p>
        </p:txBody>
      </p:sp>
      <p:sp>
        <p:nvSpPr>
          <p:cNvPr id="26" name="Shape 23"/>
          <p:cNvSpPr/>
          <p:nvPr/>
        </p:nvSpPr>
        <p:spPr>
          <a:xfrm>
            <a:off x="457200" y="3611880"/>
            <a:ext cx="8229600" cy="411480"/>
          </a:xfrm>
          <a:prstGeom prst="roundRect">
            <a:avLst>
              <a:gd name="adj" fmla="val 13333"/>
            </a:avLst>
          </a:prstGeom>
          <a:solidFill>
            <a:srgbClr val="0F2A4A"/>
          </a:solidFill>
          <a:ln w="12700">
            <a:solidFill>
              <a:srgbClr val="0F2A4A"/>
            </a:solidFill>
            <a:prstDash val="solid"/>
          </a:ln>
        </p:spPr>
      </p:sp>
      <p:sp>
        <p:nvSpPr>
          <p:cNvPr id="27" name="Text 24"/>
          <p:cNvSpPr txBox="1"/>
          <p:nvPr/>
        </p:nvSpPr>
        <p:spPr>
          <a:xfrm>
            <a:off x="640080" y="3611880"/>
            <a:ext cx="7863840" cy="411480"/>
          </a:xfrm>
          <a:prstGeom prst="rect">
            <a:avLst/>
          </a:prstGeom>
          <a:noFill/>
          <a:ln/>
        </p:spPr>
        <p:txBody>
          <a:bodyPr wrap="square" lIns="0" tIns="0" rIns="0" bIns="0" rtlCol="0" anchor="ctr"/>
          <a:lstStyle/>
          <a:p>
            <a:pPr indent="0" marL="0">
              <a:buNone/>
            </a:pPr>
            <a:r>
              <a:rPr lang="en-US" sz="1150" i="1" dirty="0">
                <a:solidFill>
                  <a:srgbClr val="FFFFFF"/>
                </a:solidFill>
                <a:latin typeface="Calibri" pitchFamily="34" charset="0"/>
                <a:ea typeface="Calibri" pitchFamily="34" charset="-122"/>
                <a:cs typeface="Calibri" pitchFamily="34" charset="-120"/>
              </a:rPr>
              <a:t>You may stop at option 2 or 3. You may not stop without a record of why the higher option was not practicable - and under MDR point 2, that record cannot rest on cost.</a:t>
            </a:r>
            <a:endParaRPr lang="en-US" sz="1150" dirty="0"/>
          </a:p>
        </p:txBody>
      </p:sp>
      <p:sp>
        <p:nvSpPr>
          <p:cNvPr id="28" name="Text 25"/>
          <p:cNvSpPr txBox="1"/>
          <p:nvPr/>
        </p:nvSpPr>
        <p:spPr>
          <a:xfrm>
            <a:off x="457200" y="4114800"/>
            <a:ext cx="8229600" cy="274320"/>
          </a:xfrm>
          <a:prstGeom prst="rect">
            <a:avLst/>
          </a:prstGeom>
          <a:noFill/>
          <a:ln/>
        </p:spPr>
        <p:txBody>
          <a:bodyPr wrap="square" lIns="0" tIns="0" rIns="0" bIns="0" rtlCol="0" anchor="t"/>
          <a:lstStyle/>
          <a:p>
            <a:pPr indent="0" marL="0">
              <a:buNone/>
            </a:pPr>
            <a:r>
              <a:rPr lang="en-US" sz="1050" b="1" i="1" dirty="0">
                <a:solidFill>
                  <a:srgbClr val="9E2F24"/>
                </a:solidFill>
                <a:latin typeface="Calibri" pitchFamily="34" charset="0"/>
                <a:ea typeface="Calibri" pitchFamily="34" charset="-122"/>
                <a:cs typeface="Calibri" pitchFamily="34" charset="-120"/>
              </a:rPr>
              <a:t>Information for safety does not move P1. If your file credits a warning with a three-band probability drop, expect that row to be opened first.</a:t>
            </a:r>
            <a:endParaRPr lang="en-US" sz="10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4814316"/>
            <a:ext cx="5943600" cy="201168"/>
          </a:xfrm>
          <a:prstGeom prst="rect">
            <a:avLst/>
          </a:prstGeom>
          <a:noFill/>
          <a:ln/>
        </p:spPr>
        <p:txBody>
          <a:bodyPr wrap="square" lIns="0" tIns="0" rIns="0" bIns="0" rtlCol="0" anchor="ctr"/>
          <a:lstStyle/>
          <a:p>
            <a:pPr indent="0" marL="0">
              <a:buNone/>
            </a:pPr>
            <a:r>
              <a:rPr lang="en-US" sz="900" dirty="0">
                <a:solidFill>
                  <a:srgbClr val="5A6B7B"/>
                </a:solidFill>
                <a:latin typeface="Calibri" pitchFamily="34" charset="0"/>
                <a:ea typeface="Calibri" pitchFamily="34" charset="-122"/>
                <a:cs typeface="Calibri" pitchFamily="34" charset="-120"/>
              </a:rPr>
              <a:t>Risk Management  |  ISO 14971  |  Elder Consulting, LLC</a:t>
            </a:r>
            <a:endParaRPr lang="en-US" sz="900" dirty="0"/>
          </a:p>
        </p:txBody>
      </p:sp>
      <p:sp>
        <p:nvSpPr>
          <p:cNvPr id="3" name="Text 1"/>
          <p:cNvSpPr txBox="1"/>
          <p:nvPr/>
        </p:nvSpPr>
        <p:spPr>
          <a:xfrm>
            <a:off x="8138160" y="4814316"/>
            <a:ext cx="548640" cy="201168"/>
          </a:xfrm>
          <a:prstGeom prst="rect">
            <a:avLst/>
          </a:prstGeom>
          <a:noFill/>
          <a:ln/>
        </p:spPr>
        <p:txBody>
          <a:bodyPr wrap="square" lIns="0" tIns="0" rIns="0" bIns="0" rtlCol="0" anchor="ctr"/>
          <a:lstStyle/>
          <a:p>
            <a:pPr algn="r" indent="0" marL="0">
              <a:buNone/>
            </a:pPr>
            <a:r>
              <a:rPr lang="en-US" sz="900" dirty="0">
                <a:solidFill>
                  <a:srgbClr val="5A6B7B"/>
                </a:solidFill>
                <a:latin typeface="Calibri" pitchFamily="34" charset="0"/>
                <a:ea typeface="Calibri" pitchFamily="34" charset="-122"/>
                <a:cs typeface="Calibri" pitchFamily="34" charset="-120"/>
              </a:rPr>
              <a:t>23</a:t>
            </a:r>
            <a:endParaRPr lang="en-US" sz="900" dirty="0"/>
          </a:p>
        </p:txBody>
      </p:sp>
      <p:sp>
        <p:nvSpPr>
          <p:cNvPr id="4" name="Text 2"/>
          <p:cNvSpPr txBox="1"/>
          <p:nvPr/>
        </p:nvSpPr>
        <p:spPr>
          <a:xfrm>
            <a:off x="457200" y="274320"/>
            <a:ext cx="8229600" cy="219456"/>
          </a:xfrm>
          <a:prstGeom prst="rect">
            <a:avLst/>
          </a:prstGeom>
          <a:noFill/>
          <a:ln/>
        </p:spPr>
        <p:txBody>
          <a:bodyPr wrap="square" lIns="0" tIns="0" rIns="0" bIns="0" rtlCol="0" anchor="ctr"/>
          <a:lstStyle/>
          <a:p>
            <a:pPr indent="0" marL="0">
              <a:buNone/>
            </a:pPr>
            <a:r>
              <a:rPr lang="en-US" sz="1000" b="1" spc="200" kern="0" dirty="0">
                <a:solidFill>
                  <a:srgbClr val="A8730F"/>
                </a:solidFill>
                <a:latin typeface="Calibri" pitchFamily="34" charset="0"/>
                <a:ea typeface="Calibri" pitchFamily="34" charset="-122"/>
                <a:cs typeface="Calibri" pitchFamily="34" charset="-120"/>
              </a:rPr>
              <a:t>SECTION 3  |  RISK CONTROL</a:t>
            </a:r>
            <a:endParaRPr lang="en-US" sz="1000" dirty="0"/>
          </a:p>
        </p:txBody>
      </p:sp>
      <p:sp>
        <p:nvSpPr>
          <p:cNvPr id="5" name="Text 3"/>
          <p:cNvSpPr txBox="1"/>
          <p:nvPr/>
        </p:nvSpPr>
        <p:spPr>
          <a:xfrm>
            <a:off x="457200" y="502920"/>
            <a:ext cx="8229600" cy="548640"/>
          </a:xfrm>
          <a:prstGeom prst="rect">
            <a:avLst/>
          </a:prstGeom>
          <a:noFill/>
          <a:ln/>
        </p:spPr>
        <p:txBody>
          <a:bodyPr wrap="square" lIns="0" tIns="0" rIns="0" bIns="0" rtlCol="0" anchor="t"/>
          <a:lstStyle/>
          <a:p>
            <a:pPr indent="0" marL="0">
              <a:buNone/>
            </a:pPr>
            <a:r>
              <a:rPr lang="en-US" sz="2400" b="1" dirty="0">
                <a:solidFill>
                  <a:srgbClr val="0F2A4A"/>
                </a:solidFill>
                <a:latin typeface="Cambria" pitchFamily="34" charset="0"/>
                <a:ea typeface="Cambria" pitchFamily="34" charset="-122"/>
                <a:cs typeface="Cambria" pitchFamily="34" charset="-120"/>
              </a:rPr>
              <a:t>Clause 7.2 asks for two verifications</a:t>
            </a:r>
            <a:endParaRPr lang="en-US" sz="24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914400"/>
        </p:xfrm>
        <a:graphic>
          <a:graphicData uri="http://schemas.openxmlformats.org/drawingml/2006/table">
            <a:tbl>
              <a:tblPr/>
              <a:tblGrid>
                <a:gridCol w="1737360"/>
                <a:gridCol w="3246120"/>
                <a:gridCol w="3246120"/>
              </a:tblGrid>
              <a:tr h="329184">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Control category</a:t>
                      </a:r>
                      <a:endParaRPr lang="en-US" sz="900" dirty="0">
                        <a:latin typeface="Calibri" charset="0"/>
                        <a:ea typeface="Calibri" charset="0"/>
                        <a:cs typeface="Calibri" charset="0"/>
                      </a:endParaRPr>
                    </a:p>
                  </a:txBody>
                  <a:tcPr marL="54864" marR="54864" marT="54864" marB="54864" anchor="ctr">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0F2A4A"/>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Verification of IMPLEMENTATION</a:t>
                      </a:r>
                      <a:endParaRPr lang="en-US" sz="900" dirty="0">
                        <a:latin typeface="Calibri" charset="0"/>
                        <a:ea typeface="Calibri" charset="0"/>
                        <a:cs typeface="Calibri" charset="0"/>
                      </a:endParaRPr>
                    </a:p>
                  </a:txBody>
                  <a:tcPr marL="54864" marR="54864" marT="54864" marB="54864" anchor="ctr">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0F2A4A"/>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Verification of EFFECTIVENESS</a:t>
                      </a:r>
                      <a:endParaRPr lang="en-US" sz="900" dirty="0">
                        <a:latin typeface="Calibri" charset="0"/>
                        <a:ea typeface="Calibri" charset="0"/>
                        <a:cs typeface="Calibri" charset="0"/>
                      </a:endParaRPr>
                    </a:p>
                  </a:txBody>
                  <a:tcPr marL="54864" marR="54864" marT="54864" marB="54864" anchor="ctr">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0F2A4A"/>
                    </a:solidFill>
                  </a:tcPr>
                </a:tc>
              </a:tr>
              <a:tr h="329184">
                <a:tc>
                  <a:txBody>
                    <a:bodyPr/>
                    <a:lstStyle/>
                    <a:p>
                      <a:pPr indent="0" marL="0">
                        <a:buNone/>
                      </a:pPr>
                      <a:r>
                        <a:rPr lang="en-US" sz="900" b="1" dirty="0">
                          <a:solidFill>
                            <a:srgbClr val="1F2933"/>
                          </a:solidFill>
                          <a:latin typeface="Calibri" pitchFamily="34" charset="0"/>
                          <a:ea typeface="Calibri" pitchFamily="34" charset="-122"/>
                          <a:cs typeface="Calibri" pitchFamily="34" charset="-120"/>
                        </a:rPr>
                        <a:t>1  Inherent safety by design</a:t>
                      </a:r>
                      <a:endParaRPr lang="en-US" sz="9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900" dirty="0">
                          <a:solidFill>
                            <a:srgbClr val="1F2933"/>
                          </a:solidFill>
                          <a:latin typeface="Calibri" pitchFamily="34" charset="0"/>
                          <a:ea typeface="Calibri" pitchFamily="34" charset="-122"/>
                          <a:cs typeface="Calibri" pitchFamily="34" charset="-120"/>
                        </a:rPr>
                        <a:t>Drawing or specification revision; design verification report; build records showing the change is in the product</a:t>
                      </a:r>
                      <a:endParaRPr lang="en-US" sz="9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900" dirty="0">
                          <a:solidFill>
                            <a:srgbClr val="1F2933"/>
                          </a:solidFill>
                          <a:latin typeface="Calibri" pitchFamily="34" charset="0"/>
                          <a:ea typeface="Calibri" pitchFamily="34" charset="-122"/>
                          <a:cs typeface="Calibri" pitchFamily="34" charset="-120"/>
                        </a:rPr>
                        <a:t>Test that the hazardous situation can no longer arise, or arises at the claimed lower rate. Field data after the change</a:t>
                      </a:r>
                      <a:endParaRPr lang="en-US" sz="9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r>
              <a:tr h="329184">
                <a:tc>
                  <a:txBody>
                    <a:bodyPr/>
                    <a:lstStyle/>
                    <a:p>
                      <a:pPr indent="0" marL="0">
                        <a:buNone/>
                      </a:pPr>
                      <a:r>
                        <a:rPr lang="en-US" sz="900" b="1" dirty="0">
                          <a:solidFill>
                            <a:srgbClr val="1F2933"/>
                          </a:solidFill>
                          <a:latin typeface="Calibri" pitchFamily="34" charset="0"/>
                          <a:ea typeface="Calibri" pitchFamily="34" charset="-122"/>
                          <a:cs typeface="Calibri" pitchFamily="34" charset="-120"/>
                        </a:rPr>
                        <a:t>2  Protective measure</a:t>
                      </a:r>
                      <a:endParaRPr lang="en-US" sz="9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c>
                  <a:txBody>
                    <a:bodyPr/>
                    <a:lstStyle/>
                    <a:p>
                      <a:pPr indent="0" marL="0">
                        <a:buNone/>
                      </a:pPr>
                      <a:r>
                        <a:rPr lang="en-US" sz="900" dirty="0">
                          <a:solidFill>
                            <a:srgbClr val="1F2933"/>
                          </a:solidFill>
                          <a:latin typeface="Calibri" pitchFamily="34" charset="0"/>
                          <a:ea typeface="Calibri" pitchFamily="34" charset="-122"/>
                          <a:cs typeface="Calibri" pitchFamily="34" charset="-120"/>
                        </a:rPr>
                        <a:t>Specification and design verification of the guard, interlock, alarm or detector; production test records</a:t>
                      </a:r>
                      <a:endParaRPr lang="en-US" sz="9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c>
                  <a:txBody>
                    <a:bodyPr/>
                    <a:lstStyle/>
                    <a:p>
                      <a:pPr indent="0" marL="0">
                        <a:buNone/>
                      </a:pPr>
                      <a:r>
                        <a:rPr lang="en-US" sz="900" dirty="0">
                          <a:solidFill>
                            <a:srgbClr val="1F2933"/>
                          </a:solidFill>
                          <a:latin typeface="Calibri" pitchFamily="34" charset="0"/>
                          <a:ea typeface="Calibri" pitchFamily="34" charset="-122"/>
                          <a:cs typeface="Calibri" pitchFamily="34" charset="-120"/>
                        </a:rPr>
                        <a:t>Challenge the measure under worst-case conditions across the full operating range, not only at nominal. Show it triggers</a:t>
                      </a:r>
                      <a:endParaRPr lang="en-US" sz="9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r>
              <a:tr h="329184">
                <a:tc>
                  <a:txBody>
                    <a:bodyPr/>
                    <a:lstStyle/>
                    <a:p>
                      <a:pPr indent="0" marL="0">
                        <a:buNone/>
                      </a:pPr>
                      <a:r>
                        <a:rPr lang="en-US" sz="900" b="1" dirty="0">
                          <a:solidFill>
                            <a:srgbClr val="1F2933"/>
                          </a:solidFill>
                          <a:latin typeface="Calibri" pitchFamily="34" charset="0"/>
                          <a:ea typeface="Calibri" pitchFamily="34" charset="-122"/>
                          <a:cs typeface="Calibri" pitchFamily="34" charset="-120"/>
                        </a:rPr>
                        <a:t>2  Alarm</a:t>
                      </a:r>
                      <a:endParaRPr lang="en-US" sz="9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900" dirty="0">
                          <a:solidFill>
                            <a:srgbClr val="1F2933"/>
                          </a:solidFill>
                          <a:latin typeface="Calibri" pitchFamily="34" charset="0"/>
                          <a:ea typeface="Calibri" pitchFamily="34" charset="-122"/>
                          <a:cs typeface="Calibri" pitchFamily="34" charset="-120"/>
                        </a:rPr>
                        <a:t>Alarm specification, levels and priorities verified against the design input</a:t>
                      </a:r>
                      <a:endParaRPr lang="en-US" sz="9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900" dirty="0">
                          <a:solidFill>
                            <a:srgbClr val="1F2933"/>
                          </a:solidFill>
                          <a:latin typeface="Calibri" pitchFamily="34" charset="0"/>
                          <a:ea typeface="Calibri" pitchFamily="34" charset="-122"/>
                          <a:cs typeface="Calibri" pitchFamily="34" charset="-120"/>
                        </a:rPr>
                        <a:t>Audibility and comprehension in the real use environment, with the real user. A bench sound-pressure measurement is implementation</a:t>
                      </a:r>
                      <a:endParaRPr lang="en-US" sz="9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r>
              <a:tr h="329184">
                <a:tc>
                  <a:txBody>
                    <a:bodyPr/>
                    <a:lstStyle/>
                    <a:p>
                      <a:pPr indent="0" marL="0">
                        <a:buNone/>
                      </a:pPr>
                      <a:r>
                        <a:rPr lang="en-US" sz="900" b="1" dirty="0">
                          <a:solidFill>
                            <a:srgbClr val="1F2933"/>
                          </a:solidFill>
                          <a:latin typeface="Calibri" pitchFamily="34" charset="0"/>
                          <a:ea typeface="Calibri" pitchFamily="34" charset="-122"/>
                          <a:cs typeface="Calibri" pitchFamily="34" charset="-120"/>
                        </a:rPr>
                        <a:t>3  Information for safety</a:t>
                      </a:r>
                      <a:endParaRPr lang="en-US" sz="9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9ECEA"/>
                    </a:solidFill>
                  </a:tcPr>
                </a:tc>
                <a:tc>
                  <a:txBody>
                    <a:bodyPr/>
                    <a:lstStyle/>
                    <a:p>
                      <a:pPr indent="0" marL="0">
                        <a:buNone/>
                      </a:pPr>
                      <a:r>
                        <a:rPr lang="en-US" sz="900" dirty="0">
                          <a:solidFill>
                            <a:srgbClr val="1F2933"/>
                          </a:solidFill>
                          <a:latin typeface="Calibri" pitchFamily="34" charset="0"/>
                          <a:ea typeface="Calibri" pitchFamily="34" charset="-122"/>
                          <a:cs typeface="Calibri" pitchFamily="34" charset="-120"/>
                        </a:rPr>
                        <a:t>IFU or label approval record; artwork release; training material release</a:t>
                      </a:r>
                      <a:endParaRPr lang="en-US" sz="9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9ECEA"/>
                    </a:solidFill>
                  </a:tcPr>
                </a:tc>
                <a:tc>
                  <a:txBody>
                    <a:bodyPr/>
                    <a:lstStyle/>
                    <a:p>
                      <a:pPr indent="0" marL="0">
                        <a:buNone/>
                      </a:pPr>
                      <a:r>
                        <a:rPr lang="en-US" sz="900" b="1" dirty="0">
                          <a:solidFill>
                            <a:srgbClr val="1F2933"/>
                          </a:solidFill>
                          <a:latin typeface="Calibri" pitchFamily="34" charset="0"/>
                          <a:ea typeface="Calibri" pitchFamily="34" charset="-122"/>
                          <a:cs typeface="Calibri" pitchFamily="34" charset="-120"/>
                        </a:rPr>
                        <a:t>Usability evidence that users find it, understand it and act on it. An approved IFU is NOT effectiveness evidence</a:t>
                      </a:r>
                      <a:endParaRPr lang="en-US" sz="9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9ECEA"/>
                    </a:solidFill>
                  </a:tcPr>
                </a:tc>
              </a:tr>
            </a:tbl>
          </a:graphicData>
        </a:graphic>
      </p:graphicFrame>
      <p:sp>
        <p:nvSpPr>
          <p:cNvPr id="8" name="Shape 4"/>
          <p:cNvSpPr/>
          <p:nvPr/>
        </p:nvSpPr>
        <p:spPr>
          <a:xfrm>
            <a:off x="457200" y="4023360"/>
            <a:ext cx="8229600" cy="457200"/>
          </a:xfrm>
          <a:prstGeom prst="roundRect">
            <a:avLst>
              <a:gd name="adj" fmla="val 12000"/>
            </a:avLst>
          </a:prstGeom>
          <a:solidFill>
            <a:srgbClr val="FBF2DE"/>
          </a:solidFill>
          <a:ln w="12700">
            <a:solidFill>
              <a:srgbClr val="FBF2DE"/>
            </a:solidFill>
            <a:prstDash val="solid"/>
          </a:ln>
        </p:spPr>
      </p:sp>
      <p:sp>
        <p:nvSpPr>
          <p:cNvPr id="9" name="Text 5"/>
          <p:cNvSpPr txBox="1"/>
          <p:nvPr/>
        </p:nvSpPr>
        <p:spPr>
          <a:xfrm>
            <a:off x="640080" y="4023360"/>
            <a:ext cx="7863840" cy="457200"/>
          </a:xfrm>
          <a:prstGeom prst="rect">
            <a:avLst/>
          </a:prstGeom>
          <a:noFill/>
          <a:ln/>
        </p:spPr>
        <p:txBody>
          <a:bodyPr wrap="square" lIns="0" tIns="0" rIns="0" bIns="0" rtlCol="0" anchor="ctr"/>
          <a:lstStyle/>
          <a:p>
            <a:pPr indent="0" marL="0">
              <a:buNone/>
            </a:pPr>
            <a:r>
              <a:rPr lang="en-US" sz="1150" b="1" dirty="0">
                <a:solidFill>
                  <a:srgbClr val="0F2A4A"/>
                </a:solidFill>
                <a:latin typeface="Calibri" pitchFamily="34" charset="0"/>
                <a:ea typeface="Calibri" pitchFamily="34" charset="-122"/>
                <a:cs typeface="Calibri" pitchFamily="34" charset="-120"/>
              </a:rPr>
              <a:t>The test for an effectiveness record: does it support the size of the reduction you claimed in the residual risk column? If it does not, the residual estimate is unsupported.</a:t>
            </a:r>
            <a:endParaRPr lang="en-US" sz="11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4814316"/>
            <a:ext cx="5943600" cy="201168"/>
          </a:xfrm>
          <a:prstGeom prst="rect">
            <a:avLst/>
          </a:prstGeom>
          <a:noFill/>
          <a:ln/>
        </p:spPr>
        <p:txBody>
          <a:bodyPr wrap="square" lIns="0" tIns="0" rIns="0" bIns="0" rtlCol="0" anchor="ctr"/>
          <a:lstStyle/>
          <a:p>
            <a:pPr indent="0" marL="0">
              <a:buNone/>
            </a:pPr>
            <a:r>
              <a:rPr lang="en-US" sz="900" dirty="0">
                <a:solidFill>
                  <a:srgbClr val="5A6B7B"/>
                </a:solidFill>
                <a:latin typeface="Calibri" pitchFamily="34" charset="0"/>
                <a:ea typeface="Calibri" pitchFamily="34" charset="-122"/>
                <a:cs typeface="Calibri" pitchFamily="34" charset="-120"/>
              </a:rPr>
              <a:t>Risk Management  |  ISO 14971  |  Elder Consulting, LLC</a:t>
            </a:r>
            <a:endParaRPr lang="en-US" sz="900" dirty="0"/>
          </a:p>
        </p:txBody>
      </p:sp>
      <p:sp>
        <p:nvSpPr>
          <p:cNvPr id="3" name="Text 1"/>
          <p:cNvSpPr txBox="1"/>
          <p:nvPr/>
        </p:nvSpPr>
        <p:spPr>
          <a:xfrm>
            <a:off x="8138160" y="4814316"/>
            <a:ext cx="548640" cy="201168"/>
          </a:xfrm>
          <a:prstGeom prst="rect">
            <a:avLst/>
          </a:prstGeom>
          <a:noFill/>
          <a:ln/>
        </p:spPr>
        <p:txBody>
          <a:bodyPr wrap="square" lIns="0" tIns="0" rIns="0" bIns="0" rtlCol="0" anchor="ctr"/>
          <a:lstStyle/>
          <a:p>
            <a:pPr algn="r" indent="0" marL="0">
              <a:buNone/>
            </a:pPr>
            <a:r>
              <a:rPr lang="en-US" sz="900" dirty="0">
                <a:solidFill>
                  <a:srgbClr val="5A6B7B"/>
                </a:solidFill>
                <a:latin typeface="Calibri" pitchFamily="34" charset="0"/>
                <a:ea typeface="Calibri" pitchFamily="34" charset="-122"/>
                <a:cs typeface="Calibri" pitchFamily="34" charset="-120"/>
              </a:rPr>
              <a:t>24</a:t>
            </a:r>
            <a:endParaRPr lang="en-US" sz="900" dirty="0"/>
          </a:p>
        </p:txBody>
      </p:sp>
      <p:sp>
        <p:nvSpPr>
          <p:cNvPr id="4" name="Text 2"/>
          <p:cNvSpPr txBox="1"/>
          <p:nvPr/>
        </p:nvSpPr>
        <p:spPr>
          <a:xfrm>
            <a:off x="457200" y="274320"/>
            <a:ext cx="8229600" cy="219456"/>
          </a:xfrm>
          <a:prstGeom prst="rect">
            <a:avLst/>
          </a:prstGeom>
          <a:noFill/>
          <a:ln/>
        </p:spPr>
        <p:txBody>
          <a:bodyPr wrap="square" lIns="0" tIns="0" rIns="0" bIns="0" rtlCol="0" anchor="ctr"/>
          <a:lstStyle/>
          <a:p>
            <a:pPr indent="0" marL="0">
              <a:buNone/>
            </a:pPr>
            <a:r>
              <a:rPr lang="en-US" sz="1000" b="1" spc="200" kern="0" dirty="0">
                <a:solidFill>
                  <a:srgbClr val="A8730F"/>
                </a:solidFill>
                <a:latin typeface="Calibri" pitchFamily="34" charset="0"/>
                <a:ea typeface="Calibri" pitchFamily="34" charset="-122"/>
                <a:cs typeface="Calibri" pitchFamily="34" charset="-120"/>
              </a:rPr>
              <a:t>SECTION 3  |  RISK CONTROL</a:t>
            </a:r>
            <a:endParaRPr lang="en-US" sz="1000" dirty="0"/>
          </a:p>
        </p:txBody>
      </p:sp>
      <p:sp>
        <p:nvSpPr>
          <p:cNvPr id="5" name="Text 3"/>
          <p:cNvSpPr txBox="1"/>
          <p:nvPr/>
        </p:nvSpPr>
        <p:spPr>
          <a:xfrm>
            <a:off x="457200" y="502920"/>
            <a:ext cx="8229600" cy="548640"/>
          </a:xfrm>
          <a:prstGeom prst="rect">
            <a:avLst/>
          </a:prstGeom>
          <a:noFill/>
          <a:ln/>
        </p:spPr>
        <p:txBody>
          <a:bodyPr wrap="square" lIns="0" tIns="0" rIns="0" bIns="0" rtlCol="0" anchor="t"/>
          <a:lstStyle/>
          <a:p>
            <a:pPr indent="0" marL="0">
              <a:buNone/>
            </a:pPr>
            <a:r>
              <a:rPr lang="en-US" sz="2400" b="1" dirty="0">
                <a:solidFill>
                  <a:srgbClr val="0F2A4A"/>
                </a:solidFill>
                <a:latin typeface="Cambria" pitchFamily="34" charset="0"/>
                <a:ea typeface="Cambria" pitchFamily="34" charset="-122"/>
                <a:cs typeface="Cambria" pitchFamily="34" charset="-120"/>
              </a:rPr>
              <a:t>7.5 and 7.6: the two clauses procedures stop short of</a:t>
            </a:r>
            <a:endParaRPr lang="en-US" sz="2400" dirty="0"/>
          </a:p>
        </p:txBody>
      </p:sp>
      <p:sp>
        <p:nvSpPr>
          <p:cNvPr id="7" name="Shape 4"/>
          <p:cNvSpPr/>
          <p:nvPr/>
        </p:nvSpPr>
        <p:spPr>
          <a:xfrm>
            <a:off x="457200" y="1097280"/>
            <a:ext cx="3977640" cy="2377440"/>
          </a:xfrm>
          <a:prstGeom prst="roundRect">
            <a:avLst>
              <a:gd name="adj" fmla="val 2308"/>
            </a:avLst>
          </a:prstGeom>
          <a:solidFill>
            <a:srgbClr val="FBF2DE"/>
          </a:solidFill>
          <a:ln w="12700">
            <a:solidFill>
              <a:srgbClr val="FBF2DE"/>
            </a:solidFill>
            <a:prstDash val="solid"/>
          </a:ln>
        </p:spPr>
      </p:sp>
      <p:sp>
        <p:nvSpPr>
          <p:cNvPr id="8" name="Text 5"/>
          <p:cNvSpPr txBox="1"/>
          <p:nvPr/>
        </p:nvSpPr>
        <p:spPr>
          <a:xfrm>
            <a:off x="585216" y="1188720"/>
            <a:ext cx="3721608" cy="182880"/>
          </a:xfrm>
          <a:prstGeom prst="rect">
            <a:avLst/>
          </a:prstGeom>
          <a:noFill/>
          <a:ln/>
        </p:spPr>
        <p:txBody>
          <a:bodyPr wrap="square" lIns="0" tIns="0" rIns="0" bIns="0" rtlCol="0" anchor="ctr"/>
          <a:lstStyle/>
          <a:p>
            <a:pPr indent="0" marL="0">
              <a:buNone/>
            </a:pPr>
            <a:r>
              <a:rPr lang="en-US" sz="900" b="1" spc="150" kern="0" dirty="0">
                <a:solidFill>
                  <a:srgbClr val="A8730F"/>
                </a:solidFill>
                <a:latin typeface="Calibri" pitchFamily="34" charset="0"/>
                <a:ea typeface="Calibri" pitchFamily="34" charset="-122"/>
                <a:cs typeface="Calibri" pitchFamily="34" charset="-120"/>
              </a:rPr>
              <a:t>CLAUSE 7.5</a:t>
            </a:r>
            <a:endParaRPr lang="en-US" sz="900" dirty="0"/>
          </a:p>
        </p:txBody>
      </p:sp>
      <p:sp>
        <p:nvSpPr>
          <p:cNvPr id="9" name="Text 6"/>
          <p:cNvSpPr txBox="1"/>
          <p:nvPr/>
        </p:nvSpPr>
        <p:spPr>
          <a:xfrm>
            <a:off x="585216" y="1408176"/>
            <a:ext cx="3721608" cy="274320"/>
          </a:xfrm>
          <a:prstGeom prst="rect">
            <a:avLst/>
          </a:prstGeom>
          <a:noFill/>
          <a:ln/>
        </p:spPr>
        <p:txBody>
          <a:bodyPr wrap="square" lIns="0" tIns="0" rIns="0" bIns="0" rtlCol="0" anchor="ctr"/>
          <a:lstStyle/>
          <a:p>
            <a:pPr indent="0" marL="0">
              <a:buNone/>
            </a:pPr>
            <a:r>
              <a:rPr lang="en-US" sz="1250" b="1" dirty="0">
                <a:solidFill>
                  <a:srgbClr val="0F2A4A"/>
                </a:solidFill>
                <a:latin typeface="Calibri" pitchFamily="34" charset="0"/>
                <a:ea typeface="Calibri" pitchFamily="34" charset="-122"/>
                <a:cs typeface="Calibri" pitchFamily="34" charset="-120"/>
              </a:rPr>
              <a:t>Risks arising from risk control measures</a:t>
            </a:r>
            <a:endParaRPr lang="en-US" sz="1250" dirty="0"/>
          </a:p>
        </p:txBody>
      </p:sp>
      <p:sp>
        <p:nvSpPr>
          <p:cNvPr id="10" name="Text 7"/>
          <p:cNvSpPr txBox="1"/>
          <p:nvPr/>
        </p:nvSpPr>
        <p:spPr>
          <a:xfrm>
            <a:off x="585216" y="1719072"/>
            <a:ext cx="3721608" cy="1664208"/>
          </a:xfrm>
          <a:prstGeom prst="rect">
            <a:avLst/>
          </a:prstGeom>
          <a:noFill/>
          <a:ln/>
        </p:spPr>
        <p:txBody>
          <a:bodyPr wrap="square" lIns="0" tIns="0" rIns="0" bIns="0" rtlCol="0" anchor="t"/>
          <a:lstStyle/>
          <a:p>
            <a:pPr marL="342900" indent="-342900">
              <a:spcAft>
                <a:spcPts val="300"/>
              </a:spcAft>
              <a:buSzPct val="100000"/>
              <a:buChar char="•"/>
            </a:pPr>
            <a:r>
              <a:rPr lang="en-US" sz="950" dirty="0">
                <a:solidFill>
                  <a:srgbClr val="1F2933"/>
                </a:solidFill>
                <a:latin typeface="Calibri" pitchFamily="34" charset="0"/>
                <a:ea typeface="Calibri" pitchFamily="34" charset="-122"/>
                <a:cs typeface="Calibri" pitchFamily="34" charset="-120"/>
              </a:rPr>
              <a:t>Review every control for (i) new hazards or hazardous situations and (ii) effects on existing risk estimates</a:t>
            </a:r>
            <a:endParaRPr lang="en-US" sz="950" dirty="0"/>
          </a:p>
          <a:p>
            <a:pPr marL="342900" indent="-342900">
              <a:spcAft>
                <a:spcPts val="300"/>
              </a:spcAft>
              <a:buSzPct val="100000"/>
              <a:buChar char="•"/>
            </a:pPr>
            <a:r>
              <a:rPr lang="en-US" sz="950" dirty="0">
                <a:solidFill>
                  <a:srgbClr val="1F2933"/>
                </a:solidFill>
                <a:latin typeface="Calibri" pitchFamily="34" charset="0"/>
                <a:ea typeface="Calibri" pitchFamily="34" charset="-122"/>
                <a:cs typeface="Calibri" pitchFamily="34" charset="-120"/>
              </a:rPr>
              <a:t>Any new or increased risk is managed under 5.5 to 7.4 - it gets its own row</a:t>
            </a:r>
            <a:endParaRPr lang="en-US" sz="950" dirty="0"/>
          </a:p>
          <a:p>
            <a:pPr marL="342900" indent="-342900">
              <a:spcAft>
                <a:spcPts val="300"/>
              </a:spcAft>
              <a:buSzPct val="100000"/>
              <a:buChar char="•"/>
            </a:pPr>
            <a:r>
              <a:rPr lang="en-US" sz="950" b="1" dirty="0">
                <a:solidFill>
                  <a:srgbClr val="1F2933"/>
                </a:solidFill>
                <a:latin typeface="Calibri" pitchFamily="34" charset="0"/>
                <a:ea typeface="Calibri" pitchFamily="34" charset="-122"/>
                <a:cs typeface="Calibri" pitchFamily="34" charset="-120"/>
              </a:rPr>
              <a:t>Real examples:</a:t>
            </a:r>
            <a:endParaRPr lang="en-US" sz="950" dirty="0"/>
          </a:p>
          <a:p>
            <a:pPr marL="342900" indent="-342900">
              <a:spcAft>
                <a:spcPts val="300"/>
              </a:spcAft>
              <a:buSzPct val="100000"/>
              <a:buChar char="•"/>
            </a:pPr>
            <a:r>
              <a:rPr lang="en-US" sz="950" dirty="0">
                <a:solidFill>
                  <a:srgbClr val="1F2933"/>
                </a:solidFill>
                <a:latin typeface="Calibri" pitchFamily="34" charset="0"/>
                <a:ea typeface="Calibri" pitchFamily="34" charset="-122"/>
                <a:cs typeface="Calibri" pitchFamily="34" charset="-120"/>
              </a:rPr>
              <a:t>Escalating alarm solves audibility, creates alarm fatigue</a:t>
            </a:r>
            <a:endParaRPr lang="en-US" sz="950" dirty="0"/>
          </a:p>
          <a:p>
            <a:pPr marL="342900" indent="-342900">
              <a:spcAft>
                <a:spcPts val="300"/>
              </a:spcAft>
              <a:buSzPct val="100000"/>
              <a:buChar char="•"/>
            </a:pPr>
            <a:r>
              <a:rPr lang="en-US" sz="950" dirty="0">
                <a:solidFill>
                  <a:srgbClr val="1F2933"/>
                </a:solidFill>
                <a:latin typeface="Calibri" pitchFamily="34" charset="0"/>
                <a:ea typeface="Calibri" pitchFamily="34" charset="-122"/>
                <a:cs typeface="Calibri" pitchFamily="34" charset="-120"/>
              </a:rPr>
              <a:t>Plasticiser-free set solves leachables, changes stiffness and pumping accuracy</a:t>
            </a:r>
            <a:endParaRPr lang="en-US" sz="950" dirty="0"/>
          </a:p>
          <a:p>
            <a:pPr marL="342900" indent="-342900">
              <a:spcAft>
                <a:spcPts val="300"/>
              </a:spcAft>
              <a:buSzPct val="100000"/>
              <a:buChar char="•"/>
            </a:pPr>
            <a:r>
              <a:rPr lang="en-US" sz="950" dirty="0">
                <a:solidFill>
                  <a:srgbClr val="1F2933"/>
                </a:solidFill>
                <a:latin typeface="Calibri" pitchFamily="34" charset="0"/>
                <a:ea typeface="Calibri" pitchFamily="34" charset="-122"/>
                <a:cs typeface="Calibri" pitchFamily="34" charset="-120"/>
              </a:rPr>
              <a:t>Stronger pouch seal solves sterility, makes aseptic opening harder</a:t>
            </a:r>
            <a:endParaRPr lang="en-US" sz="950" dirty="0"/>
          </a:p>
        </p:txBody>
      </p:sp>
      <p:sp>
        <p:nvSpPr>
          <p:cNvPr id="11" name="Shape 8"/>
          <p:cNvSpPr/>
          <p:nvPr/>
        </p:nvSpPr>
        <p:spPr>
          <a:xfrm>
            <a:off x="4617720" y="1097280"/>
            <a:ext cx="4069080" cy="2377440"/>
          </a:xfrm>
          <a:prstGeom prst="roundRect">
            <a:avLst>
              <a:gd name="adj" fmla="val 2308"/>
            </a:avLst>
          </a:prstGeom>
          <a:solidFill>
            <a:srgbClr val="EAF0F6"/>
          </a:solidFill>
          <a:ln w="12700">
            <a:solidFill>
              <a:srgbClr val="EAF0F6"/>
            </a:solidFill>
            <a:prstDash val="solid"/>
          </a:ln>
        </p:spPr>
      </p:sp>
      <p:sp>
        <p:nvSpPr>
          <p:cNvPr id="12" name="Text 9"/>
          <p:cNvSpPr txBox="1"/>
          <p:nvPr/>
        </p:nvSpPr>
        <p:spPr>
          <a:xfrm>
            <a:off x="4745736" y="1188720"/>
            <a:ext cx="3813048" cy="182880"/>
          </a:xfrm>
          <a:prstGeom prst="rect">
            <a:avLst/>
          </a:prstGeom>
          <a:noFill/>
          <a:ln/>
        </p:spPr>
        <p:txBody>
          <a:bodyPr wrap="square" lIns="0" tIns="0" rIns="0" bIns="0" rtlCol="0" anchor="ctr"/>
          <a:lstStyle/>
          <a:p>
            <a:pPr indent="0" marL="0">
              <a:buNone/>
            </a:pPr>
            <a:r>
              <a:rPr lang="en-US" sz="900" b="1" spc="150" kern="0" dirty="0">
                <a:solidFill>
                  <a:srgbClr val="A8730F"/>
                </a:solidFill>
                <a:latin typeface="Calibri" pitchFamily="34" charset="0"/>
                <a:ea typeface="Calibri" pitchFamily="34" charset="-122"/>
                <a:cs typeface="Calibri" pitchFamily="34" charset="-120"/>
              </a:rPr>
              <a:t>CLAUSE 7.6</a:t>
            </a:r>
            <a:endParaRPr lang="en-US" sz="900" dirty="0"/>
          </a:p>
        </p:txBody>
      </p:sp>
      <p:sp>
        <p:nvSpPr>
          <p:cNvPr id="13" name="Text 10"/>
          <p:cNvSpPr txBox="1"/>
          <p:nvPr/>
        </p:nvSpPr>
        <p:spPr>
          <a:xfrm>
            <a:off x="4745736" y="1408176"/>
            <a:ext cx="3813048" cy="274320"/>
          </a:xfrm>
          <a:prstGeom prst="rect">
            <a:avLst/>
          </a:prstGeom>
          <a:noFill/>
          <a:ln/>
        </p:spPr>
        <p:txBody>
          <a:bodyPr wrap="square" lIns="0" tIns="0" rIns="0" bIns="0" rtlCol="0" anchor="ctr"/>
          <a:lstStyle/>
          <a:p>
            <a:pPr indent="0" marL="0">
              <a:buNone/>
            </a:pPr>
            <a:r>
              <a:rPr lang="en-US" sz="1250" b="1" dirty="0">
                <a:solidFill>
                  <a:srgbClr val="0F2A4A"/>
                </a:solidFill>
                <a:latin typeface="Calibri" pitchFamily="34" charset="0"/>
                <a:ea typeface="Calibri" pitchFamily="34" charset="-122"/>
                <a:cs typeface="Calibri" pitchFamily="34" charset="-120"/>
              </a:rPr>
              <a:t>Completeness of risk control</a:t>
            </a:r>
            <a:endParaRPr lang="en-US" sz="1250" dirty="0"/>
          </a:p>
        </p:txBody>
      </p:sp>
      <p:sp>
        <p:nvSpPr>
          <p:cNvPr id="14" name="Text 11"/>
          <p:cNvSpPr txBox="1"/>
          <p:nvPr/>
        </p:nvSpPr>
        <p:spPr>
          <a:xfrm>
            <a:off x="4745736" y="1719072"/>
            <a:ext cx="3813048" cy="1664208"/>
          </a:xfrm>
          <a:prstGeom prst="rect">
            <a:avLst/>
          </a:prstGeom>
          <a:noFill/>
          <a:ln/>
        </p:spPr>
        <p:txBody>
          <a:bodyPr wrap="square" lIns="0" tIns="0" rIns="0" bIns="0" rtlCol="0" anchor="t"/>
          <a:lstStyle/>
          <a:p>
            <a:pPr marL="342900" indent="-342900">
              <a:spcAft>
                <a:spcPts val="300"/>
              </a:spcAft>
              <a:buSzPct val="100000"/>
              <a:buChar char="•"/>
            </a:pPr>
            <a:r>
              <a:rPr lang="en-US" sz="950" dirty="0">
                <a:solidFill>
                  <a:srgbClr val="1F2933"/>
                </a:solidFill>
                <a:latin typeface="Calibri" pitchFamily="34" charset="0"/>
                <a:ea typeface="Calibri" pitchFamily="34" charset="-122"/>
                <a:cs typeface="Calibri" pitchFamily="34" charset="-120"/>
              </a:rPr>
              <a:t>Confirm the risks from ALL identified hazardous situations have been considered</a:t>
            </a:r>
            <a:endParaRPr lang="en-US" sz="950" dirty="0"/>
          </a:p>
          <a:p>
            <a:pPr marL="342900" indent="-342900">
              <a:spcAft>
                <a:spcPts val="300"/>
              </a:spcAft>
              <a:buSzPct val="100000"/>
              <a:buChar char="•"/>
            </a:pPr>
            <a:r>
              <a:rPr lang="en-US" sz="950" b="1" dirty="0">
                <a:solidFill>
                  <a:srgbClr val="1F2933"/>
                </a:solidFill>
                <a:latin typeface="Calibri" pitchFamily="34" charset="0"/>
                <a:ea typeface="Calibri" pitchFamily="34" charset="-122"/>
                <a:cs typeface="Calibri" pitchFamily="34" charset="-120"/>
              </a:rPr>
              <a:t>The routing people miss:</a:t>
            </a:r>
            <a:endParaRPr lang="en-US" sz="950" dirty="0"/>
          </a:p>
          <a:p>
            <a:pPr marL="342900" indent="-342900">
              <a:spcAft>
                <a:spcPts val="300"/>
              </a:spcAft>
              <a:buSzPct val="100000"/>
              <a:buChar char="•"/>
            </a:pPr>
            <a:r>
              <a:rPr lang="en-US" sz="950" dirty="0">
                <a:solidFill>
                  <a:srgbClr val="1F2933"/>
                </a:solidFill>
                <a:latin typeface="Calibri" pitchFamily="34" charset="0"/>
                <a:ea typeface="Calibri" pitchFamily="34" charset="-122"/>
                <a:cs typeface="Calibri" pitchFamily="34" charset="-120"/>
              </a:rPr>
              <a:t>Clause 6 sends an acceptable risk straight to 7.6 and tells you to treat the estimated risk as the residual risk</a:t>
            </a:r>
            <a:endParaRPr lang="en-US" sz="950" dirty="0"/>
          </a:p>
          <a:p>
            <a:pPr marL="342900" indent="-342900">
              <a:spcAft>
                <a:spcPts val="300"/>
              </a:spcAft>
              <a:buSzPct val="100000"/>
              <a:buChar char="•"/>
            </a:pPr>
            <a:r>
              <a:rPr lang="en-US" sz="950" dirty="0">
                <a:solidFill>
                  <a:srgbClr val="1F2933"/>
                </a:solidFill>
                <a:latin typeface="Calibri" pitchFamily="34" charset="0"/>
                <a:ea typeface="Calibri" pitchFamily="34" charset="-122"/>
                <a:cs typeface="Calibri" pitchFamily="34" charset="-120"/>
              </a:rPr>
              <a:t>So 7.6 applies to every hazardous situation - including the ones that never needed a control</a:t>
            </a:r>
            <a:endParaRPr lang="en-US" sz="950" dirty="0"/>
          </a:p>
          <a:p>
            <a:pPr marL="342900" indent="-342900">
              <a:spcAft>
                <a:spcPts val="300"/>
              </a:spcAft>
              <a:buSzPct val="100000"/>
              <a:buChar char="•"/>
            </a:pPr>
            <a:r>
              <a:rPr lang="en-US" sz="950" dirty="0">
                <a:solidFill>
                  <a:srgbClr val="1F2933"/>
                </a:solidFill>
                <a:latin typeface="Calibri" pitchFamily="34" charset="0"/>
                <a:ea typeface="Calibri" pitchFamily="34" charset="-122"/>
                <a:cs typeface="Calibri" pitchFamily="34" charset="-120"/>
              </a:rPr>
              <a:t>A procedure that ends at 7.5 has no completeness step at all</a:t>
            </a:r>
            <a:endParaRPr lang="en-US" sz="950" dirty="0"/>
          </a:p>
        </p:txBody>
      </p:sp>
      <p:sp>
        <p:nvSpPr>
          <p:cNvPr id="15" name="Shape 12"/>
          <p:cNvSpPr/>
          <p:nvPr/>
        </p:nvSpPr>
        <p:spPr>
          <a:xfrm>
            <a:off x="457200" y="3657600"/>
            <a:ext cx="8229600" cy="411480"/>
          </a:xfrm>
          <a:prstGeom prst="roundRect">
            <a:avLst>
              <a:gd name="adj" fmla="val 13333"/>
            </a:avLst>
          </a:prstGeom>
          <a:solidFill>
            <a:srgbClr val="0F2A4A"/>
          </a:solidFill>
          <a:ln w="12700">
            <a:solidFill>
              <a:srgbClr val="0F2A4A"/>
            </a:solidFill>
            <a:prstDash val="solid"/>
          </a:ln>
        </p:spPr>
      </p:sp>
      <p:sp>
        <p:nvSpPr>
          <p:cNvPr id="16" name="Text 13"/>
          <p:cNvSpPr txBox="1"/>
          <p:nvPr/>
        </p:nvSpPr>
        <p:spPr>
          <a:xfrm>
            <a:off x="640080" y="3657600"/>
            <a:ext cx="7863840" cy="411480"/>
          </a:xfrm>
          <a:prstGeom prst="rect">
            <a:avLst/>
          </a:prstGeom>
          <a:noFill/>
          <a:ln/>
        </p:spPr>
        <p:txBody>
          <a:bodyPr wrap="square" lIns="0" tIns="0" rIns="0" bIns="0" rtlCol="0" anchor="ctr"/>
          <a:lstStyle/>
          <a:p>
            <a:pPr indent="0" marL="0">
              <a:buNone/>
            </a:pPr>
            <a:r>
              <a:rPr lang="en-US" sz="1200" i="1" dirty="0">
                <a:solidFill>
                  <a:srgbClr val="FFFFFF"/>
                </a:solidFill>
                <a:latin typeface="Calibri" pitchFamily="34" charset="0"/>
                <a:ea typeface="Calibri" pitchFamily="34" charset="-122"/>
                <a:cs typeface="Calibri" pitchFamily="34" charset="-120"/>
              </a:rPr>
              <a:t>Check your own procedure tonight: does it have a step for 7.6? Clause 7 runs to 7.6, not 7.5.</a:t>
            </a:r>
            <a:endParaRPr lang="en-US" sz="1200" dirty="0"/>
          </a:p>
        </p:txBody>
      </p:sp>
      <p:sp>
        <p:nvSpPr>
          <p:cNvPr id="17" name="Text 14"/>
          <p:cNvSpPr txBox="1"/>
          <p:nvPr/>
        </p:nvSpPr>
        <p:spPr>
          <a:xfrm>
            <a:off x="457200" y="4187952"/>
            <a:ext cx="8229600" cy="256032"/>
          </a:xfrm>
          <a:prstGeom prst="rect">
            <a:avLst/>
          </a:prstGeom>
          <a:noFill/>
          <a:ln/>
        </p:spPr>
        <p:txBody>
          <a:bodyPr wrap="square" lIns="0" tIns="0" rIns="0" bIns="0" rtlCol="0" anchor="t"/>
          <a:lstStyle/>
          <a:p>
            <a:pPr indent="0" marL="0">
              <a:buNone/>
            </a:pPr>
            <a:r>
              <a:rPr lang="en-US" sz="1000" i="1" dirty="0">
                <a:solidFill>
                  <a:srgbClr val="5A6B7B"/>
                </a:solidFill>
                <a:latin typeface="Calibri" pitchFamily="34" charset="0"/>
                <a:ea typeface="Calibri" pitchFamily="34" charset="-122"/>
                <a:cs typeface="Calibri" pitchFamily="34" charset="-120"/>
              </a:rPr>
              <a:t>The Excel toolkit flags both: "New risks not assessed (Clause 7.5)" on the Risk Controls sheet, and a completeness check on every hazard row.</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4814316"/>
            <a:ext cx="5943600" cy="201168"/>
          </a:xfrm>
          <a:prstGeom prst="rect">
            <a:avLst/>
          </a:prstGeom>
          <a:noFill/>
          <a:ln/>
        </p:spPr>
        <p:txBody>
          <a:bodyPr wrap="square" lIns="0" tIns="0" rIns="0" bIns="0" rtlCol="0" anchor="ctr"/>
          <a:lstStyle/>
          <a:p>
            <a:pPr indent="0" marL="0">
              <a:buNone/>
            </a:pPr>
            <a:r>
              <a:rPr lang="en-US" sz="900" dirty="0">
                <a:solidFill>
                  <a:srgbClr val="5A6B7B"/>
                </a:solidFill>
                <a:latin typeface="Calibri" pitchFamily="34" charset="0"/>
                <a:ea typeface="Calibri" pitchFamily="34" charset="-122"/>
                <a:cs typeface="Calibri" pitchFamily="34" charset="-120"/>
              </a:rPr>
              <a:t>Risk Management  |  ISO 14971  |  Elder Consulting, LLC</a:t>
            </a:r>
            <a:endParaRPr lang="en-US" sz="900" dirty="0"/>
          </a:p>
        </p:txBody>
      </p:sp>
      <p:sp>
        <p:nvSpPr>
          <p:cNvPr id="3" name="Text 1"/>
          <p:cNvSpPr txBox="1"/>
          <p:nvPr/>
        </p:nvSpPr>
        <p:spPr>
          <a:xfrm>
            <a:off x="8138160" y="4814316"/>
            <a:ext cx="548640" cy="201168"/>
          </a:xfrm>
          <a:prstGeom prst="rect">
            <a:avLst/>
          </a:prstGeom>
          <a:noFill/>
          <a:ln/>
        </p:spPr>
        <p:txBody>
          <a:bodyPr wrap="square" lIns="0" tIns="0" rIns="0" bIns="0" rtlCol="0" anchor="ctr"/>
          <a:lstStyle/>
          <a:p>
            <a:pPr algn="r" indent="0" marL="0">
              <a:buNone/>
            </a:pPr>
            <a:r>
              <a:rPr lang="en-US" sz="900" dirty="0">
                <a:solidFill>
                  <a:srgbClr val="5A6B7B"/>
                </a:solidFill>
                <a:latin typeface="Calibri" pitchFamily="34" charset="0"/>
                <a:ea typeface="Calibri" pitchFamily="34" charset="-122"/>
                <a:cs typeface="Calibri" pitchFamily="34" charset="-120"/>
              </a:rPr>
              <a:t>25</a:t>
            </a:r>
            <a:endParaRPr lang="en-US" sz="900" dirty="0"/>
          </a:p>
        </p:txBody>
      </p:sp>
      <p:sp>
        <p:nvSpPr>
          <p:cNvPr id="4" name="Text 2"/>
          <p:cNvSpPr txBox="1"/>
          <p:nvPr/>
        </p:nvSpPr>
        <p:spPr>
          <a:xfrm>
            <a:off x="457200" y="274320"/>
            <a:ext cx="8229600" cy="219456"/>
          </a:xfrm>
          <a:prstGeom prst="rect">
            <a:avLst/>
          </a:prstGeom>
          <a:noFill/>
          <a:ln/>
        </p:spPr>
        <p:txBody>
          <a:bodyPr wrap="square" lIns="0" tIns="0" rIns="0" bIns="0" rtlCol="0" anchor="ctr"/>
          <a:lstStyle/>
          <a:p>
            <a:pPr indent="0" marL="0">
              <a:buNone/>
            </a:pPr>
            <a:r>
              <a:rPr lang="en-US" sz="1000" b="1" spc="200" kern="0" dirty="0">
                <a:solidFill>
                  <a:srgbClr val="A8730F"/>
                </a:solidFill>
                <a:latin typeface="Calibri" pitchFamily="34" charset="0"/>
                <a:ea typeface="Calibri" pitchFamily="34" charset="-122"/>
                <a:cs typeface="Calibri" pitchFamily="34" charset="-120"/>
              </a:rPr>
              <a:t>SECTION 3  |  RESIDUAL RISK</a:t>
            </a:r>
            <a:endParaRPr lang="en-US" sz="1000" dirty="0"/>
          </a:p>
        </p:txBody>
      </p:sp>
      <p:sp>
        <p:nvSpPr>
          <p:cNvPr id="5" name="Text 3"/>
          <p:cNvSpPr txBox="1"/>
          <p:nvPr/>
        </p:nvSpPr>
        <p:spPr>
          <a:xfrm>
            <a:off x="457200" y="502920"/>
            <a:ext cx="8229600" cy="548640"/>
          </a:xfrm>
          <a:prstGeom prst="rect">
            <a:avLst/>
          </a:prstGeom>
          <a:noFill/>
          <a:ln/>
        </p:spPr>
        <p:txBody>
          <a:bodyPr wrap="square" lIns="0" tIns="0" rIns="0" bIns="0" rtlCol="0" anchor="t"/>
          <a:lstStyle/>
          <a:p>
            <a:pPr indent="0" marL="0">
              <a:buNone/>
            </a:pPr>
            <a:r>
              <a:rPr lang="en-US" sz="2400" b="1" dirty="0">
                <a:solidFill>
                  <a:srgbClr val="0F2A4A"/>
                </a:solidFill>
                <a:latin typeface="Cambria" pitchFamily="34" charset="0"/>
                <a:ea typeface="Cambria" pitchFamily="34" charset="-122"/>
                <a:cs typeface="Cambria" pitchFamily="34" charset="-120"/>
              </a:rPr>
              <a:t>7.3, 7.4 and 8 are three different questions</a:t>
            </a:r>
            <a:endParaRPr lang="en-US" sz="2400" dirty="0"/>
          </a:p>
        </p:txBody>
      </p:sp>
      <p:sp>
        <p:nvSpPr>
          <p:cNvPr id="7" name="Shape 4"/>
          <p:cNvSpPr/>
          <p:nvPr/>
        </p:nvSpPr>
        <p:spPr>
          <a:xfrm>
            <a:off x="457200" y="1097280"/>
            <a:ext cx="2621280" cy="1828800"/>
          </a:xfrm>
          <a:prstGeom prst="roundRect">
            <a:avLst>
              <a:gd name="adj" fmla="val 3000"/>
            </a:avLst>
          </a:prstGeom>
          <a:solidFill>
            <a:srgbClr val="EAF0F6"/>
          </a:solidFill>
          <a:ln w="12700">
            <a:solidFill>
              <a:srgbClr val="EAF0F6"/>
            </a:solidFill>
            <a:prstDash val="solid"/>
          </a:ln>
        </p:spPr>
      </p:sp>
      <p:sp>
        <p:nvSpPr>
          <p:cNvPr id="8" name="Text 5"/>
          <p:cNvSpPr txBox="1"/>
          <p:nvPr/>
        </p:nvSpPr>
        <p:spPr>
          <a:xfrm>
            <a:off x="585216" y="1188720"/>
            <a:ext cx="2365248" cy="182880"/>
          </a:xfrm>
          <a:prstGeom prst="rect">
            <a:avLst/>
          </a:prstGeom>
          <a:noFill/>
          <a:ln/>
        </p:spPr>
        <p:txBody>
          <a:bodyPr wrap="square" lIns="0" tIns="0" rIns="0" bIns="0" rtlCol="0" anchor="ctr"/>
          <a:lstStyle/>
          <a:p>
            <a:pPr indent="0" marL="0">
              <a:buNone/>
            </a:pPr>
            <a:r>
              <a:rPr lang="en-US" sz="900" b="1" spc="150" kern="0" dirty="0">
                <a:solidFill>
                  <a:srgbClr val="A8730F"/>
                </a:solidFill>
                <a:latin typeface="Calibri" pitchFamily="34" charset="0"/>
                <a:ea typeface="Calibri" pitchFamily="34" charset="-122"/>
                <a:cs typeface="Calibri" pitchFamily="34" charset="-120"/>
              </a:rPr>
              <a:t>CLAUSE 7.3</a:t>
            </a:r>
            <a:endParaRPr lang="en-US" sz="900" dirty="0"/>
          </a:p>
        </p:txBody>
      </p:sp>
      <p:sp>
        <p:nvSpPr>
          <p:cNvPr id="9" name="Text 6"/>
          <p:cNvSpPr txBox="1"/>
          <p:nvPr/>
        </p:nvSpPr>
        <p:spPr>
          <a:xfrm>
            <a:off x="585216" y="1408176"/>
            <a:ext cx="2365248" cy="274320"/>
          </a:xfrm>
          <a:prstGeom prst="rect">
            <a:avLst/>
          </a:prstGeom>
          <a:noFill/>
          <a:ln/>
        </p:spPr>
        <p:txBody>
          <a:bodyPr wrap="square" lIns="0" tIns="0" rIns="0" bIns="0" rtlCol="0" anchor="ctr"/>
          <a:lstStyle/>
          <a:p>
            <a:pPr indent="0" marL="0">
              <a:buNone/>
            </a:pPr>
            <a:r>
              <a:rPr lang="en-US" sz="1250" b="1" dirty="0">
                <a:solidFill>
                  <a:srgbClr val="0F2A4A"/>
                </a:solidFill>
                <a:latin typeface="Calibri" pitchFamily="34" charset="0"/>
                <a:ea typeface="Calibri" pitchFamily="34" charset="-122"/>
                <a:cs typeface="Calibri" pitchFamily="34" charset="-120"/>
              </a:rPr>
              <a:t>Residual risk evaluation</a:t>
            </a:r>
            <a:endParaRPr lang="en-US" sz="1250" dirty="0"/>
          </a:p>
        </p:txBody>
      </p:sp>
      <p:sp>
        <p:nvSpPr>
          <p:cNvPr id="10" name="Text 7"/>
          <p:cNvSpPr txBox="1"/>
          <p:nvPr/>
        </p:nvSpPr>
        <p:spPr>
          <a:xfrm>
            <a:off x="585216" y="1719072"/>
            <a:ext cx="2365248" cy="1115568"/>
          </a:xfrm>
          <a:prstGeom prst="rect">
            <a:avLst/>
          </a:prstGeom>
          <a:noFill/>
          <a:ln/>
        </p:spPr>
        <p:txBody>
          <a:bodyPr wrap="square" lIns="0" tIns="0" rIns="0" bIns="0" rtlCol="0" anchor="t"/>
          <a:lstStyle/>
          <a:p>
            <a:pPr marL="342900" indent="-342900">
              <a:spcAft>
                <a:spcPts val="400"/>
              </a:spcAft>
              <a:buSzPct val="100000"/>
              <a:buChar char="•"/>
            </a:pPr>
            <a:r>
              <a:rPr lang="en-US" sz="1000" dirty="0">
                <a:solidFill>
                  <a:srgbClr val="1F2933"/>
                </a:solidFill>
                <a:latin typeface="Calibri" pitchFamily="34" charset="0"/>
                <a:ea typeface="Calibri" pitchFamily="34" charset="-122"/>
                <a:cs typeface="Calibri" pitchFamily="34" charset="-120"/>
              </a:rPr>
              <a:t>Per risk</a:t>
            </a:r>
            <a:endParaRPr lang="en-US" sz="1000" dirty="0"/>
          </a:p>
          <a:p>
            <a:pPr marL="342900" indent="-342900">
              <a:spcAft>
                <a:spcPts val="400"/>
              </a:spcAft>
              <a:buSzPct val="100000"/>
              <a:buChar char="•"/>
            </a:pPr>
            <a:r>
              <a:rPr lang="en-US" sz="1000" dirty="0">
                <a:solidFill>
                  <a:srgbClr val="1F2933"/>
                </a:solidFill>
                <a:latin typeface="Calibri" pitchFamily="34" charset="0"/>
                <a:ea typeface="Calibri" pitchFamily="34" charset="-122"/>
                <a:cs typeface="Calibri" pitchFamily="34" charset="-120"/>
              </a:rPr>
              <a:t>Against the criteria in the plan</a:t>
            </a:r>
            <a:endParaRPr lang="en-US" sz="1000" dirty="0"/>
          </a:p>
          <a:p>
            <a:pPr marL="342900" indent="-342900">
              <a:spcAft>
                <a:spcPts val="400"/>
              </a:spcAft>
              <a:buSzPct val="100000"/>
              <a:buChar char="•"/>
            </a:pPr>
            <a:r>
              <a:rPr lang="en-US" sz="1000" dirty="0">
                <a:solidFill>
                  <a:srgbClr val="1F2933"/>
                </a:solidFill>
                <a:latin typeface="Calibri" pitchFamily="34" charset="0"/>
                <a:ea typeface="Calibri" pitchFamily="34" charset="-122"/>
                <a:cs typeface="Calibri" pitchFamily="34" charset="-120"/>
              </a:rPr>
              <a:t>Acceptable, or on to 7.4</a:t>
            </a:r>
            <a:endParaRPr lang="en-US" sz="1000" dirty="0"/>
          </a:p>
        </p:txBody>
      </p:sp>
      <p:sp>
        <p:nvSpPr>
          <p:cNvPr id="11" name="Shape 8"/>
          <p:cNvSpPr/>
          <p:nvPr/>
        </p:nvSpPr>
        <p:spPr>
          <a:xfrm>
            <a:off x="3261360" y="1097280"/>
            <a:ext cx="2621280" cy="1828800"/>
          </a:xfrm>
          <a:prstGeom prst="roundRect">
            <a:avLst>
              <a:gd name="adj" fmla="val 3000"/>
            </a:avLst>
          </a:prstGeom>
          <a:solidFill>
            <a:srgbClr val="FBF2DE"/>
          </a:solidFill>
          <a:ln w="12700">
            <a:solidFill>
              <a:srgbClr val="FBF2DE"/>
            </a:solidFill>
            <a:prstDash val="solid"/>
          </a:ln>
        </p:spPr>
      </p:sp>
      <p:sp>
        <p:nvSpPr>
          <p:cNvPr id="12" name="Text 9"/>
          <p:cNvSpPr txBox="1"/>
          <p:nvPr/>
        </p:nvSpPr>
        <p:spPr>
          <a:xfrm>
            <a:off x="3389376" y="1188720"/>
            <a:ext cx="2365248" cy="182880"/>
          </a:xfrm>
          <a:prstGeom prst="rect">
            <a:avLst/>
          </a:prstGeom>
          <a:noFill/>
          <a:ln/>
        </p:spPr>
        <p:txBody>
          <a:bodyPr wrap="square" lIns="0" tIns="0" rIns="0" bIns="0" rtlCol="0" anchor="ctr"/>
          <a:lstStyle/>
          <a:p>
            <a:pPr indent="0" marL="0">
              <a:buNone/>
            </a:pPr>
            <a:r>
              <a:rPr lang="en-US" sz="900" b="1" spc="150" kern="0" dirty="0">
                <a:solidFill>
                  <a:srgbClr val="A8730F"/>
                </a:solidFill>
                <a:latin typeface="Calibri" pitchFamily="34" charset="0"/>
                <a:ea typeface="Calibri" pitchFamily="34" charset="-122"/>
                <a:cs typeface="Calibri" pitchFamily="34" charset="-120"/>
              </a:rPr>
              <a:t>CLAUSE 7.4</a:t>
            </a:r>
            <a:endParaRPr lang="en-US" sz="900" dirty="0"/>
          </a:p>
        </p:txBody>
      </p:sp>
      <p:sp>
        <p:nvSpPr>
          <p:cNvPr id="13" name="Text 10"/>
          <p:cNvSpPr txBox="1"/>
          <p:nvPr/>
        </p:nvSpPr>
        <p:spPr>
          <a:xfrm>
            <a:off x="3389376" y="1408176"/>
            <a:ext cx="2365248" cy="274320"/>
          </a:xfrm>
          <a:prstGeom prst="rect">
            <a:avLst/>
          </a:prstGeom>
          <a:noFill/>
          <a:ln/>
        </p:spPr>
        <p:txBody>
          <a:bodyPr wrap="square" lIns="0" tIns="0" rIns="0" bIns="0" rtlCol="0" anchor="ctr"/>
          <a:lstStyle/>
          <a:p>
            <a:pPr indent="0" marL="0">
              <a:buNone/>
            </a:pPr>
            <a:r>
              <a:rPr lang="en-US" sz="1250" b="1" dirty="0">
                <a:solidFill>
                  <a:srgbClr val="0F2A4A"/>
                </a:solidFill>
                <a:latin typeface="Calibri" pitchFamily="34" charset="0"/>
                <a:ea typeface="Calibri" pitchFamily="34" charset="-122"/>
                <a:cs typeface="Calibri" pitchFamily="34" charset="-120"/>
              </a:rPr>
              <a:t>Benefit-risk analysis</a:t>
            </a:r>
            <a:endParaRPr lang="en-US" sz="1250" dirty="0"/>
          </a:p>
        </p:txBody>
      </p:sp>
      <p:sp>
        <p:nvSpPr>
          <p:cNvPr id="14" name="Text 11"/>
          <p:cNvSpPr txBox="1"/>
          <p:nvPr/>
        </p:nvSpPr>
        <p:spPr>
          <a:xfrm>
            <a:off x="3389376" y="1719072"/>
            <a:ext cx="2365248" cy="1115568"/>
          </a:xfrm>
          <a:prstGeom prst="rect">
            <a:avLst/>
          </a:prstGeom>
          <a:noFill/>
          <a:ln/>
        </p:spPr>
        <p:txBody>
          <a:bodyPr wrap="square" lIns="0" tIns="0" rIns="0" bIns="0" rtlCol="0" anchor="t"/>
          <a:lstStyle/>
          <a:p>
            <a:pPr marL="342900" indent="-342900">
              <a:spcAft>
                <a:spcPts val="400"/>
              </a:spcAft>
              <a:buSzPct val="100000"/>
              <a:buChar char="•"/>
            </a:pPr>
            <a:r>
              <a:rPr lang="en-US" sz="1000" dirty="0">
                <a:solidFill>
                  <a:srgbClr val="1F2933"/>
                </a:solidFill>
                <a:latin typeface="Calibri" pitchFamily="34" charset="0"/>
                <a:ea typeface="Calibri" pitchFamily="34" charset="-122"/>
                <a:cs typeface="Calibri" pitchFamily="34" charset="-120"/>
              </a:rPr>
              <a:t>Per risk, and conditional</a:t>
            </a:r>
            <a:endParaRPr lang="en-US" sz="1000" dirty="0"/>
          </a:p>
          <a:p>
            <a:pPr marL="342900" indent="-342900">
              <a:spcAft>
                <a:spcPts val="400"/>
              </a:spcAft>
              <a:buSzPct val="100000"/>
              <a:buChar char="•"/>
            </a:pPr>
            <a:r>
              <a:rPr lang="en-US" sz="1000" dirty="0">
                <a:solidFill>
                  <a:srgbClr val="1F2933"/>
                </a:solidFill>
                <a:latin typeface="Calibri" pitchFamily="34" charset="0"/>
                <a:ea typeface="Calibri" pitchFamily="34" charset="-122"/>
                <a:cs typeface="Calibri" pitchFamily="34" charset="-120"/>
              </a:rPr>
              <a:t>Applies only if NOT acceptable AND further control is not practicable</a:t>
            </a:r>
            <a:endParaRPr lang="en-US" sz="1000" dirty="0"/>
          </a:p>
          <a:p>
            <a:pPr marL="342900" indent="-342900">
              <a:spcAft>
                <a:spcPts val="400"/>
              </a:spcAft>
              <a:buSzPct val="100000"/>
              <a:buChar char="•"/>
            </a:pPr>
            <a:r>
              <a:rPr lang="en-US" sz="1000" dirty="0">
                <a:solidFill>
                  <a:srgbClr val="1F2933"/>
                </a:solidFill>
                <a:latin typeface="Calibri" pitchFamily="34" charset="0"/>
                <a:ea typeface="Calibri" pitchFamily="34" charset="-122"/>
                <a:cs typeface="Calibri" pitchFamily="34" charset="-120"/>
              </a:rPr>
              <a:t>Do the benefits of the intended use outweigh this residual risk?</a:t>
            </a:r>
            <a:endParaRPr lang="en-US" sz="1000" dirty="0"/>
          </a:p>
        </p:txBody>
      </p:sp>
      <p:sp>
        <p:nvSpPr>
          <p:cNvPr id="15" name="Shape 12"/>
          <p:cNvSpPr/>
          <p:nvPr/>
        </p:nvSpPr>
        <p:spPr>
          <a:xfrm>
            <a:off x="6065520" y="1097280"/>
            <a:ext cx="2621280" cy="1828800"/>
          </a:xfrm>
          <a:prstGeom prst="roundRect">
            <a:avLst>
              <a:gd name="adj" fmla="val 3000"/>
            </a:avLst>
          </a:prstGeom>
          <a:solidFill>
            <a:srgbClr val="E8F3EE"/>
          </a:solidFill>
          <a:ln w="12700">
            <a:solidFill>
              <a:srgbClr val="E8F3EE"/>
            </a:solidFill>
            <a:prstDash val="solid"/>
          </a:ln>
        </p:spPr>
      </p:sp>
      <p:sp>
        <p:nvSpPr>
          <p:cNvPr id="16" name="Text 13"/>
          <p:cNvSpPr txBox="1"/>
          <p:nvPr/>
        </p:nvSpPr>
        <p:spPr>
          <a:xfrm>
            <a:off x="6193536" y="1188720"/>
            <a:ext cx="2365248" cy="182880"/>
          </a:xfrm>
          <a:prstGeom prst="rect">
            <a:avLst/>
          </a:prstGeom>
          <a:noFill/>
          <a:ln/>
        </p:spPr>
        <p:txBody>
          <a:bodyPr wrap="square" lIns="0" tIns="0" rIns="0" bIns="0" rtlCol="0" anchor="ctr"/>
          <a:lstStyle/>
          <a:p>
            <a:pPr indent="0" marL="0">
              <a:buNone/>
            </a:pPr>
            <a:r>
              <a:rPr lang="en-US" sz="900" b="1" spc="150" kern="0" dirty="0">
                <a:solidFill>
                  <a:srgbClr val="A8730F"/>
                </a:solidFill>
                <a:latin typeface="Calibri" pitchFamily="34" charset="0"/>
                <a:ea typeface="Calibri" pitchFamily="34" charset="-122"/>
                <a:cs typeface="Calibri" pitchFamily="34" charset="-120"/>
              </a:rPr>
              <a:t>CLAUSE 8</a:t>
            </a:r>
            <a:endParaRPr lang="en-US" sz="900" dirty="0"/>
          </a:p>
        </p:txBody>
      </p:sp>
      <p:sp>
        <p:nvSpPr>
          <p:cNvPr id="17" name="Text 14"/>
          <p:cNvSpPr txBox="1"/>
          <p:nvPr/>
        </p:nvSpPr>
        <p:spPr>
          <a:xfrm>
            <a:off x="6193536" y="1408176"/>
            <a:ext cx="2365248" cy="274320"/>
          </a:xfrm>
          <a:prstGeom prst="rect">
            <a:avLst/>
          </a:prstGeom>
          <a:noFill/>
          <a:ln/>
        </p:spPr>
        <p:txBody>
          <a:bodyPr wrap="square" lIns="0" tIns="0" rIns="0" bIns="0" rtlCol="0" anchor="ctr"/>
          <a:lstStyle/>
          <a:p>
            <a:pPr indent="0" marL="0">
              <a:buNone/>
            </a:pPr>
            <a:r>
              <a:rPr lang="en-US" sz="1250" b="1" dirty="0">
                <a:solidFill>
                  <a:srgbClr val="0F2A4A"/>
                </a:solidFill>
                <a:latin typeface="Calibri" pitchFamily="34" charset="0"/>
                <a:ea typeface="Calibri" pitchFamily="34" charset="-122"/>
                <a:cs typeface="Calibri" pitchFamily="34" charset="-120"/>
              </a:rPr>
              <a:t>Overall residual risk</a:t>
            </a:r>
            <a:endParaRPr lang="en-US" sz="1250" dirty="0"/>
          </a:p>
        </p:txBody>
      </p:sp>
      <p:sp>
        <p:nvSpPr>
          <p:cNvPr id="18" name="Text 15"/>
          <p:cNvSpPr txBox="1"/>
          <p:nvPr/>
        </p:nvSpPr>
        <p:spPr>
          <a:xfrm>
            <a:off x="6193536" y="1719072"/>
            <a:ext cx="2365248" cy="1115568"/>
          </a:xfrm>
          <a:prstGeom prst="rect">
            <a:avLst/>
          </a:prstGeom>
          <a:noFill/>
          <a:ln/>
        </p:spPr>
        <p:txBody>
          <a:bodyPr wrap="square" lIns="0" tIns="0" rIns="0" bIns="0" rtlCol="0" anchor="t"/>
          <a:lstStyle/>
          <a:p>
            <a:pPr marL="342900" indent="-342900">
              <a:spcAft>
                <a:spcPts val="400"/>
              </a:spcAft>
              <a:buSzPct val="100000"/>
              <a:buChar char="•"/>
            </a:pPr>
            <a:r>
              <a:rPr lang="en-US" sz="1000" dirty="0">
                <a:solidFill>
                  <a:srgbClr val="1F2933"/>
                </a:solidFill>
                <a:latin typeface="Calibri" pitchFamily="34" charset="0"/>
                <a:ea typeface="Calibri" pitchFamily="34" charset="-122"/>
                <a:cs typeface="Calibri" pitchFamily="34" charset="-120"/>
              </a:rPr>
              <a:t>Not per risk - per device</a:t>
            </a:r>
            <a:endParaRPr lang="en-US" sz="1000" dirty="0"/>
          </a:p>
          <a:p>
            <a:pPr marL="342900" indent="-342900">
              <a:spcAft>
                <a:spcPts val="400"/>
              </a:spcAft>
              <a:buSzPct val="100000"/>
              <a:buChar char="•"/>
            </a:pPr>
            <a:r>
              <a:rPr lang="en-US" sz="1000" dirty="0">
                <a:solidFill>
                  <a:srgbClr val="1F2933"/>
                </a:solidFill>
                <a:latin typeface="Calibri" pitchFamily="34" charset="0"/>
                <a:ea typeface="Calibri" pitchFamily="34" charset="-122"/>
                <a:cs typeface="Calibri" pitchFamily="34" charset="-120"/>
              </a:rPr>
              <a:t>By the method the plan declared</a:t>
            </a:r>
            <a:endParaRPr lang="en-US" sz="1000" dirty="0"/>
          </a:p>
          <a:p>
            <a:pPr marL="342900" indent="-342900">
              <a:spcAft>
                <a:spcPts val="400"/>
              </a:spcAft>
              <a:buSzPct val="100000"/>
              <a:buChar char="•"/>
            </a:pPr>
            <a:r>
              <a:rPr lang="en-US" sz="1000" dirty="0">
                <a:solidFill>
                  <a:srgbClr val="1F2933"/>
                </a:solidFill>
                <a:latin typeface="Calibri" pitchFamily="34" charset="0"/>
                <a:ea typeface="Calibri" pitchFamily="34" charset="-122"/>
                <a:cs typeface="Calibri" pitchFamily="34" charset="-120"/>
              </a:rPr>
              <a:t>Several acceptable risks can be unacceptable together</a:t>
            </a:r>
            <a:endParaRPr lang="en-US" sz="10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457200" y="3063240"/>
          <a:ext cx="8229600" cy="914400"/>
        </p:xfrm>
        <a:graphic>
          <a:graphicData uri="http://schemas.openxmlformats.org/drawingml/2006/table">
            <a:tbl>
              <a:tblPr/>
              <a:tblGrid>
                <a:gridCol w="4114800"/>
                <a:gridCol w="411480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What a credible Clause 8 evaluation considers</a:t>
                      </a:r>
                      <a:endParaRPr lang="en-US" sz="950" dirty="0">
                        <a:latin typeface="Calibri" charset="0"/>
                        <a:ea typeface="Calibri" charset="0"/>
                        <a:cs typeface="Calibri" charset="0"/>
                      </a:endParaRPr>
                    </a:p>
                  </a:txBody>
                  <a:tcPr marL="54864" marR="54864" marT="54864" marB="54864" anchor="ctr">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0F2A4A"/>
                    </a:solidFill>
                  </a:tcPr>
                </a:tc>
                <a:tc>
                  <a:txBody>
                    <a:bodyPr/>
                    <a:lstStyle/>
                    <a:p>
                      <a:pPr indent="0" marL="0">
                        <a:buNone/>
                      </a:pPr>
                      <a:endParaRPr lang="en-US" sz="950" dirty="0">
                        <a:latin typeface="Calibri" charset="0"/>
                        <a:ea typeface="Calibri" charset="0"/>
                        <a:cs typeface="Calibri" charset="0"/>
                      </a:endParaRPr>
                    </a:p>
                  </a:txBody>
                  <a:tcPr marL="54864" marR="54864" marT="54864" marB="54864" anchor="ctr">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0F2A4A"/>
                    </a:solidFill>
                  </a:tcPr>
                </a:tc>
              </a:tr>
              <a:tr h="274320">
                <a:tc>
                  <a:txBody>
                    <a:bodyPr/>
                    <a:lstStyle/>
                    <a:p>
                      <a:pPr indent="0" marL="0">
                        <a:buNone/>
                      </a:pPr>
                      <a:r>
                        <a:rPr lang="en-US" sz="950" dirty="0">
                          <a:solidFill>
                            <a:srgbClr val="1F2933"/>
                          </a:solidFill>
                          <a:latin typeface="Calibri" pitchFamily="34" charset="0"/>
                          <a:ea typeface="Calibri" pitchFamily="34" charset="-122"/>
                          <a:cs typeface="Calibri" pitchFamily="34" charset="-120"/>
                        </a:rPr>
                        <a:t>Risks that share a single common cause</a:t>
                      </a:r>
                      <a:endParaRPr lang="en-US" sz="9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950" dirty="0">
                          <a:solidFill>
                            <a:srgbClr val="1F2933"/>
                          </a:solidFill>
                          <a:latin typeface="Calibri" pitchFamily="34" charset="0"/>
                          <a:ea typeface="Calibri" pitchFamily="34" charset="-122"/>
                          <a:cs typeface="Calibri" pitchFamily="34" charset="-120"/>
                        </a:rPr>
                        <a:t>Conflicting requirements between risk controls</a:t>
                      </a:r>
                      <a:endParaRPr lang="en-US" sz="9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r>
              <a:tr h="274320">
                <a:tc>
                  <a:txBody>
                    <a:bodyPr/>
                    <a:lstStyle/>
                    <a:p>
                      <a:pPr indent="0" marL="0">
                        <a:buNone/>
                      </a:pPr>
                      <a:r>
                        <a:rPr lang="en-US" sz="950" dirty="0">
                          <a:solidFill>
                            <a:srgbClr val="1F2933"/>
                          </a:solidFill>
                          <a:latin typeface="Calibri" pitchFamily="34" charset="0"/>
                          <a:ea typeface="Calibri" pitchFamily="34" charset="-122"/>
                          <a:cs typeface="Calibri" pitchFamily="34" charset="-120"/>
                        </a:rPr>
                        <a:t>The number and nature of warnings safety rests on</a:t>
                      </a:r>
                      <a:endParaRPr lang="en-US" sz="9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c>
                  <a:txBody>
                    <a:bodyPr/>
                    <a:lstStyle/>
                    <a:p>
                      <a:pPr indent="0" marL="0">
                        <a:buNone/>
                      </a:pPr>
                      <a:r>
                        <a:rPr lang="en-US" sz="950" dirty="0">
                          <a:solidFill>
                            <a:srgbClr val="1F2933"/>
                          </a:solidFill>
                          <a:latin typeface="Calibri" pitchFamily="34" charset="0"/>
                          <a:ea typeface="Calibri" pitchFamily="34" charset="-122"/>
                          <a:cs typeface="Calibri" pitchFamily="34" charset="-120"/>
                        </a:rPr>
                        <a:t>Comparison with similar devices and the state of the art</a:t>
                      </a:r>
                      <a:endParaRPr lang="en-US" sz="9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r>
              <a:tr h="274320">
                <a:tc>
                  <a:txBody>
                    <a:bodyPr/>
                    <a:lstStyle/>
                    <a:p>
                      <a:pPr indent="0" marL="0">
                        <a:buNone/>
                      </a:pPr>
                      <a:r>
                        <a:rPr lang="en-US" sz="950" dirty="0">
                          <a:solidFill>
                            <a:srgbClr val="1F2933"/>
                          </a:solidFill>
                          <a:latin typeface="Calibri" pitchFamily="34" charset="0"/>
                          <a:ea typeface="Calibri" pitchFamily="34" charset="-122"/>
                          <a:cs typeface="Calibri" pitchFamily="34" charset="-120"/>
                        </a:rPr>
                        <a:t>The clinical benefit and the benefit-risk conclusion</a:t>
                      </a:r>
                      <a:endParaRPr lang="en-US" sz="9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950" dirty="0">
                          <a:solidFill>
                            <a:srgbClr val="1F2933"/>
                          </a:solidFill>
                          <a:latin typeface="Calibri" pitchFamily="34" charset="0"/>
                          <a:ea typeface="Calibri" pitchFamily="34" charset="-122"/>
                          <a:cs typeface="Calibri" pitchFamily="34" charset="-120"/>
                        </a:rPr>
                        <a:t>Information from production and post-production</a:t>
                      </a:r>
                      <a:endParaRPr lang="en-US" sz="9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r>
              <a:tr h="274320">
                <a:tc>
                  <a:txBody>
                    <a:bodyPr/>
                    <a:lstStyle/>
                    <a:p>
                      <a:pPr indent="0" marL="0">
                        <a:buNone/>
                      </a:pPr>
                      <a:r>
                        <a:rPr lang="en-US" sz="950" dirty="0">
                          <a:solidFill>
                            <a:srgbClr val="1F2933"/>
                          </a:solidFill>
                          <a:latin typeface="Calibri" pitchFamily="34" charset="0"/>
                          <a:ea typeface="Calibri" pitchFamily="34" charset="-122"/>
                          <a:cs typeface="Calibri" pitchFamily="34" charset="-120"/>
                        </a:rPr>
                        <a:t>Disclosure of significant residual risks in the accompanying information</a:t>
                      </a:r>
                      <a:endParaRPr lang="en-US" sz="9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c>
                  <a:txBody>
                    <a:bodyPr/>
                    <a:lstStyle/>
                    <a:p>
                      <a:pPr indent="0" marL="0">
                        <a:buNone/>
                      </a:pPr>
                      <a:r>
                        <a:rPr lang="en-US" sz="950" dirty="0">
                          <a:solidFill>
                            <a:srgbClr val="1F2933"/>
                          </a:solidFill>
                          <a:latin typeface="Calibri" pitchFamily="34" charset="0"/>
                          <a:ea typeface="Calibri" pitchFamily="34" charset="-122"/>
                          <a:cs typeface="Calibri" pitchFamily="34" charset="-120"/>
                        </a:rPr>
                        <a:t>The conclusion, against the criteria the plan declared, signed by someone with the authority</a:t>
                      </a:r>
                      <a:endParaRPr lang="en-US" sz="9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B1F38"/>
        </a:solidFill>
      </p:bgPr>
    </p:bg>
    <p:spTree>
      <p:nvGrpSpPr>
        <p:cNvPr id="1" name=""/>
        <p:cNvGrpSpPr/>
        <p:nvPr/>
      </p:nvGrpSpPr>
      <p:grpSpPr>
        <a:xfrm>
          <a:off x="0" y="0"/>
          <a:ext cx="0" cy="0"/>
          <a:chOff x="0" y="0"/>
          <a:chExt cx="0" cy="0"/>
        </a:xfrm>
      </p:grpSpPr>
      <p:sp>
        <p:nvSpPr>
          <p:cNvPr id="2" name="Text 0"/>
          <p:cNvSpPr txBox="1"/>
          <p:nvPr/>
        </p:nvSpPr>
        <p:spPr>
          <a:xfrm>
            <a:off x="457200" y="4814316"/>
            <a:ext cx="5943600" cy="201168"/>
          </a:xfrm>
          <a:prstGeom prst="rect">
            <a:avLst/>
          </a:prstGeom>
          <a:noFill/>
          <a:ln/>
        </p:spPr>
        <p:txBody>
          <a:bodyPr wrap="square" lIns="0" tIns="0" rIns="0" bIns="0" rtlCol="0" anchor="ctr"/>
          <a:lstStyle/>
          <a:p>
            <a:pPr indent="0" marL="0">
              <a:buNone/>
            </a:pPr>
            <a:r>
              <a:rPr lang="en-US" sz="900" dirty="0">
                <a:solidFill>
                  <a:srgbClr val="8FA1B5"/>
                </a:solidFill>
                <a:latin typeface="Calibri" pitchFamily="34" charset="0"/>
                <a:ea typeface="Calibri" pitchFamily="34" charset="-122"/>
                <a:cs typeface="Calibri" pitchFamily="34" charset="-120"/>
              </a:rPr>
              <a:t>Risk Management  |  ISO 14971  |  Elder Consulting, LLC</a:t>
            </a:r>
            <a:endParaRPr lang="en-US" sz="900" dirty="0"/>
          </a:p>
        </p:txBody>
      </p:sp>
      <p:sp>
        <p:nvSpPr>
          <p:cNvPr id="3" name="Text 1"/>
          <p:cNvSpPr txBox="1"/>
          <p:nvPr/>
        </p:nvSpPr>
        <p:spPr>
          <a:xfrm>
            <a:off x="8138160" y="4814316"/>
            <a:ext cx="548640" cy="201168"/>
          </a:xfrm>
          <a:prstGeom prst="rect">
            <a:avLst/>
          </a:prstGeom>
          <a:noFill/>
          <a:ln/>
        </p:spPr>
        <p:txBody>
          <a:bodyPr wrap="square" lIns="0" tIns="0" rIns="0" bIns="0" rtlCol="0" anchor="ctr"/>
          <a:lstStyle/>
          <a:p>
            <a:pPr algn="r" indent="0" marL="0">
              <a:buNone/>
            </a:pPr>
            <a:r>
              <a:rPr lang="en-US" sz="900" dirty="0">
                <a:solidFill>
                  <a:srgbClr val="8FA1B5"/>
                </a:solidFill>
                <a:latin typeface="Calibri" pitchFamily="34" charset="0"/>
                <a:ea typeface="Calibri" pitchFamily="34" charset="-122"/>
                <a:cs typeface="Calibri" pitchFamily="34" charset="-120"/>
              </a:rPr>
              <a:t>26</a:t>
            </a:r>
            <a:endParaRPr lang="en-US" sz="900" dirty="0"/>
          </a:p>
        </p:txBody>
      </p:sp>
      <p:sp>
        <p:nvSpPr>
          <p:cNvPr id="4" name="Text 2"/>
          <p:cNvSpPr txBox="1"/>
          <p:nvPr/>
        </p:nvSpPr>
        <p:spPr>
          <a:xfrm>
            <a:off x="457200" y="1417320"/>
            <a:ext cx="8229600" cy="320040"/>
          </a:xfrm>
          <a:prstGeom prst="rect">
            <a:avLst/>
          </a:prstGeom>
          <a:noFill/>
          <a:ln/>
        </p:spPr>
        <p:txBody>
          <a:bodyPr wrap="square" lIns="0" tIns="0" rIns="0" bIns="0" rtlCol="0" anchor="ctr"/>
          <a:lstStyle/>
          <a:p>
            <a:pPr indent="0" marL="0">
              <a:buNone/>
            </a:pPr>
            <a:r>
              <a:rPr lang="en-US" sz="1300" b="1" spc="300" kern="0" dirty="0">
                <a:solidFill>
                  <a:srgbClr val="E0A126"/>
                </a:solidFill>
                <a:latin typeface="Calibri" pitchFamily="34" charset="0"/>
                <a:ea typeface="Calibri" pitchFamily="34" charset="-122"/>
                <a:cs typeface="Calibri" pitchFamily="34" charset="-120"/>
              </a:rPr>
              <a:t>SECTION 5</a:t>
            </a:r>
            <a:endParaRPr lang="en-US" sz="1300" dirty="0"/>
          </a:p>
        </p:txBody>
      </p:sp>
      <p:sp>
        <p:nvSpPr>
          <p:cNvPr id="5" name="Text 3"/>
          <p:cNvSpPr txBox="1"/>
          <p:nvPr/>
        </p:nvSpPr>
        <p:spPr>
          <a:xfrm>
            <a:off x="457200" y="1783080"/>
            <a:ext cx="8229600" cy="1234440"/>
          </a:xfrm>
          <a:prstGeom prst="rect">
            <a:avLst/>
          </a:prstGeom>
          <a:noFill/>
          <a:ln/>
        </p:spPr>
        <p:txBody>
          <a:bodyPr wrap="square" lIns="0" tIns="0" rIns="0" bIns="0" rtlCol="0" anchor="t"/>
          <a:lstStyle/>
          <a:p>
            <a:pPr indent="0" marL="0">
              <a:buNone/>
            </a:pPr>
            <a:r>
              <a:rPr lang="en-US" sz="3600" b="1" dirty="0">
                <a:solidFill>
                  <a:srgbClr val="FFFFFF"/>
                </a:solidFill>
                <a:latin typeface="Cambria" pitchFamily="34" charset="0"/>
                <a:ea typeface="Cambria" pitchFamily="34" charset="-122"/>
                <a:cs typeface="Cambria" pitchFamily="34" charset="-120"/>
              </a:rPr>
              <a:t>Exercise B: red-team the file</a:t>
            </a:r>
            <a:endParaRPr lang="en-US" sz="3600" dirty="0"/>
          </a:p>
        </p:txBody>
      </p:sp>
      <p:sp>
        <p:nvSpPr>
          <p:cNvPr id="6" name="Text 4"/>
          <p:cNvSpPr txBox="1"/>
          <p:nvPr/>
        </p:nvSpPr>
        <p:spPr>
          <a:xfrm>
            <a:off x="457200" y="3108960"/>
            <a:ext cx="7863840" cy="914400"/>
          </a:xfrm>
          <a:prstGeom prst="rect">
            <a:avLst/>
          </a:prstGeom>
          <a:noFill/>
          <a:ln/>
        </p:spPr>
        <p:txBody>
          <a:bodyPr wrap="square" lIns="0" tIns="0" rIns="0" bIns="0" rtlCol="0" anchor="t"/>
          <a:lstStyle/>
          <a:p>
            <a:pPr indent="0" marL="0">
              <a:buNone/>
            </a:pPr>
            <a:r>
              <a:rPr lang="en-US" sz="1600" dirty="0">
                <a:solidFill>
                  <a:srgbClr val="C9D3DE"/>
                </a:solidFill>
                <a:latin typeface="Calibri" pitchFamily="34" charset="0"/>
                <a:ea typeface="Calibri" pitchFamily="34" charset="-122"/>
                <a:cs typeface="Calibri" pitchFamily="34" charset="-120"/>
              </a:rPr>
              <a:t>Fourteen minutes. A real-looking risk file excerpt, and the deficiencies a notified body would raise</a:t>
            </a:r>
            <a:endParaRPr lang="en-US" sz="16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4814316"/>
            <a:ext cx="5943600" cy="201168"/>
          </a:xfrm>
          <a:prstGeom prst="rect">
            <a:avLst/>
          </a:prstGeom>
          <a:noFill/>
          <a:ln/>
        </p:spPr>
        <p:txBody>
          <a:bodyPr wrap="square" lIns="0" tIns="0" rIns="0" bIns="0" rtlCol="0" anchor="ctr"/>
          <a:lstStyle/>
          <a:p>
            <a:pPr indent="0" marL="0">
              <a:buNone/>
            </a:pPr>
            <a:r>
              <a:rPr lang="en-US" sz="900" dirty="0">
                <a:solidFill>
                  <a:srgbClr val="5A6B7B"/>
                </a:solidFill>
                <a:latin typeface="Calibri" pitchFamily="34" charset="0"/>
                <a:ea typeface="Calibri" pitchFamily="34" charset="-122"/>
                <a:cs typeface="Calibri" pitchFamily="34" charset="-120"/>
              </a:rPr>
              <a:t>Risk Management  |  ISO 14971  |  Elder Consulting, LLC</a:t>
            </a:r>
            <a:endParaRPr lang="en-US" sz="900" dirty="0"/>
          </a:p>
        </p:txBody>
      </p:sp>
      <p:sp>
        <p:nvSpPr>
          <p:cNvPr id="3" name="Text 1"/>
          <p:cNvSpPr txBox="1"/>
          <p:nvPr/>
        </p:nvSpPr>
        <p:spPr>
          <a:xfrm>
            <a:off x="8138160" y="4814316"/>
            <a:ext cx="548640" cy="201168"/>
          </a:xfrm>
          <a:prstGeom prst="rect">
            <a:avLst/>
          </a:prstGeom>
          <a:noFill/>
          <a:ln/>
        </p:spPr>
        <p:txBody>
          <a:bodyPr wrap="square" lIns="0" tIns="0" rIns="0" bIns="0" rtlCol="0" anchor="ctr"/>
          <a:lstStyle/>
          <a:p>
            <a:pPr algn="r" indent="0" marL="0">
              <a:buNone/>
            </a:pPr>
            <a:r>
              <a:rPr lang="en-US" sz="900" dirty="0">
                <a:solidFill>
                  <a:srgbClr val="5A6B7B"/>
                </a:solidFill>
                <a:latin typeface="Calibri" pitchFamily="34" charset="0"/>
                <a:ea typeface="Calibri" pitchFamily="34" charset="-122"/>
                <a:cs typeface="Calibri" pitchFamily="34" charset="-120"/>
              </a:rPr>
              <a:t>27</a:t>
            </a:r>
            <a:endParaRPr lang="en-US" sz="900" dirty="0"/>
          </a:p>
        </p:txBody>
      </p:sp>
      <p:sp>
        <p:nvSpPr>
          <p:cNvPr id="4" name="Text 2"/>
          <p:cNvSpPr txBox="1"/>
          <p:nvPr/>
        </p:nvSpPr>
        <p:spPr>
          <a:xfrm>
            <a:off x="457200" y="274320"/>
            <a:ext cx="8229600" cy="219456"/>
          </a:xfrm>
          <a:prstGeom prst="rect">
            <a:avLst/>
          </a:prstGeom>
          <a:noFill/>
          <a:ln/>
        </p:spPr>
        <p:txBody>
          <a:bodyPr wrap="square" lIns="0" tIns="0" rIns="0" bIns="0" rtlCol="0" anchor="ctr"/>
          <a:lstStyle/>
          <a:p>
            <a:pPr indent="0" marL="0">
              <a:buNone/>
            </a:pPr>
            <a:r>
              <a:rPr lang="en-US" sz="1000" b="1" spc="200" kern="0" dirty="0">
                <a:solidFill>
                  <a:srgbClr val="A8730F"/>
                </a:solidFill>
                <a:latin typeface="Calibri" pitchFamily="34" charset="0"/>
                <a:ea typeface="Calibri" pitchFamily="34" charset="-122"/>
                <a:cs typeface="Calibri" pitchFamily="34" charset="-120"/>
              </a:rPr>
              <a:t>EXERCISE B  |  BRIEF</a:t>
            </a:r>
            <a:endParaRPr lang="en-US" sz="1000" dirty="0"/>
          </a:p>
        </p:txBody>
      </p:sp>
      <p:sp>
        <p:nvSpPr>
          <p:cNvPr id="5" name="Text 3"/>
          <p:cNvSpPr txBox="1"/>
          <p:nvPr/>
        </p:nvSpPr>
        <p:spPr>
          <a:xfrm>
            <a:off x="457200" y="502920"/>
            <a:ext cx="8229600" cy="548640"/>
          </a:xfrm>
          <a:prstGeom prst="rect">
            <a:avLst/>
          </a:prstGeom>
          <a:noFill/>
          <a:ln/>
        </p:spPr>
        <p:txBody>
          <a:bodyPr wrap="square" lIns="0" tIns="0" rIns="0" bIns="0" rtlCol="0" anchor="t"/>
          <a:lstStyle/>
          <a:p>
            <a:pPr indent="0" marL="0">
              <a:buNone/>
            </a:pPr>
            <a:r>
              <a:rPr lang="en-US" sz="2400" b="1" dirty="0">
                <a:solidFill>
                  <a:srgbClr val="0F2A4A"/>
                </a:solidFill>
                <a:latin typeface="Cambria" pitchFamily="34" charset="0"/>
                <a:ea typeface="Cambria" pitchFamily="34" charset="-122"/>
                <a:cs typeface="Cambria" pitchFamily="34" charset="-120"/>
              </a:rPr>
              <a:t>Find the deficiencies. Cite the clause or the GSPR</a:t>
            </a:r>
            <a:endParaRPr lang="en-US" sz="2400" dirty="0"/>
          </a:p>
        </p:txBody>
      </p:sp>
      <p:sp>
        <p:nvSpPr>
          <p:cNvPr id="7" name="Shape 4"/>
          <p:cNvSpPr/>
          <p:nvPr/>
        </p:nvSpPr>
        <p:spPr>
          <a:xfrm>
            <a:off x="457200" y="1188720"/>
            <a:ext cx="2621280" cy="1828800"/>
          </a:xfrm>
          <a:prstGeom prst="roundRect">
            <a:avLst>
              <a:gd name="adj" fmla="val 3000"/>
            </a:avLst>
          </a:prstGeom>
          <a:solidFill>
            <a:srgbClr val="EAF0F6"/>
          </a:solidFill>
          <a:ln w="12700">
            <a:solidFill>
              <a:srgbClr val="EAF0F6"/>
            </a:solidFill>
            <a:prstDash val="solid"/>
          </a:ln>
        </p:spPr>
      </p:sp>
      <p:sp>
        <p:nvSpPr>
          <p:cNvPr id="8" name="Shape 5"/>
          <p:cNvSpPr/>
          <p:nvPr/>
        </p:nvSpPr>
        <p:spPr>
          <a:xfrm>
            <a:off x="585216" y="1298448"/>
            <a:ext cx="310896" cy="310896"/>
          </a:xfrm>
          <a:prstGeom prst="ellipse">
            <a:avLst/>
          </a:prstGeom>
          <a:solidFill>
            <a:srgbClr val="0F2A4A"/>
          </a:solidFill>
          <a:ln w="12700">
            <a:solidFill>
              <a:srgbClr val="0F2A4A"/>
            </a:solidFill>
            <a:prstDash val="solid"/>
          </a:ln>
        </p:spPr>
      </p:sp>
      <p:sp>
        <p:nvSpPr>
          <p:cNvPr id="9" name="Text 6"/>
          <p:cNvSpPr txBox="1"/>
          <p:nvPr/>
        </p:nvSpPr>
        <p:spPr>
          <a:xfrm>
            <a:off x="585216" y="1298448"/>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0" name="Text 7"/>
          <p:cNvSpPr txBox="1"/>
          <p:nvPr/>
        </p:nvSpPr>
        <p:spPr>
          <a:xfrm>
            <a:off x="987552" y="1280160"/>
            <a:ext cx="1962912" cy="274320"/>
          </a:xfrm>
          <a:prstGeom prst="rect">
            <a:avLst/>
          </a:prstGeom>
          <a:noFill/>
          <a:ln/>
        </p:spPr>
        <p:txBody>
          <a:bodyPr wrap="square" lIns="0" tIns="0" rIns="0" bIns="0" rtlCol="0" anchor="ctr"/>
          <a:lstStyle/>
          <a:p>
            <a:pPr indent="0" marL="0">
              <a:buNone/>
            </a:pPr>
            <a:r>
              <a:rPr lang="en-US" sz="1250" b="1" dirty="0">
                <a:solidFill>
                  <a:srgbClr val="0F2A4A"/>
                </a:solidFill>
                <a:latin typeface="Calibri" pitchFamily="34" charset="0"/>
                <a:ea typeface="Calibri" pitchFamily="34" charset="-122"/>
                <a:cs typeface="Calibri" pitchFamily="34" charset="-120"/>
              </a:rPr>
              <a:t>Read as a reviewer</a:t>
            </a:r>
            <a:endParaRPr lang="en-US" sz="1250" dirty="0"/>
          </a:p>
        </p:txBody>
      </p:sp>
      <p:sp>
        <p:nvSpPr>
          <p:cNvPr id="11" name="Text 8"/>
          <p:cNvSpPr txBox="1"/>
          <p:nvPr/>
        </p:nvSpPr>
        <p:spPr>
          <a:xfrm>
            <a:off x="585216" y="1591056"/>
            <a:ext cx="2365248" cy="1335024"/>
          </a:xfrm>
          <a:prstGeom prst="rect">
            <a:avLst/>
          </a:prstGeom>
          <a:noFill/>
          <a:ln/>
        </p:spPr>
        <p:txBody>
          <a:bodyPr wrap="square" lIns="0" tIns="0" rIns="0" bIns="0" rtlCol="0" anchor="t"/>
          <a:lstStyle/>
          <a:p>
            <a:pPr indent="0" marL="0">
              <a:buNone/>
            </a:pPr>
            <a:r>
              <a:rPr lang="en-US" sz="1000" dirty="0">
                <a:solidFill>
                  <a:srgbClr val="1F2933"/>
                </a:solidFill>
                <a:latin typeface="Calibri" pitchFamily="34" charset="0"/>
                <a:ea typeface="Calibri" pitchFamily="34" charset="-122"/>
                <a:cs typeface="Calibri" pitchFamily="34" charset="-120"/>
              </a:rPr>
              <a:t>You are the notified body technical reviewer assessing this technical documentation. You have the excerpt and nothing else. What do you ask for?</a:t>
            </a:r>
            <a:endParaRPr lang="en-US" sz="1000" dirty="0"/>
          </a:p>
        </p:txBody>
      </p:sp>
      <p:sp>
        <p:nvSpPr>
          <p:cNvPr id="12" name="Shape 9"/>
          <p:cNvSpPr/>
          <p:nvPr/>
        </p:nvSpPr>
        <p:spPr>
          <a:xfrm>
            <a:off x="3261360" y="1188720"/>
            <a:ext cx="2621280" cy="1828800"/>
          </a:xfrm>
          <a:prstGeom prst="roundRect">
            <a:avLst>
              <a:gd name="adj" fmla="val 3000"/>
            </a:avLst>
          </a:prstGeom>
          <a:solidFill>
            <a:srgbClr val="EAF0F6"/>
          </a:solidFill>
          <a:ln w="12700">
            <a:solidFill>
              <a:srgbClr val="EAF0F6"/>
            </a:solidFill>
            <a:prstDash val="solid"/>
          </a:ln>
        </p:spPr>
      </p:sp>
      <p:sp>
        <p:nvSpPr>
          <p:cNvPr id="13" name="Shape 10"/>
          <p:cNvSpPr/>
          <p:nvPr/>
        </p:nvSpPr>
        <p:spPr>
          <a:xfrm>
            <a:off x="3389376" y="1298448"/>
            <a:ext cx="310896" cy="310896"/>
          </a:xfrm>
          <a:prstGeom prst="ellipse">
            <a:avLst/>
          </a:prstGeom>
          <a:solidFill>
            <a:srgbClr val="0F2A4A"/>
          </a:solidFill>
          <a:ln w="12700">
            <a:solidFill>
              <a:srgbClr val="0F2A4A"/>
            </a:solidFill>
            <a:prstDash val="solid"/>
          </a:ln>
        </p:spPr>
      </p:sp>
      <p:sp>
        <p:nvSpPr>
          <p:cNvPr id="14" name="Text 11"/>
          <p:cNvSpPr txBox="1"/>
          <p:nvPr/>
        </p:nvSpPr>
        <p:spPr>
          <a:xfrm>
            <a:off x="3389376" y="1298448"/>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5" name="Text 12"/>
          <p:cNvSpPr txBox="1"/>
          <p:nvPr/>
        </p:nvSpPr>
        <p:spPr>
          <a:xfrm>
            <a:off x="3791712" y="1280160"/>
            <a:ext cx="1962912" cy="274320"/>
          </a:xfrm>
          <a:prstGeom prst="rect">
            <a:avLst/>
          </a:prstGeom>
          <a:noFill/>
          <a:ln/>
        </p:spPr>
        <p:txBody>
          <a:bodyPr wrap="square" lIns="0" tIns="0" rIns="0" bIns="0" rtlCol="0" anchor="ctr"/>
          <a:lstStyle/>
          <a:p>
            <a:pPr indent="0" marL="0">
              <a:buNone/>
            </a:pPr>
            <a:r>
              <a:rPr lang="en-US" sz="1250" b="1" dirty="0">
                <a:solidFill>
                  <a:srgbClr val="0F2A4A"/>
                </a:solidFill>
                <a:latin typeface="Calibri" pitchFamily="34" charset="0"/>
                <a:ea typeface="Calibri" pitchFamily="34" charset="-122"/>
                <a:cs typeface="Calibri" pitchFamily="34" charset="-120"/>
              </a:rPr>
              <a:t>Write the findings</a:t>
            </a:r>
            <a:endParaRPr lang="en-US" sz="1250" dirty="0"/>
          </a:p>
        </p:txBody>
      </p:sp>
      <p:sp>
        <p:nvSpPr>
          <p:cNvPr id="16" name="Text 13"/>
          <p:cNvSpPr txBox="1"/>
          <p:nvPr/>
        </p:nvSpPr>
        <p:spPr>
          <a:xfrm>
            <a:off x="3389376" y="1591056"/>
            <a:ext cx="2365248" cy="1335024"/>
          </a:xfrm>
          <a:prstGeom prst="rect">
            <a:avLst/>
          </a:prstGeom>
          <a:noFill/>
          <a:ln/>
        </p:spPr>
        <p:txBody>
          <a:bodyPr wrap="square" lIns="0" tIns="0" rIns="0" bIns="0" rtlCol="0" anchor="t"/>
          <a:lstStyle/>
          <a:p>
            <a:pPr indent="0" marL="0">
              <a:buNone/>
            </a:pPr>
            <a:r>
              <a:rPr lang="en-US" sz="1000" dirty="0">
                <a:solidFill>
                  <a:srgbClr val="1F2933"/>
                </a:solidFill>
                <a:latin typeface="Calibri" pitchFamily="34" charset="0"/>
                <a:ea typeface="Calibri" pitchFamily="34" charset="-122"/>
                <a:cs typeface="Calibri" pitchFamily="34" charset="-120"/>
              </a:rPr>
              <a:t>One line each. Cite either the ISO 14971 clause or the MDR Annex I point. At least six are defensible.</a:t>
            </a:r>
            <a:endParaRPr lang="en-US" sz="1000" dirty="0"/>
          </a:p>
        </p:txBody>
      </p:sp>
      <p:sp>
        <p:nvSpPr>
          <p:cNvPr id="17" name="Shape 14"/>
          <p:cNvSpPr/>
          <p:nvPr/>
        </p:nvSpPr>
        <p:spPr>
          <a:xfrm>
            <a:off x="6065520" y="1188720"/>
            <a:ext cx="2621280" cy="1828800"/>
          </a:xfrm>
          <a:prstGeom prst="roundRect">
            <a:avLst>
              <a:gd name="adj" fmla="val 3000"/>
            </a:avLst>
          </a:prstGeom>
          <a:solidFill>
            <a:srgbClr val="EAF0F6"/>
          </a:solidFill>
          <a:ln w="12700">
            <a:solidFill>
              <a:srgbClr val="EAF0F6"/>
            </a:solidFill>
            <a:prstDash val="solid"/>
          </a:ln>
        </p:spPr>
      </p:sp>
      <p:sp>
        <p:nvSpPr>
          <p:cNvPr id="18" name="Shape 15"/>
          <p:cNvSpPr/>
          <p:nvPr/>
        </p:nvSpPr>
        <p:spPr>
          <a:xfrm>
            <a:off x="6193536" y="1298448"/>
            <a:ext cx="310896" cy="310896"/>
          </a:xfrm>
          <a:prstGeom prst="ellipse">
            <a:avLst/>
          </a:prstGeom>
          <a:solidFill>
            <a:srgbClr val="0F2A4A"/>
          </a:solidFill>
          <a:ln w="12700">
            <a:solidFill>
              <a:srgbClr val="0F2A4A"/>
            </a:solidFill>
            <a:prstDash val="solid"/>
          </a:ln>
        </p:spPr>
      </p:sp>
      <p:sp>
        <p:nvSpPr>
          <p:cNvPr id="19" name="Text 16"/>
          <p:cNvSpPr txBox="1"/>
          <p:nvPr/>
        </p:nvSpPr>
        <p:spPr>
          <a:xfrm>
            <a:off x="6193536" y="1298448"/>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20" name="Text 17"/>
          <p:cNvSpPr txBox="1"/>
          <p:nvPr/>
        </p:nvSpPr>
        <p:spPr>
          <a:xfrm>
            <a:off x="6595872" y="1280160"/>
            <a:ext cx="1962912" cy="274320"/>
          </a:xfrm>
          <a:prstGeom prst="rect">
            <a:avLst/>
          </a:prstGeom>
          <a:noFill/>
          <a:ln/>
        </p:spPr>
        <p:txBody>
          <a:bodyPr wrap="square" lIns="0" tIns="0" rIns="0" bIns="0" rtlCol="0" anchor="ctr"/>
          <a:lstStyle/>
          <a:p>
            <a:pPr indent="0" marL="0">
              <a:buNone/>
            </a:pPr>
            <a:r>
              <a:rPr lang="en-US" sz="1250" b="1" dirty="0">
                <a:solidFill>
                  <a:srgbClr val="0F2A4A"/>
                </a:solidFill>
                <a:latin typeface="Calibri" pitchFamily="34" charset="0"/>
                <a:ea typeface="Calibri" pitchFamily="34" charset="-122"/>
                <a:cs typeface="Calibri" pitchFamily="34" charset="-120"/>
              </a:rPr>
              <a:t>Rank them</a:t>
            </a:r>
            <a:endParaRPr lang="en-US" sz="1250" dirty="0"/>
          </a:p>
        </p:txBody>
      </p:sp>
      <p:sp>
        <p:nvSpPr>
          <p:cNvPr id="21" name="Text 18"/>
          <p:cNvSpPr txBox="1"/>
          <p:nvPr/>
        </p:nvSpPr>
        <p:spPr>
          <a:xfrm>
            <a:off x="6193536" y="1591056"/>
            <a:ext cx="2365248" cy="1335024"/>
          </a:xfrm>
          <a:prstGeom prst="rect">
            <a:avLst/>
          </a:prstGeom>
          <a:noFill/>
          <a:ln/>
        </p:spPr>
        <p:txBody>
          <a:bodyPr wrap="square" lIns="0" tIns="0" rIns="0" bIns="0" rtlCol="0" anchor="t"/>
          <a:lstStyle/>
          <a:p>
            <a:pPr indent="0" marL="0">
              <a:buNone/>
            </a:pPr>
            <a:r>
              <a:rPr lang="en-US" sz="1000" dirty="0">
                <a:solidFill>
                  <a:srgbClr val="1F2933"/>
                </a:solidFill>
                <a:latin typeface="Calibri" pitchFamily="34" charset="0"/>
                <a:ea typeface="Calibri" pitchFamily="34" charset="-122"/>
                <a:cs typeface="Calibri" pitchFamily="34" charset="-120"/>
              </a:rPr>
              <a:t>Which one would you make a major nonconformity, and why? Be ready to defend the ranking.</a:t>
            </a:r>
            <a:endParaRPr lang="en-US" sz="10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457200" y="3246120"/>
          <a:ext cx="8229600" cy="914400"/>
        </p:xfrm>
        <a:graphic>
          <a:graphicData uri="http://schemas.openxmlformats.org/drawingml/2006/table">
            <a:tbl>
              <a:tblPr/>
              <a:tblGrid>
                <a:gridCol w="1371600"/>
                <a:gridCol w="6858000"/>
              </a:tblGrid>
              <a:tr h="292608">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Timing</a:t>
                      </a:r>
                      <a:endParaRPr lang="en-US" sz="1050" dirty="0">
                        <a:latin typeface="Calibri" charset="0"/>
                        <a:ea typeface="Calibri" charset="0"/>
                        <a:cs typeface="Calibri" charset="0"/>
                      </a:endParaRPr>
                    </a:p>
                  </a:txBody>
                  <a:tcPr marL="54864" marR="54864" marT="54864" marB="54864" anchor="ctr">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0F2A4A"/>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Who</a:t>
                      </a:r>
                      <a:endParaRPr lang="en-US" sz="1050" dirty="0">
                        <a:latin typeface="Calibri" charset="0"/>
                        <a:ea typeface="Calibri" charset="0"/>
                        <a:cs typeface="Calibri" charset="0"/>
                      </a:endParaRPr>
                    </a:p>
                  </a:txBody>
                  <a:tcPr marL="54864" marR="54864" marT="54864" marB="54864" anchor="ctr">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0F2A4A"/>
                    </a:solidFill>
                  </a:tcPr>
                </a:tc>
              </a:tr>
              <a:tr h="292608">
                <a:tc>
                  <a:txBody>
                    <a:bodyPr/>
                    <a:lstStyle/>
                    <a:p>
                      <a:pPr indent="0" marL="0">
                        <a:buNone/>
                      </a:pPr>
                      <a:r>
                        <a:rPr lang="en-US" sz="1050" b="1" dirty="0">
                          <a:solidFill>
                            <a:srgbClr val="1F2933"/>
                          </a:solidFill>
                          <a:latin typeface="Calibri" pitchFamily="34" charset="0"/>
                          <a:ea typeface="Calibri" pitchFamily="34" charset="-122"/>
                          <a:cs typeface="Calibri" pitchFamily="34" charset="-120"/>
                        </a:rPr>
                        <a:t>9 minutes</a:t>
                      </a:r>
                      <a:endParaRPr lang="en-US" sz="10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1050" dirty="0">
                          <a:solidFill>
                            <a:srgbClr val="1F2933"/>
                          </a:solidFill>
                          <a:latin typeface="Calibri" pitchFamily="34" charset="0"/>
                          <a:ea typeface="Calibri" pitchFamily="34" charset="-122"/>
                          <a:cs typeface="Calibri" pitchFamily="34" charset="-120"/>
                        </a:rPr>
                        <a:t>Same groups. Exercise pack page 4, findings grid on page 5</a:t>
                      </a:r>
                      <a:endParaRPr lang="en-US" sz="10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r>
              <a:tr h="292608">
                <a:tc>
                  <a:txBody>
                    <a:bodyPr/>
                    <a:lstStyle/>
                    <a:p>
                      <a:pPr indent="0" marL="0">
                        <a:buNone/>
                      </a:pPr>
                      <a:r>
                        <a:rPr lang="en-US" sz="1050" b="1" dirty="0">
                          <a:solidFill>
                            <a:srgbClr val="1F2933"/>
                          </a:solidFill>
                          <a:latin typeface="Calibri" pitchFamily="34" charset="0"/>
                          <a:ea typeface="Calibri" pitchFamily="34" charset="-122"/>
                          <a:cs typeface="Calibri" pitchFamily="34" charset="-120"/>
                        </a:rPr>
                        <a:t>5 minutes</a:t>
                      </a:r>
                      <a:endParaRPr lang="en-US" sz="10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c>
                  <a:txBody>
                    <a:bodyPr/>
                    <a:lstStyle/>
                    <a:p>
                      <a:pPr indent="0" marL="0">
                        <a:buNone/>
                      </a:pPr>
                      <a:r>
                        <a:rPr lang="en-US" sz="1050" dirty="0">
                          <a:solidFill>
                            <a:srgbClr val="1F2933"/>
                          </a:solidFill>
                          <a:latin typeface="Calibri" pitchFamily="34" charset="0"/>
                          <a:ea typeface="Calibri" pitchFamily="34" charset="-122"/>
                          <a:cs typeface="Calibri" pitchFamily="34" charset="-120"/>
                        </a:rPr>
                        <a:t>Round the room: one finding per table, no repeats</a:t>
                      </a:r>
                      <a:endParaRPr lang="en-US" sz="10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r>
            </a:tbl>
          </a:graphicData>
        </a:graphic>
      </p:graphicFrame>
      <p:sp>
        <p:nvSpPr>
          <p:cNvPr id="23" name="Shape 19"/>
          <p:cNvSpPr/>
          <p:nvPr/>
        </p:nvSpPr>
        <p:spPr>
          <a:xfrm>
            <a:off x="457200" y="4160520"/>
            <a:ext cx="8229600" cy="384048"/>
          </a:xfrm>
          <a:prstGeom prst="roundRect">
            <a:avLst>
              <a:gd name="adj" fmla="val 14286"/>
            </a:avLst>
          </a:prstGeom>
          <a:solidFill>
            <a:srgbClr val="FBF2DE"/>
          </a:solidFill>
          <a:ln w="12700">
            <a:solidFill>
              <a:srgbClr val="FBF2DE"/>
            </a:solidFill>
            <a:prstDash val="solid"/>
          </a:ln>
        </p:spPr>
      </p:sp>
      <p:sp>
        <p:nvSpPr>
          <p:cNvPr id="24" name="Text 20"/>
          <p:cNvSpPr txBox="1"/>
          <p:nvPr/>
        </p:nvSpPr>
        <p:spPr>
          <a:xfrm>
            <a:off x="640080" y="4160520"/>
            <a:ext cx="7863840" cy="384048"/>
          </a:xfrm>
          <a:prstGeom prst="rect">
            <a:avLst/>
          </a:prstGeom>
          <a:noFill/>
          <a:ln/>
        </p:spPr>
        <p:txBody>
          <a:bodyPr wrap="square" lIns="0" tIns="0" rIns="0" bIns="0" rtlCol="0" anchor="ctr"/>
          <a:lstStyle/>
          <a:p>
            <a:pPr indent="0" marL="0">
              <a:buNone/>
            </a:pPr>
            <a:r>
              <a:rPr lang="en-US" sz="1100" dirty="0">
                <a:solidFill>
                  <a:srgbClr val="0F2A4A"/>
                </a:solidFill>
                <a:latin typeface="Calibri" pitchFamily="34" charset="0"/>
                <a:ea typeface="Calibri" pitchFamily="34" charset="-122"/>
                <a:cs typeface="Calibri" pitchFamily="34" charset="-120"/>
              </a:rPr>
              <a:t>Hint, if the room stalls: read the residual risk numbers next to the control category.</a:t>
            </a:r>
            <a:endParaRPr lang="en-US" sz="11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4814316"/>
            <a:ext cx="5943600" cy="201168"/>
          </a:xfrm>
          <a:prstGeom prst="rect">
            <a:avLst/>
          </a:prstGeom>
          <a:noFill/>
          <a:ln/>
        </p:spPr>
        <p:txBody>
          <a:bodyPr wrap="square" lIns="0" tIns="0" rIns="0" bIns="0" rtlCol="0" anchor="ctr"/>
          <a:lstStyle/>
          <a:p>
            <a:pPr indent="0" marL="0">
              <a:buNone/>
            </a:pPr>
            <a:r>
              <a:rPr lang="en-US" sz="900" dirty="0">
                <a:solidFill>
                  <a:srgbClr val="5A6B7B"/>
                </a:solidFill>
                <a:latin typeface="Calibri" pitchFamily="34" charset="0"/>
                <a:ea typeface="Calibri" pitchFamily="34" charset="-122"/>
                <a:cs typeface="Calibri" pitchFamily="34" charset="-120"/>
              </a:rPr>
              <a:t>Risk Management  |  ISO 14971  |  Elder Consulting, LLC</a:t>
            </a:r>
            <a:endParaRPr lang="en-US" sz="900" dirty="0"/>
          </a:p>
        </p:txBody>
      </p:sp>
      <p:sp>
        <p:nvSpPr>
          <p:cNvPr id="3" name="Text 1"/>
          <p:cNvSpPr txBox="1"/>
          <p:nvPr/>
        </p:nvSpPr>
        <p:spPr>
          <a:xfrm>
            <a:off x="8138160" y="4814316"/>
            <a:ext cx="548640" cy="201168"/>
          </a:xfrm>
          <a:prstGeom prst="rect">
            <a:avLst/>
          </a:prstGeom>
          <a:noFill/>
          <a:ln/>
        </p:spPr>
        <p:txBody>
          <a:bodyPr wrap="square" lIns="0" tIns="0" rIns="0" bIns="0" rtlCol="0" anchor="ctr"/>
          <a:lstStyle/>
          <a:p>
            <a:pPr algn="r" indent="0" marL="0">
              <a:buNone/>
            </a:pPr>
            <a:r>
              <a:rPr lang="en-US" sz="900" dirty="0">
                <a:solidFill>
                  <a:srgbClr val="5A6B7B"/>
                </a:solidFill>
                <a:latin typeface="Calibri" pitchFamily="34" charset="0"/>
                <a:ea typeface="Calibri" pitchFamily="34" charset="-122"/>
                <a:cs typeface="Calibri" pitchFamily="34" charset="-120"/>
              </a:rPr>
              <a:t>28</a:t>
            </a:r>
            <a:endParaRPr lang="en-US" sz="900" dirty="0"/>
          </a:p>
        </p:txBody>
      </p:sp>
      <p:sp>
        <p:nvSpPr>
          <p:cNvPr id="4" name="Text 2"/>
          <p:cNvSpPr txBox="1"/>
          <p:nvPr/>
        </p:nvSpPr>
        <p:spPr>
          <a:xfrm>
            <a:off x="457200" y="274320"/>
            <a:ext cx="8229600" cy="219456"/>
          </a:xfrm>
          <a:prstGeom prst="rect">
            <a:avLst/>
          </a:prstGeom>
          <a:noFill/>
          <a:ln/>
        </p:spPr>
        <p:txBody>
          <a:bodyPr wrap="square" lIns="0" tIns="0" rIns="0" bIns="0" rtlCol="0" anchor="ctr"/>
          <a:lstStyle/>
          <a:p>
            <a:pPr indent="0" marL="0">
              <a:buNone/>
            </a:pPr>
            <a:r>
              <a:rPr lang="en-US" sz="1000" b="1" spc="200" kern="0" dirty="0">
                <a:solidFill>
                  <a:srgbClr val="A8730F"/>
                </a:solidFill>
                <a:latin typeface="Calibri" pitchFamily="34" charset="0"/>
                <a:ea typeface="Calibri" pitchFamily="34" charset="-122"/>
                <a:cs typeface="Calibri" pitchFamily="34" charset="-120"/>
              </a:rPr>
              <a:t>EXERCISE B  |  THE EXCERPT</a:t>
            </a:r>
            <a:endParaRPr lang="en-US" sz="1000" dirty="0"/>
          </a:p>
        </p:txBody>
      </p:sp>
      <p:sp>
        <p:nvSpPr>
          <p:cNvPr id="5" name="Text 3"/>
          <p:cNvSpPr txBox="1"/>
          <p:nvPr/>
        </p:nvSpPr>
        <p:spPr>
          <a:xfrm>
            <a:off x="457200" y="502920"/>
            <a:ext cx="8229600" cy="548640"/>
          </a:xfrm>
          <a:prstGeom prst="rect">
            <a:avLst/>
          </a:prstGeom>
          <a:noFill/>
          <a:ln/>
        </p:spPr>
        <p:txBody>
          <a:bodyPr wrap="square" lIns="0" tIns="0" rIns="0" bIns="0" rtlCol="0" anchor="t"/>
          <a:lstStyle/>
          <a:p>
            <a:pPr indent="0" marL="0">
              <a:buNone/>
            </a:pPr>
            <a:r>
              <a:rPr lang="en-US" sz="2400" b="1" dirty="0">
                <a:solidFill>
                  <a:srgbClr val="0F2A4A"/>
                </a:solidFill>
                <a:latin typeface="Cambria" pitchFamily="34" charset="0"/>
                <a:ea typeface="Cambria" pitchFamily="34" charset="-122"/>
                <a:cs typeface="Cambria" pitchFamily="34" charset="-120"/>
              </a:rPr>
              <a:t>Risk file extract, rows HZ-16 and HZ-11</a:t>
            </a:r>
            <a:endParaRPr lang="en-US" sz="240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457200" y="1060704"/>
          <a:ext cx="8229600" cy="914400"/>
        </p:xfrm>
        <a:graphic>
          <a:graphicData uri="http://schemas.openxmlformats.org/drawingml/2006/table">
            <a:tbl>
              <a:tblPr/>
              <a:tblGrid>
                <a:gridCol w="1920240"/>
                <a:gridCol w="2971800"/>
                <a:gridCol w="3337560"/>
              </a:tblGrid>
              <a:tr h="201168">
                <a:tc>
                  <a:txBody>
                    <a:bodyPr/>
                    <a:lstStyle/>
                    <a:p>
                      <a:pPr indent="0" marL="0">
                        <a:buNone/>
                      </a:pPr>
                      <a:r>
                        <a:rPr lang="en-US" sz="700" b="1" dirty="0">
                          <a:solidFill>
                            <a:srgbClr val="FFFFFF"/>
                          </a:solidFill>
                          <a:latin typeface="Calibri" pitchFamily="34" charset="0"/>
                          <a:ea typeface="Calibri" pitchFamily="34" charset="-122"/>
                          <a:cs typeface="Calibri" pitchFamily="34" charset="-120"/>
                        </a:rPr>
                        <a:t>Field</a:t>
                      </a:r>
                      <a:endParaRPr lang="en-US" sz="700" dirty="0">
                        <a:latin typeface="Calibri" charset="0"/>
                        <a:ea typeface="Calibri" charset="0"/>
                        <a:cs typeface="Calibri" charset="0"/>
                      </a:endParaRPr>
                    </a:p>
                  </a:txBody>
                  <a:tcPr marL="54864" marR="54864" marT="54864" marB="54864" anchor="ctr">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0F2A4A"/>
                    </a:solidFill>
                  </a:tcPr>
                </a:tc>
                <a:tc>
                  <a:txBody>
                    <a:bodyPr/>
                    <a:lstStyle/>
                    <a:p>
                      <a:pPr indent="0" marL="0">
                        <a:buNone/>
                      </a:pPr>
                      <a:r>
                        <a:rPr lang="en-US" sz="700" b="1" dirty="0">
                          <a:solidFill>
                            <a:srgbClr val="FFFFFF"/>
                          </a:solidFill>
                          <a:latin typeface="Calibri" pitchFamily="34" charset="0"/>
                          <a:ea typeface="Calibri" pitchFamily="34" charset="-122"/>
                          <a:cs typeface="Calibri" pitchFamily="34" charset="-120"/>
                        </a:rPr>
                        <a:t>HZ-16</a:t>
                      </a:r>
                      <a:endParaRPr lang="en-US" sz="700" dirty="0">
                        <a:latin typeface="Calibri" charset="0"/>
                        <a:ea typeface="Calibri" charset="0"/>
                        <a:cs typeface="Calibri" charset="0"/>
                      </a:endParaRPr>
                    </a:p>
                  </a:txBody>
                  <a:tcPr marL="54864" marR="54864" marT="54864" marB="54864" anchor="ctr">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0F2A4A"/>
                    </a:solidFill>
                  </a:tcPr>
                </a:tc>
                <a:tc>
                  <a:txBody>
                    <a:bodyPr/>
                    <a:lstStyle/>
                    <a:p>
                      <a:pPr indent="0" marL="0">
                        <a:buNone/>
                      </a:pPr>
                      <a:r>
                        <a:rPr lang="en-US" sz="700" b="1" dirty="0">
                          <a:solidFill>
                            <a:srgbClr val="FFFFFF"/>
                          </a:solidFill>
                          <a:latin typeface="Calibri" pitchFamily="34" charset="0"/>
                          <a:ea typeface="Calibri" pitchFamily="34" charset="-122"/>
                          <a:cs typeface="Calibri" pitchFamily="34" charset="-120"/>
                        </a:rPr>
                        <a:t>HZ-11</a:t>
                      </a:r>
                      <a:endParaRPr lang="en-US" sz="700" dirty="0">
                        <a:latin typeface="Calibri" charset="0"/>
                        <a:ea typeface="Calibri" charset="0"/>
                        <a:cs typeface="Calibri" charset="0"/>
                      </a:endParaRPr>
                    </a:p>
                  </a:txBody>
                  <a:tcPr marL="54864" marR="54864" marT="54864" marB="54864" anchor="ctr">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0F2A4A"/>
                    </a:solidFill>
                  </a:tcPr>
                </a:tc>
              </a:tr>
              <a:tr h="201168">
                <a:tc>
                  <a:txBody>
                    <a:bodyPr/>
                    <a:lstStyle/>
                    <a:p>
                      <a:pPr indent="0" marL="0">
                        <a:buNone/>
                      </a:pPr>
                      <a:r>
                        <a:rPr lang="en-US" sz="700" b="1" dirty="0">
                          <a:solidFill>
                            <a:srgbClr val="1F2933"/>
                          </a:solidFill>
                          <a:latin typeface="Calibri" pitchFamily="34" charset="0"/>
                          <a:ea typeface="Calibri" pitchFamily="34" charset="-122"/>
                          <a:cs typeface="Calibri" pitchFamily="34" charset="-120"/>
                        </a:rPr>
                        <a:t>Hazardous situation</a:t>
                      </a:r>
                      <a:endParaRPr lang="en-US" sz="7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700" dirty="0">
                          <a:solidFill>
                            <a:srgbClr val="1F2933"/>
                          </a:solidFill>
                          <a:latin typeface="Calibri" pitchFamily="34" charset="0"/>
                          <a:ea typeface="Calibri" pitchFamily="34" charset="-122"/>
                          <a:cs typeface="Calibri" pitchFamily="34" charset="-120"/>
                        </a:rPr>
                        <a:t>Alarm silenced.</a:t>
                      </a:r>
                      <a:endParaRPr lang="en-US" sz="7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700" dirty="0">
                          <a:solidFill>
                            <a:srgbClr val="1F2933"/>
                          </a:solidFill>
                          <a:latin typeface="Calibri" pitchFamily="34" charset="0"/>
                          <a:ea typeface="Calibri" pitchFamily="34" charset="-122"/>
                          <a:cs typeface="Calibri" pitchFamily="34" charset="-120"/>
                        </a:rPr>
                        <a:t>Residue and microbial load transferred between patients</a:t>
                      </a:r>
                      <a:endParaRPr lang="en-US" sz="7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r>
              <a:tr h="201168">
                <a:tc>
                  <a:txBody>
                    <a:bodyPr/>
                    <a:lstStyle/>
                    <a:p>
                      <a:pPr indent="0" marL="0">
                        <a:buNone/>
                      </a:pPr>
                      <a:r>
                        <a:rPr lang="en-US" sz="700" b="1" dirty="0">
                          <a:solidFill>
                            <a:srgbClr val="1F2933"/>
                          </a:solidFill>
                          <a:latin typeface="Calibri" pitchFamily="34" charset="0"/>
                          <a:ea typeface="Calibri" pitchFamily="34" charset="-122"/>
                          <a:cs typeface="Calibri" pitchFamily="34" charset="-120"/>
                        </a:rPr>
                        <a:t>Harm</a:t>
                      </a:r>
                      <a:endParaRPr lang="en-US" sz="7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c>
                  <a:txBody>
                    <a:bodyPr/>
                    <a:lstStyle/>
                    <a:p>
                      <a:pPr indent="0" marL="0">
                        <a:buNone/>
                      </a:pPr>
                      <a:r>
                        <a:rPr lang="en-US" sz="700" dirty="0">
                          <a:solidFill>
                            <a:srgbClr val="1F2933"/>
                          </a:solidFill>
                          <a:latin typeface="Calibri" pitchFamily="34" charset="0"/>
                          <a:ea typeface="Calibri" pitchFamily="34" charset="-122"/>
                          <a:cs typeface="Calibri" pitchFamily="34" charset="-120"/>
                        </a:rPr>
                        <a:t>Delay of therapy.</a:t>
                      </a:r>
                      <a:endParaRPr lang="en-US" sz="7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c>
                  <a:txBody>
                    <a:bodyPr/>
                    <a:lstStyle/>
                    <a:p>
                      <a:pPr indent="0" marL="0">
                        <a:buNone/>
                      </a:pPr>
                      <a:r>
                        <a:rPr lang="en-US" sz="700" dirty="0">
                          <a:solidFill>
                            <a:srgbClr val="1F2933"/>
                          </a:solidFill>
                          <a:latin typeface="Calibri" pitchFamily="34" charset="0"/>
                          <a:ea typeface="Calibri" pitchFamily="34" charset="-122"/>
                          <a:cs typeface="Calibri" pitchFamily="34" charset="-120"/>
                        </a:rPr>
                        <a:t>Cross-infection</a:t>
                      </a:r>
                      <a:endParaRPr lang="en-US" sz="7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r>
              <a:tr h="201168">
                <a:tc>
                  <a:txBody>
                    <a:bodyPr/>
                    <a:lstStyle/>
                    <a:p>
                      <a:pPr indent="0" marL="0">
                        <a:buNone/>
                      </a:pPr>
                      <a:r>
                        <a:rPr lang="en-US" sz="700" b="1" dirty="0">
                          <a:solidFill>
                            <a:srgbClr val="1F2933"/>
                          </a:solidFill>
                          <a:latin typeface="Calibri" pitchFamily="34" charset="0"/>
                          <a:ea typeface="Calibri" pitchFamily="34" charset="-122"/>
                          <a:cs typeface="Calibri" pitchFamily="34" charset="-120"/>
                        </a:rPr>
                        <a:t>GSPR link</a:t>
                      </a:r>
                      <a:endParaRPr lang="en-US" sz="7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700" dirty="0">
                          <a:solidFill>
                            <a:srgbClr val="1F2933"/>
                          </a:solidFill>
                          <a:latin typeface="Calibri" pitchFamily="34" charset="0"/>
                          <a:ea typeface="Calibri" pitchFamily="34" charset="-122"/>
                          <a:cs typeface="Calibri" pitchFamily="34" charset="-120"/>
                        </a:rPr>
                        <a:t>1</a:t>
                      </a:r>
                      <a:endParaRPr lang="en-US" sz="7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700" dirty="0">
                          <a:solidFill>
                            <a:srgbClr val="1F2933"/>
                          </a:solidFill>
                          <a:latin typeface="Calibri" pitchFamily="34" charset="0"/>
                          <a:ea typeface="Calibri" pitchFamily="34" charset="-122"/>
                          <a:cs typeface="Calibri" pitchFamily="34" charset="-120"/>
                        </a:rPr>
                        <a:t>1, 11.1, 11.2</a:t>
                      </a:r>
                      <a:endParaRPr lang="en-US" sz="7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r>
              <a:tr h="201168">
                <a:tc>
                  <a:txBody>
                    <a:bodyPr/>
                    <a:lstStyle/>
                    <a:p>
                      <a:pPr indent="0" marL="0">
                        <a:buNone/>
                      </a:pPr>
                      <a:r>
                        <a:rPr lang="en-US" sz="700" b="1" dirty="0">
                          <a:solidFill>
                            <a:srgbClr val="1F2933"/>
                          </a:solidFill>
                          <a:latin typeface="Calibri" pitchFamily="34" charset="0"/>
                          <a:ea typeface="Calibri" pitchFamily="34" charset="-122"/>
                          <a:cs typeface="Calibri" pitchFamily="34" charset="-120"/>
                        </a:rPr>
                        <a:t>Initial P1 / P2 / S</a:t>
                      </a:r>
                      <a:endParaRPr lang="en-US" sz="7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c>
                  <a:txBody>
                    <a:bodyPr/>
                    <a:lstStyle/>
                    <a:p>
                      <a:pPr indent="0" marL="0">
                        <a:buNone/>
                      </a:pPr>
                      <a:r>
                        <a:rPr lang="en-US" sz="700" dirty="0">
                          <a:solidFill>
                            <a:srgbClr val="1F2933"/>
                          </a:solidFill>
                          <a:latin typeface="Calibri" pitchFamily="34" charset="0"/>
                          <a:ea typeface="Calibri" pitchFamily="34" charset="-122"/>
                          <a:cs typeface="Calibri" pitchFamily="34" charset="-120"/>
                        </a:rPr>
                        <a:t>5  /  5  /  4</a:t>
                      </a:r>
                      <a:endParaRPr lang="en-US" sz="7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c>
                  <a:txBody>
                    <a:bodyPr/>
                    <a:lstStyle/>
                    <a:p>
                      <a:pPr indent="0" marL="0">
                        <a:buNone/>
                      </a:pPr>
                      <a:r>
                        <a:rPr lang="en-US" sz="700" dirty="0">
                          <a:solidFill>
                            <a:srgbClr val="1F2933"/>
                          </a:solidFill>
                          <a:latin typeface="Calibri" pitchFamily="34" charset="0"/>
                          <a:ea typeface="Calibri" pitchFamily="34" charset="-122"/>
                          <a:cs typeface="Calibri" pitchFamily="34" charset="-120"/>
                        </a:rPr>
                        <a:t>3  /  2  /  3</a:t>
                      </a:r>
                      <a:endParaRPr lang="en-US" sz="7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r>
              <a:tr h="201168">
                <a:tc>
                  <a:txBody>
                    <a:bodyPr/>
                    <a:lstStyle/>
                    <a:p>
                      <a:pPr indent="0" marL="0">
                        <a:buNone/>
                      </a:pPr>
                      <a:r>
                        <a:rPr lang="en-US" sz="700" b="1" dirty="0">
                          <a:solidFill>
                            <a:srgbClr val="1F2933"/>
                          </a:solidFill>
                          <a:latin typeface="Calibri" pitchFamily="34" charset="0"/>
                          <a:ea typeface="Calibri" pitchFamily="34" charset="-122"/>
                          <a:cs typeface="Calibri" pitchFamily="34" charset="-120"/>
                        </a:rPr>
                        <a:t>Basis for the estimate</a:t>
                      </a:r>
                      <a:endParaRPr lang="en-US" sz="7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700" dirty="0">
                          <a:solidFill>
                            <a:srgbClr val="1F2933"/>
                          </a:solidFill>
                          <a:latin typeface="Calibri" pitchFamily="34" charset="0"/>
                          <a:ea typeface="Calibri" pitchFamily="34" charset="-122"/>
                          <a:cs typeface="Calibri" pitchFamily="34" charset="-120"/>
                        </a:rPr>
                        <a:t>Engineering judgement.</a:t>
                      </a:r>
                      <a:endParaRPr lang="en-US" sz="7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700" dirty="0">
                          <a:solidFill>
                            <a:srgbClr val="1F2933"/>
                          </a:solidFill>
                          <a:latin typeface="Calibri" pitchFamily="34" charset="0"/>
                          <a:ea typeface="Calibri" pitchFamily="34" charset="-122"/>
                          <a:cs typeface="Calibri" pitchFamily="34" charset="-120"/>
                        </a:rPr>
                        <a:t>Cleaning validation CV-03; material compatibility MC-11 over 200 cycles</a:t>
                      </a:r>
                      <a:endParaRPr lang="en-US" sz="7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r>
              <a:tr h="201168">
                <a:tc>
                  <a:txBody>
                    <a:bodyPr/>
                    <a:lstStyle/>
                    <a:p>
                      <a:pPr indent="0" marL="0">
                        <a:buNone/>
                      </a:pPr>
                      <a:r>
                        <a:rPr lang="en-US" sz="700" b="1" dirty="0">
                          <a:solidFill>
                            <a:srgbClr val="1F2933"/>
                          </a:solidFill>
                          <a:latin typeface="Calibri" pitchFamily="34" charset="0"/>
                          <a:ea typeface="Calibri" pitchFamily="34" charset="-122"/>
                          <a:cs typeface="Calibri" pitchFamily="34" charset="-120"/>
                        </a:rPr>
                        <a:t>Initial risk</a:t>
                      </a:r>
                      <a:endParaRPr lang="en-US" sz="7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c>
                  <a:txBody>
                    <a:bodyPr/>
                    <a:lstStyle/>
                    <a:p>
                      <a:pPr indent="0" marL="0">
                        <a:buNone/>
                      </a:pPr>
                      <a:r>
                        <a:rPr lang="en-US" sz="700" dirty="0">
                          <a:solidFill>
                            <a:srgbClr val="1F2933"/>
                          </a:solidFill>
                          <a:latin typeface="Calibri" pitchFamily="34" charset="0"/>
                          <a:ea typeface="Calibri" pitchFamily="34" charset="-122"/>
                          <a:cs typeface="Calibri" pitchFamily="34" charset="-120"/>
                        </a:rPr>
                        <a:t>Not acceptable</a:t>
                      </a:r>
                      <a:endParaRPr lang="en-US" sz="7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c>
                  <a:txBody>
                    <a:bodyPr/>
                    <a:lstStyle/>
                    <a:p>
                      <a:pPr indent="0" marL="0">
                        <a:buNone/>
                      </a:pPr>
                      <a:r>
                        <a:rPr lang="en-US" sz="700" dirty="0">
                          <a:solidFill>
                            <a:srgbClr val="1F2933"/>
                          </a:solidFill>
                          <a:latin typeface="Calibri" pitchFamily="34" charset="0"/>
                          <a:ea typeface="Calibri" pitchFamily="34" charset="-122"/>
                          <a:cs typeface="Calibri" pitchFamily="34" charset="-120"/>
                        </a:rPr>
                        <a:t>Acceptable</a:t>
                      </a:r>
                      <a:endParaRPr lang="en-US" sz="7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r>
              <a:tr h="201168">
                <a:tc>
                  <a:txBody>
                    <a:bodyPr/>
                    <a:lstStyle/>
                    <a:p>
                      <a:pPr indent="0" marL="0">
                        <a:buNone/>
                      </a:pPr>
                      <a:r>
                        <a:rPr lang="en-US" sz="700" b="1" dirty="0">
                          <a:solidFill>
                            <a:srgbClr val="1F2933"/>
                          </a:solidFill>
                          <a:latin typeface="Calibri" pitchFamily="34" charset="0"/>
                          <a:ea typeface="Calibri" pitchFamily="34" charset="-122"/>
                          <a:cs typeface="Calibri" pitchFamily="34" charset="-120"/>
                        </a:rPr>
                        <a:t>Risk control</a:t>
                      </a:r>
                      <a:endParaRPr lang="en-US" sz="7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700" dirty="0">
                          <a:solidFill>
                            <a:srgbClr val="1F2933"/>
                          </a:solidFill>
                          <a:latin typeface="Calibri" pitchFamily="34" charset="0"/>
                          <a:ea typeface="Calibri" pitchFamily="34" charset="-122"/>
                          <a:cs typeface="Calibri" pitchFamily="34" charset="-120"/>
                        </a:rPr>
                        <a:t>Warning added to IFU section 6: do not silence the alarm without checking the line</a:t>
                      </a:r>
                      <a:endParaRPr lang="en-US" sz="7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700" dirty="0">
                          <a:solidFill>
                            <a:srgbClr val="1F2933"/>
                          </a:solidFill>
                          <a:latin typeface="Calibri" pitchFamily="34" charset="0"/>
                          <a:ea typeface="Calibri" pitchFamily="34" charset="-122"/>
                          <a:cs typeface="Calibri" pitchFamily="34" charset="-120"/>
                        </a:rPr>
                        <a:t>Validated cleaning agent list and procedure in the IFU; compatibility-tested enclosure; label symbol</a:t>
                      </a:r>
                      <a:endParaRPr lang="en-US" sz="7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r>
              <a:tr h="201168">
                <a:tc>
                  <a:txBody>
                    <a:bodyPr/>
                    <a:lstStyle/>
                    <a:p>
                      <a:pPr indent="0" marL="0">
                        <a:buNone/>
                      </a:pPr>
                      <a:r>
                        <a:rPr lang="en-US" sz="700" b="1" dirty="0">
                          <a:solidFill>
                            <a:srgbClr val="1F2933"/>
                          </a:solidFill>
                          <a:latin typeface="Calibri" pitchFamily="34" charset="0"/>
                          <a:ea typeface="Calibri" pitchFamily="34" charset="-122"/>
                          <a:cs typeface="Calibri" pitchFamily="34" charset="-120"/>
                        </a:rPr>
                        <a:t>Control category</a:t>
                      </a:r>
                      <a:endParaRPr lang="en-US" sz="7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c>
                  <a:txBody>
                    <a:bodyPr/>
                    <a:lstStyle/>
                    <a:p>
                      <a:pPr indent="0" marL="0">
                        <a:buNone/>
                      </a:pPr>
                      <a:r>
                        <a:rPr lang="en-US" sz="700" dirty="0">
                          <a:solidFill>
                            <a:srgbClr val="1F2933"/>
                          </a:solidFill>
                          <a:latin typeface="Calibri" pitchFamily="34" charset="0"/>
                          <a:ea typeface="Calibri" pitchFamily="34" charset="-122"/>
                          <a:cs typeface="Calibri" pitchFamily="34" charset="-120"/>
                        </a:rPr>
                        <a:t>3  (information for safety)</a:t>
                      </a:r>
                      <a:endParaRPr lang="en-US" sz="7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c>
                  <a:txBody>
                    <a:bodyPr/>
                    <a:lstStyle/>
                    <a:p>
                      <a:pPr indent="0" marL="0">
                        <a:buNone/>
                      </a:pPr>
                      <a:r>
                        <a:rPr lang="en-US" sz="700" dirty="0">
                          <a:solidFill>
                            <a:srgbClr val="1F2933"/>
                          </a:solidFill>
                          <a:latin typeface="Calibri" pitchFamily="34" charset="0"/>
                          <a:ea typeface="Calibri" pitchFamily="34" charset="-122"/>
                          <a:cs typeface="Calibri" pitchFamily="34" charset="-120"/>
                        </a:rPr>
                        <a:t>3  (information for safety)</a:t>
                      </a:r>
                      <a:endParaRPr lang="en-US" sz="7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r>
              <a:tr h="201168">
                <a:tc>
                  <a:txBody>
                    <a:bodyPr/>
                    <a:lstStyle/>
                    <a:p>
                      <a:pPr indent="0" marL="0">
                        <a:buNone/>
                      </a:pPr>
                      <a:r>
                        <a:rPr lang="en-US" sz="700" b="1" dirty="0">
                          <a:solidFill>
                            <a:srgbClr val="1F2933"/>
                          </a:solidFill>
                          <a:latin typeface="Calibri" pitchFamily="34" charset="0"/>
                          <a:ea typeface="Calibri" pitchFamily="34" charset="-122"/>
                          <a:cs typeface="Calibri" pitchFamily="34" charset="-120"/>
                        </a:rPr>
                        <a:t>Why a higher option was not practicable</a:t>
                      </a:r>
                      <a:endParaRPr lang="en-US" sz="7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700" dirty="0">
                          <a:solidFill>
                            <a:srgbClr val="1F2933"/>
                          </a:solidFill>
                          <a:latin typeface="Calibri" pitchFamily="34" charset="0"/>
                          <a:ea typeface="Calibri" pitchFamily="34" charset="-122"/>
                          <a:cs typeface="Calibri" pitchFamily="34" charset="-120"/>
                        </a:rPr>
                        <a:t>(blank)</a:t>
                      </a:r>
                      <a:endParaRPr lang="en-US" sz="7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700" dirty="0">
                          <a:solidFill>
                            <a:srgbClr val="1F2933"/>
                          </a:solidFill>
                          <a:latin typeface="Calibri" pitchFamily="34" charset="0"/>
                          <a:ea typeface="Calibri" pitchFamily="34" charset="-122"/>
                          <a:cs typeface="Calibri" pitchFamily="34" charset="-120"/>
                        </a:rPr>
                        <a:t>Sealed enclosure rejected on thermal grounds; single-patient-use durable rejected on cost of therapy</a:t>
                      </a:r>
                      <a:endParaRPr lang="en-US" sz="7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r>
              <a:tr h="201168">
                <a:tc>
                  <a:txBody>
                    <a:bodyPr/>
                    <a:lstStyle/>
                    <a:p>
                      <a:pPr indent="0" marL="0">
                        <a:buNone/>
                      </a:pPr>
                      <a:r>
                        <a:rPr lang="en-US" sz="700" b="1" dirty="0">
                          <a:solidFill>
                            <a:srgbClr val="1F2933"/>
                          </a:solidFill>
                          <a:latin typeface="Calibri" pitchFamily="34" charset="0"/>
                          <a:ea typeface="Calibri" pitchFamily="34" charset="-122"/>
                          <a:cs typeface="Calibri" pitchFamily="34" charset="-120"/>
                        </a:rPr>
                        <a:t>Residual P1 / P2 / S</a:t>
                      </a:r>
                      <a:endParaRPr lang="en-US" sz="7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c>
                  <a:txBody>
                    <a:bodyPr/>
                    <a:lstStyle/>
                    <a:p>
                      <a:pPr indent="0" marL="0">
                        <a:buNone/>
                      </a:pPr>
                      <a:r>
                        <a:rPr lang="en-US" sz="700" dirty="0">
                          <a:solidFill>
                            <a:srgbClr val="1F2933"/>
                          </a:solidFill>
                          <a:latin typeface="Calibri" pitchFamily="34" charset="0"/>
                          <a:ea typeface="Calibri" pitchFamily="34" charset="-122"/>
                          <a:cs typeface="Calibri" pitchFamily="34" charset="-120"/>
                        </a:rPr>
                        <a:t>1  /  1  /  4</a:t>
                      </a:r>
                      <a:endParaRPr lang="en-US" sz="7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c>
                  <a:txBody>
                    <a:bodyPr/>
                    <a:lstStyle/>
                    <a:p>
                      <a:pPr indent="0" marL="0">
                        <a:buNone/>
                      </a:pPr>
                      <a:r>
                        <a:rPr lang="en-US" sz="700" dirty="0">
                          <a:solidFill>
                            <a:srgbClr val="1F2933"/>
                          </a:solidFill>
                          <a:latin typeface="Calibri" pitchFamily="34" charset="0"/>
                          <a:ea typeface="Calibri" pitchFamily="34" charset="-122"/>
                          <a:cs typeface="Calibri" pitchFamily="34" charset="-120"/>
                        </a:rPr>
                        <a:t>3  /  2  /  3</a:t>
                      </a:r>
                      <a:endParaRPr lang="en-US" sz="7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r>
              <a:tr h="201168">
                <a:tc>
                  <a:txBody>
                    <a:bodyPr/>
                    <a:lstStyle/>
                    <a:p>
                      <a:pPr indent="0" marL="0">
                        <a:buNone/>
                      </a:pPr>
                      <a:r>
                        <a:rPr lang="en-US" sz="700" b="1" dirty="0">
                          <a:solidFill>
                            <a:srgbClr val="1F2933"/>
                          </a:solidFill>
                          <a:latin typeface="Calibri" pitchFamily="34" charset="0"/>
                          <a:ea typeface="Calibri" pitchFamily="34" charset="-122"/>
                          <a:cs typeface="Calibri" pitchFamily="34" charset="-120"/>
                        </a:rPr>
                        <a:t>Residual risk</a:t>
                      </a:r>
                      <a:endParaRPr lang="en-US" sz="7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700" dirty="0">
                          <a:solidFill>
                            <a:srgbClr val="1F2933"/>
                          </a:solidFill>
                          <a:latin typeface="Calibri" pitchFamily="34" charset="0"/>
                          <a:ea typeface="Calibri" pitchFamily="34" charset="-122"/>
                          <a:cs typeface="Calibri" pitchFamily="34" charset="-120"/>
                        </a:rPr>
                        <a:t>Acceptable</a:t>
                      </a:r>
                      <a:endParaRPr lang="en-US" sz="7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700" dirty="0">
                          <a:solidFill>
                            <a:srgbClr val="1F2933"/>
                          </a:solidFill>
                          <a:latin typeface="Calibri" pitchFamily="34" charset="0"/>
                          <a:ea typeface="Calibri" pitchFamily="34" charset="-122"/>
                          <a:cs typeface="Calibri" pitchFamily="34" charset="-120"/>
                        </a:rPr>
                        <a:t>Acceptable</a:t>
                      </a:r>
                      <a:endParaRPr lang="en-US" sz="7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r>
              <a:tr h="201168">
                <a:tc>
                  <a:txBody>
                    <a:bodyPr/>
                    <a:lstStyle/>
                    <a:p>
                      <a:pPr indent="0" marL="0">
                        <a:buNone/>
                      </a:pPr>
                      <a:r>
                        <a:rPr lang="en-US" sz="700" b="1" dirty="0">
                          <a:solidFill>
                            <a:srgbClr val="1F2933"/>
                          </a:solidFill>
                          <a:latin typeface="Calibri" pitchFamily="34" charset="0"/>
                          <a:ea typeface="Calibri" pitchFamily="34" charset="-122"/>
                          <a:cs typeface="Calibri" pitchFamily="34" charset="-120"/>
                        </a:rPr>
                        <a:t>Verification of implementation</a:t>
                      </a:r>
                      <a:endParaRPr lang="en-US" sz="7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c>
                  <a:txBody>
                    <a:bodyPr/>
                    <a:lstStyle/>
                    <a:p>
                      <a:pPr indent="0" marL="0">
                        <a:buNone/>
                      </a:pPr>
                      <a:r>
                        <a:rPr lang="en-US" sz="700" dirty="0">
                          <a:solidFill>
                            <a:srgbClr val="1F2933"/>
                          </a:solidFill>
                          <a:latin typeface="Calibri" pitchFamily="34" charset="0"/>
                          <a:ea typeface="Calibri" pitchFamily="34" charset="-122"/>
                          <a:cs typeface="Calibri" pitchFamily="34" charset="-120"/>
                        </a:rPr>
                        <a:t>IFU approval record DOC-2230</a:t>
                      </a:r>
                      <a:endParaRPr lang="en-US" sz="7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c>
                  <a:txBody>
                    <a:bodyPr/>
                    <a:lstStyle/>
                    <a:p>
                      <a:pPr indent="0" marL="0">
                        <a:buNone/>
                      </a:pPr>
                      <a:r>
                        <a:rPr lang="en-US" sz="700" dirty="0">
                          <a:solidFill>
                            <a:srgbClr val="1F2933"/>
                          </a:solidFill>
                          <a:latin typeface="Calibri" pitchFamily="34" charset="0"/>
                          <a:ea typeface="Calibri" pitchFamily="34" charset="-122"/>
                          <a:cs typeface="Calibri" pitchFamily="34" charset="-120"/>
                        </a:rPr>
                        <a:t>IFU approval DOC-2214; label artwork approval LA-118</a:t>
                      </a:r>
                      <a:endParaRPr lang="en-US" sz="7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r>
              <a:tr h="201168">
                <a:tc>
                  <a:txBody>
                    <a:bodyPr/>
                    <a:lstStyle/>
                    <a:p>
                      <a:pPr indent="0" marL="0">
                        <a:buNone/>
                      </a:pPr>
                      <a:r>
                        <a:rPr lang="en-US" sz="700" b="1" dirty="0">
                          <a:solidFill>
                            <a:srgbClr val="1F2933"/>
                          </a:solidFill>
                          <a:latin typeface="Calibri" pitchFamily="34" charset="0"/>
                          <a:ea typeface="Calibri" pitchFamily="34" charset="-122"/>
                          <a:cs typeface="Calibri" pitchFamily="34" charset="-120"/>
                        </a:rPr>
                        <a:t>Verification of effectiveness</a:t>
                      </a:r>
                      <a:endParaRPr lang="en-US" sz="7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700" dirty="0">
                          <a:solidFill>
                            <a:srgbClr val="1F2933"/>
                          </a:solidFill>
                          <a:latin typeface="Calibri" pitchFamily="34" charset="0"/>
                          <a:ea typeface="Calibri" pitchFamily="34" charset="-122"/>
                          <a:cs typeface="Calibri" pitchFamily="34" charset="-120"/>
                        </a:rPr>
                        <a:t>(blank)</a:t>
                      </a:r>
                      <a:endParaRPr lang="en-US" sz="7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700" dirty="0">
                          <a:solidFill>
                            <a:srgbClr val="1F2933"/>
                          </a:solidFill>
                          <a:latin typeface="Calibri" pitchFamily="34" charset="0"/>
                          <a:ea typeface="Calibri" pitchFamily="34" charset="-122"/>
                          <a:cs typeface="Calibri" pitchFamily="34" charset="-120"/>
                        </a:rPr>
                        <a:t>CV-03 cleaning validation over 200 cycles; MC-11</a:t>
                      </a:r>
                      <a:endParaRPr lang="en-US" sz="7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r>
              <a:tr h="201168">
                <a:tc>
                  <a:txBody>
                    <a:bodyPr/>
                    <a:lstStyle/>
                    <a:p>
                      <a:pPr indent="0" marL="0">
                        <a:buNone/>
                      </a:pPr>
                      <a:r>
                        <a:rPr lang="en-US" sz="700" b="1" dirty="0">
                          <a:solidFill>
                            <a:srgbClr val="1F2933"/>
                          </a:solidFill>
                          <a:latin typeface="Calibri" pitchFamily="34" charset="0"/>
                          <a:ea typeface="Calibri" pitchFamily="34" charset="-122"/>
                          <a:cs typeface="Calibri" pitchFamily="34" charset="-120"/>
                        </a:rPr>
                        <a:t>Residual risk disclosure</a:t>
                      </a:r>
                      <a:endParaRPr lang="en-US" sz="7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c>
                  <a:txBody>
                    <a:bodyPr/>
                    <a:lstStyle/>
                    <a:p>
                      <a:pPr indent="0" marL="0">
                        <a:buNone/>
                      </a:pPr>
                      <a:r>
                        <a:rPr lang="en-US" sz="700" dirty="0">
                          <a:solidFill>
                            <a:srgbClr val="1F2933"/>
                          </a:solidFill>
                          <a:latin typeface="Calibri" pitchFamily="34" charset="0"/>
                          <a:ea typeface="Calibri" pitchFamily="34" charset="-122"/>
                          <a:cs typeface="Calibri" pitchFamily="34" charset="-120"/>
                        </a:rPr>
                        <a:t>(blank)</a:t>
                      </a:r>
                      <a:endParaRPr lang="en-US" sz="7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c>
                  <a:txBody>
                    <a:bodyPr/>
                    <a:lstStyle/>
                    <a:p>
                      <a:pPr indent="0" marL="0">
                        <a:buNone/>
                      </a:pPr>
                      <a:r>
                        <a:rPr lang="en-US" sz="700" dirty="0">
                          <a:solidFill>
                            <a:srgbClr val="1F2933"/>
                          </a:solidFill>
                          <a:latin typeface="Calibri" pitchFamily="34" charset="0"/>
                          <a:ea typeface="Calibri" pitchFamily="34" charset="-122"/>
                          <a:cs typeface="Calibri" pitchFamily="34" charset="-120"/>
                        </a:rPr>
                        <a:t>IFU section 7.3; label symbol</a:t>
                      </a:r>
                      <a:endParaRPr lang="en-US" sz="7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r>
              <a:tr h="201168">
                <a:tc>
                  <a:txBody>
                    <a:bodyPr/>
                    <a:lstStyle/>
                    <a:p>
                      <a:pPr indent="0" marL="0">
                        <a:buNone/>
                      </a:pPr>
                      <a:r>
                        <a:rPr lang="en-US" sz="700" b="1" dirty="0">
                          <a:solidFill>
                            <a:srgbClr val="1F2933"/>
                          </a:solidFill>
                          <a:latin typeface="Calibri" pitchFamily="34" charset="0"/>
                          <a:ea typeface="Calibri" pitchFamily="34" charset="-122"/>
                          <a:cs typeface="Calibri" pitchFamily="34" charset="-120"/>
                        </a:rPr>
                        <a:t>New risks assessed</a:t>
                      </a:r>
                      <a:endParaRPr lang="en-US" sz="7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700" dirty="0">
                          <a:solidFill>
                            <a:srgbClr val="1F2933"/>
                          </a:solidFill>
                          <a:latin typeface="Calibri" pitchFamily="34" charset="0"/>
                          <a:ea typeface="Calibri" pitchFamily="34" charset="-122"/>
                          <a:cs typeface="Calibri" pitchFamily="34" charset="-120"/>
                        </a:rPr>
                        <a:t>(blank)</a:t>
                      </a:r>
                      <a:endParaRPr lang="en-US" sz="7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700" dirty="0">
                          <a:solidFill>
                            <a:srgbClr val="1F2933"/>
                          </a:solidFill>
                          <a:latin typeface="Calibri" pitchFamily="34" charset="0"/>
                          <a:ea typeface="Calibri" pitchFamily="34" charset="-122"/>
                          <a:cs typeface="Calibri" pitchFamily="34" charset="-120"/>
                        </a:rPr>
                        <a:t>RA-NEW-11 (unlisted agent used anyway)</a:t>
                      </a:r>
                      <a:endParaRPr lang="en-US" sz="7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r>
            </a:tbl>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4814316"/>
            <a:ext cx="5943600" cy="201168"/>
          </a:xfrm>
          <a:prstGeom prst="rect">
            <a:avLst/>
          </a:prstGeom>
          <a:noFill/>
          <a:ln/>
        </p:spPr>
        <p:txBody>
          <a:bodyPr wrap="square" lIns="0" tIns="0" rIns="0" bIns="0" rtlCol="0" anchor="ctr"/>
          <a:lstStyle/>
          <a:p>
            <a:pPr indent="0" marL="0">
              <a:buNone/>
            </a:pPr>
            <a:r>
              <a:rPr lang="en-US" sz="900" dirty="0">
                <a:solidFill>
                  <a:srgbClr val="5A6B7B"/>
                </a:solidFill>
                <a:latin typeface="Calibri" pitchFamily="34" charset="0"/>
                <a:ea typeface="Calibri" pitchFamily="34" charset="-122"/>
                <a:cs typeface="Calibri" pitchFamily="34" charset="-120"/>
              </a:rPr>
              <a:t>Risk Management  |  ISO 14971  |  Elder Consulting, LLC</a:t>
            </a:r>
            <a:endParaRPr lang="en-US" sz="900" dirty="0"/>
          </a:p>
        </p:txBody>
      </p:sp>
      <p:sp>
        <p:nvSpPr>
          <p:cNvPr id="3" name="Text 1"/>
          <p:cNvSpPr txBox="1"/>
          <p:nvPr/>
        </p:nvSpPr>
        <p:spPr>
          <a:xfrm>
            <a:off x="8138160" y="4814316"/>
            <a:ext cx="548640" cy="201168"/>
          </a:xfrm>
          <a:prstGeom prst="rect">
            <a:avLst/>
          </a:prstGeom>
          <a:noFill/>
          <a:ln/>
        </p:spPr>
        <p:txBody>
          <a:bodyPr wrap="square" lIns="0" tIns="0" rIns="0" bIns="0" rtlCol="0" anchor="ctr"/>
          <a:lstStyle/>
          <a:p>
            <a:pPr algn="r" indent="0" marL="0">
              <a:buNone/>
            </a:pPr>
            <a:r>
              <a:rPr lang="en-US" sz="900" dirty="0">
                <a:solidFill>
                  <a:srgbClr val="5A6B7B"/>
                </a:solidFill>
                <a:latin typeface="Calibri" pitchFamily="34" charset="0"/>
                <a:ea typeface="Calibri" pitchFamily="34" charset="-122"/>
                <a:cs typeface="Calibri" pitchFamily="34" charset="-120"/>
              </a:rPr>
              <a:t>29</a:t>
            </a:r>
            <a:endParaRPr lang="en-US" sz="900" dirty="0"/>
          </a:p>
        </p:txBody>
      </p:sp>
      <p:sp>
        <p:nvSpPr>
          <p:cNvPr id="4" name="Text 2"/>
          <p:cNvSpPr txBox="1"/>
          <p:nvPr/>
        </p:nvSpPr>
        <p:spPr>
          <a:xfrm>
            <a:off x="457200" y="274320"/>
            <a:ext cx="8229600" cy="219456"/>
          </a:xfrm>
          <a:prstGeom prst="rect">
            <a:avLst/>
          </a:prstGeom>
          <a:noFill/>
          <a:ln/>
        </p:spPr>
        <p:txBody>
          <a:bodyPr wrap="square" lIns="0" tIns="0" rIns="0" bIns="0" rtlCol="0" anchor="ctr"/>
          <a:lstStyle/>
          <a:p>
            <a:pPr indent="0" marL="0">
              <a:buNone/>
            </a:pPr>
            <a:r>
              <a:rPr lang="en-US" sz="1000" b="1" spc="200" kern="0" dirty="0">
                <a:solidFill>
                  <a:srgbClr val="A8730F"/>
                </a:solidFill>
                <a:latin typeface="Calibri" pitchFamily="34" charset="0"/>
                <a:ea typeface="Calibri" pitchFamily="34" charset="-122"/>
                <a:cs typeface="Calibri" pitchFamily="34" charset="-120"/>
              </a:rPr>
              <a:t>EXERCISE B  |  MODEL ANSWER</a:t>
            </a:r>
            <a:endParaRPr lang="en-US" sz="1000" dirty="0"/>
          </a:p>
        </p:txBody>
      </p:sp>
      <p:sp>
        <p:nvSpPr>
          <p:cNvPr id="5" name="Text 3"/>
          <p:cNvSpPr txBox="1"/>
          <p:nvPr/>
        </p:nvSpPr>
        <p:spPr>
          <a:xfrm>
            <a:off x="457200" y="502920"/>
            <a:ext cx="8229600" cy="548640"/>
          </a:xfrm>
          <a:prstGeom prst="rect">
            <a:avLst/>
          </a:prstGeom>
          <a:noFill/>
          <a:ln/>
        </p:spPr>
        <p:txBody>
          <a:bodyPr wrap="square" lIns="0" tIns="0" rIns="0" bIns="0" rtlCol="0" anchor="t"/>
          <a:lstStyle/>
          <a:p>
            <a:pPr indent="0" marL="0">
              <a:buNone/>
            </a:pPr>
            <a:r>
              <a:rPr lang="en-US" sz="2400" b="1" dirty="0">
                <a:solidFill>
                  <a:srgbClr val="0F2A4A"/>
                </a:solidFill>
                <a:latin typeface="Cambria" pitchFamily="34" charset="0"/>
                <a:ea typeface="Cambria" pitchFamily="34" charset="-122"/>
                <a:cs typeface="Cambria" pitchFamily="34" charset="-120"/>
              </a:rPr>
              <a:t>Seven findings, ranked</a:t>
            </a:r>
            <a:endParaRPr lang="en-US" sz="240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914400"/>
        </p:xfrm>
        <a:graphic>
          <a:graphicData uri="http://schemas.openxmlformats.org/drawingml/2006/table">
            <a:tbl>
              <a:tblPr/>
              <a:tblGrid>
                <a:gridCol w="274320"/>
                <a:gridCol w="6720840"/>
                <a:gridCol w="1234440"/>
              </a:tblGrid>
              <a:tr h="292608">
                <a:tc>
                  <a:txBody>
                    <a:bodyPr/>
                    <a:lstStyle/>
                    <a:p>
                      <a:pPr indent="0" marL="0">
                        <a:buNone/>
                      </a:pPr>
                      <a:r>
                        <a:rPr lang="en-US" sz="850" b="1" dirty="0">
                          <a:solidFill>
                            <a:srgbClr val="FFFFFF"/>
                          </a:solidFill>
                          <a:latin typeface="Calibri" pitchFamily="34" charset="0"/>
                          <a:ea typeface="Calibri" pitchFamily="34" charset="-122"/>
                          <a:cs typeface="Calibri" pitchFamily="34" charset="-120"/>
                        </a:rPr>
                        <a:t>#</a:t>
                      </a:r>
                      <a:endParaRPr lang="en-US" sz="850" dirty="0">
                        <a:latin typeface="Calibri" charset="0"/>
                        <a:ea typeface="Calibri" charset="0"/>
                        <a:cs typeface="Calibri" charset="0"/>
                      </a:endParaRPr>
                    </a:p>
                  </a:txBody>
                  <a:tcPr marL="54864" marR="54864" marT="54864" marB="54864" anchor="ctr">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0F2A4A"/>
                    </a:solidFill>
                  </a:tcPr>
                </a:tc>
                <a:tc>
                  <a:txBody>
                    <a:bodyPr/>
                    <a:lstStyle/>
                    <a:p>
                      <a:pPr indent="0" marL="0">
                        <a:buNone/>
                      </a:pPr>
                      <a:r>
                        <a:rPr lang="en-US" sz="850" b="1" dirty="0">
                          <a:solidFill>
                            <a:srgbClr val="FFFFFF"/>
                          </a:solidFill>
                          <a:latin typeface="Calibri" pitchFamily="34" charset="0"/>
                          <a:ea typeface="Calibri" pitchFamily="34" charset="-122"/>
                          <a:cs typeface="Calibri" pitchFamily="34" charset="-120"/>
                        </a:rPr>
                        <a:t>Finding</a:t>
                      </a:r>
                      <a:endParaRPr lang="en-US" sz="850" dirty="0">
                        <a:latin typeface="Calibri" charset="0"/>
                        <a:ea typeface="Calibri" charset="0"/>
                        <a:cs typeface="Calibri" charset="0"/>
                      </a:endParaRPr>
                    </a:p>
                  </a:txBody>
                  <a:tcPr marL="54864" marR="54864" marT="54864" marB="54864" anchor="ctr">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0F2A4A"/>
                    </a:solidFill>
                  </a:tcPr>
                </a:tc>
                <a:tc>
                  <a:txBody>
                    <a:bodyPr/>
                    <a:lstStyle/>
                    <a:p>
                      <a:pPr indent="0" marL="0">
                        <a:buNone/>
                      </a:pPr>
                      <a:r>
                        <a:rPr lang="en-US" sz="850" b="1" dirty="0">
                          <a:solidFill>
                            <a:srgbClr val="FFFFFF"/>
                          </a:solidFill>
                          <a:latin typeface="Calibri" pitchFamily="34" charset="0"/>
                          <a:ea typeface="Calibri" pitchFamily="34" charset="-122"/>
                          <a:cs typeface="Calibri" pitchFamily="34" charset="-120"/>
                        </a:rPr>
                        <a:t>Cite</a:t>
                      </a:r>
                      <a:endParaRPr lang="en-US" sz="850" dirty="0">
                        <a:latin typeface="Calibri" charset="0"/>
                        <a:ea typeface="Calibri" charset="0"/>
                        <a:cs typeface="Calibri" charset="0"/>
                      </a:endParaRPr>
                    </a:p>
                  </a:txBody>
                  <a:tcPr marL="54864" marR="54864" marT="54864" marB="54864" anchor="ctr">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0F2A4A"/>
                    </a:solidFill>
                  </a:tcPr>
                </a:tc>
              </a:tr>
              <a:tr h="292608">
                <a:tc>
                  <a:txBody>
                    <a:bodyPr/>
                    <a:lstStyle/>
                    <a:p>
                      <a:pPr indent="0" marL="0">
                        <a:buNone/>
                      </a:pPr>
                      <a:r>
                        <a:rPr lang="en-US" sz="850" b="1" dirty="0">
                          <a:solidFill>
                            <a:srgbClr val="1F2933"/>
                          </a:solidFill>
                          <a:latin typeface="Calibri" pitchFamily="34" charset="0"/>
                          <a:ea typeface="Calibri" pitchFamily="34" charset="-122"/>
                          <a:cs typeface="Calibri" pitchFamily="34" charset="-120"/>
                        </a:rPr>
                        <a:t>1</a:t>
                      </a:r>
                      <a:endParaRPr lang="en-US" sz="8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9ECEA"/>
                    </a:solidFill>
                  </a:tcPr>
                </a:tc>
                <a:tc>
                  <a:txBody>
                    <a:bodyPr/>
                    <a:lstStyle/>
                    <a:p>
                      <a:pPr indent="0" marL="0">
                        <a:buNone/>
                      </a:pPr>
                      <a:r>
                        <a:rPr lang="en-US" sz="850" dirty="0">
                          <a:solidFill>
                            <a:srgbClr val="1F2933"/>
                          </a:solidFill>
                          <a:latin typeface="Calibri" pitchFamily="34" charset="0"/>
                          <a:ea typeface="Calibri" pitchFamily="34" charset="-122"/>
                          <a:cs typeface="Calibri" pitchFamily="34" charset="-120"/>
                        </a:rPr>
                        <a:t>MAJOR. A category 3 control (a warning in the IFU) is credited with reducing P1 from 5 to 1 and P2 from 5 to 1. Information for safety does not reduce the probability that the hazardous situation arises. The residual estimate is unsupported, and no verification of effectiveness is recorded</a:t>
                      </a:r>
                      <a:endParaRPr lang="en-US" sz="8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9ECEA"/>
                    </a:solidFill>
                  </a:tcPr>
                </a:tc>
                <a:tc>
                  <a:txBody>
                    <a:bodyPr/>
                    <a:lstStyle/>
                    <a:p>
                      <a:pPr indent="0" marL="0">
                        <a:buNone/>
                      </a:pPr>
                      <a:r>
                        <a:rPr lang="en-US" sz="850" b="1" dirty="0">
                          <a:solidFill>
                            <a:srgbClr val="1F2933"/>
                          </a:solidFill>
                          <a:latin typeface="Calibri" pitchFamily="34" charset="0"/>
                          <a:ea typeface="Calibri" pitchFamily="34" charset="-122"/>
                          <a:cs typeface="Calibri" pitchFamily="34" charset="-120"/>
                        </a:rPr>
                        <a:t>7.1, 7.2, 7.3</a:t>
                      </a:r>
                      <a:endParaRPr lang="en-US" sz="8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9ECEA"/>
                    </a:solidFill>
                  </a:tcPr>
                </a:tc>
              </a:tr>
              <a:tr h="292608">
                <a:tc>
                  <a:txBody>
                    <a:bodyPr/>
                    <a:lstStyle/>
                    <a:p>
                      <a:pPr indent="0" marL="0">
                        <a:buNone/>
                      </a:pPr>
                      <a:r>
                        <a:rPr lang="en-US" sz="850" b="1" dirty="0">
                          <a:solidFill>
                            <a:srgbClr val="1F2933"/>
                          </a:solidFill>
                          <a:latin typeface="Calibri" pitchFamily="34" charset="0"/>
                          <a:ea typeface="Calibri" pitchFamily="34" charset="-122"/>
                          <a:cs typeface="Calibri" pitchFamily="34" charset="-120"/>
                        </a:rPr>
                        <a:t>2</a:t>
                      </a:r>
                      <a:endParaRPr lang="en-US" sz="8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c>
                  <a:txBody>
                    <a:bodyPr/>
                    <a:lstStyle/>
                    <a:p>
                      <a:pPr indent="0" marL="0">
                        <a:buNone/>
                      </a:pPr>
                      <a:r>
                        <a:rPr lang="en-US" sz="850" dirty="0">
                          <a:solidFill>
                            <a:srgbClr val="1F2933"/>
                          </a:solidFill>
                          <a:latin typeface="Calibri" pitchFamily="34" charset="0"/>
                          <a:ea typeface="Calibri" pitchFamily="34" charset="-122"/>
                          <a:cs typeface="Calibri" pitchFamily="34" charset="-120"/>
                        </a:rPr>
                        <a:t>The order of priority was not worked on HZ-16: no record of why inherent safety by design or a protective measure was not practicable. A self-re-arming alarm silence is an available category 2 control and is not discussed</a:t>
                      </a:r>
                      <a:endParaRPr lang="en-US" sz="8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c>
                  <a:txBody>
                    <a:bodyPr/>
                    <a:lstStyle/>
                    <a:p>
                      <a:pPr indent="0" marL="0">
                        <a:buNone/>
                      </a:pPr>
                      <a:r>
                        <a:rPr lang="en-US" sz="850" dirty="0">
                          <a:solidFill>
                            <a:srgbClr val="1F2933"/>
                          </a:solidFill>
                          <a:latin typeface="Calibri" pitchFamily="34" charset="0"/>
                          <a:ea typeface="Calibri" pitchFamily="34" charset="-122"/>
                          <a:cs typeface="Calibri" pitchFamily="34" charset="-120"/>
                        </a:rPr>
                        <a:t>7.1; MDR I.4</a:t>
                      </a:r>
                      <a:endParaRPr lang="en-US" sz="8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r>
              <a:tr h="292608">
                <a:tc>
                  <a:txBody>
                    <a:bodyPr/>
                    <a:lstStyle/>
                    <a:p>
                      <a:pPr indent="0" marL="0">
                        <a:buNone/>
                      </a:pPr>
                      <a:r>
                        <a:rPr lang="en-US" sz="850" b="1" dirty="0">
                          <a:solidFill>
                            <a:srgbClr val="1F2933"/>
                          </a:solidFill>
                          <a:latin typeface="Calibri" pitchFamily="34" charset="0"/>
                          <a:ea typeface="Calibri" pitchFamily="34" charset="-122"/>
                          <a:cs typeface="Calibri" pitchFamily="34" charset="-120"/>
                        </a:rPr>
                        <a:t>3</a:t>
                      </a:r>
                      <a:endParaRPr lang="en-US" sz="8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BF2DE"/>
                    </a:solidFill>
                  </a:tcPr>
                </a:tc>
                <a:tc>
                  <a:txBody>
                    <a:bodyPr/>
                    <a:lstStyle/>
                    <a:p>
                      <a:pPr indent="0" marL="0">
                        <a:buNone/>
                      </a:pPr>
                      <a:r>
                        <a:rPr lang="en-US" sz="850" dirty="0">
                          <a:solidFill>
                            <a:srgbClr val="1F2933"/>
                          </a:solidFill>
                          <a:latin typeface="Calibri" pitchFamily="34" charset="0"/>
                          <a:ea typeface="Calibri" pitchFamily="34" charset="-122"/>
                          <a:cs typeface="Calibri" pitchFamily="34" charset="-120"/>
                        </a:rPr>
                        <a:t>HZ-11 justifies rejecting a higher-priority option on cost of therapy. Under MDR Annex I point 2 the only permitted limit on reducing risks as far as possible is the benefit-risk ratio, not cost</a:t>
                      </a:r>
                      <a:endParaRPr lang="en-US" sz="8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BF2DE"/>
                    </a:solidFill>
                  </a:tcPr>
                </a:tc>
                <a:tc>
                  <a:txBody>
                    <a:bodyPr/>
                    <a:lstStyle/>
                    <a:p>
                      <a:pPr indent="0" marL="0">
                        <a:buNone/>
                      </a:pPr>
                      <a:r>
                        <a:rPr lang="en-US" sz="850" b="1" dirty="0">
                          <a:solidFill>
                            <a:srgbClr val="1F2933"/>
                          </a:solidFill>
                          <a:latin typeface="Calibri" pitchFamily="34" charset="0"/>
                          <a:ea typeface="Calibri" pitchFamily="34" charset="-122"/>
                          <a:cs typeface="Calibri" pitchFamily="34" charset="-120"/>
                        </a:rPr>
                        <a:t>MDR I.2</a:t>
                      </a:r>
                      <a:endParaRPr lang="en-US" sz="8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BF2DE"/>
                    </a:solidFill>
                  </a:tcPr>
                </a:tc>
              </a:tr>
              <a:tr h="292608">
                <a:tc>
                  <a:txBody>
                    <a:bodyPr/>
                    <a:lstStyle/>
                    <a:p>
                      <a:pPr indent="0" marL="0">
                        <a:buNone/>
                      </a:pPr>
                      <a:r>
                        <a:rPr lang="en-US" sz="850" b="1" dirty="0">
                          <a:solidFill>
                            <a:srgbClr val="1F2933"/>
                          </a:solidFill>
                          <a:latin typeface="Calibri" pitchFamily="34" charset="0"/>
                          <a:ea typeface="Calibri" pitchFamily="34" charset="-122"/>
                          <a:cs typeface="Calibri" pitchFamily="34" charset="-120"/>
                        </a:rPr>
                        <a:t>4</a:t>
                      </a:r>
                      <a:endParaRPr lang="en-US" sz="8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c>
                  <a:txBody>
                    <a:bodyPr/>
                    <a:lstStyle/>
                    <a:p>
                      <a:pPr indent="0" marL="0">
                        <a:buNone/>
                      </a:pPr>
                      <a:r>
                        <a:rPr lang="en-US" sz="850" dirty="0">
                          <a:solidFill>
                            <a:srgbClr val="1F2933"/>
                          </a:solidFill>
                          <a:latin typeface="Calibri" pitchFamily="34" charset="0"/>
                          <a:ea typeface="Calibri" pitchFamily="34" charset="-122"/>
                          <a:cs typeface="Calibri" pitchFamily="34" charset="-120"/>
                        </a:rPr>
                        <a:t>HZ-16 relies entirely on information for safety and records no disclosure of the residual risk in the accompanying information</a:t>
                      </a:r>
                      <a:endParaRPr lang="en-US" sz="8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c>
                  <a:txBody>
                    <a:bodyPr/>
                    <a:lstStyle/>
                    <a:p>
                      <a:pPr indent="0" marL="0">
                        <a:buNone/>
                      </a:pPr>
                      <a:r>
                        <a:rPr lang="en-US" sz="850" dirty="0">
                          <a:solidFill>
                            <a:srgbClr val="1F2933"/>
                          </a:solidFill>
                          <a:latin typeface="Calibri" pitchFamily="34" charset="0"/>
                          <a:ea typeface="Calibri" pitchFamily="34" charset="-122"/>
                          <a:cs typeface="Calibri" pitchFamily="34" charset="-120"/>
                        </a:rPr>
                        <a:t>8; MDR I.4</a:t>
                      </a:r>
                      <a:endParaRPr lang="en-US" sz="8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r>
              <a:tr h="292608">
                <a:tc>
                  <a:txBody>
                    <a:bodyPr/>
                    <a:lstStyle/>
                    <a:p>
                      <a:pPr indent="0" marL="0">
                        <a:buNone/>
                      </a:pPr>
                      <a:r>
                        <a:rPr lang="en-US" sz="850" b="1" dirty="0">
                          <a:solidFill>
                            <a:srgbClr val="1F2933"/>
                          </a:solidFill>
                          <a:latin typeface="Calibri" pitchFamily="34" charset="0"/>
                          <a:ea typeface="Calibri" pitchFamily="34" charset="-122"/>
                          <a:cs typeface="Calibri" pitchFamily="34" charset="-120"/>
                        </a:rPr>
                        <a:t>5</a:t>
                      </a:r>
                      <a:endParaRPr lang="en-US" sz="8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850" dirty="0">
                          <a:solidFill>
                            <a:srgbClr val="1F2933"/>
                          </a:solidFill>
                          <a:latin typeface="Calibri" pitchFamily="34" charset="0"/>
                          <a:ea typeface="Calibri" pitchFamily="34" charset="-122"/>
                          <a:cs typeface="Calibri" pitchFamily="34" charset="-120"/>
                        </a:rPr>
                        <a:t>"Engineering judgement" is not a recorded basis for a risk estimate, and the estimate is at the top of both probability scales</a:t>
                      </a:r>
                      <a:endParaRPr lang="en-US" sz="8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850" dirty="0">
                          <a:solidFill>
                            <a:srgbClr val="1F2933"/>
                          </a:solidFill>
                          <a:latin typeface="Calibri" pitchFamily="34" charset="0"/>
                          <a:ea typeface="Calibri" pitchFamily="34" charset="-122"/>
                          <a:cs typeface="Calibri" pitchFamily="34" charset="-120"/>
                        </a:rPr>
                        <a:t>5.5</a:t>
                      </a:r>
                      <a:endParaRPr lang="en-US" sz="8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r>
              <a:tr h="292608">
                <a:tc>
                  <a:txBody>
                    <a:bodyPr/>
                    <a:lstStyle/>
                    <a:p>
                      <a:pPr indent="0" marL="0">
                        <a:buNone/>
                      </a:pPr>
                      <a:r>
                        <a:rPr lang="en-US" sz="850" b="1" dirty="0">
                          <a:solidFill>
                            <a:srgbClr val="1F2933"/>
                          </a:solidFill>
                          <a:latin typeface="Calibri" pitchFamily="34" charset="0"/>
                          <a:ea typeface="Calibri" pitchFamily="34" charset="-122"/>
                          <a:cs typeface="Calibri" pitchFamily="34" charset="-120"/>
                        </a:rPr>
                        <a:t>6</a:t>
                      </a:r>
                      <a:endParaRPr lang="en-US" sz="8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c>
                  <a:txBody>
                    <a:bodyPr/>
                    <a:lstStyle/>
                    <a:p>
                      <a:pPr indent="0" marL="0">
                        <a:buNone/>
                      </a:pPr>
                      <a:r>
                        <a:rPr lang="en-US" sz="850" dirty="0">
                          <a:solidFill>
                            <a:srgbClr val="1F2933"/>
                          </a:solidFill>
                          <a:latin typeface="Calibri" pitchFamily="34" charset="0"/>
                          <a:ea typeface="Calibri" pitchFamily="34" charset="-122"/>
                          <a:cs typeface="Calibri" pitchFamily="34" charset="-120"/>
                        </a:rPr>
                        <a:t>No assessment of risks arising from HZ-16's risk control measure. A warning changes user behaviour and can introduce a new hazardous situation</a:t>
                      </a:r>
                      <a:endParaRPr lang="en-US" sz="8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c>
                  <a:txBody>
                    <a:bodyPr/>
                    <a:lstStyle/>
                    <a:p>
                      <a:pPr indent="0" marL="0">
                        <a:buNone/>
                      </a:pPr>
                      <a:r>
                        <a:rPr lang="en-US" sz="850" dirty="0">
                          <a:solidFill>
                            <a:srgbClr val="1F2933"/>
                          </a:solidFill>
                          <a:latin typeface="Calibri" pitchFamily="34" charset="0"/>
                          <a:ea typeface="Calibri" pitchFamily="34" charset="-122"/>
                          <a:cs typeface="Calibri" pitchFamily="34" charset="-120"/>
                        </a:rPr>
                        <a:t>7.5</a:t>
                      </a:r>
                      <a:endParaRPr lang="en-US" sz="8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r>
              <a:tr h="292608">
                <a:tc>
                  <a:txBody>
                    <a:bodyPr/>
                    <a:lstStyle/>
                    <a:p>
                      <a:pPr indent="0" marL="0">
                        <a:buNone/>
                      </a:pPr>
                      <a:r>
                        <a:rPr lang="en-US" sz="850" b="1" dirty="0">
                          <a:solidFill>
                            <a:srgbClr val="1F2933"/>
                          </a:solidFill>
                          <a:latin typeface="Calibri" pitchFamily="34" charset="0"/>
                          <a:ea typeface="Calibri" pitchFamily="34" charset="-122"/>
                          <a:cs typeface="Calibri" pitchFamily="34" charset="-120"/>
                        </a:rPr>
                        <a:t>7</a:t>
                      </a:r>
                      <a:endParaRPr lang="en-US" sz="8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850" dirty="0">
                          <a:solidFill>
                            <a:srgbClr val="1F2933"/>
                          </a:solidFill>
                          <a:latin typeface="Calibri" pitchFamily="34" charset="0"/>
                          <a:ea typeface="Calibri" pitchFamily="34" charset="-122"/>
                          <a:cs typeface="Calibri" pitchFamily="34" charset="-120"/>
                        </a:rPr>
                        <a:t>HZ-16 is linked to GSPR 1 only. It is a use-error hazard involving an alarm on a home-use device: points 5, 18.4, 21.2 and 22.1 are engaged</a:t>
                      </a:r>
                      <a:endParaRPr lang="en-US" sz="8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850" dirty="0">
                          <a:solidFill>
                            <a:srgbClr val="1F2933"/>
                          </a:solidFill>
                          <a:latin typeface="Calibri" pitchFamily="34" charset="0"/>
                          <a:ea typeface="Calibri" pitchFamily="34" charset="-122"/>
                          <a:cs typeface="Calibri" pitchFamily="34" charset="-120"/>
                        </a:rPr>
                        <a:t>MDR Annex I</a:t>
                      </a:r>
                      <a:endParaRPr lang="en-US" sz="8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r>
            </a:tbl>
          </a:graphicData>
        </a:graphic>
      </p:graphicFrame>
      <p:sp>
        <p:nvSpPr>
          <p:cNvPr id="8" name="Shape 4"/>
          <p:cNvSpPr/>
          <p:nvPr/>
        </p:nvSpPr>
        <p:spPr>
          <a:xfrm>
            <a:off x="457200" y="4160520"/>
            <a:ext cx="8229600" cy="438912"/>
          </a:xfrm>
          <a:prstGeom prst="roundRect">
            <a:avLst>
              <a:gd name="adj" fmla="val 12500"/>
            </a:avLst>
          </a:prstGeom>
          <a:solidFill>
            <a:srgbClr val="E8F3EE"/>
          </a:solidFill>
          <a:ln w="12700">
            <a:solidFill>
              <a:srgbClr val="E8F3EE"/>
            </a:solidFill>
            <a:prstDash val="solid"/>
          </a:ln>
        </p:spPr>
      </p:sp>
      <p:sp>
        <p:nvSpPr>
          <p:cNvPr id="9" name="Text 5"/>
          <p:cNvSpPr txBox="1"/>
          <p:nvPr/>
        </p:nvSpPr>
        <p:spPr>
          <a:xfrm>
            <a:off x="640080" y="4160520"/>
            <a:ext cx="7863840" cy="438912"/>
          </a:xfrm>
          <a:prstGeom prst="rect">
            <a:avLst/>
          </a:prstGeom>
          <a:noFill/>
          <a:ln/>
        </p:spPr>
        <p:txBody>
          <a:bodyPr wrap="square" lIns="0" tIns="0" rIns="0" bIns="0" rtlCol="0" anchor="ctr"/>
          <a:lstStyle/>
          <a:p>
            <a:pPr indent="0" marL="0">
              <a:buNone/>
            </a:pPr>
            <a:r>
              <a:rPr lang="en-US" sz="1050" dirty="0">
                <a:solidFill>
                  <a:srgbClr val="0F2A4A"/>
                </a:solidFill>
                <a:latin typeface="Calibri" pitchFamily="34" charset="0"/>
                <a:ea typeface="Calibri" pitchFamily="34" charset="-122"/>
                <a:cs typeface="Calibri" pitchFamily="34" charset="-120"/>
              </a:rPr>
              <a:t>And a fair word for HZ-11: a category 3 control that honestly changed nothing numerically, with both verifications, a disclosure reference and a 7.5 assessment. One clause of its justification is wrong. That is what good looks like.</a:t>
            </a:r>
            <a:endParaRPr lang="en-US" sz="10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4814316"/>
            <a:ext cx="5943600" cy="201168"/>
          </a:xfrm>
          <a:prstGeom prst="rect">
            <a:avLst/>
          </a:prstGeom>
          <a:noFill/>
          <a:ln/>
        </p:spPr>
        <p:txBody>
          <a:bodyPr wrap="square" lIns="0" tIns="0" rIns="0" bIns="0" rtlCol="0" anchor="ctr"/>
          <a:lstStyle/>
          <a:p>
            <a:pPr indent="0" marL="0">
              <a:buNone/>
            </a:pPr>
            <a:r>
              <a:rPr lang="en-US" sz="900" dirty="0">
                <a:solidFill>
                  <a:srgbClr val="5A6B7B"/>
                </a:solidFill>
                <a:latin typeface="Calibri" pitchFamily="34" charset="0"/>
                <a:ea typeface="Calibri" pitchFamily="34" charset="-122"/>
                <a:cs typeface="Calibri" pitchFamily="34" charset="-120"/>
              </a:rPr>
              <a:t>Risk Management  |  ISO 14971  |  Elder Consulting, LLC</a:t>
            </a:r>
            <a:endParaRPr lang="en-US" sz="900" dirty="0"/>
          </a:p>
        </p:txBody>
      </p:sp>
      <p:sp>
        <p:nvSpPr>
          <p:cNvPr id="3" name="Text 1"/>
          <p:cNvSpPr txBox="1"/>
          <p:nvPr/>
        </p:nvSpPr>
        <p:spPr>
          <a:xfrm>
            <a:off x="8138160" y="4814316"/>
            <a:ext cx="548640" cy="201168"/>
          </a:xfrm>
          <a:prstGeom prst="rect">
            <a:avLst/>
          </a:prstGeom>
          <a:noFill/>
          <a:ln/>
        </p:spPr>
        <p:txBody>
          <a:bodyPr wrap="square" lIns="0" tIns="0" rIns="0" bIns="0" rtlCol="0" anchor="ctr"/>
          <a:lstStyle/>
          <a:p>
            <a:pPr algn="r" indent="0" marL="0">
              <a:buNone/>
            </a:pPr>
            <a:r>
              <a:rPr lang="en-US" sz="900" dirty="0">
                <a:solidFill>
                  <a:srgbClr val="5A6B7B"/>
                </a:solidFill>
                <a:latin typeface="Calibri" pitchFamily="34" charset="0"/>
                <a:ea typeface="Calibri" pitchFamily="34" charset="-122"/>
                <a:cs typeface="Calibri" pitchFamily="34" charset="-120"/>
              </a:rPr>
              <a:t>30</a:t>
            </a:r>
            <a:endParaRPr lang="en-US" sz="900" dirty="0"/>
          </a:p>
        </p:txBody>
      </p:sp>
      <p:sp>
        <p:nvSpPr>
          <p:cNvPr id="4" name="Text 2"/>
          <p:cNvSpPr txBox="1"/>
          <p:nvPr/>
        </p:nvSpPr>
        <p:spPr>
          <a:xfrm>
            <a:off x="457200" y="274320"/>
            <a:ext cx="8229600" cy="219456"/>
          </a:xfrm>
          <a:prstGeom prst="rect">
            <a:avLst/>
          </a:prstGeom>
          <a:noFill/>
          <a:ln/>
        </p:spPr>
        <p:txBody>
          <a:bodyPr wrap="square" lIns="0" tIns="0" rIns="0" bIns="0" rtlCol="0" anchor="ctr"/>
          <a:lstStyle/>
          <a:p>
            <a:pPr indent="0" marL="0">
              <a:buNone/>
            </a:pPr>
            <a:r>
              <a:rPr lang="en-US" sz="1000" b="1" spc="200" kern="0" dirty="0">
                <a:solidFill>
                  <a:srgbClr val="A8730F"/>
                </a:solidFill>
                <a:latin typeface="Calibri" pitchFamily="34" charset="0"/>
                <a:ea typeface="Calibri" pitchFamily="34" charset="-122"/>
                <a:cs typeface="Calibri" pitchFamily="34" charset="-120"/>
              </a:rPr>
              <a:t>SECTION 3  |  DEBRIEF</a:t>
            </a:r>
            <a:endParaRPr lang="en-US" sz="1000" dirty="0"/>
          </a:p>
        </p:txBody>
      </p:sp>
      <p:sp>
        <p:nvSpPr>
          <p:cNvPr id="5" name="Text 3"/>
          <p:cNvSpPr txBox="1"/>
          <p:nvPr/>
        </p:nvSpPr>
        <p:spPr>
          <a:xfrm>
            <a:off x="457200" y="502920"/>
            <a:ext cx="8229600" cy="548640"/>
          </a:xfrm>
          <a:prstGeom prst="rect">
            <a:avLst/>
          </a:prstGeom>
          <a:noFill/>
          <a:ln/>
        </p:spPr>
        <p:txBody>
          <a:bodyPr wrap="square" lIns="0" tIns="0" rIns="0" bIns="0" rtlCol="0" anchor="t"/>
          <a:lstStyle/>
          <a:p>
            <a:pPr indent="0" marL="0">
              <a:buNone/>
            </a:pPr>
            <a:r>
              <a:rPr lang="en-US" sz="2400" b="1" dirty="0">
                <a:solidFill>
                  <a:srgbClr val="0F2A4A"/>
                </a:solidFill>
                <a:latin typeface="Cambria" pitchFamily="34" charset="0"/>
                <a:ea typeface="Cambria" pitchFamily="34" charset="-122"/>
                <a:cs typeface="Cambria" pitchFamily="34" charset="-120"/>
              </a:rPr>
              <a:t>How a reviewer actually walks a risk file</a:t>
            </a:r>
            <a:endParaRPr lang="en-US" sz="2400" dirty="0"/>
          </a:p>
        </p:txBody>
      </p:sp>
      <p:sp>
        <p:nvSpPr>
          <p:cNvPr id="7" name="Shape 4"/>
          <p:cNvSpPr/>
          <p:nvPr/>
        </p:nvSpPr>
        <p:spPr>
          <a:xfrm>
            <a:off x="457200" y="1097280"/>
            <a:ext cx="4023360" cy="1005840"/>
          </a:xfrm>
          <a:prstGeom prst="roundRect">
            <a:avLst>
              <a:gd name="adj" fmla="val 5455"/>
            </a:avLst>
          </a:prstGeom>
          <a:solidFill>
            <a:srgbClr val="EAF0F6"/>
          </a:solidFill>
          <a:ln w="12700">
            <a:solidFill>
              <a:srgbClr val="EAF0F6"/>
            </a:solidFill>
            <a:prstDash val="solid"/>
          </a:ln>
        </p:spPr>
      </p:sp>
      <p:sp>
        <p:nvSpPr>
          <p:cNvPr id="8" name="Shape 5"/>
          <p:cNvSpPr/>
          <p:nvPr/>
        </p:nvSpPr>
        <p:spPr>
          <a:xfrm>
            <a:off x="585216" y="1207008"/>
            <a:ext cx="310896" cy="310896"/>
          </a:xfrm>
          <a:prstGeom prst="ellipse">
            <a:avLst/>
          </a:prstGeom>
          <a:solidFill>
            <a:srgbClr val="0F2A4A"/>
          </a:solidFill>
          <a:ln w="12700">
            <a:solidFill>
              <a:srgbClr val="0F2A4A"/>
            </a:solidFill>
            <a:prstDash val="solid"/>
          </a:ln>
        </p:spPr>
      </p:sp>
      <p:sp>
        <p:nvSpPr>
          <p:cNvPr id="9" name="Text 6"/>
          <p:cNvSpPr txBox="1"/>
          <p:nvPr/>
        </p:nvSpPr>
        <p:spPr>
          <a:xfrm>
            <a:off x="585216" y="1207008"/>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0" name="Text 7"/>
          <p:cNvSpPr txBox="1"/>
          <p:nvPr/>
        </p:nvSpPr>
        <p:spPr>
          <a:xfrm>
            <a:off x="987552" y="1188720"/>
            <a:ext cx="3364992" cy="365760"/>
          </a:xfrm>
          <a:prstGeom prst="rect">
            <a:avLst/>
          </a:prstGeom>
          <a:noFill/>
          <a:ln/>
        </p:spPr>
        <p:txBody>
          <a:bodyPr wrap="square" lIns="0" tIns="0" rIns="0" bIns="0" rtlCol="0" anchor="ctr"/>
          <a:lstStyle/>
          <a:p>
            <a:pPr indent="0" marL="0">
              <a:buNone/>
            </a:pPr>
            <a:r>
              <a:rPr lang="en-US" sz="1100" b="1" dirty="0">
                <a:solidFill>
                  <a:srgbClr val="0F2A4A"/>
                </a:solidFill>
                <a:latin typeface="Calibri" pitchFamily="34" charset="0"/>
                <a:ea typeface="Calibri" pitchFamily="34" charset="-122"/>
                <a:cs typeface="Calibri" pitchFamily="34" charset="-120"/>
              </a:rPr>
              <a:t>Pick the hazard from the device, not the file</a:t>
            </a:r>
            <a:endParaRPr lang="en-US" sz="1100" dirty="0"/>
          </a:p>
        </p:txBody>
      </p:sp>
      <p:sp>
        <p:nvSpPr>
          <p:cNvPr id="11" name="Text 8"/>
          <p:cNvSpPr txBox="1"/>
          <p:nvPr/>
        </p:nvSpPr>
        <p:spPr>
          <a:xfrm>
            <a:off x="585216" y="1591056"/>
            <a:ext cx="3767328" cy="420624"/>
          </a:xfrm>
          <a:prstGeom prst="rect">
            <a:avLst/>
          </a:prstGeom>
          <a:noFill/>
          <a:ln/>
        </p:spPr>
        <p:txBody>
          <a:bodyPr wrap="square" lIns="0" tIns="0" rIns="0" bIns="0" rtlCol="0" anchor="t"/>
          <a:lstStyle/>
          <a:p>
            <a:pPr indent="0" marL="0">
              <a:buNone/>
            </a:pPr>
            <a:r>
              <a:rPr lang="en-US" sz="900" dirty="0">
                <a:solidFill>
                  <a:srgbClr val="1F2933"/>
                </a:solidFill>
                <a:latin typeface="Calibri" pitchFamily="34" charset="0"/>
                <a:ea typeface="Calibri" pitchFamily="34" charset="-122"/>
                <a:cs typeface="Calibri" pitchFamily="34" charset="-120"/>
              </a:rPr>
              <a:t>From the clinical profile, your complaint data, or the recall history of similar devices. Never from your index</a:t>
            </a:r>
            <a:endParaRPr lang="en-US" sz="900" dirty="0"/>
          </a:p>
        </p:txBody>
      </p:sp>
      <p:sp>
        <p:nvSpPr>
          <p:cNvPr id="12" name="Shape 9"/>
          <p:cNvSpPr/>
          <p:nvPr/>
        </p:nvSpPr>
        <p:spPr>
          <a:xfrm>
            <a:off x="4663440" y="1097280"/>
            <a:ext cx="4023360" cy="1005840"/>
          </a:xfrm>
          <a:prstGeom prst="roundRect">
            <a:avLst>
              <a:gd name="adj" fmla="val 5455"/>
            </a:avLst>
          </a:prstGeom>
          <a:solidFill>
            <a:srgbClr val="EAF0F6"/>
          </a:solidFill>
          <a:ln w="12700">
            <a:solidFill>
              <a:srgbClr val="EAF0F6"/>
            </a:solidFill>
            <a:prstDash val="solid"/>
          </a:ln>
        </p:spPr>
      </p:sp>
      <p:sp>
        <p:nvSpPr>
          <p:cNvPr id="13" name="Shape 10"/>
          <p:cNvSpPr/>
          <p:nvPr/>
        </p:nvSpPr>
        <p:spPr>
          <a:xfrm>
            <a:off x="4791456" y="1207008"/>
            <a:ext cx="310896" cy="310896"/>
          </a:xfrm>
          <a:prstGeom prst="ellipse">
            <a:avLst/>
          </a:prstGeom>
          <a:solidFill>
            <a:srgbClr val="0F2A4A"/>
          </a:solidFill>
          <a:ln w="12700">
            <a:solidFill>
              <a:srgbClr val="0F2A4A"/>
            </a:solidFill>
            <a:prstDash val="solid"/>
          </a:ln>
        </p:spPr>
      </p:sp>
      <p:sp>
        <p:nvSpPr>
          <p:cNvPr id="14" name="Text 11"/>
          <p:cNvSpPr txBox="1"/>
          <p:nvPr/>
        </p:nvSpPr>
        <p:spPr>
          <a:xfrm>
            <a:off x="4791456" y="1207008"/>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5" name="Text 12"/>
          <p:cNvSpPr txBox="1"/>
          <p:nvPr/>
        </p:nvSpPr>
        <p:spPr>
          <a:xfrm>
            <a:off x="5193792" y="1188720"/>
            <a:ext cx="3364992" cy="365760"/>
          </a:xfrm>
          <a:prstGeom prst="rect">
            <a:avLst/>
          </a:prstGeom>
          <a:noFill/>
          <a:ln/>
        </p:spPr>
        <p:txBody>
          <a:bodyPr wrap="square" lIns="0" tIns="0" rIns="0" bIns="0" rtlCol="0" anchor="ctr"/>
          <a:lstStyle/>
          <a:p>
            <a:pPr indent="0" marL="0">
              <a:buNone/>
            </a:pPr>
            <a:r>
              <a:rPr lang="en-US" sz="1100" b="1" dirty="0">
                <a:solidFill>
                  <a:srgbClr val="0F2A4A"/>
                </a:solidFill>
                <a:latin typeface="Calibri" pitchFamily="34" charset="0"/>
                <a:ea typeface="Calibri" pitchFamily="34" charset="-122"/>
                <a:cs typeface="Calibri" pitchFamily="34" charset="-120"/>
              </a:rPr>
              <a:t>Walk to the estimate and ask for the basis</a:t>
            </a:r>
            <a:endParaRPr lang="en-US" sz="1100" dirty="0"/>
          </a:p>
        </p:txBody>
      </p:sp>
      <p:sp>
        <p:nvSpPr>
          <p:cNvPr id="16" name="Text 13"/>
          <p:cNvSpPr txBox="1"/>
          <p:nvPr/>
        </p:nvSpPr>
        <p:spPr>
          <a:xfrm>
            <a:off x="4791456" y="1591056"/>
            <a:ext cx="3767328" cy="420624"/>
          </a:xfrm>
          <a:prstGeom prst="rect">
            <a:avLst/>
          </a:prstGeom>
          <a:noFill/>
          <a:ln/>
        </p:spPr>
        <p:txBody>
          <a:bodyPr wrap="square" lIns="0" tIns="0" rIns="0" bIns="0" rtlCol="0" anchor="t"/>
          <a:lstStyle/>
          <a:p>
            <a:pPr indent="0" marL="0">
              <a:buNone/>
            </a:pPr>
            <a:r>
              <a:rPr lang="en-US" sz="900" dirty="0">
                <a:solidFill>
                  <a:srgbClr val="1F2933"/>
                </a:solidFill>
                <a:latin typeface="Calibri" pitchFamily="34" charset="0"/>
                <a:ea typeface="Calibri" pitchFamily="34" charset="-122"/>
                <a:cs typeface="Calibri" pitchFamily="34" charset="-120"/>
              </a:rPr>
              <a:t>Where did P1 come from? What population, what period, what record? "Engineering judgement" ends the conversation badly</a:t>
            </a:r>
            <a:endParaRPr lang="en-US" sz="900" dirty="0"/>
          </a:p>
        </p:txBody>
      </p:sp>
      <p:sp>
        <p:nvSpPr>
          <p:cNvPr id="17" name="Shape 14"/>
          <p:cNvSpPr/>
          <p:nvPr/>
        </p:nvSpPr>
        <p:spPr>
          <a:xfrm>
            <a:off x="457200" y="2194560"/>
            <a:ext cx="4023360" cy="1005840"/>
          </a:xfrm>
          <a:prstGeom prst="roundRect">
            <a:avLst>
              <a:gd name="adj" fmla="val 5455"/>
            </a:avLst>
          </a:prstGeom>
          <a:solidFill>
            <a:srgbClr val="F5F8FB"/>
          </a:solidFill>
          <a:ln w="12700">
            <a:solidFill>
              <a:srgbClr val="F5F8FB"/>
            </a:solidFill>
            <a:prstDash val="solid"/>
          </a:ln>
        </p:spPr>
      </p:sp>
      <p:sp>
        <p:nvSpPr>
          <p:cNvPr id="18" name="Shape 15"/>
          <p:cNvSpPr/>
          <p:nvPr/>
        </p:nvSpPr>
        <p:spPr>
          <a:xfrm>
            <a:off x="585216" y="2304288"/>
            <a:ext cx="310896" cy="310896"/>
          </a:xfrm>
          <a:prstGeom prst="ellipse">
            <a:avLst/>
          </a:prstGeom>
          <a:solidFill>
            <a:srgbClr val="0F2A4A"/>
          </a:solidFill>
          <a:ln w="12700">
            <a:solidFill>
              <a:srgbClr val="0F2A4A"/>
            </a:solidFill>
            <a:prstDash val="solid"/>
          </a:ln>
        </p:spPr>
      </p:sp>
      <p:sp>
        <p:nvSpPr>
          <p:cNvPr id="19" name="Text 16"/>
          <p:cNvSpPr txBox="1"/>
          <p:nvPr/>
        </p:nvSpPr>
        <p:spPr>
          <a:xfrm>
            <a:off x="585216" y="2304288"/>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20" name="Text 17"/>
          <p:cNvSpPr txBox="1"/>
          <p:nvPr/>
        </p:nvSpPr>
        <p:spPr>
          <a:xfrm>
            <a:off x="987552" y="2286000"/>
            <a:ext cx="3364992" cy="365760"/>
          </a:xfrm>
          <a:prstGeom prst="rect">
            <a:avLst/>
          </a:prstGeom>
          <a:noFill/>
          <a:ln/>
        </p:spPr>
        <p:txBody>
          <a:bodyPr wrap="square" lIns="0" tIns="0" rIns="0" bIns="0" rtlCol="0" anchor="ctr"/>
          <a:lstStyle/>
          <a:p>
            <a:pPr indent="0" marL="0">
              <a:buNone/>
            </a:pPr>
            <a:r>
              <a:rPr lang="en-US" sz="1100" b="1" dirty="0">
                <a:solidFill>
                  <a:srgbClr val="0F2A4A"/>
                </a:solidFill>
                <a:latin typeface="Calibri" pitchFamily="34" charset="0"/>
                <a:ea typeface="Calibri" pitchFamily="34" charset="-122"/>
                <a:cs typeface="Calibri" pitchFamily="34" charset="-120"/>
              </a:rPr>
              <a:t>Walk to the control and read the option analysis</a:t>
            </a:r>
            <a:endParaRPr lang="en-US" sz="1100" dirty="0"/>
          </a:p>
        </p:txBody>
      </p:sp>
      <p:sp>
        <p:nvSpPr>
          <p:cNvPr id="21" name="Text 18"/>
          <p:cNvSpPr txBox="1"/>
          <p:nvPr/>
        </p:nvSpPr>
        <p:spPr>
          <a:xfrm>
            <a:off x="585216" y="2688336"/>
            <a:ext cx="3767328" cy="420624"/>
          </a:xfrm>
          <a:prstGeom prst="rect">
            <a:avLst/>
          </a:prstGeom>
          <a:noFill/>
          <a:ln/>
        </p:spPr>
        <p:txBody>
          <a:bodyPr wrap="square" lIns="0" tIns="0" rIns="0" bIns="0" rtlCol="0" anchor="t"/>
          <a:lstStyle/>
          <a:p>
            <a:pPr indent="0" marL="0">
              <a:buNone/>
            </a:pPr>
            <a:r>
              <a:rPr lang="en-US" sz="900" dirty="0">
                <a:solidFill>
                  <a:srgbClr val="1F2933"/>
                </a:solidFill>
                <a:latin typeface="Calibri" pitchFamily="34" charset="0"/>
                <a:ea typeface="Calibri" pitchFamily="34" charset="-122"/>
                <a:cs typeface="Calibri" pitchFamily="34" charset="-120"/>
              </a:rPr>
              <a:t>Was the order of priority worked? Is there a record of why a higher option was not practicable, on a non-economic basis?</a:t>
            </a:r>
            <a:endParaRPr lang="en-US" sz="900" dirty="0"/>
          </a:p>
        </p:txBody>
      </p:sp>
      <p:sp>
        <p:nvSpPr>
          <p:cNvPr id="22" name="Shape 19"/>
          <p:cNvSpPr/>
          <p:nvPr/>
        </p:nvSpPr>
        <p:spPr>
          <a:xfrm>
            <a:off x="4663440" y="2194560"/>
            <a:ext cx="4023360" cy="1005840"/>
          </a:xfrm>
          <a:prstGeom prst="roundRect">
            <a:avLst>
              <a:gd name="adj" fmla="val 5455"/>
            </a:avLst>
          </a:prstGeom>
          <a:solidFill>
            <a:srgbClr val="F5F8FB"/>
          </a:solidFill>
          <a:ln w="12700">
            <a:solidFill>
              <a:srgbClr val="F5F8FB"/>
            </a:solidFill>
            <a:prstDash val="solid"/>
          </a:ln>
        </p:spPr>
      </p:sp>
      <p:sp>
        <p:nvSpPr>
          <p:cNvPr id="23" name="Shape 20"/>
          <p:cNvSpPr/>
          <p:nvPr/>
        </p:nvSpPr>
        <p:spPr>
          <a:xfrm>
            <a:off x="4791456" y="2304288"/>
            <a:ext cx="310896" cy="310896"/>
          </a:xfrm>
          <a:prstGeom prst="ellipse">
            <a:avLst/>
          </a:prstGeom>
          <a:solidFill>
            <a:srgbClr val="0F2A4A"/>
          </a:solidFill>
          <a:ln w="12700">
            <a:solidFill>
              <a:srgbClr val="0F2A4A"/>
            </a:solidFill>
            <a:prstDash val="solid"/>
          </a:ln>
        </p:spPr>
      </p:sp>
      <p:sp>
        <p:nvSpPr>
          <p:cNvPr id="24" name="Text 21"/>
          <p:cNvSpPr txBox="1"/>
          <p:nvPr/>
        </p:nvSpPr>
        <p:spPr>
          <a:xfrm>
            <a:off x="4791456" y="2304288"/>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25" name="Text 22"/>
          <p:cNvSpPr txBox="1"/>
          <p:nvPr/>
        </p:nvSpPr>
        <p:spPr>
          <a:xfrm>
            <a:off x="5193792" y="2286000"/>
            <a:ext cx="3364992" cy="365760"/>
          </a:xfrm>
          <a:prstGeom prst="rect">
            <a:avLst/>
          </a:prstGeom>
          <a:noFill/>
          <a:ln/>
        </p:spPr>
        <p:txBody>
          <a:bodyPr wrap="square" lIns="0" tIns="0" rIns="0" bIns="0" rtlCol="0" anchor="ctr"/>
          <a:lstStyle/>
          <a:p>
            <a:pPr indent="0" marL="0">
              <a:buNone/>
            </a:pPr>
            <a:r>
              <a:rPr lang="en-US" sz="1100" b="1" dirty="0">
                <a:solidFill>
                  <a:srgbClr val="0F2A4A"/>
                </a:solidFill>
                <a:latin typeface="Calibri" pitchFamily="34" charset="0"/>
                <a:ea typeface="Calibri" pitchFamily="34" charset="-122"/>
                <a:cs typeface="Calibri" pitchFamily="34" charset="-120"/>
              </a:rPr>
              <a:t>Ask for the effectiveness record, not the implementation record</a:t>
            </a:r>
            <a:endParaRPr lang="en-US" sz="1100" dirty="0"/>
          </a:p>
        </p:txBody>
      </p:sp>
      <p:sp>
        <p:nvSpPr>
          <p:cNvPr id="26" name="Text 23"/>
          <p:cNvSpPr txBox="1"/>
          <p:nvPr/>
        </p:nvSpPr>
        <p:spPr>
          <a:xfrm>
            <a:off x="4791456" y="2688336"/>
            <a:ext cx="3767328" cy="420624"/>
          </a:xfrm>
          <a:prstGeom prst="rect">
            <a:avLst/>
          </a:prstGeom>
          <a:noFill/>
          <a:ln/>
        </p:spPr>
        <p:txBody>
          <a:bodyPr wrap="square" lIns="0" tIns="0" rIns="0" bIns="0" rtlCol="0" anchor="t"/>
          <a:lstStyle/>
          <a:p>
            <a:pPr indent="0" marL="0">
              <a:buNone/>
            </a:pPr>
            <a:r>
              <a:rPr lang="en-US" sz="900" dirty="0">
                <a:solidFill>
                  <a:srgbClr val="1F2933"/>
                </a:solidFill>
                <a:latin typeface="Calibri" pitchFamily="34" charset="0"/>
                <a:ea typeface="Calibri" pitchFamily="34" charset="-122"/>
                <a:cs typeface="Calibri" pitchFamily="34" charset="-120"/>
              </a:rPr>
              <a:t>Does the evidence support the size of the reduction claimed? This is where most traversals stop</a:t>
            </a:r>
            <a:endParaRPr lang="en-US" sz="900" dirty="0"/>
          </a:p>
        </p:txBody>
      </p:sp>
      <p:sp>
        <p:nvSpPr>
          <p:cNvPr id="27" name="Shape 24"/>
          <p:cNvSpPr/>
          <p:nvPr/>
        </p:nvSpPr>
        <p:spPr>
          <a:xfrm>
            <a:off x="457200" y="3291840"/>
            <a:ext cx="4023360" cy="1005840"/>
          </a:xfrm>
          <a:prstGeom prst="roundRect">
            <a:avLst>
              <a:gd name="adj" fmla="val 5455"/>
            </a:avLst>
          </a:prstGeom>
          <a:solidFill>
            <a:srgbClr val="EAF0F6"/>
          </a:solidFill>
          <a:ln w="12700">
            <a:solidFill>
              <a:srgbClr val="EAF0F6"/>
            </a:solidFill>
            <a:prstDash val="solid"/>
          </a:ln>
        </p:spPr>
      </p:sp>
      <p:sp>
        <p:nvSpPr>
          <p:cNvPr id="28" name="Shape 25"/>
          <p:cNvSpPr/>
          <p:nvPr/>
        </p:nvSpPr>
        <p:spPr>
          <a:xfrm>
            <a:off x="585216" y="3401568"/>
            <a:ext cx="310896" cy="310896"/>
          </a:xfrm>
          <a:prstGeom prst="ellipse">
            <a:avLst/>
          </a:prstGeom>
          <a:solidFill>
            <a:srgbClr val="0F2A4A"/>
          </a:solidFill>
          <a:ln w="12700">
            <a:solidFill>
              <a:srgbClr val="0F2A4A"/>
            </a:solidFill>
            <a:prstDash val="solid"/>
          </a:ln>
        </p:spPr>
      </p:sp>
      <p:sp>
        <p:nvSpPr>
          <p:cNvPr id="29" name="Text 26"/>
          <p:cNvSpPr txBox="1"/>
          <p:nvPr/>
        </p:nvSpPr>
        <p:spPr>
          <a:xfrm>
            <a:off x="585216" y="3401568"/>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30" name="Text 27"/>
          <p:cNvSpPr txBox="1"/>
          <p:nvPr/>
        </p:nvSpPr>
        <p:spPr>
          <a:xfrm>
            <a:off x="987552" y="3383280"/>
            <a:ext cx="3364992" cy="365760"/>
          </a:xfrm>
          <a:prstGeom prst="rect">
            <a:avLst/>
          </a:prstGeom>
          <a:noFill/>
          <a:ln/>
        </p:spPr>
        <p:txBody>
          <a:bodyPr wrap="square" lIns="0" tIns="0" rIns="0" bIns="0" rtlCol="0" anchor="ctr"/>
          <a:lstStyle/>
          <a:p>
            <a:pPr indent="0" marL="0">
              <a:buNone/>
            </a:pPr>
            <a:r>
              <a:rPr lang="en-US" sz="1100" b="1" dirty="0">
                <a:solidFill>
                  <a:srgbClr val="0F2A4A"/>
                </a:solidFill>
                <a:latin typeface="Calibri" pitchFamily="34" charset="0"/>
                <a:ea typeface="Calibri" pitchFamily="34" charset="-122"/>
                <a:cs typeface="Calibri" pitchFamily="34" charset="-120"/>
              </a:rPr>
              <a:t>Walk to the labelling and the clinical evaluation</a:t>
            </a:r>
            <a:endParaRPr lang="en-US" sz="1100" dirty="0"/>
          </a:p>
        </p:txBody>
      </p:sp>
      <p:sp>
        <p:nvSpPr>
          <p:cNvPr id="31" name="Text 28"/>
          <p:cNvSpPr txBox="1"/>
          <p:nvPr/>
        </p:nvSpPr>
        <p:spPr>
          <a:xfrm>
            <a:off x="585216" y="3785616"/>
            <a:ext cx="3767328" cy="420624"/>
          </a:xfrm>
          <a:prstGeom prst="rect">
            <a:avLst/>
          </a:prstGeom>
          <a:noFill/>
          <a:ln/>
        </p:spPr>
        <p:txBody>
          <a:bodyPr wrap="square" lIns="0" tIns="0" rIns="0" bIns="0" rtlCol="0" anchor="t"/>
          <a:lstStyle/>
          <a:p>
            <a:pPr indent="0" marL="0">
              <a:buNone/>
            </a:pPr>
            <a:r>
              <a:rPr lang="en-US" sz="900" dirty="0">
                <a:solidFill>
                  <a:srgbClr val="1F2933"/>
                </a:solidFill>
                <a:latin typeface="Calibri" pitchFamily="34" charset="0"/>
                <a:ea typeface="Calibri" pitchFamily="34" charset="-122"/>
                <a:cs typeface="Calibri" pitchFamily="34" charset="-120"/>
              </a:rPr>
              <a:t>Is the residual risk disclosed? Do the risk file criteria and the clinical evaluation plan benefit-risk parameters agree?</a:t>
            </a:r>
            <a:endParaRPr lang="en-US" sz="900" dirty="0"/>
          </a:p>
        </p:txBody>
      </p:sp>
      <p:sp>
        <p:nvSpPr>
          <p:cNvPr id="32" name="Shape 29"/>
          <p:cNvSpPr/>
          <p:nvPr/>
        </p:nvSpPr>
        <p:spPr>
          <a:xfrm>
            <a:off x="4663440" y="3291840"/>
            <a:ext cx="4023360" cy="1005840"/>
          </a:xfrm>
          <a:prstGeom prst="roundRect">
            <a:avLst>
              <a:gd name="adj" fmla="val 5455"/>
            </a:avLst>
          </a:prstGeom>
          <a:solidFill>
            <a:srgbClr val="EAF0F6"/>
          </a:solidFill>
          <a:ln w="12700">
            <a:solidFill>
              <a:srgbClr val="EAF0F6"/>
            </a:solidFill>
            <a:prstDash val="solid"/>
          </a:ln>
        </p:spPr>
      </p:sp>
      <p:sp>
        <p:nvSpPr>
          <p:cNvPr id="33" name="Shape 30"/>
          <p:cNvSpPr/>
          <p:nvPr/>
        </p:nvSpPr>
        <p:spPr>
          <a:xfrm>
            <a:off x="4791456" y="3401568"/>
            <a:ext cx="310896" cy="310896"/>
          </a:xfrm>
          <a:prstGeom prst="ellipse">
            <a:avLst/>
          </a:prstGeom>
          <a:solidFill>
            <a:srgbClr val="0F2A4A"/>
          </a:solidFill>
          <a:ln w="12700">
            <a:solidFill>
              <a:srgbClr val="0F2A4A"/>
            </a:solidFill>
            <a:prstDash val="solid"/>
          </a:ln>
        </p:spPr>
      </p:sp>
      <p:sp>
        <p:nvSpPr>
          <p:cNvPr id="34" name="Text 31"/>
          <p:cNvSpPr txBox="1"/>
          <p:nvPr/>
        </p:nvSpPr>
        <p:spPr>
          <a:xfrm>
            <a:off x="4791456" y="3401568"/>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35" name="Text 32"/>
          <p:cNvSpPr txBox="1"/>
          <p:nvPr/>
        </p:nvSpPr>
        <p:spPr>
          <a:xfrm>
            <a:off x="5193792" y="3383280"/>
            <a:ext cx="3364992" cy="365760"/>
          </a:xfrm>
          <a:prstGeom prst="rect">
            <a:avLst/>
          </a:prstGeom>
          <a:noFill/>
          <a:ln/>
        </p:spPr>
        <p:txBody>
          <a:bodyPr wrap="square" lIns="0" tIns="0" rIns="0" bIns="0" rtlCol="0" anchor="ctr"/>
          <a:lstStyle/>
          <a:p>
            <a:pPr indent="0" marL="0">
              <a:buNone/>
            </a:pPr>
            <a:r>
              <a:rPr lang="en-US" sz="1100" b="1" dirty="0">
                <a:solidFill>
                  <a:srgbClr val="0F2A4A"/>
                </a:solidFill>
                <a:latin typeface="Calibri" pitchFamily="34" charset="0"/>
                <a:ea typeface="Calibri" pitchFamily="34" charset="-122"/>
                <a:cs typeface="Calibri" pitchFamily="34" charset="-120"/>
              </a:rPr>
              <a:t>Walk to the post-market data and back</a:t>
            </a:r>
            <a:endParaRPr lang="en-US" sz="1100" dirty="0"/>
          </a:p>
        </p:txBody>
      </p:sp>
      <p:sp>
        <p:nvSpPr>
          <p:cNvPr id="36" name="Text 33"/>
          <p:cNvSpPr txBox="1"/>
          <p:nvPr/>
        </p:nvSpPr>
        <p:spPr>
          <a:xfrm>
            <a:off x="4791456" y="3785616"/>
            <a:ext cx="3767328" cy="420624"/>
          </a:xfrm>
          <a:prstGeom prst="rect">
            <a:avLst/>
          </a:prstGeom>
          <a:noFill/>
          <a:ln/>
        </p:spPr>
        <p:txBody>
          <a:bodyPr wrap="square" lIns="0" tIns="0" rIns="0" bIns="0" rtlCol="0" anchor="t"/>
          <a:lstStyle/>
          <a:p>
            <a:pPr indent="0" marL="0">
              <a:buNone/>
            </a:pPr>
            <a:r>
              <a:rPr lang="en-US" sz="900" dirty="0">
                <a:solidFill>
                  <a:srgbClr val="1F2933"/>
                </a:solidFill>
                <a:latin typeface="Calibri" pitchFamily="34" charset="0"/>
                <a:ea typeface="Calibri" pitchFamily="34" charset="-122"/>
                <a:cs typeface="Calibri" pitchFamily="34" charset="-120"/>
              </a:rPr>
              <a:t>What has come in since? Did it change a probability, a severity, or the state of the art? Show me the file revision it produced</a:t>
            </a:r>
            <a:endParaRPr lang="en-US" sz="900" dirty="0"/>
          </a:p>
        </p:txBody>
      </p:sp>
      <p:sp>
        <p:nvSpPr>
          <p:cNvPr id="37" name="Shape 34"/>
          <p:cNvSpPr/>
          <p:nvPr/>
        </p:nvSpPr>
        <p:spPr>
          <a:xfrm>
            <a:off x="457200" y="4434840"/>
            <a:ext cx="8229600" cy="384048"/>
          </a:xfrm>
          <a:prstGeom prst="roundRect">
            <a:avLst>
              <a:gd name="adj" fmla="val 14286"/>
            </a:avLst>
          </a:prstGeom>
          <a:solidFill>
            <a:srgbClr val="0F2A4A"/>
          </a:solidFill>
          <a:ln w="12700">
            <a:solidFill>
              <a:srgbClr val="0F2A4A"/>
            </a:solidFill>
            <a:prstDash val="solid"/>
          </a:ln>
        </p:spPr>
      </p:sp>
      <p:sp>
        <p:nvSpPr>
          <p:cNvPr id="38" name="Text 35"/>
          <p:cNvSpPr txBox="1"/>
          <p:nvPr/>
        </p:nvSpPr>
        <p:spPr>
          <a:xfrm>
            <a:off x="640080" y="4434840"/>
            <a:ext cx="7863840" cy="384048"/>
          </a:xfrm>
          <a:prstGeom prst="rect">
            <a:avLst/>
          </a:prstGeom>
          <a:noFill/>
          <a:ln/>
        </p:spPr>
        <p:txBody>
          <a:bodyPr wrap="square" lIns="0" tIns="0" rIns="0" bIns="0" rtlCol="0" anchor="ctr"/>
          <a:lstStyle/>
          <a:p>
            <a:pPr indent="0" marL="0">
              <a:buNone/>
            </a:pPr>
            <a:r>
              <a:rPr lang="en-US" sz="900" i="1" dirty="0">
                <a:solidFill>
                  <a:srgbClr val="FFFFFF"/>
                </a:solidFill>
                <a:latin typeface="Calibri" pitchFamily="34" charset="0"/>
                <a:ea typeface="Calibri" pitchFamily="34" charset="-122"/>
                <a:cs typeface="Calibri" pitchFamily="34" charset="-120"/>
              </a:rPr>
              <a:t>Team-NB best practice guidance, V4, 21 April 2026, section 5.5: no acceptance on RPN alone, no green zone, each risk decided individually - and V4 adds a pitfall for an IFU warning used as a risk control with no usability evidence of effectiveness.</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B1F38"/>
        </a:solidFill>
      </p:bgPr>
    </p:bg>
    <p:spTree>
      <p:nvGrpSpPr>
        <p:cNvPr id="1" name=""/>
        <p:cNvGrpSpPr/>
        <p:nvPr/>
      </p:nvGrpSpPr>
      <p:grpSpPr>
        <a:xfrm>
          <a:off x="0" y="0"/>
          <a:ext cx="0" cy="0"/>
          <a:chOff x="0" y="0"/>
          <a:chExt cx="0" cy="0"/>
        </a:xfrm>
      </p:grpSpPr>
      <p:sp>
        <p:nvSpPr>
          <p:cNvPr id="2" name="Text 0"/>
          <p:cNvSpPr txBox="1"/>
          <p:nvPr/>
        </p:nvSpPr>
        <p:spPr>
          <a:xfrm>
            <a:off x="457200" y="4814316"/>
            <a:ext cx="5943600" cy="201168"/>
          </a:xfrm>
          <a:prstGeom prst="rect">
            <a:avLst/>
          </a:prstGeom>
          <a:noFill/>
          <a:ln/>
        </p:spPr>
        <p:txBody>
          <a:bodyPr wrap="square" lIns="0" tIns="0" rIns="0" bIns="0" rtlCol="0" anchor="ctr"/>
          <a:lstStyle/>
          <a:p>
            <a:pPr indent="0" marL="0">
              <a:buNone/>
            </a:pPr>
            <a:r>
              <a:rPr lang="en-US" sz="900" dirty="0">
                <a:solidFill>
                  <a:srgbClr val="8FA1B5"/>
                </a:solidFill>
                <a:latin typeface="Calibri" pitchFamily="34" charset="0"/>
                <a:ea typeface="Calibri" pitchFamily="34" charset="-122"/>
                <a:cs typeface="Calibri" pitchFamily="34" charset="-120"/>
              </a:rPr>
              <a:t>Risk Management  |  ISO 14971  |  Elder Consulting, LLC</a:t>
            </a:r>
            <a:endParaRPr lang="en-US" sz="900" dirty="0"/>
          </a:p>
        </p:txBody>
      </p:sp>
      <p:sp>
        <p:nvSpPr>
          <p:cNvPr id="3" name="Text 1"/>
          <p:cNvSpPr txBox="1"/>
          <p:nvPr/>
        </p:nvSpPr>
        <p:spPr>
          <a:xfrm>
            <a:off x="8138160" y="4814316"/>
            <a:ext cx="548640" cy="201168"/>
          </a:xfrm>
          <a:prstGeom prst="rect">
            <a:avLst/>
          </a:prstGeom>
          <a:noFill/>
          <a:ln/>
        </p:spPr>
        <p:txBody>
          <a:bodyPr wrap="square" lIns="0" tIns="0" rIns="0" bIns="0" rtlCol="0" anchor="ctr"/>
          <a:lstStyle/>
          <a:p>
            <a:pPr algn="r" indent="0" marL="0">
              <a:buNone/>
            </a:pPr>
            <a:r>
              <a:rPr lang="en-US" sz="900" dirty="0">
                <a:solidFill>
                  <a:srgbClr val="8FA1B5"/>
                </a:solidFill>
                <a:latin typeface="Calibri" pitchFamily="34" charset="0"/>
                <a:ea typeface="Calibri" pitchFamily="34" charset="-122"/>
                <a:cs typeface="Calibri" pitchFamily="34" charset="-120"/>
              </a:rPr>
              <a:t>31</a:t>
            </a:r>
            <a:endParaRPr lang="en-US" sz="900" dirty="0"/>
          </a:p>
        </p:txBody>
      </p:sp>
      <p:sp>
        <p:nvSpPr>
          <p:cNvPr id="4" name="Text 2"/>
          <p:cNvSpPr txBox="1"/>
          <p:nvPr/>
        </p:nvSpPr>
        <p:spPr>
          <a:xfrm>
            <a:off x="457200" y="1417320"/>
            <a:ext cx="8229600" cy="320040"/>
          </a:xfrm>
          <a:prstGeom prst="rect">
            <a:avLst/>
          </a:prstGeom>
          <a:noFill/>
          <a:ln/>
        </p:spPr>
        <p:txBody>
          <a:bodyPr wrap="square" lIns="0" tIns="0" rIns="0" bIns="0" rtlCol="0" anchor="ctr"/>
          <a:lstStyle/>
          <a:p>
            <a:pPr indent="0" marL="0">
              <a:buNone/>
            </a:pPr>
            <a:r>
              <a:rPr lang="en-US" sz="1300" b="1" spc="300" kern="0" dirty="0">
                <a:solidFill>
                  <a:srgbClr val="E0A126"/>
                </a:solidFill>
                <a:latin typeface="Calibri" pitchFamily="34" charset="0"/>
                <a:ea typeface="Calibri" pitchFamily="34" charset="-122"/>
                <a:cs typeface="Calibri" pitchFamily="34" charset="-120"/>
              </a:rPr>
              <a:t>SECTION 6</a:t>
            </a:r>
            <a:endParaRPr lang="en-US" sz="1300" dirty="0"/>
          </a:p>
        </p:txBody>
      </p:sp>
      <p:sp>
        <p:nvSpPr>
          <p:cNvPr id="5" name="Text 3"/>
          <p:cNvSpPr txBox="1"/>
          <p:nvPr/>
        </p:nvSpPr>
        <p:spPr>
          <a:xfrm>
            <a:off x="457200" y="1783080"/>
            <a:ext cx="8229600" cy="1234440"/>
          </a:xfrm>
          <a:prstGeom prst="rect">
            <a:avLst/>
          </a:prstGeom>
          <a:noFill/>
          <a:ln/>
        </p:spPr>
        <p:txBody>
          <a:bodyPr wrap="square" lIns="0" tIns="0" rIns="0" bIns="0" rtlCol="0" anchor="t"/>
          <a:lstStyle/>
          <a:p>
            <a:pPr indent="0" marL="0">
              <a:buNone/>
            </a:pPr>
            <a:r>
              <a:rPr lang="en-US" sz="3600" b="1" dirty="0">
                <a:solidFill>
                  <a:srgbClr val="FFFFFF"/>
                </a:solidFill>
                <a:latin typeface="Cambria" pitchFamily="34" charset="0"/>
                <a:ea typeface="Cambria" pitchFamily="34" charset="-122"/>
                <a:cs typeface="Cambria" pitchFamily="34" charset="-120"/>
              </a:rPr>
              <a:t>Closing the loop</a:t>
            </a:r>
            <a:endParaRPr lang="en-US" sz="3600" dirty="0"/>
          </a:p>
        </p:txBody>
      </p:sp>
      <p:sp>
        <p:nvSpPr>
          <p:cNvPr id="6" name="Text 4"/>
          <p:cNvSpPr txBox="1"/>
          <p:nvPr/>
        </p:nvSpPr>
        <p:spPr>
          <a:xfrm>
            <a:off x="457200" y="3108960"/>
            <a:ext cx="7863840" cy="914400"/>
          </a:xfrm>
          <a:prstGeom prst="rect">
            <a:avLst/>
          </a:prstGeom>
          <a:noFill/>
          <a:ln/>
        </p:spPr>
        <p:txBody>
          <a:bodyPr wrap="square" lIns="0" tIns="0" rIns="0" bIns="0" rtlCol="0" anchor="t"/>
          <a:lstStyle/>
          <a:p>
            <a:pPr indent="0" marL="0">
              <a:buNone/>
            </a:pPr>
            <a:r>
              <a:rPr lang="en-US" sz="1600" dirty="0">
                <a:solidFill>
                  <a:srgbClr val="C9D3DE"/>
                </a:solidFill>
                <a:latin typeface="Calibri" pitchFamily="34" charset="0"/>
                <a:ea typeface="Calibri" pitchFamily="34" charset="-122"/>
                <a:cs typeface="Calibri" pitchFamily="34" charset="-120"/>
              </a:rPr>
              <a:t>Clause 10 and the MDR plumbing: the difference between a risk file and a historical document</a:t>
            </a:r>
            <a:endParaRPr lang="en-US" sz="16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4814316"/>
            <a:ext cx="5943600" cy="201168"/>
          </a:xfrm>
          <a:prstGeom prst="rect">
            <a:avLst/>
          </a:prstGeom>
          <a:noFill/>
          <a:ln/>
        </p:spPr>
        <p:txBody>
          <a:bodyPr wrap="square" lIns="0" tIns="0" rIns="0" bIns="0" rtlCol="0" anchor="ctr"/>
          <a:lstStyle/>
          <a:p>
            <a:pPr indent="0" marL="0">
              <a:buNone/>
            </a:pPr>
            <a:r>
              <a:rPr lang="en-US" sz="900" dirty="0">
                <a:solidFill>
                  <a:srgbClr val="5A6B7B"/>
                </a:solidFill>
                <a:latin typeface="Calibri" pitchFamily="34" charset="0"/>
                <a:ea typeface="Calibri" pitchFamily="34" charset="-122"/>
                <a:cs typeface="Calibri" pitchFamily="34" charset="-120"/>
              </a:rPr>
              <a:t>Risk Management  |  ISO 14971  |  Elder Consulting, LLC</a:t>
            </a:r>
            <a:endParaRPr lang="en-US" sz="900" dirty="0"/>
          </a:p>
        </p:txBody>
      </p:sp>
      <p:sp>
        <p:nvSpPr>
          <p:cNvPr id="3" name="Text 1"/>
          <p:cNvSpPr txBox="1"/>
          <p:nvPr/>
        </p:nvSpPr>
        <p:spPr>
          <a:xfrm>
            <a:off x="8138160" y="4814316"/>
            <a:ext cx="548640" cy="201168"/>
          </a:xfrm>
          <a:prstGeom prst="rect">
            <a:avLst/>
          </a:prstGeom>
          <a:noFill/>
          <a:ln/>
        </p:spPr>
        <p:txBody>
          <a:bodyPr wrap="square" lIns="0" tIns="0" rIns="0" bIns="0" rtlCol="0" anchor="ctr"/>
          <a:lstStyle/>
          <a:p>
            <a:pPr algn="r" indent="0" marL="0">
              <a:buNone/>
            </a:pPr>
            <a:r>
              <a:rPr lang="en-US" sz="900" dirty="0">
                <a:solidFill>
                  <a:srgbClr val="5A6B7B"/>
                </a:solidFill>
                <a:latin typeface="Calibri" pitchFamily="34" charset="0"/>
                <a:ea typeface="Calibri" pitchFamily="34" charset="-122"/>
                <a:cs typeface="Calibri" pitchFamily="34" charset="-120"/>
              </a:rPr>
              <a:t>32</a:t>
            </a:r>
            <a:endParaRPr lang="en-US" sz="900" dirty="0"/>
          </a:p>
        </p:txBody>
      </p:sp>
      <p:sp>
        <p:nvSpPr>
          <p:cNvPr id="4" name="Text 2"/>
          <p:cNvSpPr txBox="1"/>
          <p:nvPr/>
        </p:nvSpPr>
        <p:spPr>
          <a:xfrm>
            <a:off x="457200" y="274320"/>
            <a:ext cx="8229600" cy="219456"/>
          </a:xfrm>
          <a:prstGeom prst="rect">
            <a:avLst/>
          </a:prstGeom>
          <a:noFill/>
          <a:ln/>
        </p:spPr>
        <p:txBody>
          <a:bodyPr wrap="square" lIns="0" tIns="0" rIns="0" bIns="0" rtlCol="0" anchor="ctr"/>
          <a:lstStyle/>
          <a:p>
            <a:pPr indent="0" marL="0">
              <a:buNone/>
            </a:pPr>
            <a:r>
              <a:rPr lang="en-US" sz="1000" b="1" spc="200" kern="0" dirty="0">
                <a:solidFill>
                  <a:srgbClr val="A8730F"/>
                </a:solidFill>
                <a:latin typeface="Calibri" pitchFamily="34" charset="0"/>
                <a:ea typeface="Calibri" pitchFamily="34" charset="-122"/>
                <a:cs typeface="Calibri" pitchFamily="34" charset="-120"/>
              </a:rPr>
              <a:t>SECTION 4  |  CLOSING THE LOOP</a:t>
            </a:r>
            <a:endParaRPr lang="en-US" sz="1000" dirty="0"/>
          </a:p>
        </p:txBody>
      </p:sp>
      <p:sp>
        <p:nvSpPr>
          <p:cNvPr id="5" name="Text 3"/>
          <p:cNvSpPr txBox="1"/>
          <p:nvPr/>
        </p:nvSpPr>
        <p:spPr>
          <a:xfrm>
            <a:off x="457200" y="502920"/>
            <a:ext cx="8229600" cy="548640"/>
          </a:xfrm>
          <a:prstGeom prst="rect">
            <a:avLst/>
          </a:prstGeom>
          <a:noFill/>
          <a:ln/>
        </p:spPr>
        <p:txBody>
          <a:bodyPr wrap="square" lIns="0" tIns="0" rIns="0" bIns="0" rtlCol="0" anchor="t"/>
          <a:lstStyle/>
          <a:p>
            <a:pPr indent="0" marL="0">
              <a:buNone/>
            </a:pPr>
            <a:r>
              <a:rPr lang="en-US" sz="2400" b="1" dirty="0">
                <a:solidFill>
                  <a:srgbClr val="0F2A4A"/>
                </a:solidFill>
                <a:latin typeface="Cambria" pitchFamily="34" charset="0"/>
                <a:ea typeface="Cambria" pitchFamily="34" charset="-122"/>
                <a:cs typeface="Cambria" pitchFamily="34" charset="-120"/>
              </a:rPr>
              <a:t>Clause 10: four questions of every input</a:t>
            </a:r>
            <a:endParaRPr lang="en-US" sz="2400" dirty="0"/>
          </a:p>
        </p:txBody>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457200" y="1078992"/>
          <a:ext cx="8229600" cy="914400"/>
        </p:xfrm>
        <a:graphic>
          <a:graphicData uri="http://schemas.openxmlformats.org/drawingml/2006/table">
            <a:tbl>
              <a:tblPr/>
              <a:tblGrid>
                <a:gridCol w="3840480"/>
                <a:gridCol w="4389120"/>
              </a:tblGrid>
              <a:tr h="274320">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10.3 asks</a:t>
                      </a:r>
                      <a:endParaRPr lang="en-US" sz="900" dirty="0">
                        <a:latin typeface="Calibri" charset="0"/>
                        <a:ea typeface="Calibri" charset="0"/>
                        <a:cs typeface="Calibri" charset="0"/>
                      </a:endParaRPr>
                    </a:p>
                  </a:txBody>
                  <a:tcPr marL="54864" marR="54864" marT="54864" marB="54864" anchor="ctr">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0F2A4A"/>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And if the answer is yes</a:t>
                      </a:r>
                      <a:endParaRPr lang="en-US" sz="900" dirty="0">
                        <a:latin typeface="Calibri" charset="0"/>
                        <a:ea typeface="Calibri" charset="0"/>
                        <a:cs typeface="Calibri" charset="0"/>
                      </a:endParaRPr>
                    </a:p>
                  </a:txBody>
                  <a:tcPr marL="54864" marR="54864" marT="54864" marB="54864" anchor="ctr">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0F2A4A"/>
                    </a:solidFill>
                  </a:tcPr>
                </a:tc>
              </a:tr>
              <a:tr h="274320">
                <a:tc>
                  <a:txBody>
                    <a:bodyPr/>
                    <a:lstStyle/>
                    <a:p>
                      <a:pPr indent="0" marL="0">
                        <a:buNone/>
                      </a:pPr>
                      <a:r>
                        <a:rPr lang="en-US" sz="900" b="1" dirty="0">
                          <a:solidFill>
                            <a:srgbClr val="1F2933"/>
                          </a:solidFill>
                          <a:latin typeface="Calibri" pitchFamily="34" charset="0"/>
                          <a:ea typeface="Calibri" pitchFamily="34" charset="-122"/>
                          <a:cs typeface="Calibri" pitchFamily="34" charset="-120"/>
                        </a:rPr>
                        <a:t>Is there a previously unrecognised hazard or hazardous situation?</a:t>
                      </a:r>
                      <a:endParaRPr lang="en-US" sz="9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900" dirty="0">
                          <a:solidFill>
                            <a:srgbClr val="1F2933"/>
                          </a:solidFill>
                          <a:latin typeface="Calibri" pitchFamily="34" charset="0"/>
                          <a:ea typeface="Calibri" pitchFamily="34" charset="-122"/>
                          <a:cs typeface="Calibri" pitchFamily="34" charset="-120"/>
                        </a:rPr>
                        <a:t>A new row. Full estimation, evaluation, control and residual risk under 5.5 to 7.4</a:t>
                      </a:r>
                      <a:endParaRPr lang="en-US" sz="9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r>
              <a:tr h="274320">
                <a:tc>
                  <a:txBody>
                    <a:bodyPr/>
                    <a:lstStyle/>
                    <a:p>
                      <a:pPr indent="0" marL="0">
                        <a:buNone/>
                      </a:pPr>
                      <a:r>
                        <a:rPr lang="en-US" sz="900" b="1" dirty="0">
                          <a:solidFill>
                            <a:srgbClr val="1F2933"/>
                          </a:solidFill>
                          <a:latin typeface="Calibri" pitchFamily="34" charset="0"/>
                          <a:ea typeface="Calibri" pitchFamily="34" charset="-122"/>
                          <a:cs typeface="Calibri" pitchFamily="34" charset="-120"/>
                        </a:rPr>
                        <a:t>Is an estimated risk no longer acceptable?</a:t>
                      </a:r>
                      <a:endParaRPr lang="en-US" sz="9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c>
                  <a:txBody>
                    <a:bodyPr/>
                    <a:lstStyle/>
                    <a:p>
                      <a:pPr indent="0" marL="0">
                        <a:buNone/>
                      </a:pPr>
                      <a:r>
                        <a:rPr lang="en-US" sz="900" dirty="0">
                          <a:solidFill>
                            <a:srgbClr val="1F2933"/>
                          </a:solidFill>
                          <a:latin typeface="Calibri" pitchFamily="34" charset="0"/>
                          <a:ea typeface="Calibri" pitchFamily="34" charset="-122"/>
                          <a:cs typeface="Calibri" pitchFamily="34" charset="-120"/>
                        </a:rPr>
                        <a:t>Risk control is reopened. The residual risk and the overall residual risk are both revisited</a:t>
                      </a:r>
                      <a:endParaRPr lang="en-US" sz="9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r>
              <a:tr h="274320">
                <a:tc>
                  <a:txBody>
                    <a:bodyPr/>
                    <a:lstStyle/>
                    <a:p>
                      <a:pPr indent="0" marL="0">
                        <a:buNone/>
                      </a:pPr>
                      <a:r>
                        <a:rPr lang="en-US" sz="900" b="1" dirty="0">
                          <a:solidFill>
                            <a:srgbClr val="1F2933"/>
                          </a:solidFill>
                          <a:latin typeface="Calibri" pitchFamily="34" charset="0"/>
                          <a:ea typeface="Calibri" pitchFamily="34" charset="-122"/>
                          <a:cs typeface="Calibri" pitchFamily="34" charset="-120"/>
                        </a:rPr>
                        <a:t>Is the original risk estimate no longer valid?</a:t>
                      </a:r>
                      <a:endParaRPr lang="en-US" sz="9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900" dirty="0">
                          <a:solidFill>
                            <a:srgbClr val="1F2933"/>
                          </a:solidFill>
                          <a:latin typeface="Calibri" pitchFamily="34" charset="0"/>
                          <a:ea typeface="Calibri" pitchFamily="34" charset="-122"/>
                          <a:cs typeface="Calibri" pitchFamily="34" charset="-120"/>
                        </a:rPr>
                        <a:t>The estimate is corrected and the basis updated. This is the one that catches optimistic P1 values</a:t>
                      </a:r>
                      <a:endParaRPr lang="en-US" sz="9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r>
              <a:tr h="274320">
                <a:tc>
                  <a:txBody>
                    <a:bodyPr/>
                    <a:lstStyle/>
                    <a:p>
                      <a:pPr indent="0" marL="0">
                        <a:buNone/>
                      </a:pPr>
                      <a:r>
                        <a:rPr lang="en-US" sz="900" b="1" dirty="0">
                          <a:solidFill>
                            <a:srgbClr val="1F2933"/>
                          </a:solidFill>
                          <a:latin typeface="Calibri" pitchFamily="34" charset="0"/>
                          <a:ea typeface="Calibri" pitchFamily="34" charset="-122"/>
                          <a:cs typeface="Calibri" pitchFamily="34" charset="-120"/>
                        </a:rPr>
                        <a:t>Has the state of the art changed?</a:t>
                      </a:r>
                      <a:endParaRPr lang="en-US" sz="9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c>
                  <a:txBody>
                    <a:bodyPr/>
                    <a:lstStyle/>
                    <a:p>
                      <a:pPr indent="0" marL="0">
                        <a:buNone/>
                      </a:pPr>
                      <a:r>
                        <a:rPr lang="en-US" sz="900" dirty="0">
                          <a:solidFill>
                            <a:srgbClr val="1F2933"/>
                          </a:solidFill>
                          <a:latin typeface="Calibri" pitchFamily="34" charset="0"/>
                          <a:ea typeface="Calibri" pitchFamily="34" charset="-122"/>
                          <a:cs typeface="Calibri" pitchFamily="34" charset="-120"/>
                        </a:rPr>
                        <a:t>Your AFAP position may have moved without anything failing. Comparators, standards and guidance all count</a:t>
                      </a:r>
                      <a:endParaRPr lang="en-US" sz="9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r>
            </a:tbl>
          </a:graphicData>
        </a:graphic>
      </p:graphicFrame>
      <p:sp>
        <p:nvSpPr>
          <p:cNvPr id="8" name="Shape 4"/>
          <p:cNvSpPr/>
          <p:nvPr/>
        </p:nvSpPr>
        <p:spPr>
          <a:xfrm>
            <a:off x="457200" y="2944368"/>
            <a:ext cx="3977640" cy="1207008"/>
          </a:xfrm>
          <a:prstGeom prst="roundRect">
            <a:avLst>
              <a:gd name="adj" fmla="val 4545"/>
            </a:avLst>
          </a:prstGeom>
          <a:solidFill>
            <a:srgbClr val="EAF0F6"/>
          </a:solidFill>
          <a:ln w="12700">
            <a:solidFill>
              <a:srgbClr val="EAF0F6"/>
            </a:solidFill>
            <a:prstDash val="solid"/>
          </a:ln>
        </p:spPr>
      </p:sp>
      <p:sp>
        <p:nvSpPr>
          <p:cNvPr id="9" name="Text 5"/>
          <p:cNvSpPr txBox="1"/>
          <p:nvPr/>
        </p:nvSpPr>
        <p:spPr>
          <a:xfrm>
            <a:off x="585216" y="3035808"/>
            <a:ext cx="3721608" cy="182880"/>
          </a:xfrm>
          <a:prstGeom prst="rect">
            <a:avLst/>
          </a:prstGeom>
          <a:noFill/>
          <a:ln/>
        </p:spPr>
        <p:txBody>
          <a:bodyPr wrap="square" lIns="0" tIns="0" rIns="0" bIns="0" rtlCol="0" anchor="ctr"/>
          <a:lstStyle/>
          <a:p>
            <a:pPr indent="0" marL="0">
              <a:buNone/>
            </a:pPr>
            <a:r>
              <a:rPr lang="en-US" sz="900" b="1" spc="150" kern="0" dirty="0">
                <a:solidFill>
                  <a:srgbClr val="A8730F"/>
                </a:solidFill>
                <a:latin typeface="Calibri" pitchFamily="34" charset="0"/>
                <a:ea typeface="Calibri" pitchFamily="34" charset="-122"/>
                <a:cs typeface="Calibri" pitchFamily="34" charset="-120"/>
              </a:rPr>
              <a:t>CLAUSE 10.2</a:t>
            </a:r>
            <a:endParaRPr lang="en-US" sz="900" dirty="0"/>
          </a:p>
        </p:txBody>
      </p:sp>
      <p:sp>
        <p:nvSpPr>
          <p:cNvPr id="10" name="Text 6"/>
          <p:cNvSpPr txBox="1"/>
          <p:nvPr/>
        </p:nvSpPr>
        <p:spPr>
          <a:xfrm>
            <a:off x="585216" y="3255264"/>
            <a:ext cx="3721608" cy="256032"/>
          </a:xfrm>
          <a:prstGeom prst="rect">
            <a:avLst/>
          </a:prstGeom>
          <a:noFill/>
          <a:ln/>
        </p:spPr>
        <p:txBody>
          <a:bodyPr wrap="square" lIns="0" tIns="0" rIns="0" bIns="0" rtlCol="0" anchor="ctr"/>
          <a:lstStyle/>
          <a:p>
            <a:pPr indent="0" marL="0">
              <a:buNone/>
            </a:pPr>
            <a:r>
              <a:rPr lang="en-US" sz="1150" b="1" dirty="0">
                <a:solidFill>
                  <a:srgbClr val="0F2A4A"/>
                </a:solidFill>
                <a:latin typeface="Calibri" pitchFamily="34" charset="0"/>
                <a:ea typeface="Calibri" pitchFamily="34" charset="-122"/>
                <a:cs typeface="Calibri" pitchFamily="34" charset="-120"/>
              </a:rPr>
              <a:t>Sources you have to collect from</a:t>
            </a:r>
            <a:endParaRPr lang="en-US" sz="1150" dirty="0"/>
          </a:p>
        </p:txBody>
      </p:sp>
      <p:sp>
        <p:nvSpPr>
          <p:cNvPr id="11" name="Text 7"/>
          <p:cNvSpPr txBox="1"/>
          <p:nvPr/>
        </p:nvSpPr>
        <p:spPr>
          <a:xfrm>
            <a:off x="585216" y="3547872"/>
            <a:ext cx="3721608" cy="512064"/>
          </a:xfrm>
          <a:prstGeom prst="rect">
            <a:avLst/>
          </a:prstGeom>
          <a:noFill/>
          <a:ln/>
        </p:spPr>
        <p:txBody>
          <a:bodyPr wrap="square" lIns="0" tIns="0" rIns="0" bIns="0" rtlCol="0" anchor="t"/>
          <a:lstStyle/>
          <a:p>
            <a:pPr marL="342900" indent="-342900">
              <a:spcAft>
                <a:spcPts val="200"/>
              </a:spcAft>
              <a:buSzPct val="100000"/>
              <a:buChar char="•"/>
            </a:pPr>
            <a:r>
              <a:rPr lang="en-US" sz="900" dirty="0">
                <a:solidFill>
                  <a:srgbClr val="1F2933"/>
                </a:solidFill>
                <a:latin typeface="Calibri" pitchFamily="34" charset="0"/>
                <a:ea typeface="Calibri" pitchFamily="34" charset="-122"/>
                <a:cs typeface="Calibri" pitchFamily="34" charset="-120"/>
              </a:rPr>
              <a:t>Production and monitoring of the production process</a:t>
            </a:r>
            <a:endParaRPr lang="en-US" sz="900" dirty="0"/>
          </a:p>
          <a:p>
            <a:pPr marL="342900" indent="-342900">
              <a:spcAft>
                <a:spcPts val="200"/>
              </a:spcAft>
              <a:buSzPct val="100000"/>
              <a:buChar char="•"/>
            </a:pPr>
            <a:r>
              <a:rPr lang="en-US" sz="900" dirty="0">
                <a:solidFill>
                  <a:srgbClr val="1F2933"/>
                </a:solidFill>
                <a:latin typeface="Calibri" pitchFamily="34" charset="0"/>
                <a:ea typeface="Calibri" pitchFamily="34" charset="-122"/>
                <a:cs typeface="Calibri" pitchFamily="34" charset="-120"/>
              </a:rPr>
              <a:t>Information from the user</a:t>
            </a:r>
            <a:endParaRPr lang="en-US" sz="900" dirty="0"/>
          </a:p>
          <a:p>
            <a:pPr marL="342900" indent="-342900">
              <a:spcAft>
                <a:spcPts val="200"/>
              </a:spcAft>
              <a:buSzPct val="100000"/>
              <a:buChar char="•"/>
            </a:pPr>
            <a:r>
              <a:rPr lang="en-US" sz="900" dirty="0">
                <a:solidFill>
                  <a:srgbClr val="1F2933"/>
                </a:solidFill>
                <a:latin typeface="Calibri" pitchFamily="34" charset="0"/>
                <a:ea typeface="Calibri" pitchFamily="34" charset="-122"/>
                <a:cs typeface="Calibri" pitchFamily="34" charset="-120"/>
              </a:rPr>
              <a:t>Installation, servicing and maintenance</a:t>
            </a:r>
            <a:endParaRPr lang="en-US" sz="900" dirty="0"/>
          </a:p>
          <a:p>
            <a:pPr marL="342900" indent="-342900">
              <a:spcAft>
                <a:spcPts val="200"/>
              </a:spcAft>
              <a:buSzPct val="100000"/>
              <a:buChar char="•"/>
            </a:pPr>
            <a:r>
              <a:rPr lang="en-US" sz="900" dirty="0">
                <a:solidFill>
                  <a:srgbClr val="1F2933"/>
                </a:solidFill>
                <a:latin typeface="Calibri" pitchFamily="34" charset="0"/>
                <a:ea typeface="Calibri" pitchFamily="34" charset="-122"/>
                <a:cs typeface="Calibri" pitchFamily="34" charset="-120"/>
              </a:rPr>
              <a:t>Publicly available information and the state of the art</a:t>
            </a:r>
            <a:endParaRPr lang="en-US" sz="900" dirty="0"/>
          </a:p>
        </p:txBody>
      </p:sp>
      <p:sp>
        <p:nvSpPr>
          <p:cNvPr id="12" name="Shape 8"/>
          <p:cNvSpPr/>
          <p:nvPr/>
        </p:nvSpPr>
        <p:spPr>
          <a:xfrm>
            <a:off x="4617720" y="2944368"/>
            <a:ext cx="4069080" cy="1207008"/>
          </a:xfrm>
          <a:prstGeom prst="roundRect">
            <a:avLst>
              <a:gd name="adj" fmla="val 4545"/>
            </a:avLst>
          </a:prstGeom>
          <a:solidFill>
            <a:srgbClr val="FBF2DE"/>
          </a:solidFill>
          <a:ln w="12700">
            <a:solidFill>
              <a:srgbClr val="FBF2DE"/>
            </a:solidFill>
            <a:prstDash val="solid"/>
          </a:ln>
        </p:spPr>
      </p:sp>
      <p:sp>
        <p:nvSpPr>
          <p:cNvPr id="13" name="Text 9"/>
          <p:cNvSpPr txBox="1"/>
          <p:nvPr/>
        </p:nvSpPr>
        <p:spPr>
          <a:xfrm>
            <a:off x="4745736" y="3035808"/>
            <a:ext cx="3813048" cy="182880"/>
          </a:xfrm>
          <a:prstGeom prst="rect">
            <a:avLst/>
          </a:prstGeom>
          <a:noFill/>
          <a:ln/>
        </p:spPr>
        <p:txBody>
          <a:bodyPr wrap="square" lIns="0" tIns="0" rIns="0" bIns="0" rtlCol="0" anchor="ctr"/>
          <a:lstStyle/>
          <a:p>
            <a:pPr indent="0" marL="0">
              <a:buNone/>
            </a:pPr>
            <a:r>
              <a:rPr lang="en-US" sz="900" b="1" spc="150" kern="0" dirty="0">
                <a:solidFill>
                  <a:srgbClr val="A8730F"/>
                </a:solidFill>
                <a:latin typeface="Calibri" pitchFamily="34" charset="0"/>
                <a:ea typeface="Calibri" pitchFamily="34" charset="-122"/>
                <a:cs typeface="Calibri" pitchFamily="34" charset="-120"/>
              </a:rPr>
              <a:t>THE FIELD TEST</a:t>
            </a:r>
            <a:endParaRPr lang="en-US" sz="900" dirty="0"/>
          </a:p>
        </p:txBody>
      </p:sp>
      <p:sp>
        <p:nvSpPr>
          <p:cNvPr id="14" name="Text 10"/>
          <p:cNvSpPr txBox="1"/>
          <p:nvPr/>
        </p:nvSpPr>
        <p:spPr>
          <a:xfrm>
            <a:off x="4745736" y="3255264"/>
            <a:ext cx="3813048" cy="256032"/>
          </a:xfrm>
          <a:prstGeom prst="rect">
            <a:avLst/>
          </a:prstGeom>
          <a:noFill/>
          <a:ln/>
        </p:spPr>
        <p:txBody>
          <a:bodyPr wrap="square" lIns="0" tIns="0" rIns="0" bIns="0" rtlCol="0" anchor="ctr"/>
          <a:lstStyle/>
          <a:p>
            <a:pPr indent="0" marL="0">
              <a:buNone/>
            </a:pPr>
            <a:r>
              <a:rPr lang="en-US" sz="1150" b="1" dirty="0">
                <a:solidFill>
                  <a:srgbClr val="0F2A4A"/>
                </a:solidFill>
                <a:latin typeface="Calibri" pitchFamily="34" charset="0"/>
                <a:ea typeface="Calibri" pitchFamily="34" charset="-122"/>
                <a:cs typeface="Calibri" pitchFamily="34" charset="-120"/>
              </a:rPr>
              <a:t>Try this on your own file tonight</a:t>
            </a:r>
            <a:endParaRPr lang="en-US" sz="1150" dirty="0"/>
          </a:p>
        </p:txBody>
      </p:sp>
      <p:sp>
        <p:nvSpPr>
          <p:cNvPr id="15" name="Text 11"/>
          <p:cNvSpPr txBox="1"/>
          <p:nvPr/>
        </p:nvSpPr>
        <p:spPr>
          <a:xfrm>
            <a:off x="4745736" y="3547872"/>
            <a:ext cx="3813048" cy="512064"/>
          </a:xfrm>
          <a:prstGeom prst="rect">
            <a:avLst/>
          </a:prstGeom>
          <a:noFill/>
          <a:ln/>
        </p:spPr>
        <p:txBody>
          <a:bodyPr wrap="square" lIns="0" tIns="0" rIns="0" bIns="0" rtlCol="0" anchor="t"/>
          <a:lstStyle/>
          <a:p>
            <a:pPr indent="0" marL="0">
              <a:buNone/>
            </a:pPr>
            <a:r>
              <a:rPr lang="en-US" sz="950" dirty="0">
                <a:solidFill>
                  <a:srgbClr val="1F2933"/>
                </a:solidFill>
                <a:latin typeface="Calibri" pitchFamily="34" charset="0"/>
                <a:ea typeface="Calibri" pitchFamily="34" charset="-122"/>
                <a:cs typeface="Calibri" pitchFamily="34" charset="-120"/>
              </a:rPr>
              <a:t>Pick one complaint from eighteen months ago. Find the risk file revision it produced. If there is none, and no recorded decision that none was needed, the loop is open.</a:t>
            </a:r>
            <a:endParaRPr lang="en-US" sz="950" dirty="0"/>
          </a:p>
        </p:txBody>
      </p:sp>
      <p:sp>
        <p:nvSpPr>
          <p:cNvPr id="16" name="Shape 12"/>
          <p:cNvSpPr/>
          <p:nvPr/>
        </p:nvSpPr>
        <p:spPr>
          <a:xfrm>
            <a:off x="457200" y="4279392"/>
            <a:ext cx="8229600" cy="365760"/>
          </a:xfrm>
          <a:prstGeom prst="roundRect">
            <a:avLst>
              <a:gd name="adj" fmla="val 15000"/>
            </a:avLst>
          </a:prstGeom>
          <a:solidFill>
            <a:srgbClr val="0F2A4A"/>
          </a:solidFill>
          <a:ln w="12700">
            <a:solidFill>
              <a:srgbClr val="0F2A4A"/>
            </a:solidFill>
            <a:prstDash val="solid"/>
          </a:ln>
        </p:spPr>
      </p:sp>
      <p:sp>
        <p:nvSpPr>
          <p:cNvPr id="17" name="Text 13"/>
          <p:cNvSpPr txBox="1"/>
          <p:nvPr/>
        </p:nvSpPr>
        <p:spPr>
          <a:xfrm>
            <a:off x="640080" y="4279392"/>
            <a:ext cx="7863840" cy="365760"/>
          </a:xfrm>
          <a:prstGeom prst="rect">
            <a:avLst/>
          </a:prstGeom>
          <a:noFill/>
          <a:ln/>
        </p:spPr>
        <p:txBody>
          <a:bodyPr wrap="square" lIns="0" tIns="0" rIns="0" bIns="0" rtlCol="0" anchor="ctr"/>
          <a:lstStyle/>
          <a:p>
            <a:pPr indent="0" marL="0">
              <a:buNone/>
            </a:pPr>
            <a:r>
              <a:rPr lang="en-US" sz="1050" i="1" dirty="0">
                <a:solidFill>
                  <a:srgbClr val="FFFFFF"/>
                </a:solidFill>
                <a:latin typeface="Calibri" pitchFamily="34" charset="0"/>
                <a:ea typeface="Calibri" pitchFamily="34" charset="-122"/>
                <a:cs typeface="Calibri" pitchFamily="34" charset="-120"/>
              </a:rPr>
              <a:t>The state of the art is a named collection source. It is also the one that ages your file with no failure, no complaint and no trend.</a:t>
            </a:r>
            <a:endParaRPr lang="en-US" sz="10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4814316"/>
            <a:ext cx="5943600" cy="201168"/>
          </a:xfrm>
          <a:prstGeom prst="rect">
            <a:avLst/>
          </a:prstGeom>
          <a:noFill/>
          <a:ln/>
        </p:spPr>
        <p:txBody>
          <a:bodyPr wrap="square" lIns="0" tIns="0" rIns="0" bIns="0" rtlCol="0" anchor="ctr"/>
          <a:lstStyle/>
          <a:p>
            <a:pPr indent="0" marL="0">
              <a:buNone/>
            </a:pPr>
            <a:r>
              <a:rPr lang="en-US" sz="900" dirty="0">
                <a:solidFill>
                  <a:srgbClr val="5A6B7B"/>
                </a:solidFill>
                <a:latin typeface="Calibri" pitchFamily="34" charset="0"/>
                <a:ea typeface="Calibri" pitchFamily="34" charset="-122"/>
                <a:cs typeface="Calibri" pitchFamily="34" charset="-120"/>
              </a:rPr>
              <a:t>Risk Management  |  ISO 14971  |  Elder Consulting, LLC</a:t>
            </a:r>
            <a:endParaRPr lang="en-US" sz="900" dirty="0"/>
          </a:p>
        </p:txBody>
      </p:sp>
      <p:sp>
        <p:nvSpPr>
          <p:cNvPr id="3" name="Text 1"/>
          <p:cNvSpPr txBox="1"/>
          <p:nvPr/>
        </p:nvSpPr>
        <p:spPr>
          <a:xfrm>
            <a:off x="8138160" y="4814316"/>
            <a:ext cx="548640" cy="201168"/>
          </a:xfrm>
          <a:prstGeom prst="rect">
            <a:avLst/>
          </a:prstGeom>
          <a:noFill/>
          <a:ln/>
        </p:spPr>
        <p:txBody>
          <a:bodyPr wrap="square" lIns="0" tIns="0" rIns="0" bIns="0" rtlCol="0" anchor="ctr"/>
          <a:lstStyle/>
          <a:p>
            <a:pPr algn="r" indent="0" marL="0">
              <a:buNone/>
            </a:pPr>
            <a:r>
              <a:rPr lang="en-US" sz="900" dirty="0">
                <a:solidFill>
                  <a:srgbClr val="5A6B7B"/>
                </a:solidFill>
                <a:latin typeface="Calibri" pitchFamily="34" charset="0"/>
                <a:ea typeface="Calibri" pitchFamily="34" charset="-122"/>
                <a:cs typeface="Calibri" pitchFamily="34" charset="-120"/>
              </a:rPr>
              <a:t>33</a:t>
            </a:r>
            <a:endParaRPr lang="en-US" sz="900" dirty="0"/>
          </a:p>
        </p:txBody>
      </p:sp>
      <p:sp>
        <p:nvSpPr>
          <p:cNvPr id="4" name="Text 2"/>
          <p:cNvSpPr txBox="1"/>
          <p:nvPr/>
        </p:nvSpPr>
        <p:spPr>
          <a:xfrm>
            <a:off x="457200" y="274320"/>
            <a:ext cx="8229600" cy="219456"/>
          </a:xfrm>
          <a:prstGeom prst="rect">
            <a:avLst/>
          </a:prstGeom>
          <a:noFill/>
          <a:ln/>
        </p:spPr>
        <p:txBody>
          <a:bodyPr wrap="square" lIns="0" tIns="0" rIns="0" bIns="0" rtlCol="0" anchor="ctr"/>
          <a:lstStyle/>
          <a:p>
            <a:pPr indent="0" marL="0">
              <a:buNone/>
            </a:pPr>
            <a:r>
              <a:rPr lang="en-US" sz="1000" b="1" spc="200" kern="0" dirty="0">
                <a:solidFill>
                  <a:srgbClr val="A8730F"/>
                </a:solidFill>
                <a:latin typeface="Calibri" pitchFamily="34" charset="0"/>
                <a:ea typeface="Calibri" pitchFamily="34" charset="-122"/>
                <a:cs typeface="Calibri" pitchFamily="34" charset="-120"/>
              </a:rPr>
              <a:t>SECTION 4  |  CLOSING THE LOOP</a:t>
            </a:r>
            <a:endParaRPr lang="en-US" sz="1000" dirty="0"/>
          </a:p>
        </p:txBody>
      </p:sp>
      <p:sp>
        <p:nvSpPr>
          <p:cNvPr id="5" name="Text 3"/>
          <p:cNvSpPr txBox="1"/>
          <p:nvPr/>
        </p:nvSpPr>
        <p:spPr>
          <a:xfrm>
            <a:off x="457200" y="502920"/>
            <a:ext cx="8229600" cy="548640"/>
          </a:xfrm>
          <a:prstGeom prst="rect">
            <a:avLst/>
          </a:prstGeom>
          <a:noFill/>
          <a:ln/>
        </p:spPr>
        <p:txBody>
          <a:bodyPr wrap="square" lIns="0" tIns="0" rIns="0" bIns="0" rtlCol="0" anchor="t"/>
          <a:lstStyle/>
          <a:p>
            <a:pPr indent="0" marL="0">
              <a:buNone/>
            </a:pPr>
            <a:r>
              <a:rPr lang="en-US" sz="2400" b="1" dirty="0">
                <a:solidFill>
                  <a:srgbClr val="0F2A4A"/>
                </a:solidFill>
                <a:latin typeface="Cambria" pitchFamily="34" charset="0"/>
                <a:ea typeface="Cambria" pitchFamily="34" charset="-122"/>
                <a:cs typeface="Cambria" pitchFamily="34" charset="-120"/>
              </a:rPr>
              <a:t>The MDR plumbing that Clause 10 has to connect to</a:t>
            </a:r>
            <a:endParaRPr lang="en-US" sz="2400" dirty="0"/>
          </a:p>
        </p:txBody>
      </p:sp>
      <p:graphicFrame>
        <p:nvGraphicFramePr>
          <p:cNvPr id="34" name="Table 0"/>
          <p:cNvGraphicFramePr>
            <a:graphicFrameLocks noGrp="1"/>
          </p:cNvGraphicFramePr>
          <p:nvPr>
            <p:extLst>
              <p:ext uri="{D42A27DB-BD31-4B8C-83A1-F6EECF244321}">
                <p14:modId xmlns:p14="http://schemas.microsoft.com/office/powerpoint/2010/main" val="1579011935"/>
              </p:ext>
            </p:extLst>
          </p:nvPr>
        </p:nvGraphicFramePr>
        <p:xfrm>
          <a:off x="457200" y="1060704"/>
          <a:ext cx="8229600" cy="914400"/>
        </p:xfrm>
        <a:graphic>
          <a:graphicData uri="http://schemas.openxmlformats.org/drawingml/2006/table">
            <a:tbl>
              <a:tblPr/>
              <a:tblGrid>
                <a:gridCol w="1920240"/>
                <a:gridCol w="6309360"/>
              </a:tblGrid>
              <a:tr h="256032">
                <a:tc>
                  <a:txBody>
                    <a:bodyPr/>
                    <a:lstStyle/>
                    <a:p>
                      <a:pPr indent="0" marL="0">
                        <a:buNone/>
                      </a:pPr>
                      <a:r>
                        <a:rPr lang="en-US" sz="800" b="1" dirty="0">
                          <a:solidFill>
                            <a:srgbClr val="FFFFFF"/>
                          </a:solidFill>
                          <a:latin typeface="Calibri" pitchFamily="34" charset="0"/>
                          <a:ea typeface="Calibri" pitchFamily="34" charset="-122"/>
                          <a:cs typeface="Calibri" pitchFamily="34" charset="-120"/>
                        </a:rPr>
                        <a:t>MDR provision</a:t>
                      </a:r>
                      <a:endParaRPr lang="en-US" sz="800" dirty="0">
                        <a:latin typeface="Calibri" charset="0"/>
                        <a:ea typeface="Calibri" charset="0"/>
                        <a:cs typeface="Calibri" charset="0"/>
                      </a:endParaRPr>
                    </a:p>
                  </a:txBody>
                  <a:tcPr marL="54864" marR="54864" marT="54864" marB="54864" anchor="ctr">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0F2A4A"/>
                    </a:solidFill>
                  </a:tcPr>
                </a:tc>
                <a:tc>
                  <a:txBody>
                    <a:bodyPr/>
                    <a:lstStyle/>
                    <a:p>
                      <a:pPr indent="0" marL="0">
                        <a:buNone/>
                      </a:pPr>
                      <a:r>
                        <a:rPr lang="en-US" sz="800" b="1" dirty="0">
                          <a:solidFill>
                            <a:srgbClr val="FFFFFF"/>
                          </a:solidFill>
                          <a:latin typeface="Calibri" pitchFamily="34" charset="0"/>
                          <a:ea typeface="Calibri" pitchFamily="34" charset="-122"/>
                          <a:cs typeface="Calibri" pitchFamily="34" charset="-120"/>
                        </a:rPr>
                        <a:t>What it requires of the risk file</a:t>
                      </a:r>
                      <a:endParaRPr lang="en-US" sz="800" dirty="0">
                        <a:latin typeface="Calibri" charset="0"/>
                        <a:ea typeface="Calibri" charset="0"/>
                        <a:cs typeface="Calibri" charset="0"/>
                      </a:endParaRPr>
                    </a:p>
                  </a:txBody>
                  <a:tcPr marL="54864" marR="54864" marT="54864" marB="54864" anchor="ctr">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0F2A4A"/>
                    </a:solidFill>
                  </a:tcPr>
                </a:tc>
              </a:tr>
              <a:tr h="256032">
                <a:tc>
                  <a:txBody>
                    <a:bodyPr/>
                    <a:lstStyle/>
                    <a:p>
                      <a:pPr indent="0" marL="0">
                        <a:buNone/>
                      </a:pPr>
                      <a:r>
                        <a:rPr lang="en-US" sz="800" b="1" dirty="0">
                          <a:solidFill>
                            <a:srgbClr val="1F2933"/>
                          </a:solidFill>
                          <a:latin typeface="Calibri" pitchFamily="34" charset="0"/>
                          <a:ea typeface="Calibri" pitchFamily="34" charset="-122"/>
                          <a:cs typeface="Calibri" pitchFamily="34" charset="-120"/>
                        </a:rPr>
                        <a:t>Article 10(2)</a:t>
                      </a:r>
                      <a:endParaRPr lang="en-US" sz="8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800" dirty="0">
                          <a:solidFill>
                            <a:srgbClr val="1F2933"/>
                          </a:solidFill>
                          <a:latin typeface="Calibri" pitchFamily="34" charset="0"/>
                          <a:ea typeface="Calibri" pitchFamily="34" charset="-122"/>
                          <a:cs typeface="Calibri" pitchFamily="34" charset="-120"/>
                        </a:rPr>
                        <a:t>Establish, document, implement and maintain a system for risk management as described in Section 3 of Annex I</a:t>
                      </a:r>
                      <a:endParaRPr lang="en-US" sz="8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r>
              <a:tr h="256032">
                <a:tc>
                  <a:txBody>
                    <a:bodyPr/>
                    <a:lstStyle/>
                    <a:p>
                      <a:pPr indent="0" marL="0">
                        <a:buNone/>
                      </a:pPr>
                      <a:r>
                        <a:rPr lang="en-US" sz="800" b="1" dirty="0">
                          <a:solidFill>
                            <a:srgbClr val="1F2933"/>
                          </a:solidFill>
                          <a:latin typeface="Calibri" pitchFamily="34" charset="0"/>
                          <a:ea typeface="Calibri" pitchFamily="34" charset="-122"/>
                          <a:cs typeface="Calibri" pitchFamily="34" charset="-120"/>
                        </a:rPr>
                        <a:t>Article 10(9)(e)</a:t>
                      </a:r>
                      <a:endParaRPr lang="en-US" sz="8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c>
                  <a:txBody>
                    <a:bodyPr/>
                    <a:lstStyle/>
                    <a:p>
                      <a:pPr indent="0" marL="0">
                        <a:buNone/>
                      </a:pPr>
                      <a:r>
                        <a:rPr lang="en-US" sz="800" dirty="0">
                          <a:solidFill>
                            <a:srgbClr val="1F2933"/>
                          </a:solidFill>
                          <a:latin typeface="Calibri" pitchFamily="34" charset="0"/>
                          <a:ea typeface="Calibri" pitchFamily="34" charset="-122"/>
                          <a:cs typeface="Calibri" pitchFamily="34" charset="-120"/>
                        </a:rPr>
                        <a:t>Risk management is a named aspect the quality management system shall address</a:t>
                      </a:r>
                      <a:endParaRPr lang="en-US" sz="8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r>
              <a:tr h="256032">
                <a:tc>
                  <a:txBody>
                    <a:bodyPr/>
                    <a:lstStyle/>
                    <a:p>
                      <a:pPr indent="0" marL="0">
                        <a:buNone/>
                      </a:pPr>
                      <a:r>
                        <a:rPr lang="en-US" sz="800" b="1" dirty="0">
                          <a:solidFill>
                            <a:srgbClr val="1F2933"/>
                          </a:solidFill>
                          <a:latin typeface="Calibri" pitchFamily="34" charset="0"/>
                          <a:ea typeface="Calibri" pitchFamily="34" charset="-122"/>
                          <a:cs typeface="Calibri" pitchFamily="34" charset="-120"/>
                        </a:rPr>
                        <a:t>Annex I point 3 (e), (f)</a:t>
                      </a:r>
                      <a:endParaRPr lang="en-US" sz="8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800" dirty="0">
                          <a:solidFill>
                            <a:srgbClr val="1F2933"/>
                          </a:solidFill>
                          <a:latin typeface="Calibri" pitchFamily="34" charset="0"/>
                          <a:ea typeface="Calibri" pitchFamily="34" charset="-122"/>
                          <a:cs typeface="Calibri" pitchFamily="34" charset="-120"/>
                        </a:rPr>
                        <a:t>Evaluate the impact of production and post-market information on hazards, frequency, estimates, overall risk, benefit-risk ratio and acceptability - then amend controls</a:t>
                      </a:r>
                      <a:endParaRPr lang="en-US" sz="8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r>
              <a:tr h="256032">
                <a:tc>
                  <a:txBody>
                    <a:bodyPr/>
                    <a:lstStyle/>
                    <a:p>
                      <a:pPr indent="0" marL="0">
                        <a:buNone/>
                      </a:pPr>
                      <a:r>
                        <a:rPr lang="en-US" sz="800" b="1" dirty="0">
                          <a:solidFill>
                            <a:srgbClr val="1F2933"/>
                          </a:solidFill>
                          <a:latin typeface="Calibri" pitchFamily="34" charset="0"/>
                          <a:ea typeface="Calibri" pitchFamily="34" charset="-122"/>
                          <a:cs typeface="Calibri" pitchFamily="34" charset="-120"/>
                        </a:rPr>
                        <a:t>Annex II point 5</a:t>
                      </a:r>
                      <a:endParaRPr lang="en-US" sz="8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c>
                  <a:txBody>
                    <a:bodyPr/>
                    <a:lstStyle/>
                    <a:p>
                      <a:pPr indent="0" marL="0">
                        <a:buNone/>
                      </a:pPr>
                      <a:r>
                        <a:rPr lang="en-US" sz="800" dirty="0">
                          <a:solidFill>
                            <a:srgbClr val="1F2933"/>
                          </a:solidFill>
                          <a:latin typeface="Calibri" pitchFamily="34" charset="0"/>
                          <a:ea typeface="Calibri" pitchFamily="34" charset="-122"/>
                          <a:cs typeface="Calibri" pitchFamily="34" charset="-120"/>
                        </a:rPr>
                        <a:t>The technical documentation contains the benefit-risk analysis (Sections 1 and 8) and the solutions adopted and the results of the risk management (Section 3)</a:t>
                      </a:r>
                      <a:endParaRPr lang="en-US" sz="8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r>
              <a:tr h="256032">
                <a:tc>
                  <a:txBody>
                    <a:bodyPr/>
                    <a:lstStyle/>
                    <a:p>
                      <a:pPr indent="0" marL="0">
                        <a:buNone/>
                      </a:pPr>
                      <a:r>
                        <a:rPr lang="en-US" sz="800" b="1" dirty="0">
                          <a:solidFill>
                            <a:srgbClr val="1F2933"/>
                          </a:solidFill>
                          <a:latin typeface="Calibri" pitchFamily="34" charset="0"/>
                          <a:ea typeface="Calibri" pitchFamily="34" charset="-122"/>
                          <a:cs typeface="Calibri" pitchFamily="34" charset="-120"/>
                        </a:rPr>
                        <a:t>Article 83(3)(a)</a:t>
                      </a:r>
                      <a:endParaRPr lang="en-US" sz="8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800" dirty="0">
                          <a:solidFill>
                            <a:srgbClr val="1F2933"/>
                          </a:solidFill>
                          <a:latin typeface="Calibri" pitchFamily="34" charset="0"/>
                          <a:ea typeface="Calibri" pitchFamily="34" charset="-122"/>
                          <a:cs typeface="Calibri" pitchFamily="34" charset="-120"/>
                        </a:rPr>
                        <a:t>PMS data is used first to update the benefit-risk determination and improve risk management, and "the technical documentation shall be updated accordingly"</a:t>
                      </a:r>
                      <a:endParaRPr lang="en-US" sz="8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r>
              <a:tr h="256032">
                <a:tc>
                  <a:txBody>
                    <a:bodyPr/>
                    <a:lstStyle/>
                    <a:p>
                      <a:pPr indent="0" marL="0">
                        <a:buNone/>
                      </a:pPr>
                      <a:r>
                        <a:rPr lang="en-US" sz="800" b="1" dirty="0">
                          <a:solidFill>
                            <a:srgbClr val="1F2933"/>
                          </a:solidFill>
                          <a:latin typeface="Calibri" pitchFamily="34" charset="0"/>
                          <a:ea typeface="Calibri" pitchFamily="34" charset="-122"/>
                          <a:cs typeface="Calibri" pitchFamily="34" charset="-120"/>
                        </a:rPr>
                        <a:t>Annex III point 1(b)</a:t>
                      </a:r>
                      <a:endParaRPr lang="en-US" sz="8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BF2DE"/>
                    </a:solidFill>
                  </a:tcPr>
                </a:tc>
                <a:tc>
                  <a:txBody>
                    <a:bodyPr/>
                    <a:lstStyle/>
                    <a:p>
                      <a:pPr indent="0" marL="0">
                        <a:buNone/>
                      </a:pPr>
                      <a:r>
                        <a:rPr lang="en-US" sz="800" b="1" dirty="0">
                          <a:solidFill>
                            <a:srgbClr val="1F2933"/>
                          </a:solidFill>
                          <a:latin typeface="Calibri" pitchFamily="34" charset="0"/>
                          <a:ea typeface="Calibri" pitchFamily="34" charset="-122"/>
                          <a:cs typeface="Calibri" pitchFamily="34" charset="-120"/>
                        </a:rPr>
                        <a:t>The PMS plan shall contain suitable indicators and threshold values for the continuous reassessment of the benefit-risk analysis and of the risk management</a:t>
                      </a:r>
                      <a:endParaRPr lang="en-US" sz="8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BF2DE"/>
                    </a:solidFill>
                  </a:tcPr>
                </a:tc>
              </a:tr>
              <a:tr h="256032">
                <a:tc>
                  <a:txBody>
                    <a:bodyPr/>
                    <a:lstStyle/>
                    <a:p>
                      <a:pPr indent="0" marL="0">
                        <a:buNone/>
                      </a:pPr>
                      <a:r>
                        <a:rPr lang="en-US" sz="800" b="1" dirty="0">
                          <a:solidFill>
                            <a:srgbClr val="1F2933"/>
                          </a:solidFill>
                          <a:latin typeface="Calibri" pitchFamily="34" charset="0"/>
                          <a:ea typeface="Calibri" pitchFamily="34" charset="-122"/>
                          <a:cs typeface="Calibri" pitchFamily="34" charset="-120"/>
                        </a:rPr>
                        <a:t>Article 86(1)(a)</a:t>
                      </a:r>
                      <a:endParaRPr lang="en-US" sz="8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800" dirty="0">
                          <a:solidFill>
                            <a:srgbClr val="1F2933"/>
                          </a:solidFill>
                          <a:latin typeface="Calibri" pitchFamily="34" charset="0"/>
                          <a:ea typeface="Calibri" pitchFamily="34" charset="-122"/>
                          <a:cs typeface="Calibri" pitchFamily="34" charset="-120"/>
                        </a:rPr>
                        <a:t>The PSUR sets out the conclusions of the benefit-risk determination, throughout the lifetime of the device</a:t>
                      </a:r>
                      <a:endParaRPr lang="en-US" sz="8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r>
              <a:tr h="256032">
                <a:tc>
                  <a:txBody>
                    <a:bodyPr/>
                    <a:lstStyle/>
                    <a:p>
                      <a:pPr indent="0" marL="0">
                        <a:buNone/>
                      </a:pPr>
                      <a:r>
                        <a:rPr lang="en-US" sz="800" b="1" dirty="0">
                          <a:solidFill>
                            <a:srgbClr val="1F2933"/>
                          </a:solidFill>
                          <a:latin typeface="Calibri" pitchFamily="34" charset="0"/>
                          <a:ea typeface="Calibri" pitchFamily="34" charset="-122"/>
                          <a:cs typeface="Calibri" pitchFamily="34" charset="-120"/>
                        </a:rPr>
                        <a:t>Article 88(1)</a:t>
                      </a:r>
                      <a:endParaRPr lang="en-US" sz="8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c>
                  <a:txBody>
                    <a:bodyPr/>
                    <a:lstStyle/>
                    <a:p>
                      <a:pPr indent="0" marL="0">
                        <a:buNone/>
                      </a:pPr>
                      <a:r>
                        <a:rPr lang="en-US" sz="800" dirty="0">
                          <a:solidFill>
                            <a:srgbClr val="1F2933"/>
                          </a:solidFill>
                          <a:latin typeface="Calibri" pitchFamily="34" charset="0"/>
                          <a:ea typeface="Calibri" pitchFamily="34" charset="-122"/>
                          <a:cs typeface="Calibri" pitchFamily="34" charset="-120"/>
                        </a:rPr>
                        <a:t>Trend reporting where a statistically significant increase would change the benefit-risk analysis referred to in Sections 1 and 8 of Annex I</a:t>
                      </a:r>
                      <a:endParaRPr lang="en-US" sz="8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r>
              <a:tr h="256032">
                <a:tc>
                  <a:txBody>
                    <a:bodyPr/>
                    <a:lstStyle/>
                    <a:p>
                      <a:pPr indent="0" marL="0">
                        <a:buNone/>
                      </a:pPr>
                      <a:r>
                        <a:rPr lang="en-US" sz="800" b="1" dirty="0">
                          <a:solidFill>
                            <a:srgbClr val="1F2933"/>
                          </a:solidFill>
                          <a:latin typeface="Calibri" pitchFamily="34" charset="0"/>
                          <a:ea typeface="Calibri" pitchFamily="34" charset="-122"/>
                          <a:cs typeface="Calibri" pitchFamily="34" charset="-120"/>
                        </a:rPr>
                        <a:t>Annex XIV Part B point 8</a:t>
                      </a:r>
                      <a:endParaRPr lang="en-US" sz="8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800" dirty="0">
                          <a:solidFill>
                            <a:srgbClr val="1F2933"/>
                          </a:solidFill>
                          <a:latin typeface="Calibri" pitchFamily="34" charset="0"/>
                          <a:ea typeface="Calibri" pitchFamily="34" charset="-122"/>
                          <a:cs typeface="Calibri" pitchFamily="34" charset="-120"/>
                        </a:rPr>
                        <a:t>PMCF evaluation report conclusions are taken into account in the clinical evaluation AND in the risk management</a:t>
                      </a:r>
                      <a:endParaRPr lang="en-US" sz="8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r>
              <a:tr h="256032">
                <a:tc>
                  <a:txBody>
                    <a:bodyPr/>
                    <a:lstStyle/>
                    <a:p>
                      <a:pPr indent="0" marL="0">
                        <a:buNone/>
                      </a:pPr>
                      <a:r>
                        <a:rPr lang="en-US" sz="800" b="1" dirty="0">
                          <a:solidFill>
                            <a:srgbClr val="1F2933"/>
                          </a:solidFill>
                          <a:latin typeface="Calibri" pitchFamily="34" charset="0"/>
                          <a:ea typeface="Calibri" pitchFamily="34" charset="-122"/>
                          <a:cs typeface="Calibri" pitchFamily="34" charset="-120"/>
                        </a:rPr>
                        <a:t>Article 61(10)</a:t>
                      </a:r>
                      <a:endParaRPr lang="en-US" sz="8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c>
                  <a:txBody>
                    <a:bodyPr/>
                    <a:lstStyle/>
                    <a:p>
                      <a:pPr indent="0" marL="0">
                        <a:buNone/>
                      </a:pPr>
                      <a:r>
                        <a:rPr lang="en-US" sz="800" dirty="0">
                          <a:solidFill>
                            <a:srgbClr val="1F2933"/>
                          </a:solidFill>
                          <a:latin typeface="Calibri" pitchFamily="34" charset="0"/>
                          <a:ea typeface="Calibri" pitchFamily="34" charset="-122"/>
                          <a:cs typeface="Calibri" pitchFamily="34" charset="-120"/>
                        </a:rPr>
                        <a:t>Where conformity based on clinical data is not appropriate, the justification rests on the results of the risk management</a:t>
                      </a:r>
                      <a:endParaRPr lang="en-US" sz="8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r>
            </a:tbl>
          </a:graphicData>
        </a:graphic>
      </p:graphicFrame>
      <p:sp>
        <p:nvSpPr>
          <p:cNvPr id="8" name="Text 4"/>
          <p:cNvSpPr txBox="1"/>
          <p:nvPr/>
        </p:nvSpPr>
        <p:spPr>
          <a:xfrm>
            <a:off x="457200" y="4370832"/>
            <a:ext cx="8229600" cy="329184"/>
          </a:xfrm>
          <a:prstGeom prst="rect">
            <a:avLst/>
          </a:prstGeom>
          <a:noFill/>
          <a:ln/>
        </p:spPr>
        <p:txBody>
          <a:bodyPr wrap="square" lIns="0" tIns="0" rIns="0" bIns="0" rtlCol="0" anchor="t"/>
          <a:lstStyle/>
          <a:p>
            <a:pPr indent="0" marL="0">
              <a:buNone/>
            </a:pPr>
            <a:r>
              <a:rPr lang="en-US" sz="900" i="1" dirty="0">
                <a:solidFill>
                  <a:srgbClr val="5A6B7B"/>
                </a:solidFill>
                <a:latin typeface="Calibri" pitchFamily="34" charset="0"/>
                <a:ea typeface="Calibri" pitchFamily="34" charset="-122"/>
                <a:cs typeface="Calibri" pitchFamily="34" charset="-120"/>
              </a:rPr>
              <a:t>Two numbering traps: Corrigendum C2 renumbered Annex III 1.1 and 1.2 to 1 and 2; and Annex XIV Part B 6.1(d) still says "Sections 1 and 9" where it means 1 and 8 - never corrected, unlike the same error in Article 88(1).</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4814316"/>
            <a:ext cx="5943600" cy="201168"/>
          </a:xfrm>
          <a:prstGeom prst="rect">
            <a:avLst/>
          </a:prstGeom>
          <a:noFill/>
          <a:ln/>
        </p:spPr>
        <p:txBody>
          <a:bodyPr wrap="square" lIns="0" tIns="0" rIns="0" bIns="0" rtlCol="0" anchor="ctr"/>
          <a:lstStyle/>
          <a:p>
            <a:pPr indent="0" marL="0">
              <a:buNone/>
            </a:pPr>
            <a:r>
              <a:rPr lang="en-US" sz="900" dirty="0">
                <a:solidFill>
                  <a:srgbClr val="5A6B7B"/>
                </a:solidFill>
                <a:latin typeface="Calibri" pitchFamily="34" charset="0"/>
                <a:ea typeface="Calibri" pitchFamily="34" charset="-122"/>
                <a:cs typeface="Calibri" pitchFamily="34" charset="-120"/>
              </a:rPr>
              <a:t>Risk Management  |  ISO 14971  |  Elder Consulting, LLC</a:t>
            </a:r>
            <a:endParaRPr lang="en-US" sz="900" dirty="0"/>
          </a:p>
        </p:txBody>
      </p:sp>
      <p:sp>
        <p:nvSpPr>
          <p:cNvPr id="3" name="Text 1"/>
          <p:cNvSpPr txBox="1"/>
          <p:nvPr/>
        </p:nvSpPr>
        <p:spPr>
          <a:xfrm>
            <a:off x="8138160" y="4814316"/>
            <a:ext cx="548640" cy="201168"/>
          </a:xfrm>
          <a:prstGeom prst="rect">
            <a:avLst/>
          </a:prstGeom>
          <a:noFill/>
          <a:ln/>
        </p:spPr>
        <p:txBody>
          <a:bodyPr wrap="square" lIns="0" tIns="0" rIns="0" bIns="0" rtlCol="0" anchor="ctr"/>
          <a:lstStyle/>
          <a:p>
            <a:pPr algn="r" indent="0" marL="0">
              <a:buNone/>
            </a:pPr>
            <a:r>
              <a:rPr lang="en-US" sz="900" dirty="0">
                <a:solidFill>
                  <a:srgbClr val="5A6B7B"/>
                </a:solidFill>
                <a:latin typeface="Calibri" pitchFamily="34" charset="0"/>
                <a:ea typeface="Calibri" pitchFamily="34" charset="-122"/>
                <a:cs typeface="Calibri" pitchFamily="34" charset="-120"/>
              </a:rPr>
              <a:t>34</a:t>
            </a:r>
            <a:endParaRPr lang="en-US" sz="900" dirty="0"/>
          </a:p>
        </p:txBody>
      </p:sp>
      <p:sp>
        <p:nvSpPr>
          <p:cNvPr id="4" name="Text 2"/>
          <p:cNvSpPr txBox="1"/>
          <p:nvPr/>
        </p:nvSpPr>
        <p:spPr>
          <a:xfrm>
            <a:off x="457200" y="274320"/>
            <a:ext cx="8229600" cy="219456"/>
          </a:xfrm>
          <a:prstGeom prst="rect">
            <a:avLst/>
          </a:prstGeom>
          <a:noFill/>
          <a:ln/>
        </p:spPr>
        <p:txBody>
          <a:bodyPr wrap="square" lIns="0" tIns="0" rIns="0" bIns="0" rtlCol="0" anchor="ctr"/>
          <a:lstStyle/>
          <a:p>
            <a:pPr indent="0" marL="0">
              <a:buNone/>
            </a:pPr>
            <a:r>
              <a:rPr lang="en-US" sz="1000" b="1" spc="200" kern="0" dirty="0">
                <a:solidFill>
                  <a:srgbClr val="A8730F"/>
                </a:solidFill>
                <a:latin typeface="Calibri" pitchFamily="34" charset="0"/>
                <a:ea typeface="Calibri" pitchFamily="34" charset="-122"/>
                <a:cs typeface="Calibri" pitchFamily="34" charset="-120"/>
              </a:rPr>
              <a:t>SECTION 4  |  CLOSING THE LOOP</a:t>
            </a:r>
            <a:endParaRPr lang="en-US" sz="1000" dirty="0"/>
          </a:p>
        </p:txBody>
      </p:sp>
      <p:sp>
        <p:nvSpPr>
          <p:cNvPr id="5" name="Text 3"/>
          <p:cNvSpPr txBox="1"/>
          <p:nvPr/>
        </p:nvSpPr>
        <p:spPr>
          <a:xfrm>
            <a:off x="457200" y="502920"/>
            <a:ext cx="8229600" cy="548640"/>
          </a:xfrm>
          <a:prstGeom prst="rect">
            <a:avLst/>
          </a:prstGeom>
          <a:noFill/>
          <a:ln/>
        </p:spPr>
        <p:txBody>
          <a:bodyPr wrap="square" lIns="0" tIns="0" rIns="0" bIns="0" rtlCol="0" anchor="t"/>
          <a:lstStyle/>
          <a:p>
            <a:pPr indent="0" marL="0">
              <a:buNone/>
            </a:pPr>
            <a:r>
              <a:rPr lang="en-US" sz="2400" b="1" dirty="0">
                <a:solidFill>
                  <a:srgbClr val="0F2A4A"/>
                </a:solidFill>
                <a:latin typeface="Cambria" pitchFamily="34" charset="0"/>
                <a:ea typeface="Cambria" pitchFamily="34" charset="-122"/>
                <a:cs typeface="Cambria" pitchFamily="34" charset="-120"/>
              </a:rPr>
              <a:t>The interfaces that get audited</a:t>
            </a:r>
            <a:endParaRPr lang="en-US" sz="2400" dirty="0"/>
          </a:p>
        </p:txBody>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914400"/>
        </p:xfrm>
        <a:graphic>
          <a:graphicData uri="http://schemas.openxmlformats.org/drawingml/2006/table">
            <a:tbl>
              <a:tblPr/>
              <a:tblGrid>
                <a:gridCol w="1737360"/>
                <a:gridCol w="4663440"/>
                <a:gridCol w="1828800"/>
              </a:tblGrid>
              <a:tr h="347472">
                <a:tc>
                  <a:txBody>
                    <a:bodyPr/>
                    <a:lstStyle/>
                    <a:p>
                      <a:pPr indent="0" marL="0">
                        <a:buNone/>
                      </a:pPr>
                      <a:r>
                        <a:rPr lang="en-US" sz="850" b="1" dirty="0">
                          <a:solidFill>
                            <a:srgbClr val="FFFFFF"/>
                          </a:solidFill>
                          <a:latin typeface="Calibri" pitchFamily="34" charset="0"/>
                          <a:ea typeface="Calibri" pitchFamily="34" charset="-122"/>
                          <a:cs typeface="Calibri" pitchFamily="34" charset="-120"/>
                        </a:rPr>
                        <a:t>Interface</a:t>
                      </a:r>
                      <a:endParaRPr lang="en-US" sz="850" dirty="0">
                        <a:latin typeface="Calibri" charset="0"/>
                        <a:ea typeface="Calibri" charset="0"/>
                        <a:cs typeface="Calibri" charset="0"/>
                      </a:endParaRPr>
                    </a:p>
                  </a:txBody>
                  <a:tcPr marL="54864" marR="54864" marT="54864" marB="54864" anchor="ctr">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0F2A4A"/>
                    </a:solidFill>
                  </a:tcPr>
                </a:tc>
                <a:tc>
                  <a:txBody>
                    <a:bodyPr/>
                    <a:lstStyle/>
                    <a:p>
                      <a:pPr indent="0" marL="0">
                        <a:buNone/>
                      </a:pPr>
                      <a:r>
                        <a:rPr lang="en-US" sz="850" b="1" dirty="0">
                          <a:solidFill>
                            <a:srgbClr val="FFFFFF"/>
                          </a:solidFill>
                          <a:latin typeface="Calibri" pitchFamily="34" charset="0"/>
                          <a:ea typeface="Calibri" pitchFamily="34" charset="-122"/>
                          <a:cs typeface="Calibri" pitchFamily="34" charset="-120"/>
                        </a:rPr>
                        <a:t>What has to agree</a:t>
                      </a:r>
                      <a:endParaRPr lang="en-US" sz="850" dirty="0">
                        <a:latin typeface="Calibri" charset="0"/>
                        <a:ea typeface="Calibri" charset="0"/>
                        <a:cs typeface="Calibri" charset="0"/>
                      </a:endParaRPr>
                    </a:p>
                  </a:txBody>
                  <a:tcPr marL="54864" marR="54864" marT="54864" marB="54864" anchor="ctr">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0F2A4A"/>
                    </a:solidFill>
                  </a:tcPr>
                </a:tc>
                <a:tc>
                  <a:txBody>
                    <a:bodyPr/>
                    <a:lstStyle/>
                    <a:p>
                      <a:pPr indent="0" marL="0">
                        <a:buNone/>
                      </a:pPr>
                      <a:r>
                        <a:rPr lang="en-US" sz="850" b="1" dirty="0">
                          <a:solidFill>
                            <a:srgbClr val="FFFFFF"/>
                          </a:solidFill>
                          <a:latin typeface="Calibri" pitchFamily="34" charset="0"/>
                          <a:ea typeface="Calibri" pitchFamily="34" charset="-122"/>
                          <a:cs typeface="Calibri" pitchFamily="34" charset="-120"/>
                        </a:rPr>
                        <a:t>Where it is required</a:t>
                      </a:r>
                      <a:endParaRPr lang="en-US" sz="850" dirty="0">
                        <a:latin typeface="Calibri" charset="0"/>
                        <a:ea typeface="Calibri" charset="0"/>
                        <a:cs typeface="Calibri" charset="0"/>
                      </a:endParaRPr>
                    </a:p>
                  </a:txBody>
                  <a:tcPr marL="54864" marR="54864" marT="54864" marB="54864" anchor="ctr">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0F2A4A"/>
                    </a:solidFill>
                  </a:tcPr>
                </a:tc>
              </a:tr>
              <a:tr h="347472">
                <a:tc>
                  <a:txBody>
                    <a:bodyPr/>
                    <a:lstStyle/>
                    <a:p>
                      <a:pPr indent="0" marL="0">
                        <a:buNone/>
                      </a:pPr>
                      <a:r>
                        <a:rPr lang="en-US" sz="850" b="1" dirty="0">
                          <a:solidFill>
                            <a:srgbClr val="1F2933"/>
                          </a:solidFill>
                          <a:latin typeface="Calibri" pitchFamily="34" charset="0"/>
                          <a:ea typeface="Calibri" pitchFamily="34" charset="-122"/>
                          <a:cs typeface="Calibri" pitchFamily="34" charset="-120"/>
                        </a:rPr>
                        <a:t>Risk file and clinical evaluation</a:t>
                      </a:r>
                      <a:endParaRPr lang="en-US" sz="8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850" dirty="0">
                          <a:solidFill>
                            <a:srgbClr val="1F2933"/>
                          </a:solidFill>
                          <a:latin typeface="Calibri" pitchFamily="34" charset="0"/>
                          <a:ea typeface="Calibri" pitchFamily="34" charset="-122"/>
                          <a:cs typeface="Calibri" pitchFamily="34" charset="-120"/>
                        </a:rPr>
                        <a:t>The risk acceptability criteria in the RM plan and the benefit-risk acceptability parameters in the clinical evaluation plan, based on the state of the art. Team-NB expects the interface to be "clear and noticeable"</a:t>
                      </a:r>
                      <a:endParaRPr lang="en-US" sz="8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850" dirty="0">
                          <a:solidFill>
                            <a:srgbClr val="1F2933"/>
                          </a:solidFill>
                          <a:latin typeface="Calibri" pitchFamily="34" charset="0"/>
                          <a:ea typeface="Calibri" pitchFamily="34" charset="-122"/>
                          <a:cs typeface="Calibri" pitchFamily="34" charset="-120"/>
                        </a:rPr>
                        <a:t>Annex VII 4.5.4(c) and 4.5.5; Annex XIV Part A 1(a); recital 33</a:t>
                      </a:r>
                      <a:endParaRPr lang="en-US" sz="8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r>
              <a:tr h="347472">
                <a:tc>
                  <a:txBody>
                    <a:bodyPr/>
                    <a:lstStyle/>
                    <a:p>
                      <a:pPr indent="0" marL="0">
                        <a:buNone/>
                      </a:pPr>
                      <a:r>
                        <a:rPr lang="en-US" sz="850" b="1" dirty="0">
                          <a:solidFill>
                            <a:srgbClr val="1F2933"/>
                          </a:solidFill>
                          <a:latin typeface="Calibri" pitchFamily="34" charset="0"/>
                          <a:ea typeface="Calibri" pitchFamily="34" charset="-122"/>
                          <a:cs typeface="Calibri" pitchFamily="34" charset="-120"/>
                        </a:rPr>
                        <a:t>Risk file and PMS</a:t>
                      </a:r>
                      <a:endParaRPr lang="en-US" sz="8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c>
                  <a:txBody>
                    <a:bodyPr/>
                    <a:lstStyle/>
                    <a:p>
                      <a:pPr indent="0" marL="0">
                        <a:buNone/>
                      </a:pPr>
                      <a:r>
                        <a:rPr lang="en-US" sz="850" dirty="0">
                          <a:solidFill>
                            <a:srgbClr val="1F2933"/>
                          </a:solidFill>
                          <a:latin typeface="Calibri" pitchFamily="34" charset="0"/>
                          <a:ea typeface="Calibri" pitchFamily="34" charset="-122"/>
                          <a:cs typeface="Calibri" pitchFamily="34" charset="-120"/>
                        </a:rPr>
                        <a:t>The PMS plan indicators and threshold values, and the probabilities and severities in the risk file they are meant to test</a:t>
                      </a:r>
                      <a:endParaRPr lang="en-US" sz="8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c>
                  <a:txBody>
                    <a:bodyPr/>
                    <a:lstStyle/>
                    <a:p>
                      <a:pPr indent="0" marL="0">
                        <a:buNone/>
                      </a:pPr>
                      <a:r>
                        <a:rPr lang="en-US" sz="850" dirty="0">
                          <a:solidFill>
                            <a:srgbClr val="1F2933"/>
                          </a:solidFill>
                          <a:latin typeface="Calibri" pitchFamily="34" charset="0"/>
                          <a:ea typeface="Calibri" pitchFamily="34" charset="-122"/>
                          <a:cs typeface="Calibri" pitchFamily="34" charset="-120"/>
                        </a:rPr>
                        <a:t>Annex III point 1(b); MDCG 2025-10 Table 3</a:t>
                      </a:r>
                      <a:endParaRPr lang="en-US" sz="8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r>
              <a:tr h="347472">
                <a:tc>
                  <a:txBody>
                    <a:bodyPr/>
                    <a:lstStyle/>
                    <a:p>
                      <a:pPr indent="0" marL="0">
                        <a:buNone/>
                      </a:pPr>
                      <a:r>
                        <a:rPr lang="en-US" sz="850" b="1" dirty="0">
                          <a:solidFill>
                            <a:srgbClr val="1F2933"/>
                          </a:solidFill>
                          <a:latin typeface="Calibri" pitchFamily="34" charset="0"/>
                          <a:ea typeface="Calibri" pitchFamily="34" charset="-122"/>
                          <a:cs typeface="Calibri" pitchFamily="34" charset="-120"/>
                        </a:rPr>
                        <a:t>Risk file and usability engineering</a:t>
                      </a:r>
                      <a:endParaRPr lang="en-US" sz="8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850" dirty="0">
                          <a:solidFill>
                            <a:srgbClr val="1F2933"/>
                          </a:solidFill>
                          <a:latin typeface="Calibri" pitchFamily="34" charset="0"/>
                          <a:ea typeface="Calibri" pitchFamily="34" charset="-122"/>
                          <a:cs typeface="Calibri" pitchFamily="34" charset="-120"/>
                        </a:rPr>
                        <a:t>Use errors identified in the use-related risk analysis, and the critical tasks in the summative evaluation. Effectiveness of category 3 controls is proven here or nowhere</a:t>
                      </a:r>
                      <a:endParaRPr lang="en-US" sz="8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850" dirty="0">
                          <a:solidFill>
                            <a:srgbClr val="1F2933"/>
                          </a:solidFill>
                          <a:latin typeface="Calibri" pitchFamily="34" charset="0"/>
                          <a:ea typeface="Calibri" pitchFamily="34" charset="-122"/>
                          <a:cs typeface="Calibri" pitchFamily="34" charset="-120"/>
                        </a:rPr>
                        <a:t>ISO 14971 3.30 sources use error from IEC 62366-1</a:t>
                      </a:r>
                      <a:endParaRPr lang="en-US" sz="8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r>
              <a:tr h="347472">
                <a:tc>
                  <a:txBody>
                    <a:bodyPr/>
                    <a:lstStyle/>
                    <a:p>
                      <a:pPr indent="0" marL="0">
                        <a:buNone/>
                      </a:pPr>
                      <a:r>
                        <a:rPr lang="en-US" sz="850" b="1" dirty="0">
                          <a:solidFill>
                            <a:srgbClr val="1F2933"/>
                          </a:solidFill>
                          <a:latin typeface="Calibri" pitchFamily="34" charset="0"/>
                          <a:ea typeface="Calibri" pitchFamily="34" charset="-122"/>
                          <a:cs typeface="Calibri" pitchFamily="34" charset="-120"/>
                        </a:rPr>
                        <a:t>Risk file and software or security</a:t>
                      </a:r>
                      <a:endParaRPr lang="en-US" sz="8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c>
                  <a:txBody>
                    <a:bodyPr/>
                    <a:lstStyle/>
                    <a:p>
                      <a:pPr indent="0" marL="0">
                        <a:buNone/>
                      </a:pPr>
                      <a:r>
                        <a:rPr lang="en-US" sz="850" dirty="0">
                          <a:solidFill>
                            <a:srgbClr val="1F2933"/>
                          </a:solidFill>
                          <a:latin typeface="Calibri" pitchFamily="34" charset="0"/>
                          <a:ea typeface="Calibri" pitchFamily="34" charset="-122"/>
                          <a:cs typeface="Calibri" pitchFamily="34" charset="-120"/>
                        </a:rPr>
                        <a:t>Software safety classification and the security risk records, and the hazardous situations they feed</a:t>
                      </a:r>
                      <a:endParaRPr lang="en-US" sz="8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c>
                  <a:txBody>
                    <a:bodyPr/>
                    <a:lstStyle/>
                    <a:p>
                      <a:pPr indent="0" marL="0">
                        <a:buNone/>
                      </a:pPr>
                      <a:r>
                        <a:rPr lang="en-US" sz="850" dirty="0">
                          <a:solidFill>
                            <a:srgbClr val="1F2933"/>
                          </a:solidFill>
                          <a:latin typeface="Calibri" pitchFamily="34" charset="0"/>
                          <a:ea typeface="Calibri" pitchFamily="34" charset="-122"/>
                          <a:cs typeface="Calibri" pitchFamily="34" charset="-120"/>
                        </a:rPr>
                        <a:t>MDR Annex I 17.1, 17.2, 17.4, 18.8; MDCG 2019-16 rev.1</a:t>
                      </a:r>
                      <a:endParaRPr lang="en-US" sz="8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r>
            </a:tbl>
          </a:graphicData>
        </a:graphic>
      </p:graphicFrame>
      <p:sp>
        <p:nvSpPr>
          <p:cNvPr id="8" name="Shape 4"/>
          <p:cNvSpPr/>
          <p:nvPr/>
        </p:nvSpPr>
        <p:spPr>
          <a:xfrm>
            <a:off x="457200" y="4023360"/>
            <a:ext cx="8229600" cy="457200"/>
          </a:xfrm>
          <a:prstGeom prst="roundRect">
            <a:avLst>
              <a:gd name="adj" fmla="val 12000"/>
            </a:avLst>
          </a:prstGeom>
          <a:solidFill>
            <a:srgbClr val="0F2A4A"/>
          </a:solidFill>
          <a:ln w="12700">
            <a:solidFill>
              <a:srgbClr val="0F2A4A"/>
            </a:solidFill>
            <a:prstDash val="solid"/>
          </a:ln>
        </p:spPr>
      </p:sp>
      <p:sp>
        <p:nvSpPr>
          <p:cNvPr id="9" name="Text 5"/>
          <p:cNvSpPr txBox="1"/>
          <p:nvPr/>
        </p:nvSpPr>
        <p:spPr>
          <a:xfrm>
            <a:off x="640080" y="4023360"/>
            <a:ext cx="7863840" cy="457200"/>
          </a:xfrm>
          <a:prstGeom prst="rect">
            <a:avLst/>
          </a:prstGeom>
          <a:noFill/>
          <a:ln/>
        </p:spPr>
        <p:txBody>
          <a:bodyPr wrap="square" lIns="0" tIns="0" rIns="0" bIns="0" rtlCol="0" anchor="ctr"/>
          <a:lstStyle/>
          <a:p>
            <a:pPr indent="0" marL="0">
              <a:buNone/>
            </a:pPr>
            <a:r>
              <a:rPr lang="en-US" sz="1050" i="1" dirty="0">
                <a:solidFill>
                  <a:srgbClr val="FFFFFF"/>
                </a:solidFill>
                <a:latin typeface="Calibri" pitchFamily="34" charset="0"/>
                <a:ea typeface="Calibri" pitchFamily="34" charset="-122"/>
                <a:cs typeface="Calibri" pitchFamily="34" charset="-120"/>
              </a:rPr>
              <a:t>MDCG 2025-10 (December 2025) sets out the PMS-to-risk-management interface expectations. There is still no MDCG guidance dedicated to risk management, and none in the published pipeline.</a:t>
            </a:r>
            <a:endParaRPr lang="en-US" sz="10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B1F38"/>
        </a:solidFill>
      </p:bgPr>
    </p:bg>
    <p:spTree>
      <p:nvGrpSpPr>
        <p:cNvPr id="1" name=""/>
        <p:cNvGrpSpPr/>
        <p:nvPr/>
      </p:nvGrpSpPr>
      <p:grpSpPr>
        <a:xfrm>
          <a:off x="0" y="0"/>
          <a:ext cx="0" cy="0"/>
          <a:chOff x="0" y="0"/>
          <a:chExt cx="0" cy="0"/>
        </a:xfrm>
      </p:grpSpPr>
      <p:sp>
        <p:nvSpPr>
          <p:cNvPr id="2" name="Text 0"/>
          <p:cNvSpPr txBox="1"/>
          <p:nvPr/>
        </p:nvSpPr>
        <p:spPr>
          <a:xfrm>
            <a:off x="457200" y="4814316"/>
            <a:ext cx="5943600" cy="201168"/>
          </a:xfrm>
          <a:prstGeom prst="rect">
            <a:avLst/>
          </a:prstGeom>
          <a:noFill/>
          <a:ln/>
        </p:spPr>
        <p:txBody>
          <a:bodyPr wrap="square" lIns="0" tIns="0" rIns="0" bIns="0" rtlCol="0" anchor="ctr"/>
          <a:lstStyle/>
          <a:p>
            <a:pPr indent="0" marL="0">
              <a:buNone/>
            </a:pPr>
            <a:r>
              <a:rPr lang="en-US" sz="900" dirty="0">
                <a:solidFill>
                  <a:srgbClr val="8FA1B5"/>
                </a:solidFill>
                <a:latin typeface="Calibri" pitchFamily="34" charset="0"/>
                <a:ea typeface="Calibri" pitchFamily="34" charset="-122"/>
                <a:cs typeface="Calibri" pitchFamily="34" charset="-120"/>
              </a:rPr>
              <a:t>Risk Management  |  ISO 14971  |  Elder Consulting, LLC</a:t>
            </a:r>
            <a:endParaRPr lang="en-US" sz="900" dirty="0"/>
          </a:p>
        </p:txBody>
      </p:sp>
      <p:sp>
        <p:nvSpPr>
          <p:cNvPr id="3" name="Text 1"/>
          <p:cNvSpPr txBox="1"/>
          <p:nvPr/>
        </p:nvSpPr>
        <p:spPr>
          <a:xfrm>
            <a:off x="8138160" y="4814316"/>
            <a:ext cx="548640" cy="201168"/>
          </a:xfrm>
          <a:prstGeom prst="rect">
            <a:avLst/>
          </a:prstGeom>
          <a:noFill/>
          <a:ln/>
        </p:spPr>
        <p:txBody>
          <a:bodyPr wrap="square" lIns="0" tIns="0" rIns="0" bIns="0" rtlCol="0" anchor="ctr"/>
          <a:lstStyle/>
          <a:p>
            <a:pPr algn="r" indent="0" marL="0">
              <a:buNone/>
            </a:pPr>
            <a:r>
              <a:rPr lang="en-US" sz="900" dirty="0">
                <a:solidFill>
                  <a:srgbClr val="8FA1B5"/>
                </a:solidFill>
                <a:latin typeface="Calibri" pitchFamily="34" charset="0"/>
                <a:ea typeface="Calibri" pitchFamily="34" charset="-122"/>
                <a:cs typeface="Calibri" pitchFamily="34" charset="-120"/>
              </a:rPr>
              <a:t>35</a:t>
            </a:r>
            <a:endParaRPr lang="en-US" sz="900" dirty="0"/>
          </a:p>
        </p:txBody>
      </p:sp>
      <p:sp>
        <p:nvSpPr>
          <p:cNvPr id="4" name="Text 2"/>
          <p:cNvSpPr txBox="1"/>
          <p:nvPr/>
        </p:nvSpPr>
        <p:spPr>
          <a:xfrm>
            <a:off x="457200" y="1417320"/>
            <a:ext cx="8229600" cy="320040"/>
          </a:xfrm>
          <a:prstGeom prst="rect">
            <a:avLst/>
          </a:prstGeom>
          <a:noFill/>
          <a:ln/>
        </p:spPr>
        <p:txBody>
          <a:bodyPr wrap="square" lIns="0" tIns="0" rIns="0" bIns="0" rtlCol="0" anchor="ctr"/>
          <a:lstStyle/>
          <a:p>
            <a:pPr indent="0" marL="0">
              <a:buNone/>
            </a:pPr>
            <a:r>
              <a:rPr lang="en-US" sz="1300" b="1" spc="300" kern="0" dirty="0">
                <a:solidFill>
                  <a:srgbClr val="E0A126"/>
                </a:solidFill>
                <a:latin typeface="Calibri" pitchFamily="34" charset="0"/>
                <a:ea typeface="Calibri" pitchFamily="34" charset="-122"/>
                <a:cs typeface="Calibri" pitchFamily="34" charset="-120"/>
              </a:rPr>
              <a:t>SECTION 7</a:t>
            </a:r>
            <a:endParaRPr lang="en-US" sz="1300" dirty="0"/>
          </a:p>
        </p:txBody>
      </p:sp>
      <p:sp>
        <p:nvSpPr>
          <p:cNvPr id="5" name="Text 3"/>
          <p:cNvSpPr txBox="1"/>
          <p:nvPr/>
        </p:nvSpPr>
        <p:spPr>
          <a:xfrm>
            <a:off x="457200" y="1783080"/>
            <a:ext cx="8229600" cy="1234440"/>
          </a:xfrm>
          <a:prstGeom prst="rect">
            <a:avLst/>
          </a:prstGeom>
          <a:noFill/>
          <a:ln/>
        </p:spPr>
        <p:txBody>
          <a:bodyPr wrap="square" lIns="0" tIns="0" rIns="0" bIns="0" rtlCol="0" anchor="t"/>
          <a:lstStyle/>
          <a:p>
            <a:pPr indent="0" marL="0">
              <a:buNone/>
            </a:pPr>
            <a:r>
              <a:rPr lang="en-US" sz="3600" b="1" dirty="0">
                <a:solidFill>
                  <a:srgbClr val="FFFFFF"/>
                </a:solidFill>
                <a:latin typeface="Cambria" pitchFamily="34" charset="0"/>
                <a:ea typeface="Cambria" pitchFamily="34" charset="-122"/>
                <a:cs typeface="Cambria" pitchFamily="34" charset="-120"/>
              </a:rPr>
              <a:t>Exercise C: your 30-day plan</a:t>
            </a:r>
            <a:endParaRPr lang="en-US" sz="3600" dirty="0"/>
          </a:p>
        </p:txBody>
      </p:sp>
      <p:sp>
        <p:nvSpPr>
          <p:cNvPr id="6" name="Text 4"/>
          <p:cNvSpPr txBox="1"/>
          <p:nvPr/>
        </p:nvSpPr>
        <p:spPr>
          <a:xfrm>
            <a:off x="457200" y="3108960"/>
            <a:ext cx="7863840" cy="914400"/>
          </a:xfrm>
          <a:prstGeom prst="rect">
            <a:avLst/>
          </a:prstGeom>
          <a:noFill/>
          <a:ln/>
        </p:spPr>
        <p:txBody>
          <a:bodyPr wrap="square" lIns="0" tIns="0" rIns="0" bIns="0" rtlCol="0" anchor="t"/>
          <a:lstStyle/>
          <a:p>
            <a:pPr indent="0" marL="0">
              <a:buNone/>
            </a:pPr>
            <a:r>
              <a:rPr lang="en-US" sz="1600" dirty="0">
                <a:solidFill>
                  <a:srgbClr val="C9D3DE"/>
                </a:solidFill>
                <a:latin typeface="Calibri" pitchFamily="34" charset="0"/>
                <a:ea typeface="Calibri" pitchFamily="34" charset="-122"/>
                <a:cs typeface="Calibri" pitchFamily="34" charset="-120"/>
              </a:rPr>
              <a:t>Eight minutes. What you will actually change, and in what order</a:t>
            </a:r>
            <a:endParaRPr lang="en-US" sz="16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4814316"/>
            <a:ext cx="5943600" cy="201168"/>
          </a:xfrm>
          <a:prstGeom prst="rect">
            <a:avLst/>
          </a:prstGeom>
          <a:noFill/>
          <a:ln/>
        </p:spPr>
        <p:txBody>
          <a:bodyPr wrap="square" lIns="0" tIns="0" rIns="0" bIns="0" rtlCol="0" anchor="ctr"/>
          <a:lstStyle/>
          <a:p>
            <a:pPr indent="0" marL="0">
              <a:buNone/>
            </a:pPr>
            <a:r>
              <a:rPr lang="en-US" sz="900" dirty="0">
                <a:solidFill>
                  <a:srgbClr val="5A6B7B"/>
                </a:solidFill>
                <a:latin typeface="Calibri" pitchFamily="34" charset="0"/>
                <a:ea typeface="Calibri" pitchFamily="34" charset="-122"/>
                <a:cs typeface="Calibri" pitchFamily="34" charset="-120"/>
              </a:rPr>
              <a:t>Risk Management  |  ISO 14971  |  Elder Consulting, LLC</a:t>
            </a:r>
            <a:endParaRPr lang="en-US" sz="900" dirty="0"/>
          </a:p>
        </p:txBody>
      </p:sp>
      <p:sp>
        <p:nvSpPr>
          <p:cNvPr id="3" name="Text 1"/>
          <p:cNvSpPr txBox="1"/>
          <p:nvPr/>
        </p:nvSpPr>
        <p:spPr>
          <a:xfrm>
            <a:off x="8138160" y="4814316"/>
            <a:ext cx="548640" cy="201168"/>
          </a:xfrm>
          <a:prstGeom prst="rect">
            <a:avLst/>
          </a:prstGeom>
          <a:noFill/>
          <a:ln/>
        </p:spPr>
        <p:txBody>
          <a:bodyPr wrap="square" lIns="0" tIns="0" rIns="0" bIns="0" rtlCol="0" anchor="ctr"/>
          <a:lstStyle/>
          <a:p>
            <a:pPr algn="r" indent="0" marL="0">
              <a:buNone/>
            </a:pPr>
            <a:r>
              <a:rPr lang="en-US" sz="900" dirty="0">
                <a:solidFill>
                  <a:srgbClr val="5A6B7B"/>
                </a:solidFill>
                <a:latin typeface="Calibri" pitchFamily="34" charset="0"/>
                <a:ea typeface="Calibri" pitchFamily="34" charset="-122"/>
                <a:cs typeface="Calibri" pitchFamily="34" charset="-120"/>
              </a:rPr>
              <a:t>36</a:t>
            </a:r>
            <a:endParaRPr lang="en-US" sz="900" dirty="0"/>
          </a:p>
        </p:txBody>
      </p:sp>
      <p:sp>
        <p:nvSpPr>
          <p:cNvPr id="4" name="Text 2"/>
          <p:cNvSpPr txBox="1"/>
          <p:nvPr/>
        </p:nvSpPr>
        <p:spPr>
          <a:xfrm>
            <a:off x="457200" y="274320"/>
            <a:ext cx="8229600" cy="219456"/>
          </a:xfrm>
          <a:prstGeom prst="rect">
            <a:avLst/>
          </a:prstGeom>
          <a:noFill/>
          <a:ln/>
        </p:spPr>
        <p:txBody>
          <a:bodyPr wrap="square" lIns="0" tIns="0" rIns="0" bIns="0" rtlCol="0" anchor="ctr"/>
          <a:lstStyle/>
          <a:p>
            <a:pPr indent="0" marL="0">
              <a:buNone/>
            </a:pPr>
            <a:r>
              <a:rPr lang="en-US" sz="1000" b="1" spc="200" kern="0" dirty="0">
                <a:solidFill>
                  <a:srgbClr val="A8730F"/>
                </a:solidFill>
                <a:latin typeface="Calibri" pitchFamily="34" charset="0"/>
                <a:ea typeface="Calibri" pitchFamily="34" charset="-122"/>
                <a:cs typeface="Calibri" pitchFamily="34" charset="-120"/>
              </a:rPr>
              <a:t>EXERCISE C  |  BRIEF</a:t>
            </a:r>
            <a:endParaRPr lang="en-US" sz="1000" dirty="0"/>
          </a:p>
        </p:txBody>
      </p:sp>
      <p:sp>
        <p:nvSpPr>
          <p:cNvPr id="5" name="Text 3"/>
          <p:cNvSpPr txBox="1"/>
          <p:nvPr/>
        </p:nvSpPr>
        <p:spPr>
          <a:xfrm>
            <a:off x="457200" y="502920"/>
            <a:ext cx="8229600" cy="548640"/>
          </a:xfrm>
          <a:prstGeom prst="rect">
            <a:avLst/>
          </a:prstGeom>
          <a:noFill/>
          <a:ln/>
        </p:spPr>
        <p:txBody>
          <a:bodyPr wrap="square" lIns="0" tIns="0" rIns="0" bIns="0" rtlCol="0" anchor="t"/>
          <a:lstStyle/>
          <a:p>
            <a:pPr indent="0" marL="0">
              <a:buNone/>
            </a:pPr>
            <a:r>
              <a:rPr lang="en-US" sz="2400" b="1" dirty="0">
                <a:solidFill>
                  <a:srgbClr val="0F2A4A"/>
                </a:solidFill>
                <a:latin typeface="Cambria" pitchFamily="34" charset="0"/>
                <a:ea typeface="Cambria" pitchFamily="34" charset="-122"/>
                <a:cs typeface="Cambria" pitchFamily="34" charset="-120"/>
              </a:rPr>
              <a:t>Five minutes, on your own, on one page</a:t>
            </a:r>
            <a:endParaRPr lang="en-US" sz="2400" dirty="0"/>
          </a:p>
        </p:txBody>
      </p:sp>
      <p:sp>
        <p:nvSpPr>
          <p:cNvPr id="7" name="Shape 4"/>
          <p:cNvSpPr/>
          <p:nvPr/>
        </p:nvSpPr>
        <p:spPr>
          <a:xfrm>
            <a:off x="457200" y="1097280"/>
            <a:ext cx="3977640" cy="3017520"/>
          </a:xfrm>
          <a:prstGeom prst="roundRect">
            <a:avLst>
              <a:gd name="adj" fmla="val 1818"/>
            </a:avLst>
          </a:prstGeom>
          <a:solidFill>
            <a:srgbClr val="EAF0F6"/>
          </a:solidFill>
          <a:ln w="12700">
            <a:solidFill>
              <a:srgbClr val="EAF0F6"/>
            </a:solidFill>
            <a:prstDash val="solid"/>
          </a:ln>
        </p:spPr>
      </p:sp>
      <p:sp>
        <p:nvSpPr>
          <p:cNvPr id="8" name="Text 5"/>
          <p:cNvSpPr txBox="1"/>
          <p:nvPr/>
        </p:nvSpPr>
        <p:spPr>
          <a:xfrm>
            <a:off x="585216" y="1188720"/>
            <a:ext cx="3721608" cy="182880"/>
          </a:xfrm>
          <a:prstGeom prst="rect">
            <a:avLst/>
          </a:prstGeom>
          <a:noFill/>
          <a:ln/>
        </p:spPr>
        <p:txBody>
          <a:bodyPr wrap="square" lIns="0" tIns="0" rIns="0" bIns="0" rtlCol="0" anchor="ctr"/>
          <a:lstStyle/>
          <a:p>
            <a:pPr indent="0" marL="0">
              <a:buNone/>
            </a:pPr>
            <a:r>
              <a:rPr lang="en-US" sz="900" b="1" spc="150" kern="0" dirty="0">
                <a:solidFill>
                  <a:srgbClr val="A8730F"/>
                </a:solidFill>
                <a:latin typeface="Calibri" pitchFamily="34" charset="0"/>
                <a:ea typeface="Calibri" pitchFamily="34" charset="-122"/>
                <a:cs typeface="Calibri" pitchFamily="34" charset="-120"/>
              </a:rPr>
              <a:t>THE SHEET</a:t>
            </a:r>
            <a:endParaRPr lang="en-US" sz="900" dirty="0"/>
          </a:p>
        </p:txBody>
      </p:sp>
      <p:sp>
        <p:nvSpPr>
          <p:cNvPr id="9" name="Text 6"/>
          <p:cNvSpPr txBox="1"/>
          <p:nvPr/>
        </p:nvSpPr>
        <p:spPr>
          <a:xfrm>
            <a:off x="585216" y="1408176"/>
            <a:ext cx="3721608" cy="274320"/>
          </a:xfrm>
          <a:prstGeom prst="rect">
            <a:avLst/>
          </a:prstGeom>
          <a:noFill/>
          <a:ln/>
        </p:spPr>
        <p:txBody>
          <a:bodyPr wrap="square" lIns="0" tIns="0" rIns="0" bIns="0" rtlCol="0" anchor="ctr"/>
          <a:lstStyle/>
          <a:p>
            <a:pPr indent="0" marL="0">
              <a:buNone/>
            </a:pPr>
            <a:r>
              <a:rPr lang="en-US" sz="1250" b="1" dirty="0">
                <a:solidFill>
                  <a:srgbClr val="0F2A4A"/>
                </a:solidFill>
                <a:latin typeface="Calibri" pitchFamily="34" charset="0"/>
                <a:ea typeface="Calibri" pitchFamily="34" charset="-122"/>
                <a:cs typeface="Calibri" pitchFamily="34" charset="-120"/>
              </a:rPr>
              <a:t>Write five rows</a:t>
            </a:r>
            <a:endParaRPr lang="en-US" sz="1250" dirty="0"/>
          </a:p>
        </p:txBody>
      </p:sp>
      <p:sp>
        <p:nvSpPr>
          <p:cNvPr id="10" name="Text 7"/>
          <p:cNvSpPr txBox="1"/>
          <p:nvPr/>
        </p:nvSpPr>
        <p:spPr>
          <a:xfrm>
            <a:off x="585216" y="1719072"/>
            <a:ext cx="3721608" cy="2304288"/>
          </a:xfrm>
          <a:prstGeom prst="rect">
            <a:avLst/>
          </a:prstGeom>
          <a:noFill/>
          <a:ln/>
        </p:spPr>
        <p:txBody>
          <a:bodyPr wrap="square" lIns="0" tIns="0" rIns="0" bIns="0" rtlCol="0" anchor="t"/>
          <a:lstStyle/>
          <a:p>
            <a:pPr marL="342900" indent="-342900">
              <a:spcAft>
                <a:spcPts val="500"/>
              </a:spcAft>
              <a:buSzPct val="100000"/>
              <a:buChar char="•"/>
            </a:pPr>
            <a:r>
              <a:rPr lang="en-US" sz="1050" dirty="0">
                <a:solidFill>
                  <a:srgbClr val="1F2933"/>
                </a:solidFill>
                <a:latin typeface="Calibri" pitchFamily="34" charset="0"/>
                <a:ea typeface="Calibri" pitchFamily="34" charset="-122"/>
                <a:cs typeface="Calibri" pitchFamily="34" charset="-120"/>
              </a:rPr>
              <a:t>What I will change</a:t>
            </a:r>
            <a:endParaRPr lang="en-US" sz="1050" dirty="0"/>
          </a:p>
          <a:p>
            <a:pPr marL="342900" indent="-342900">
              <a:spcAft>
                <a:spcPts val="500"/>
              </a:spcAft>
              <a:buSzPct val="100000"/>
              <a:buChar char="•"/>
            </a:pPr>
            <a:r>
              <a:rPr lang="en-US" sz="1050" dirty="0">
                <a:solidFill>
                  <a:srgbClr val="1F2933"/>
                </a:solidFill>
                <a:latin typeface="Calibri" pitchFamily="34" charset="0"/>
                <a:ea typeface="Calibri" pitchFamily="34" charset="-122"/>
                <a:cs typeface="Calibri" pitchFamily="34" charset="-120"/>
              </a:rPr>
              <a:t>Which clause or GSPR it answers</a:t>
            </a:r>
            <a:endParaRPr lang="en-US" sz="1050" dirty="0"/>
          </a:p>
          <a:p>
            <a:pPr marL="342900" indent="-342900">
              <a:spcAft>
                <a:spcPts val="500"/>
              </a:spcAft>
              <a:buSzPct val="100000"/>
              <a:buChar char="•"/>
            </a:pPr>
            <a:r>
              <a:rPr lang="en-US" sz="1050" dirty="0">
                <a:solidFill>
                  <a:srgbClr val="1F2933"/>
                </a:solidFill>
                <a:latin typeface="Calibri" pitchFamily="34" charset="0"/>
                <a:ea typeface="Calibri" pitchFamily="34" charset="-122"/>
                <a:cs typeface="Calibri" pitchFamily="34" charset="-120"/>
              </a:rPr>
              <a:t>Who owns it - a name, not a function</a:t>
            </a:r>
            <a:endParaRPr lang="en-US" sz="1050" dirty="0"/>
          </a:p>
          <a:p>
            <a:pPr marL="342900" indent="-342900">
              <a:spcAft>
                <a:spcPts val="500"/>
              </a:spcAft>
              <a:buSzPct val="100000"/>
              <a:buChar char="•"/>
            </a:pPr>
            <a:r>
              <a:rPr lang="en-US" sz="1050" dirty="0">
                <a:solidFill>
                  <a:srgbClr val="1F2933"/>
                </a:solidFill>
                <a:latin typeface="Calibri" pitchFamily="34" charset="0"/>
                <a:ea typeface="Calibri" pitchFamily="34" charset="-122"/>
                <a:cs typeface="Calibri" pitchFamily="34" charset="-120"/>
              </a:rPr>
              <a:t>Done by - a date inside 30 days</a:t>
            </a:r>
            <a:endParaRPr lang="en-US" sz="1050" dirty="0"/>
          </a:p>
          <a:p>
            <a:pPr marL="342900" indent="-342900">
              <a:spcAft>
                <a:spcPts val="500"/>
              </a:spcAft>
              <a:buSzPct val="100000"/>
              <a:buChar char="•"/>
            </a:pPr>
            <a:r>
              <a:rPr lang="en-US" sz="1050" dirty="0">
                <a:solidFill>
                  <a:srgbClr val="1F2933"/>
                </a:solidFill>
                <a:latin typeface="Calibri" pitchFamily="34" charset="0"/>
                <a:ea typeface="Calibri" pitchFamily="34" charset="-122"/>
                <a:cs typeface="Calibri" pitchFamily="34" charset="-120"/>
              </a:rPr>
              <a:t>How I will know it worked</a:t>
            </a:r>
            <a:endParaRPr lang="en-US" sz="1050" dirty="0"/>
          </a:p>
        </p:txBody>
      </p:sp>
      <p:sp>
        <p:nvSpPr>
          <p:cNvPr id="11" name="Shape 8"/>
          <p:cNvSpPr/>
          <p:nvPr/>
        </p:nvSpPr>
        <p:spPr>
          <a:xfrm>
            <a:off x="4617720" y="1097280"/>
            <a:ext cx="4069080" cy="3017520"/>
          </a:xfrm>
          <a:prstGeom prst="roundRect">
            <a:avLst>
              <a:gd name="adj" fmla="val 1818"/>
            </a:avLst>
          </a:prstGeom>
          <a:solidFill>
            <a:srgbClr val="FBF2DE"/>
          </a:solidFill>
          <a:ln w="12700">
            <a:solidFill>
              <a:srgbClr val="FBF2DE"/>
            </a:solidFill>
            <a:prstDash val="solid"/>
          </a:ln>
        </p:spPr>
      </p:sp>
      <p:sp>
        <p:nvSpPr>
          <p:cNvPr id="12" name="Text 9"/>
          <p:cNvSpPr txBox="1"/>
          <p:nvPr/>
        </p:nvSpPr>
        <p:spPr>
          <a:xfrm>
            <a:off x="4745736" y="1188720"/>
            <a:ext cx="3813048" cy="182880"/>
          </a:xfrm>
          <a:prstGeom prst="rect">
            <a:avLst/>
          </a:prstGeom>
          <a:noFill/>
          <a:ln/>
        </p:spPr>
        <p:txBody>
          <a:bodyPr wrap="square" lIns="0" tIns="0" rIns="0" bIns="0" rtlCol="0" anchor="ctr"/>
          <a:lstStyle/>
          <a:p>
            <a:pPr indent="0" marL="0">
              <a:buNone/>
            </a:pPr>
            <a:r>
              <a:rPr lang="en-US" sz="900" b="1" spc="150" kern="0" dirty="0">
                <a:solidFill>
                  <a:srgbClr val="A8730F"/>
                </a:solidFill>
                <a:latin typeface="Calibri" pitchFamily="34" charset="0"/>
                <a:ea typeface="Calibri" pitchFamily="34" charset="-122"/>
                <a:cs typeface="Calibri" pitchFamily="34" charset="-120"/>
              </a:rPr>
              <a:t>IF YOU NEED PROMPTS</a:t>
            </a:r>
            <a:endParaRPr lang="en-US" sz="900" dirty="0"/>
          </a:p>
        </p:txBody>
      </p:sp>
      <p:sp>
        <p:nvSpPr>
          <p:cNvPr id="13" name="Text 10"/>
          <p:cNvSpPr txBox="1"/>
          <p:nvPr/>
        </p:nvSpPr>
        <p:spPr>
          <a:xfrm>
            <a:off x="4745736" y="1408176"/>
            <a:ext cx="3813048" cy="274320"/>
          </a:xfrm>
          <a:prstGeom prst="rect">
            <a:avLst/>
          </a:prstGeom>
          <a:noFill/>
          <a:ln/>
        </p:spPr>
        <p:txBody>
          <a:bodyPr wrap="square" lIns="0" tIns="0" rIns="0" bIns="0" rtlCol="0" anchor="ctr"/>
          <a:lstStyle/>
          <a:p>
            <a:pPr indent="0" marL="0">
              <a:buNone/>
            </a:pPr>
            <a:r>
              <a:rPr lang="en-US" sz="1250" b="1" dirty="0">
                <a:solidFill>
                  <a:srgbClr val="0F2A4A"/>
                </a:solidFill>
                <a:latin typeface="Calibri" pitchFamily="34" charset="0"/>
                <a:ea typeface="Calibri" pitchFamily="34" charset="-122"/>
                <a:cs typeface="Calibri" pitchFamily="34" charset="-120"/>
              </a:rPr>
              <a:t>Six checks from today</a:t>
            </a:r>
            <a:endParaRPr lang="en-US" sz="1250" dirty="0"/>
          </a:p>
        </p:txBody>
      </p:sp>
      <p:sp>
        <p:nvSpPr>
          <p:cNvPr id="14" name="Text 11"/>
          <p:cNvSpPr txBox="1"/>
          <p:nvPr/>
        </p:nvSpPr>
        <p:spPr>
          <a:xfrm>
            <a:off x="4745736" y="1719072"/>
            <a:ext cx="3813048" cy="2304288"/>
          </a:xfrm>
          <a:prstGeom prst="rect">
            <a:avLst/>
          </a:prstGeom>
          <a:noFill/>
          <a:ln/>
        </p:spPr>
        <p:txBody>
          <a:bodyPr wrap="square" lIns="0" tIns="0" rIns="0" bIns="0" rtlCol="0" anchor="t"/>
          <a:lstStyle/>
          <a:p>
            <a:pPr marL="342900" indent="-342900">
              <a:spcAft>
                <a:spcPts val="300"/>
              </a:spcAft>
              <a:buSzPct val="100000"/>
              <a:buChar char="•"/>
            </a:pPr>
            <a:r>
              <a:rPr lang="en-US" sz="950" dirty="0">
                <a:solidFill>
                  <a:srgbClr val="1F2933"/>
                </a:solidFill>
                <a:latin typeface="Calibri" pitchFamily="34" charset="0"/>
                <a:ea typeface="Calibri" pitchFamily="34" charset="-122"/>
                <a:cs typeface="Calibri" pitchFamily="34" charset="-120"/>
              </a:rPr>
              <a:t>Does the plan state what you do when probability cannot be estimated? (4.4 d)</a:t>
            </a:r>
            <a:endParaRPr lang="en-US" sz="950" dirty="0"/>
          </a:p>
          <a:p>
            <a:pPr marL="342900" indent="-342900">
              <a:spcAft>
                <a:spcPts val="300"/>
              </a:spcAft>
              <a:buSzPct val="100000"/>
              <a:buChar char="•"/>
            </a:pPr>
            <a:r>
              <a:rPr lang="en-US" sz="950" dirty="0">
                <a:solidFill>
                  <a:srgbClr val="1F2933"/>
                </a:solidFill>
                <a:latin typeface="Calibri" pitchFamily="34" charset="0"/>
                <a:ea typeface="Calibri" pitchFamily="34" charset="-122"/>
                <a:cs typeface="Calibri" pitchFamily="34" charset="-120"/>
              </a:rPr>
              <a:t>Does every control have an EFFECTIVENESS record? (7.2)</a:t>
            </a:r>
            <a:endParaRPr lang="en-US" sz="950" dirty="0"/>
          </a:p>
          <a:p>
            <a:pPr marL="342900" indent="-342900">
              <a:spcAft>
                <a:spcPts val="300"/>
              </a:spcAft>
              <a:buSzPct val="100000"/>
              <a:buChar char="•"/>
            </a:pPr>
            <a:r>
              <a:rPr lang="en-US" sz="950" dirty="0">
                <a:solidFill>
                  <a:srgbClr val="1F2933"/>
                </a:solidFill>
                <a:latin typeface="Calibri" pitchFamily="34" charset="0"/>
                <a:ea typeface="Calibri" pitchFamily="34" charset="-122"/>
                <a:cs typeface="Calibri" pitchFamily="34" charset="-120"/>
              </a:rPr>
              <a:t>Does any justification for skipping a higher-priority option rest on cost? (MDR I.2)</a:t>
            </a:r>
            <a:endParaRPr lang="en-US" sz="950" dirty="0"/>
          </a:p>
          <a:p>
            <a:pPr marL="342900" indent="-342900">
              <a:spcAft>
                <a:spcPts val="300"/>
              </a:spcAft>
              <a:buSzPct val="100000"/>
              <a:buChar char="•"/>
            </a:pPr>
            <a:r>
              <a:rPr lang="en-US" sz="950" dirty="0">
                <a:solidFill>
                  <a:srgbClr val="1F2933"/>
                </a:solidFill>
                <a:latin typeface="Calibri" pitchFamily="34" charset="0"/>
                <a:ea typeface="Calibri" pitchFamily="34" charset="-122"/>
                <a:cs typeface="Calibri" pitchFamily="34" charset="-120"/>
              </a:rPr>
              <a:t>Does the procedure have a 7.6 completeness step?</a:t>
            </a:r>
            <a:endParaRPr lang="en-US" sz="950" dirty="0"/>
          </a:p>
          <a:p>
            <a:pPr marL="342900" indent="-342900">
              <a:spcAft>
                <a:spcPts val="300"/>
              </a:spcAft>
              <a:buSzPct val="100000"/>
              <a:buChar char="•"/>
            </a:pPr>
            <a:r>
              <a:rPr lang="en-US" sz="950" dirty="0">
                <a:solidFill>
                  <a:srgbClr val="1F2933"/>
                </a:solidFill>
                <a:latin typeface="Calibri" pitchFamily="34" charset="0"/>
                <a:ea typeface="Calibri" pitchFamily="34" charset="-122"/>
                <a:cs typeface="Calibri" pitchFamily="34" charset="-120"/>
              </a:rPr>
              <a:t>Can you find the file revision one old complaint produced? (10.3, 10.4)</a:t>
            </a:r>
            <a:endParaRPr lang="en-US" sz="950" dirty="0"/>
          </a:p>
          <a:p>
            <a:pPr marL="342900" indent="-342900">
              <a:spcAft>
                <a:spcPts val="300"/>
              </a:spcAft>
              <a:buSzPct val="100000"/>
              <a:buChar char="•"/>
            </a:pPr>
            <a:r>
              <a:rPr lang="en-US" sz="950" dirty="0">
                <a:solidFill>
                  <a:srgbClr val="1F2933"/>
                </a:solidFill>
                <a:latin typeface="Calibri" pitchFamily="34" charset="0"/>
                <a:ea typeface="Calibri" pitchFamily="34" charset="-122"/>
                <a:cs typeface="Calibri" pitchFamily="34" charset="-120"/>
              </a:rPr>
              <a:t>Do the RM plan criteria and the clinical evaluation plan parameters agree?</a:t>
            </a:r>
            <a:endParaRPr lang="en-US" sz="950" dirty="0"/>
          </a:p>
        </p:txBody>
      </p:sp>
      <p:sp>
        <p:nvSpPr>
          <p:cNvPr id="15" name="Shape 12"/>
          <p:cNvSpPr/>
          <p:nvPr/>
        </p:nvSpPr>
        <p:spPr>
          <a:xfrm>
            <a:off x="457200" y="4224528"/>
            <a:ext cx="8229600" cy="384048"/>
          </a:xfrm>
          <a:prstGeom prst="roundRect">
            <a:avLst>
              <a:gd name="adj" fmla="val 14286"/>
            </a:avLst>
          </a:prstGeom>
          <a:solidFill>
            <a:srgbClr val="0F2A4A"/>
          </a:solidFill>
          <a:ln w="12700">
            <a:solidFill>
              <a:srgbClr val="0F2A4A"/>
            </a:solidFill>
            <a:prstDash val="solid"/>
          </a:ln>
        </p:spPr>
      </p:sp>
      <p:sp>
        <p:nvSpPr>
          <p:cNvPr id="16" name="Text 13"/>
          <p:cNvSpPr txBox="1"/>
          <p:nvPr/>
        </p:nvSpPr>
        <p:spPr>
          <a:xfrm>
            <a:off x="640080" y="4224528"/>
            <a:ext cx="7863840" cy="384048"/>
          </a:xfrm>
          <a:prstGeom prst="rect">
            <a:avLst/>
          </a:prstGeom>
          <a:noFill/>
          <a:ln/>
        </p:spPr>
        <p:txBody>
          <a:bodyPr wrap="square" lIns="0" tIns="0" rIns="0" bIns="0" rtlCol="0" anchor="ctr"/>
          <a:lstStyle/>
          <a:p>
            <a:pPr indent="0" marL="0">
              <a:buNone/>
            </a:pPr>
            <a:r>
              <a:rPr lang="en-US" sz="1100" i="1" dirty="0">
                <a:solidFill>
                  <a:srgbClr val="FFFFFF"/>
                </a:solidFill>
                <a:latin typeface="Calibri" pitchFamily="34" charset="0"/>
                <a:ea typeface="Calibri" pitchFamily="34" charset="-122"/>
                <a:cs typeface="Calibri" pitchFamily="34" charset="-120"/>
              </a:rPr>
              <a:t>The toolkit Dashboard computes five of these six. The sixth is the Clause 8 evaluation, and it is left blank on purpose.</a:t>
            </a:r>
            <a:endParaRPr lang="en-US" sz="11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4814316"/>
            <a:ext cx="5943600" cy="201168"/>
          </a:xfrm>
          <a:prstGeom prst="rect">
            <a:avLst/>
          </a:prstGeom>
          <a:noFill/>
          <a:ln/>
        </p:spPr>
        <p:txBody>
          <a:bodyPr wrap="square" lIns="0" tIns="0" rIns="0" bIns="0" rtlCol="0" anchor="ctr"/>
          <a:lstStyle/>
          <a:p>
            <a:pPr indent="0" marL="0">
              <a:buNone/>
            </a:pPr>
            <a:r>
              <a:rPr lang="en-US" sz="900" dirty="0">
                <a:solidFill>
                  <a:srgbClr val="5A6B7B"/>
                </a:solidFill>
                <a:latin typeface="Calibri" pitchFamily="34" charset="0"/>
                <a:ea typeface="Calibri" pitchFamily="34" charset="-122"/>
                <a:cs typeface="Calibri" pitchFamily="34" charset="-120"/>
              </a:rPr>
              <a:t>Risk Management  |  ISO 14971  |  Elder Consulting, LLC</a:t>
            </a:r>
            <a:endParaRPr lang="en-US" sz="900" dirty="0"/>
          </a:p>
        </p:txBody>
      </p:sp>
      <p:sp>
        <p:nvSpPr>
          <p:cNvPr id="3" name="Text 1"/>
          <p:cNvSpPr txBox="1"/>
          <p:nvPr/>
        </p:nvSpPr>
        <p:spPr>
          <a:xfrm>
            <a:off x="8138160" y="4814316"/>
            <a:ext cx="548640" cy="201168"/>
          </a:xfrm>
          <a:prstGeom prst="rect">
            <a:avLst/>
          </a:prstGeom>
          <a:noFill/>
          <a:ln/>
        </p:spPr>
        <p:txBody>
          <a:bodyPr wrap="square" lIns="0" tIns="0" rIns="0" bIns="0" rtlCol="0" anchor="ctr"/>
          <a:lstStyle/>
          <a:p>
            <a:pPr algn="r" indent="0" marL="0">
              <a:buNone/>
            </a:pPr>
            <a:r>
              <a:rPr lang="en-US" sz="900" dirty="0">
                <a:solidFill>
                  <a:srgbClr val="5A6B7B"/>
                </a:solidFill>
                <a:latin typeface="Calibri" pitchFamily="34" charset="0"/>
                <a:ea typeface="Calibri" pitchFamily="34" charset="-122"/>
                <a:cs typeface="Calibri" pitchFamily="34" charset="-120"/>
              </a:rPr>
              <a:t>37</a:t>
            </a:r>
            <a:endParaRPr lang="en-US" sz="900" dirty="0"/>
          </a:p>
        </p:txBody>
      </p:sp>
      <p:sp>
        <p:nvSpPr>
          <p:cNvPr id="4" name="Text 2"/>
          <p:cNvSpPr txBox="1"/>
          <p:nvPr/>
        </p:nvSpPr>
        <p:spPr>
          <a:xfrm>
            <a:off x="457200" y="274320"/>
            <a:ext cx="8229600" cy="219456"/>
          </a:xfrm>
          <a:prstGeom prst="rect">
            <a:avLst/>
          </a:prstGeom>
          <a:noFill/>
          <a:ln/>
        </p:spPr>
        <p:txBody>
          <a:bodyPr wrap="square" lIns="0" tIns="0" rIns="0" bIns="0" rtlCol="0" anchor="ctr"/>
          <a:lstStyle/>
          <a:p>
            <a:pPr indent="0" marL="0">
              <a:buNone/>
            </a:pPr>
            <a:r>
              <a:rPr lang="en-US" sz="1000" b="1" spc="200" kern="0" dirty="0">
                <a:solidFill>
                  <a:srgbClr val="A8730F"/>
                </a:solidFill>
                <a:latin typeface="Calibri" pitchFamily="34" charset="0"/>
                <a:ea typeface="Calibri" pitchFamily="34" charset="-122"/>
                <a:cs typeface="Calibri" pitchFamily="34" charset="-120"/>
              </a:rPr>
              <a:t>CLOSE</a:t>
            </a:r>
            <a:endParaRPr lang="en-US" sz="1000" dirty="0"/>
          </a:p>
        </p:txBody>
      </p:sp>
      <p:sp>
        <p:nvSpPr>
          <p:cNvPr id="5" name="Text 3"/>
          <p:cNvSpPr txBox="1"/>
          <p:nvPr/>
        </p:nvSpPr>
        <p:spPr>
          <a:xfrm>
            <a:off x="457200" y="502920"/>
            <a:ext cx="8229600" cy="548640"/>
          </a:xfrm>
          <a:prstGeom prst="rect">
            <a:avLst/>
          </a:prstGeom>
          <a:noFill/>
          <a:ln/>
        </p:spPr>
        <p:txBody>
          <a:bodyPr wrap="square" lIns="0" tIns="0" rIns="0" bIns="0" rtlCol="0" anchor="t"/>
          <a:lstStyle/>
          <a:p>
            <a:pPr indent="0" marL="0">
              <a:buNone/>
            </a:pPr>
            <a:r>
              <a:rPr lang="en-US" sz="2400" b="1" dirty="0">
                <a:solidFill>
                  <a:srgbClr val="0F2A4A"/>
                </a:solidFill>
                <a:latin typeface="Cambria" pitchFamily="34" charset="0"/>
                <a:ea typeface="Cambria" pitchFamily="34" charset="-122"/>
                <a:cs typeface="Cambria" pitchFamily="34" charset="-120"/>
              </a:rPr>
              <a:t>Ten things to fix on Monday</a:t>
            </a:r>
            <a:endParaRPr lang="en-US" sz="2400" dirty="0"/>
          </a:p>
        </p:txBody>
      </p:sp>
      <p:sp>
        <p:nvSpPr>
          <p:cNvPr id="7" name="Shape 4"/>
          <p:cNvSpPr/>
          <p:nvPr/>
        </p:nvSpPr>
        <p:spPr>
          <a:xfrm>
            <a:off x="457200" y="1097280"/>
            <a:ext cx="4023360" cy="566928"/>
          </a:xfrm>
          <a:prstGeom prst="roundRect">
            <a:avLst>
              <a:gd name="adj" fmla="val 9677"/>
            </a:avLst>
          </a:prstGeom>
          <a:solidFill>
            <a:srgbClr val="EAF0F6"/>
          </a:solidFill>
          <a:ln w="12700">
            <a:solidFill>
              <a:srgbClr val="EAF0F6"/>
            </a:solidFill>
            <a:prstDash val="solid"/>
          </a:ln>
        </p:spPr>
      </p:sp>
      <p:sp>
        <p:nvSpPr>
          <p:cNvPr id="8" name="Shape 5"/>
          <p:cNvSpPr/>
          <p:nvPr/>
        </p:nvSpPr>
        <p:spPr>
          <a:xfrm>
            <a:off x="585216" y="1207008"/>
            <a:ext cx="310896" cy="310896"/>
          </a:xfrm>
          <a:prstGeom prst="ellipse">
            <a:avLst/>
          </a:prstGeom>
          <a:solidFill>
            <a:srgbClr val="0F2A4A"/>
          </a:solidFill>
          <a:ln w="12700">
            <a:solidFill>
              <a:srgbClr val="0F2A4A"/>
            </a:solidFill>
            <a:prstDash val="solid"/>
          </a:ln>
        </p:spPr>
      </p:sp>
      <p:sp>
        <p:nvSpPr>
          <p:cNvPr id="9" name="Text 6"/>
          <p:cNvSpPr txBox="1"/>
          <p:nvPr/>
        </p:nvSpPr>
        <p:spPr>
          <a:xfrm>
            <a:off x="585216" y="1207008"/>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0" name="Text 7"/>
          <p:cNvSpPr txBox="1"/>
          <p:nvPr/>
        </p:nvSpPr>
        <p:spPr>
          <a:xfrm>
            <a:off x="987552" y="1188720"/>
            <a:ext cx="3364992" cy="384048"/>
          </a:xfrm>
          <a:prstGeom prst="rect">
            <a:avLst/>
          </a:prstGeom>
          <a:noFill/>
          <a:ln/>
        </p:spPr>
        <p:txBody>
          <a:bodyPr wrap="square" lIns="0" tIns="0" rIns="0" bIns="0" rtlCol="0" anchor="ctr"/>
          <a:lstStyle/>
          <a:p>
            <a:pPr indent="0" marL="0">
              <a:buNone/>
            </a:pPr>
            <a:r>
              <a:rPr lang="en-US" sz="1000" b="1" dirty="0">
                <a:solidFill>
                  <a:srgbClr val="0F2A4A"/>
                </a:solidFill>
                <a:latin typeface="Calibri" pitchFamily="34" charset="0"/>
                <a:ea typeface="Calibri" pitchFamily="34" charset="-122"/>
                <a:cs typeface="Calibri" pitchFamily="34" charset="-120"/>
              </a:rPr>
              <a:t>Put the acceptability criteria in the plan, and date them before the risk table.</a:t>
            </a:r>
            <a:endParaRPr lang="en-US" sz="1000" dirty="0"/>
          </a:p>
        </p:txBody>
      </p:sp>
      <p:sp>
        <p:nvSpPr>
          <p:cNvPr id="11" name="Shape 8"/>
          <p:cNvSpPr/>
          <p:nvPr/>
        </p:nvSpPr>
        <p:spPr>
          <a:xfrm>
            <a:off x="457200" y="1737360"/>
            <a:ext cx="4023360" cy="566928"/>
          </a:xfrm>
          <a:prstGeom prst="roundRect">
            <a:avLst>
              <a:gd name="adj" fmla="val 9677"/>
            </a:avLst>
          </a:prstGeom>
          <a:solidFill>
            <a:srgbClr val="FBF2DE"/>
          </a:solidFill>
          <a:ln w="12700">
            <a:solidFill>
              <a:srgbClr val="FBF2DE"/>
            </a:solidFill>
            <a:prstDash val="solid"/>
          </a:ln>
        </p:spPr>
      </p:sp>
      <p:sp>
        <p:nvSpPr>
          <p:cNvPr id="12" name="Shape 9"/>
          <p:cNvSpPr/>
          <p:nvPr/>
        </p:nvSpPr>
        <p:spPr>
          <a:xfrm>
            <a:off x="585216" y="1847088"/>
            <a:ext cx="310896" cy="310896"/>
          </a:xfrm>
          <a:prstGeom prst="ellipse">
            <a:avLst/>
          </a:prstGeom>
          <a:solidFill>
            <a:srgbClr val="E0A126"/>
          </a:solidFill>
          <a:ln w="12700">
            <a:solidFill>
              <a:srgbClr val="E0A126"/>
            </a:solidFill>
            <a:prstDash val="solid"/>
          </a:ln>
        </p:spPr>
      </p:sp>
      <p:sp>
        <p:nvSpPr>
          <p:cNvPr id="13" name="Text 10"/>
          <p:cNvSpPr txBox="1"/>
          <p:nvPr/>
        </p:nvSpPr>
        <p:spPr>
          <a:xfrm>
            <a:off x="585216" y="1847088"/>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4" name="Text 11"/>
          <p:cNvSpPr txBox="1"/>
          <p:nvPr/>
        </p:nvSpPr>
        <p:spPr>
          <a:xfrm>
            <a:off x="987552" y="1828800"/>
            <a:ext cx="3364992" cy="384048"/>
          </a:xfrm>
          <a:prstGeom prst="rect">
            <a:avLst/>
          </a:prstGeom>
          <a:noFill/>
          <a:ln/>
        </p:spPr>
        <p:txBody>
          <a:bodyPr wrap="square" lIns="0" tIns="0" rIns="0" bIns="0" rtlCol="0" anchor="ctr"/>
          <a:lstStyle/>
          <a:p>
            <a:pPr indent="0" marL="0">
              <a:buNone/>
            </a:pPr>
            <a:r>
              <a:rPr lang="en-US" sz="1000" b="1" dirty="0">
                <a:solidFill>
                  <a:srgbClr val="0F2A4A"/>
                </a:solidFill>
                <a:latin typeface="Calibri" pitchFamily="34" charset="0"/>
                <a:ea typeface="Calibri" pitchFamily="34" charset="-122"/>
                <a:cs typeface="Calibri" pitchFamily="34" charset="-120"/>
              </a:rPr>
              <a:t>Add a verification of EFFECTIVENESS record to every control that has only an implementation record.</a:t>
            </a:r>
            <a:endParaRPr lang="en-US" sz="1000" dirty="0"/>
          </a:p>
        </p:txBody>
      </p:sp>
      <p:sp>
        <p:nvSpPr>
          <p:cNvPr id="15" name="Shape 12"/>
          <p:cNvSpPr/>
          <p:nvPr/>
        </p:nvSpPr>
        <p:spPr>
          <a:xfrm>
            <a:off x="457200" y="2377440"/>
            <a:ext cx="4023360" cy="566928"/>
          </a:xfrm>
          <a:prstGeom prst="roundRect">
            <a:avLst>
              <a:gd name="adj" fmla="val 9677"/>
            </a:avLst>
          </a:prstGeom>
          <a:solidFill>
            <a:srgbClr val="EAF0F6"/>
          </a:solidFill>
          <a:ln w="12700">
            <a:solidFill>
              <a:srgbClr val="EAF0F6"/>
            </a:solidFill>
            <a:prstDash val="solid"/>
          </a:ln>
        </p:spPr>
      </p:sp>
      <p:sp>
        <p:nvSpPr>
          <p:cNvPr id="16" name="Shape 13"/>
          <p:cNvSpPr/>
          <p:nvPr/>
        </p:nvSpPr>
        <p:spPr>
          <a:xfrm>
            <a:off x="585216" y="2487168"/>
            <a:ext cx="310896" cy="310896"/>
          </a:xfrm>
          <a:prstGeom prst="ellipse">
            <a:avLst/>
          </a:prstGeom>
          <a:solidFill>
            <a:srgbClr val="0F2A4A"/>
          </a:solidFill>
          <a:ln w="12700">
            <a:solidFill>
              <a:srgbClr val="0F2A4A"/>
            </a:solidFill>
            <a:prstDash val="solid"/>
          </a:ln>
        </p:spPr>
      </p:sp>
      <p:sp>
        <p:nvSpPr>
          <p:cNvPr id="17" name="Text 14"/>
          <p:cNvSpPr txBox="1"/>
          <p:nvPr/>
        </p:nvSpPr>
        <p:spPr>
          <a:xfrm>
            <a:off x="585216" y="2487168"/>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8" name="Text 15"/>
          <p:cNvSpPr txBox="1"/>
          <p:nvPr/>
        </p:nvSpPr>
        <p:spPr>
          <a:xfrm>
            <a:off x="987552" y="2468880"/>
            <a:ext cx="3364992" cy="384048"/>
          </a:xfrm>
          <a:prstGeom prst="rect">
            <a:avLst/>
          </a:prstGeom>
          <a:noFill/>
          <a:ln/>
        </p:spPr>
        <p:txBody>
          <a:bodyPr wrap="square" lIns="0" tIns="0" rIns="0" bIns="0" rtlCol="0" anchor="ctr"/>
          <a:lstStyle/>
          <a:p>
            <a:pPr indent="0" marL="0">
              <a:buNone/>
            </a:pPr>
            <a:r>
              <a:rPr lang="en-US" sz="1000" b="1" dirty="0">
                <a:solidFill>
                  <a:srgbClr val="0F2A4A"/>
                </a:solidFill>
                <a:latin typeface="Calibri" pitchFamily="34" charset="0"/>
                <a:ea typeface="Calibri" pitchFamily="34" charset="-122"/>
                <a:cs typeface="Calibri" pitchFamily="34" charset="-120"/>
              </a:rPr>
              <a:t>Separate P1 and P2 in every row, and write the basis for each.</a:t>
            </a:r>
            <a:endParaRPr lang="en-US" sz="1000" dirty="0"/>
          </a:p>
        </p:txBody>
      </p:sp>
      <p:sp>
        <p:nvSpPr>
          <p:cNvPr id="19" name="Shape 16"/>
          <p:cNvSpPr/>
          <p:nvPr/>
        </p:nvSpPr>
        <p:spPr>
          <a:xfrm>
            <a:off x="457200" y="3017520"/>
            <a:ext cx="4023360" cy="566928"/>
          </a:xfrm>
          <a:prstGeom prst="roundRect">
            <a:avLst>
              <a:gd name="adj" fmla="val 9677"/>
            </a:avLst>
          </a:prstGeom>
          <a:solidFill>
            <a:srgbClr val="F5F8FB"/>
          </a:solidFill>
          <a:ln w="12700">
            <a:solidFill>
              <a:srgbClr val="F5F8FB"/>
            </a:solidFill>
            <a:prstDash val="solid"/>
          </a:ln>
        </p:spPr>
      </p:sp>
      <p:sp>
        <p:nvSpPr>
          <p:cNvPr id="20" name="Shape 17"/>
          <p:cNvSpPr/>
          <p:nvPr/>
        </p:nvSpPr>
        <p:spPr>
          <a:xfrm>
            <a:off x="585216" y="3127248"/>
            <a:ext cx="310896" cy="310896"/>
          </a:xfrm>
          <a:prstGeom prst="ellipse">
            <a:avLst/>
          </a:prstGeom>
          <a:solidFill>
            <a:srgbClr val="0F2A4A"/>
          </a:solidFill>
          <a:ln w="12700">
            <a:solidFill>
              <a:srgbClr val="0F2A4A"/>
            </a:solidFill>
            <a:prstDash val="solid"/>
          </a:ln>
        </p:spPr>
      </p:sp>
      <p:sp>
        <p:nvSpPr>
          <p:cNvPr id="21" name="Text 18"/>
          <p:cNvSpPr txBox="1"/>
          <p:nvPr/>
        </p:nvSpPr>
        <p:spPr>
          <a:xfrm>
            <a:off x="585216" y="3127248"/>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22" name="Text 19"/>
          <p:cNvSpPr txBox="1"/>
          <p:nvPr/>
        </p:nvSpPr>
        <p:spPr>
          <a:xfrm>
            <a:off x="987552" y="3108960"/>
            <a:ext cx="3364992" cy="384048"/>
          </a:xfrm>
          <a:prstGeom prst="rect">
            <a:avLst/>
          </a:prstGeom>
          <a:noFill/>
          <a:ln/>
        </p:spPr>
        <p:txBody>
          <a:bodyPr wrap="square" lIns="0" tIns="0" rIns="0" bIns="0" rtlCol="0" anchor="ctr"/>
          <a:lstStyle/>
          <a:p>
            <a:pPr indent="0" marL="0">
              <a:buNone/>
            </a:pPr>
            <a:r>
              <a:rPr lang="en-US" sz="1000" b="1" dirty="0">
                <a:solidFill>
                  <a:srgbClr val="0F2A4A"/>
                </a:solidFill>
                <a:latin typeface="Calibri" pitchFamily="34" charset="0"/>
                <a:ea typeface="Calibri" pitchFamily="34" charset="-122"/>
                <a:cs typeface="Calibri" pitchFamily="34" charset="-120"/>
              </a:rPr>
              <a:t>Split every row where one hazard reaches more than one hazardous situation.</a:t>
            </a:r>
            <a:endParaRPr lang="en-US" sz="1000" dirty="0"/>
          </a:p>
        </p:txBody>
      </p:sp>
      <p:sp>
        <p:nvSpPr>
          <p:cNvPr id="23" name="Shape 20"/>
          <p:cNvSpPr/>
          <p:nvPr/>
        </p:nvSpPr>
        <p:spPr>
          <a:xfrm>
            <a:off x="457200" y="3657600"/>
            <a:ext cx="4023360" cy="566928"/>
          </a:xfrm>
          <a:prstGeom prst="roundRect">
            <a:avLst>
              <a:gd name="adj" fmla="val 9677"/>
            </a:avLst>
          </a:prstGeom>
          <a:solidFill>
            <a:srgbClr val="EAF0F6"/>
          </a:solidFill>
          <a:ln w="12700">
            <a:solidFill>
              <a:srgbClr val="EAF0F6"/>
            </a:solidFill>
            <a:prstDash val="solid"/>
          </a:ln>
        </p:spPr>
      </p:sp>
      <p:sp>
        <p:nvSpPr>
          <p:cNvPr id="24" name="Shape 21"/>
          <p:cNvSpPr/>
          <p:nvPr/>
        </p:nvSpPr>
        <p:spPr>
          <a:xfrm>
            <a:off x="585216" y="3767328"/>
            <a:ext cx="310896" cy="310896"/>
          </a:xfrm>
          <a:prstGeom prst="ellipse">
            <a:avLst/>
          </a:prstGeom>
          <a:solidFill>
            <a:srgbClr val="0F2A4A"/>
          </a:solidFill>
          <a:ln w="12700">
            <a:solidFill>
              <a:srgbClr val="0F2A4A"/>
            </a:solidFill>
            <a:prstDash val="solid"/>
          </a:ln>
        </p:spPr>
      </p:sp>
      <p:sp>
        <p:nvSpPr>
          <p:cNvPr id="25" name="Text 22"/>
          <p:cNvSpPr txBox="1"/>
          <p:nvPr/>
        </p:nvSpPr>
        <p:spPr>
          <a:xfrm>
            <a:off x="585216" y="3767328"/>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26" name="Text 23"/>
          <p:cNvSpPr txBox="1"/>
          <p:nvPr/>
        </p:nvSpPr>
        <p:spPr>
          <a:xfrm>
            <a:off x="987552" y="3749040"/>
            <a:ext cx="3364992" cy="384048"/>
          </a:xfrm>
          <a:prstGeom prst="rect">
            <a:avLst/>
          </a:prstGeom>
          <a:noFill/>
          <a:ln/>
        </p:spPr>
        <p:txBody>
          <a:bodyPr wrap="square" lIns="0" tIns="0" rIns="0" bIns="0" rtlCol="0" anchor="ctr"/>
          <a:lstStyle/>
          <a:p>
            <a:pPr indent="0" marL="0">
              <a:buNone/>
            </a:pPr>
            <a:r>
              <a:rPr lang="en-US" sz="1000" b="1" dirty="0">
                <a:solidFill>
                  <a:srgbClr val="0F2A4A"/>
                </a:solidFill>
                <a:latin typeface="Calibri" pitchFamily="34" charset="0"/>
                <a:ea typeface="Calibri" pitchFamily="34" charset="-122"/>
                <a:cs typeface="Calibri" pitchFamily="34" charset="-120"/>
              </a:rPr>
              <a:t>Add the severity-only rule for when probability cannot be estimated (4.4 d).</a:t>
            </a:r>
            <a:endParaRPr lang="en-US" sz="1000" dirty="0"/>
          </a:p>
        </p:txBody>
      </p:sp>
      <p:sp>
        <p:nvSpPr>
          <p:cNvPr id="27" name="Shape 24"/>
          <p:cNvSpPr/>
          <p:nvPr/>
        </p:nvSpPr>
        <p:spPr>
          <a:xfrm>
            <a:off x="4663440" y="1097280"/>
            <a:ext cx="4023360" cy="566928"/>
          </a:xfrm>
          <a:prstGeom prst="roundRect">
            <a:avLst>
              <a:gd name="adj" fmla="val 9677"/>
            </a:avLst>
          </a:prstGeom>
          <a:solidFill>
            <a:srgbClr val="EAF0F6"/>
          </a:solidFill>
          <a:ln w="12700">
            <a:solidFill>
              <a:srgbClr val="EAF0F6"/>
            </a:solidFill>
            <a:prstDash val="solid"/>
          </a:ln>
        </p:spPr>
      </p:sp>
      <p:sp>
        <p:nvSpPr>
          <p:cNvPr id="28" name="Shape 25"/>
          <p:cNvSpPr/>
          <p:nvPr/>
        </p:nvSpPr>
        <p:spPr>
          <a:xfrm>
            <a:off x="4791456" y="1207008"/>
            <a:ext cx="310896" cy="310896"/>
          </a:xfrm>
          <a:prstGeom prst="ellipse">
            <a:avLst/>
          </a:prstGeom>
          <a:solidFill>
            <a:srgbClr val="0F2A4A"/>
          </a:solidFill>
          <a:ln w="12700">
            <a:solidFill>
              <a:srgbClr val="0F2A4A"/>
            </a:solidFill>
            <a:prstDash val="solid"/>
          </a:ln>
        </p:spPr>
      </p:sp>
      <p:sp>
        <p:nvSpPr>
          <p:cNvPr id="29" name="Text 26"/>
          <p:cNvSpPr txBox="1"/>
          <p:nvPr/>
        </p:nvSpPr>
        <p:spPr>
          <a:xfrm>
            <a:off x="4791456" y="1207008"/>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30" name="Text 27"/>
          <p:cNvSpPr txBox="1"/>
          <p:nvPr/>
        </p:nvSpPr>
        <p:spPr>
          <a:xfrm>
            <a:off x="5193792" y="1188720"/>
            <a:ext cx="3364992" cy="384048"/>
          </a:xfrm>
          <a:prstGeom prst="rect">
            <a:avLst/>
          </a:prstGeom>
          <a:noFill/>
          <a:ln/>
        </p:spPr>
        <p:txBody>
          <a:bodyPr wrap="square" lIns="0" tIns="0" rIns="0" bIns="0" rtlCol="0" anchor="ctr"/>
          <a:lstStyle/>
          <a:p>
            <a:pPr indent="0" marL="0">
              <a:buNone/>
            </a:pPr>
            <a:r>
              <a:rPr lang="en-US" sz="1000" b="1" dirty="0">
                <a:solidFill>
                  <a:srgbClr val="0F2A4A"/>
                </a:solidFill>
                <a:latin typeface="Calibri" pitchFamily="34" charset="0"/>
                <a:ea typeface="Calibri" pitchFamily="34" charset="-122"/>
                <a:cs typeface="Calibri" pitchFamily="34" charset="-120"/>
              </a:rPr>
              <a:t>Add a 7.6 completeness step to the procedure, and run it over the acceptable rows too.</a:t>
            </a:r>
            <a:endParaRPr lang="en-US" sz="1000" dirty="0"/>
          </a:p>
        </p:txBody>
      </p:sp>
      <p:sp>
        <p:nvSpPr>
          <p:cNvPr id="31" name="Shape 28"/>
          <p:cNvSpPr/>
          <p:nvPr/>
        </p:nvSpPr>
        <p:spPr>
          <a:xfrm>
            <a:off x="4663440" y="1737360"/>
            <a:ext cx="4023360" cy="566928"/>
          </a:xfrm>
          <a:prstGeom prst="roundRect">
            <a:avLst>
              <a:gd name="adj" fmla="val 9677"/>
            </a:avLst>
          </a:prstGeom>
          <a:solidFill>
            <a:srgbClr val="F5F8FB"/>
          </a:solidFill>
          <a:ln w="12700">
            <a:solidFill>
              <a:srgbClr val="F5F8FB"/>
            </a:solidFill>
            <a:prstDash val="solid"/>
          </a:ln>
        </p:spPr>
      </p:sp>
      <p:sp>
        <p:nvSpPr>
          <p:cNvPr id="32" name="Shape 29"/>
          <p:cNvSpPr/>
          <p:nvPr/>
        </p:nvSpPr>
        <p:spPr>
          <a:xfrm>
            <a:off x="4791456" y="1847088"/>
            <a:ext cx="310896" cy="310896"/>
          </a:xfrm>
          <a:prstGeom prst="ellipse">
            <a:avLst/>
          </a:prstGeom>
          <a:solidFill>
            <a:srgbClr val="0F2A4A"/>
          </a:solidFill>
          <a:ln w="12700">
            <a:solidFill>
              <a:srgbClr val="0F2A4A"/>
            </a:solidFill>
            <a:prstDash val="solid"/>
          </a:ln>
        </p:spPr>
      </p:sp>
      <p:sp>
        <p:nvSpPr>
          <p:cNvPr id="33" name="Text 30"/>
          <p:cNvSpPr txBox="1"/>
          <p:nvPr/>
        </p:nvSpPr>
        <p:spPr>
          <a:xfrm>
            <a:off x="4791456" y="1847088"/>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7</a:t>
            </a:r>
            <a:endParaRPr lang="en-US" sz="1100" dirty="0"/>
          </a:p>
        </p:txBody>
      </p:sp>
      <p:sp>
        <p:nvSpPr>
          <p:cNvPr id="34" name="Text 31"/>
          <p:cNvSpPr txBox="1"/>
          <p:nvPr/>
        </p:nvSpPr>
        <p:spPr>
          <a:xfrm>
            <a:off x="5193792" y="1828800"/>
            <a:ext cx="3364992" cy="384048"/>
          </a:xfrm>
          <a:prstGeom prst="rect">
            <a:avLst/>
          </a:prstGeom>
          <a:noFill/>
          <a:ln/>
        </p:spPr>
        <p:txBody>
          <a:bodyPr wrap="square" lIns="0" tIns="0" rIns="0" bIns="0" rtlCol="0" anchor="ctr"/>
          <a:lstStyle/>
          <a:p>
            <a:pPr indent="0" marL="0">
              <a:buNone/>
            </a:pPr>
            <a:r>
              <a:rPr lang="en-US" sz="1000" b="1" dirty="0">
                <a:solidFill>
                  <a:srgbClr val="0F2A4A"/>
                </a:solidFill>
                <a:latin typeface="Calibri" pitchFamily="34" charset="0"/>
                <a:ea typeface="Calibri" pitchFamily="34" charset="-122"/>
                <a:cs typeface="Calibri" pitchFamily="34" charset="-120"/>
              </a:rPr>
              <a:t>Strike every cost argument out of the order-of-priority justifications.</a:t>
            </a:r>
            <a:endParaRPr lang="en-US" sz="1000" dirty="0"/>
          </a:p>
        </p:txBody>
      </p:sp>
      <p:sp>
        <p:nvSpPr>
          <p:cNvPr id="35" name="Shape 32"/>
          <p:cNvSpPr/>
          <p:nvPr/>
        </p:nvSpPr>
        <p:spPr>
          <a:xfrm>
            <a:off x="4663440" y="2377440"/>
            <a:ext cx="4023360" cy="566928"/>
          </a:xfrm>
          <a:prstGeom prst="roundRect">
            <a:avLst>
              <a:gd name="adj" fmla="val 9677"/>
            </a:avLst>
          </a:prstGeom>
          <a:solidFill>
            <a:srgbClr val="EAF0F6"/>
          </a:solidFill>
          <a:ln w="12700">
            <a:solidFill>
              <a:srgbClr val="EAF0F6"/>
            </a:solidFill>
            <a:prstDash val="solid"/>
          </a:ln>
        </p:spPr>
      </p:sp>
      <p:sp>
        <p:nvSpPr>
          <p:cNvPr id="36" name="Shape 33"/>
          <p:cNvSpPr/>
          <p:nvPr/>
        </p:nvSpPr>
        <p:spPr>
          <a:xfrm>
            <a:off x="4791456" y="2487168"/>
            <a:ext cx="310896" cy="310896"/>
          </a:xfrm>
          <a:prstGeom prst="ellipse">
            <a:avLst/>
          </a:prstGeom>
          <a:solidFill>
            <a:srgbClr val="0F2A4A"/>
          </a:solidFill>
          <a:ln w="12700">
            <a:solidFill>
              <a:srgbClr val="0F2A4A"/>
            </a:solidFill>
            <a:prstDash val="solid"/>
          </a:ln>
        </p:spPr>
      </p:sp>
      <p:sp>
        <p:nvSpPr>
          <p:cNvPr id="37" name="Text 34"/>
          <p:cNvSpPr txBox="1"/>
          <p:nvPr/>
        </p:nvSpPr>
        <p:spPr>
          <a:xfrm>
            <a:off x="4791456" y="2487168"/>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8</a:t>
            </a:r>
            <a:endParaRPr lang="en-US" sz="1100" dirty="0"/>
          </a:p>
        </p:txBody>
      </p:sp>
      <p:sp>
        <p:nvSpPr>
          <p:cNvPr id="38" name="Text 35"/>
          <p:cNvSpPr txBox="1"/>
          <p:nvPr/>
        </p:nvSpPr>
        <p:spPr>
          <a:xfrm>
            <a:off x="5193792" y="2468880"/>
            <a:ext cx="3364992" cy="384048"/>
          </a:xfrm>
          <a:prstGeom prst="rect">
            <a:avLst/>
          </a:prstGeom>
          <a:noFill/>
          <a:ln/>
        </p:spPr>
        <p:txBody>
          <a:bodyPr wrap="square" lIns="0" tIns="0" rIns="0" bIns="0" rtlCol="0" anchor="ctr"/>
          <a:lstStyle/>
          <a:p>
            <a:pPr indent="0" marL="0">
              <a:buNone/>
            </a:pPr>
            <a:r>
              <a:rPr lang="en-US" sz="1000" b="1" dirty="0">
                <a:solidFill>
                  <a:srgbClr val="0F2A4A"/>
                </a:solidFill>
                <a:latin typeface="Calibri" pitchFamily="34" charset="0"/>
                <a:ea typeface="Calibri" pitchFamily="34" charset="-122"/>
                <a:cs typeface="Calibri" pitchFamily="34" charset="-120"/>
              </a:rPr>
              <a:t>Add residual risk disclosure references for every category 3 control.</a:t>
            </a:r>
            <a:endParaRPr lang="en-US" sz="1000" dirty="0"/>
          </a:p>
        </p:txBody>
      </p:sp>
      <p:sp>
        <p:nvSpPr>
          <p:cNvPr id="39" name="Shape 36"/>
          <p:cNvSpPr/>
          <p:nvPr/>
        </p:nvSpPr>
        <p:spPr>
          <a:xfrm>
            <a:off x="4663440" y="3017520"/>
            <a:ext cx="4023360" cy="566928"/>
          </a:xfrm>
          <a:prstGeom prst="roundRect">
            <a:avLst>
              <a:gd name="adj" fmla="val 9677"/>
            </a:avLst>
          </a:prstGeom>
          <a:solidFill>
            <a:srgbClr val="F5F8FB"/>
          </a:solidFill>
          <a:ln w="12700">
            <a:solidFill>
              <a:srgbClr val="F5F8FB"/>
            </a:solidFill>
            <a:prstDash val="solid"/>
          </a:ln>
        </p:spPr>
      </p:sp>
      <p:sp>
        <p:nvSpPr>
          <p:cNvPr id="40" name="Shape 37"/>
          <p:cNvSpPr/>
          <p:nvPr/>
        </p:nvSpPr>
        <p:spPr>
          <a:xfrm>
            <a:off x="4791456" y="3127248"/>
            <a:ext cx="310896" cy="310896"/>
          </a:xfrm>
          <a:prstGeom prst="ellipse">
            <a:avLst/>
          </a:prstGeom>
          <a:solidFill>
            <a:srgbClr val="0F2A4A"/>
          </a:solidFill>
          <a:ln w="12700">
            <a:solidFill>
              <a:srgbClr val="0F2A4A"/>
            </a:solidFill>
            <a:prstDash val="solid"/>
          </a:ln>
        </p:spPr>
      </p:sp>
      <p:sp>
        <p:nvSpPr>
          <p:cNvPr id="41" name="Text 38"/>
          <p:cNvSpPr txBox="1"/>
          <p:nvPr/>
        </p:nvSpPr>
        <p:spPr>
          <a:xfrm>
            <a:off x="4791456" y="3127248"/>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9</a:t>
            </a:r>
            <a:endParaRPr lang="en-US" sz="1100" dirty="0"/>
          </a:p>
        </p:txBody>
      </p:sp>
      <p:sp>
        <p:nvSpPr>
          <p:cNvPr id="42" name="Text 39"/>
          <p:cNvSpPr txBox="1"/>
          <p:nvPr/>
        </p:nvSpPr>
        <p:spPr>
          <a:xfrm>
            <a:off x="5193792" y="3108960"/>
            <a:ext cx="3364992" cy="384048"/>
          </a:xfrm>
          <a:prstGeom prst="rect">
            <a:avLst/>
          </a:prstGeom>
          <a:noFill/>
          <a:ln/>
        </p:spPr>
        <p:txBody>
          <a:bodyPr wrap="square" lIns="0" tIns="0" rIns="0" bIns="0" rtlCol="0" anchor="ctr"/>
          <a:lstStyle/>
          <a:p>
            <a:pPr indent="0" marL="0">
              <a:buNone/>
            </a:pPr>
            <a:r>
              <a:rPr lang="en-US" sz="1000" b="1" dirty="0">
                <a:solidFill>
                  <a:srgbClr val="0F2A4A"/>
                </a:solidFill>
                <a:latin typeface="Calibri" pitchFamily="34" charset="0"/>
                <a:ea typeface="Calibri" pitchFamily="34" charset="-122"/>
                <a:cs typeface="Calibri" pitchFamily="34" charset="-120"/>
              </a:rPr>
              <a:t>Put indicators and threshold values in the PMS plan, and link them to the rows they test.</a:t>
            </a:r>
            <a:endParaRPr lang="en-US" sz="1000" dirty="0"/>
          </a:p>
        </p:txBody>
      </p:sp>
      <p:sp>
        <p:nvSpPr>
          <p:cNvPr id="43" name="Shape 40"/>
          <p:cNvSpPr/>
          <p:nvPr/>
        </p:nvSpPr>
        <p:spPr>
          <a:xfrm>
            <a:off x="4663440" y="3657600"/>
            <a:ext cx="4023360" cy="566928"/>
          </a:xfrm>
          <a:prstGeom prst="roundRect">
            <a:avLst>
              <a:gd name="adj" fmla="val 9677"/>
            </a:avLst>
          </a:prstGeom>
          <a:solidFill>
            <a:srgbClr val="EAF0F6"/>
          </a:solidFill>
          <a:ln w="12700">
            <a:solidFill>
              <a:srgbClr val="EAF0F6"/>
            </a:solidFill>
            <a:prstDash val="solid"/>
          </a:ln>
        </p:spPr>
      </p:sp>
      <p:sp>
        <p:nvSpPr>
          <p:cNvPr id="44" name="Shape 41"/>
          <p:cNvSpPr/>
          <p:nvPr/>
        </p:nvSpPr>
        <p:spPr>
          <a:xfrm>
            <a:off x="4791456" y="3767328"/>
            <a:ext cx="310896" cy="310896"/>
          </a:xfrm>
          <a:prstGeom prst="ellipse">
            <a:avLst/>
          </a:prstGeom>
          <a:solidFill>
            <a:srgbClr val="0F2A4A"/>
          </a:solidFill>
          <a:ln w="12700">
            <a:solidFill>
              <a:srgbClr val="0F2A4A"/>
            </a:solidFill>
            <a:prstDash val="solid"/>
          </a:ln>
        </p:spPr>
      </p:sp>
      <p:sp>
        <p:nvSpPr>
          <p:cNvPr id="45" name="Text 42"/>
          <p:cNvSpPr txBox="1"/>
          <p:nvPr/>
        </p:nvSpPr>
        <p:spPr>
          <a:xfrm>
            <a:off x="4791456" y="3767328"/>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10</a:t>
            </a:r>
            <a:endParaRPr lang="en-US" sz="1100" dirty="0"/>
          </a:p>
        </p:txBody>
      </p:sp>
      <p:sp>
        <p:nvSpPr>
          <p:cNvPr id="46" name="Text 43"/>
          <p:cNvSpPr txBox="1"/>
          <p:nvPr/>
        </p:nvSpPr>
        <p:spPr>
          <a:xfrm>
            <a:off x="5193792" y="3749040"/>
            <a:ext cx="3364992" cy="384048"/>
          </a:xfrm>
          <a:prstGeom prst="rect">
            <a:avLst/>
          </a:prstGeom>
          <a:noFill/>
          <a:ln/>
        </p:spPr>
        <p:txBody>
          <a:bodyPr wrap="square" lIns="0" tIns="0" rIns="0" bIns="0" rtlCol="0" anchor="ctr"/>
          <a:lstStyle/>
          <a:p>
            <a:pPr indent="0" marL="0">
              <a:buNone/>
            </a:pPr>
            <a:r>
              <a:rPr lang="en-US" sz="1000" b="1" dirty="0">
                <a:solidFill>
                  <a:srgbClr val="0F2A4A"/>
                </a:solidFill>
                <a:latin typeface="Calibri" pitchFamily="34" charset="0"/>
                <a:ea typeface="Calibri" pitchFamily="34" charset="-122"/>
                <a:cs typeface="Calibri" pitchFamily="34" charset="-120"/>
              </a:rPr>
              <a:t>Rebuild the GSPR matrix against Annex I as it is now, not against the seven 2012 deviations.</a:t>
            </a:r>
            <a:endParaRPr lang="en-US" sz="1000" dirty="0"/>
          </a:p>
        </p:txBody>
      </p:sp>
      <p:sp>
        <p:nvSpPr>
          <p:cNvPr id="47" name="Shape 44"/>
          <p:cNvSpPr/>
          <p:nvPr/>
        </p:nvSpPr>
        <p:spPr>
          <a:xfrm>
            <a:off x="457200" y="4370832"/>
            <a:ext cx="8229600" cy="320040"/>
          </a:xfrm>
          <a:prstGeom prst="roundRect">
            <a:avLst>
              <a:gd name="adj" fmla="val 17143"/>
            </a:avLst>
          </a:prstGeom>
          <a:solidFill>
            <a:srgbClr val="0F2A4A"/>
          </a:solidFill>
          <a:ln w="12700">
            <a:solidFill>
              <a:srgbClr val="0F2A4A"/>
            </a:solidFill>
            <a:prstDash val="solid"/>
          </a:ln>
        </p:spPr>
      </p:sp>
      <p:sp>
        <p:nvSpPr>
          <p:cNvPr id="48" name="Text 45"/>
          <p:cNvSpPr txBox="1"/>
          <p:nvPr/>
        </p:nvSpPr>
        <p:spPr>
          <a:xfrm>
            <a:off x="640080" y="4370832"/>
            <a:ext cx="7863840" cy="320040"/>
          </a:xfrm>
          <a:prstGeom prst="rect">
            <a:avLst/>
          </a:prstGeom>
          <a:noFill/>
          <a:ln/>
        </p:spPr>
        <p:txBody>
          <a:bodyPr wrap="square" lIns="0" tIns="0" rIns="0" bIns="0" rtlCol="0" anchor="ctr"/>
          <a:lstStyle/>
          <a:p>
            <a:pPr indent="0" marL="0">
              <a:buNone/>
            </a:pPr>
            <a:r>
              <a:rPr lang="en-US" sz="1200" b="1" i="1" dirty="0">
                <a:solidFill>
                  <a:srgbClr val="FFFFFF"/>
                </a:solidFill>
                <a:latin typeface="Calibri" pitchFamily="34" charset="0"/>
                <a:ea typeface="Calibri" pitchFamily="34" charset="-122"/>
                <a:cs typeface="Calibri" pitchFamily="34" charset="-120"/>
              </a:rPr>
              <a:t>If you do one: number two.</a:t>
            </a:r>
            <a:endParaRPr lang="en-US" sz="12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4814316"/>
            <a:ext cx="5943600" cy="201168"/>
          </a:xfrm>
          <a:prstGeom prst="rect">
            <a:avLst/>
          </a:prstGeom>
          <a:noFill/>
          <a:ln/>
        </p:spPr>
        <p:txBody>
          <a:bodyPr wrap="square" lIns="0" tIns="0" rIns="0" bIns="0" rtlCol="0" anchor="ctr"/>
          <a:lstStyle/>
          <a:p>
            <a:pPr indent="0" marL="0">
              <a:buNone/>
            </a:pPr>
            <a:r>
              <a:rPr lang="en-US" sz="900" dirty="0">
                <a:solidFill>
                  <a:srgbClr val="5A6B7B"/>
                </a:solidFill>
                <a:latin typeface="Calibri" pitchFamily="34" charset="0"/>
                <a:ea typeface="Calibri" pitchFamily="34" charset="-122"/>
                <a:cs typeface="Calibri" pitchFamily="34" charset="-120"/>
              </a:rPr>
              <a:t>Risk Management  |  ISO 14971  |  Elder Consulting, LLC</a:t>
            </a:r>
            <a:endParaRPr lang="en-US" sz="900" dirty="0"/>
          </a:p>
        </p:txBody>
      </p:sp>
      <p:sp>
        <p:nvSpPr>
          <p:cNvPr id="3" name="Text 1"/>
          <p:cNvSpPr txBox="1"/>
          <p:nvPr/>
        </p:nvSpPr>
        <p:spPr>
          <a:xfrm>
            <a:off x="8138160" y="4814316"/>
            <a:ext cx="548640" cy="201168"/>
          </a:xfrm>
          <a:prstGeom prst="rect">
            <a:avLst/>
          </a:prstGeom>
          <a:noFill/>
          <a:ln/>
        </p:spPr>
        <p:txBody>
          <a:bodyPr wrap="square" lIns="0" tIns="0" rIns="0" bIns="0" rtlCol="0" anchor="ctr"/>
          <a:lstStyle/>
          <a:p>
            <a:pPr algn="r" indent="0" marL="0">
              <a:buNone/>
            </a:pPr>
            <a:r>
              <a:rPr lang="en-US" sz="900" dirty="0">
                <a:solidFill>
                  <a:srgbClr val="5A6B7B"/>
                </a:solidFill>
                <a:latin typeface="Calibri" pitchFamily="34" charset="0"/>
                <a:ea typeface="Calibri" pitchFamily="34" charset="-122"/>
                <a:cs typeface="Calibri" pitchFamily="34" charset="-120"/>
              </a:rPr>
              <a:t>38</a:t>
            </a:r>
            <a:endParaRPr lang="en-US" sz="900" dirty="0"/>
          </a:p>
        </p:txBody>
      </p:sp>
      <p:sp>
        <p:nvSpPr>
          <p:cNvPr id="4" name="Text 2"/>
          <p:cNvSpPr txBox="1"/>
          <p:nvPr/>
        </p:nvSpPr>
        <p:spPr>
          <a:xfrm>
            <a:off x="457200" y="274320"/>
            <a:ext cx="8229600" cy="219456"/>
          </a:xfrm>
          <a:prstGeom prst="rect">
            <a:avLst/>
          </a:prstGeom>
          <a:noFill/>
          <a:ln/>
        </p:spPr>
        <p:txBody>
          <a:bodyPr wrap="square" lIns="0" tIns="0" rIns="0" bIns="0" rtlCol="0" anchor="ctr"/>
          <a:lstStyle/>
          <a:p>
            <a:pPr indent="0" marL="0">
              <a:buNone/>
            </a:pPr>
            <a:r>
              <a:rPr lang="en-US" sz="1000" b="1" spc="200" kern="0" dirty="0">
                <a:solidFill>
                  <a:srgbClr val="A8730F"/>
                </a:solidFill>
                <a:latin typeface="Calibri" pitchFamily="34" charset="0"/>
                <a:ea typeface="Calibri" pitchFamily="34" charset="-122"/>
                <a:cs typeface="Calibri" pitchFamily="34" charset="-120"/>
              </a:rPr>
              <a:t>CLOSE</a:t>
            </a:r>
            <a:endParaRPr lang="en-US" sz="1000" dirty="0"/>
          </a:p>
        </p:txBody>
      </p:sp>
      <p:sp>
        <p:nvSpPr>
          <p:cNvPr id="5" name="Text 3"/>
          <p:cNvSpPr txBox="1"/>
          <p:nvPr/>
        </p:nvSpPr>
        <p:spPr>
          <a:xfrm>
            <a:off x="457200" y="502920"/>
            <a:ext cx="8229600" cy="548640"/>
          </a:xfrm>
          <a:prstGeom prst="rect">
            <a:avLst/>
          </a:prstGeom>
          <a:noFill/>
          <a:ln/>
        </p:spPr>
        <p:txBody>
          <a:bodyPr wrap="square" lIns="0" tIns="0" rIns="0" bIns="0" rtlCol="0" anchor="t"/>
          <a:lstStyle/>
          <a:p>
            <a:pPr indent="0" marL="0">
              <a:buNone/>
            </a:pPr>
            <a:r>
              <a:rPr lang="en-US" sz="2400" b="1" dirty="0">
                <a:solidFill>
                  <a:srgbClr val="0F2A4A"/>
                </a:solidFill>
                <a:latin typeface="Cambria" pitchFamily="34" charset="0"/>
                <a:ea typeface="Cambria" pitchFamily="34" charset="-122"/>
                <a:cs typeface="Cambria" pitchFamily="34" charset="-120"/>
              </a:rPr>
              <a:t>Sources, and what to re-verify before you rely on this</a:t>
            </a:r>
            <a:endParaRPr lang="en-US" sz="2400" dirty="0"/>
          </a:p>
        </p:txBody>
      </p:sp>
      <p:sp>
        <p:nvSpPr>
          <p:cNvPr id="7" name="Shape 4"/>
          <p:cNvSpPr/>
          <p:nvPr/>
        </p:nvSpPr>
        <p:spPr>
          <a:xfrm>
            <a:off x="457200" y="1097280"/>
            <a:ext cx="3977640" cy="1417320"/>
          </a:xfrm>
          <a:prstGeom prst="roundRect">
            <a:avLst>
              <a:gd name="adj" fmla="val 3871"/>
            </a:avLst>
          </a:prstGeom>
          <a:solidFill>
            <a:srgbClr val="EAF0F6"/>
          </a:solidFill>
          <a:ln w="12700">
            <a:solidFill>
              <a:srgbClr val="EAF0F6"/>
            </a:solidFill>
            <a:prstDash val="solid"/>
          </a:ln>
        </p:spPr>
      </p:sp>
      <p:sp>
        <p:nvSpPr>
          <p:cNvPr id="8" name="Text 5"/>
          <p:cNvSpPr txBox="1"/>
          <p:nvPr/>
        </p:nvSpPr>
        <p:spPr>
          <a:xfrm>
            <a:off x="585216" y="1188720"/>
            <a:ext cx="3721608" cy="182880"/>
          </a:xfrm>
          <a:prstGeom prst="rect">
            <a:avLst/>
          </a:prstGeom>
          <a:noFill/>
          <a:ln/>
        </p:spPr>
        <p:txBody>
          <a:bodyPr wrap="square" lIns="0" tIns="0" rIns="0" bIns="0" rtlCol="0" anchor="ctr"/>
          <a:lstStyle/>
          <a:p>
            <a:pPr indent="0" marL="0">
              <a:buNone/>
            </a:pPr>
            <a:r>
              <a:rPr lang="en-US" sz="900" b="1" spc="150" kern="0" dirty="0">
                <a:solidFill>
                  <a:srgbClr val="A8730F"/>
                </a:solidFill>
                <a:latin typeface="Calibri" pitchFamily="34" charset="0"/>
                <a:ea typeface="Calibri" pitchFamily="34" charset="-122"/>
                <a:cs typeface="Calibri" pitchFamily="34" charset="-120"/>
              </a:rPr>
              <a:t>STANDARDS</a:t>
            </a:r>
            <a:endParaRPr lang="en-US" sz="900" dirty="0"/>
          </a:p>
        </p:txBody>
      </p:sp>
      <p:sp>
        <p:nvSpPr>
          <p:cNvPr id="9" name="Text 6"/>
          <p:cNvSpPr txBox="1"/>
          <p:nvPr/>
        </p:nvSpPr>
        <p:spPr>
          <a:xfrm>
            <a:off x="585216" y="1408176"/>
            <a:ext cx="3721608" cy="237744"/>
          </a:xfrm>
          <a:prstGeom prst="rect">
            <a:avLst/>
          </a:prstGeom>
          <a:noFill/>
          <a:ln/>
        </p:spPr>
        <p:txBody>
          <a:bodyPr wrap="square" lIns="0" tIns="0" rIns="0" bIns="0" rtlCol="0" anchor="ctr"/>
          <a:lstStyle/>
          <a:p>
            <a:pPr indent="0" marL="0">
              <a:buNone/>
            </a:pPr>
            <a:r>
              <a:rPr lang="en-US" sz="1150" b="1" dirty="0">
                <a:solidFill>
                  <a:srgbClr val="0F2A4A"/>
                </a:solidFill>
                <a:latin typeface="Calibri" pitchFamily="34" charset="0"/>
                <a:ea typeface="Calibri" pitchFamily="34" charset="-122"/>
                <a:cs typeface="Calibri" pitchFamily="34" charset="-120"/>
              </a:rPr>
              <a:t>Primary</a:t>
            </a:r>
            <a:endParaRPr lang="en-US" sz="1150" dirty="0"/>
          </a:p>
        </p:txBody>
      </p:sp>
      <p:sp>
        <p:nvSpPr>
          <p:cNvPr id="10" name="Text 7"/>
          <p:cNvSpPr txBox="1"/>
          <p:nvPr/>
        </p:nvSpPr>
        <p:spPr>
          <a:xfrm>
            <a:off x="585216" y="1682496"/>
            <a:ext cx="3721608" cy="740664"/>
          </a:xfrm>
          <a:prstGeom prst="rect">
            <a:avLst/>
          </a:prstGeom>
          <a:noFill/>
          <a:ln/>
        </p:spPr>
        <p:txBody>
          <a:bodyPr wrap="square" lIns="0" tIns="0" rIns="0" bIns="0" rtlCol="0" anchor="t"/>
          <a:lstStyle/>
          <a:p>
            <a:pPr marL="342900" indent="-342900">
              <a:spcAft>
                <a:spcPts val="200"/>
              </a:spcAft>
              <a:buSzPct val="100000"/>
              <a:buChar char="•"/>
            </a:pPr>
            <a:r>
              <a:rPr lang="en-US" sz="900" dirty="0">
                <a:solidFill>
                  <a:srgbClr val="1F2933"/>
                </a:solidFill>
                <a:latin typeface="Calibri" pitchFamily="34" charset="0"/>
                <a:ea typeface="Calibri" pitchFamily="34" charset="-122"/>
                <a:cs typeface="Calibri" pitchFamily="34" charset="-120"/>
              </a:rPr>
              <a:t>ISO 14971:2019, third edition, December 2019, confirmed March 2025</a:t>
            </a:r>
            <a:endParaRPr lang="en-US" sz="900" dirty="0"/>
          </a:p>
          <a:p>
            <a:pPr marL="342900" indent="-342900">
              <a:spcAft>
                <a:spcPts val="200"/>
              </a:spcAft>
              <a:buSzPct val="100000"/>
              <a:buChar char="•"/>
            </a:pPr>
            <a:r>
              <a:rPr lang="en-US" sz="900" dirty="0">
                <a:solidFill>
                  <a:srgbClr val="1F2933"/>
                </a:solidFill>
                <a:latin typeface="Calibri" pitchFamily="34" charset="0"/>
                <a:ea typeface="Calibri" pitchFamily="34" charset="-122"/>
                <a:cs typeface="Calibri" pitchFamily="34" charset="-120"/>
              </a:rPr>
              <a:t>ISO/TR 24971:2020, guidance (Annex C on the acceptability policy)</a:t>
            </a:r>
            <a:endParaRPr lang="en-US" sz="900" dirty="0"/>
          </a:p>
          <a:p>
            <a:pPr marL="342900" indent="-342900">
              <a:spcAft>
                <a:spcPts val="200"/>
              </a:spcAft>
              <a:buSzPct val="100000"/>
              <a:buChar char="•"/>
            </a:pPr>
            <a:r>
              <a:rPr lang="en-US" sz="900" dirty="0">
                <a:solidFill>
                  <a:srgbClr val="1F2933"/>
                </a:solidFill>
                <a:latin typeface="Calibri" pitchFamily="34" charset="0"/>
                <a:ea typeface="Calibri" pitchFamily="34" charset="-122"/>
                <a:cs typeface="Calibri" pitchFamily="34" charset="-120"/>
              </a:rPr>
              <a:t>EN ISO 14971:2019/A11:2021, Annexes ZA and ZB</a:t>
            </a:r>
            <a:endParaRPr lang="en-US" sz="900" dirty="0"/>
          </a:p>
          <a:p>
            <a:pPr marL="342900" indent="-342900">
              <a:spcAft>
                <a:spcPts val="200"/>
              </a:spcAft>
              <a:buSzPct val="100000"/>
              <a:buChar char="•"/>
            </a:pPr>
            <a:r>
              <a:rPr lang="en-US" sz="900" dirty="0">
                <a:solidFill>
                  <a:srgbClr val="1F2933"/>
                </a:solidFill>
                <a:latin typeface="Calibri" pitchFamily="34" charset="0"/>
                <a:ea typeface="Calibri" pitchFamily="34" charset="-122"/>
                <a:cs typeface="Calibri" pitchFamily="34" charset="-120"/>
              </a:rPr>
              <a:t>ISO/TS 24971-2:2026, machine learning in AI (June 2026)</a:t>
            </a:r>
            <a:endParaRPr lang="en-US" sz="900" dirty="0"/>
          </a:p>
        </p:txBody>
      </p:sp>
      <p:sp>
        <p:nvSpPr>
          <p:cNvPr id="11" name="Shape 8"/>
          <p:cNvSpPr/>
          <p:nvPr/>
        </p:nvSpPr>
        <p:spPr>
          <a:xfrm>
            <a:off x="4617720" y="1097280"/>
            <a:ext cx="4069080" cy="1417320"/>
          </a:xfrm>
          <a:prstGeom prst="roundRect">
            <a:avLst>
              <a:gd name="adj" fmla="val 3871"/>
            </a:avLst>
          </a:prstGeom>
          <a:solidFill>
            <a:srgbClr val="EAF0F6"/>
          </a:solidFill>
          <a:ln w="12700">
            <a:solidFill>
              <a:srgbClr val="EAF0F6"/>
            </a:solidFill>
            <a:prstDash val="solid"/>
          </a:ln>
        </p:spPr>
      </p:sp>
      <p:sp>
        <p:nvSpPr>
          <p:cNvPr id="12" name="Text 9"/>
          <p:cNvSpPr txBox="1"/>
          <p:nvPr/>
        </p:nvSpPr>
        <p:spPr>
          <a:xfrm>
            <a:off x="4745736" y="1188720"/>
            <a:ext cx="3813048" cy="182880"/>
          </a:xfrm>
          <a:prstGeom prst="rect">
            <a:avLst/>
          </a:prstGeom>
          <a:noFill/>
          <a:ln/>
        </p:spPr>
        <p:txBody>
          <a:bodyPr wrap="square" lIns="0" tIns="0" rIns="0" bIns="0" rtlCol="0" anchor="ctr"/>
          <a:lstStyle/>
          <a:p>
            <a:pPr indent="0" marL="0">
              <a:buNone/>
            </a:pPr>
            <a:r>
              <a:rPr lang="en-US" sz="900" b="1" spc="150" kern="0" dirty="0">
                <a:solidFill>
                  <a:srgbClr val="A8730F"/>
                </a:solidFill>
                <a:latin typeface="Calibri" pitchFamily="34" charset="0"/>
                <a:ea typeface="Calibri" pitchFamily="34" charset="-122"/>
                <a:cs typeface="Calibri" pitchFamily="34" charset="-120"/>
              </a:rPr>
              <a:t>EU LAW</a:t>
            </a:r>
            <a:endParaRPr lang="en-US" sz="900" dirty="0"/>
          </a:p>
        </p:txBody>
      </p:sp>
      <p:sp>
        <p:nvSpPr>
          <p:cNvPr id="13" name="Text 10"/>
          <p:cNvSpPr txBox="1"/>
          <p:nvPr/>
        </p:nvSpPr>
        <p:spPr>
          <a:xfrm>
            <a:off x="4745736" y="1408176"/>
            <a:ext cx="3813048" cy="237744"/>
          </a:xfrm>
          <a:prstGeom prst="rect">
            <a:avLst/>
          </a:prstGeom>
          <a:noFill/>
          <a:ln/>
        </p:spPr>
        <p:txBody>
          <a:bodyPr wrap="square" lIns="0" tIns="0" rIns="0" bIns="0" rtlCol="0" anchor="ctr"/>
          <a:lstStyle/>
          <a:p>
            <a:pPr indent="0" marL="0">
              <a:buNone/>
            </a:pPr>
            <a:r>
              <a:rPr lang="en-US" sz="1150" b="1" dirty="0">
                <a:solidFill>
                  <a:srgbClr val="0F2A4A"/>
                </a:solidFill>
                <a:latin typeface="Calibri" pitchFamily="34" charset="0"/>
                <a:ea typeface="Calibri" pitchFamily="34" charset="-122"/>
                <a:cs typeface="Calibri" pitchFamily="34" charset="-120"/>
              </a:rPr>
              <a:t>Primary</a:t>
            </a:r>
            <a:endParaRPr lang="en-US" sz="1150" dirty="0"/>
          </a:p>
        </p:txBody>
      </p:sp>
      <p:sp>
        <p:nvSpPr>
          <p:cNvPr id="14" name="Text 11"/>
          <p:cNvSpPr txBox="1"/>
          <p:nvPr/>
        </p:nvSpPr>
        <p:spPr>
          <a:xfrm>
            <a:off x="4745736" y="1682496"/>
            <a:ext cx="3813048" cy="740664"/>
          </a:xfrm>
          <a:prstGeom prst="rect">
            <a:avLst/>
          </a:prstGeom>
          <a:noFill/>
          <a:ln/>
        </p:spPr>
        <p:txBody>
          <a:bodyPr wrap="square" lIns="0" tIns="0" rIns="0" bIns="0" rtlCol="0" anchor="t"/>
          <a:lstStyle/>
          <a:p>
            <a:pPr marL="342900" indent="-342900">
              <a:spcAft>
                <a:spcPts val="200"/>
              </a:spcAft>
              <a:buSzPct val="100000"/>
              <a:buChar char="•"/>
            </a:pPr>
            <a:r>
              <a:rPr lang="en-US" sz="900" dirty="0">
                <a:solidFill>
                  <a:srgbClr val="1F2933"/>
                </a:solidFill>
                <a:latin typeface="Calibri" pitchFamily="34" charset="0"/>
                <a:ea typeface="Calibri" pitchFamily="34" charset="-122"/>
                <a:cs typeface="Calibri" pitchFamily="34" charset="-120"/>
              </a:rPr>
              <a:t>Regulation (EU) 2017/745, consolidated text of 9 July 2024</a:t>
            </a:r>
            <a:endParaRPr lang="en-US" sz="900" dirty="0"/>
          </a:p>
          <a:p>
            <a:pPr marL="342900" indent="-342900">
              <a:spcAft>
                <a:spcPts val="200"/>
              </a:spcAft>
              <a:buSzPct val="100000"/>
              <a:buChar char="•"/>
            </a:pPr>
            <a:r>
              <a:rPr lang="en-US" sz="900" dirty="0">
                <a:solidFill>
                  <a:srgbClr val="1F2933"/>
                </a:solidFill>
                <a:latin typeface="Calibri" pitchFamily="34" charset="0"/>
                <a:ea typeface="Calibri" pitchFamily="34" charset="-122"/>
                <a:cs typeface="Calibri" pitchFamily="34" charset="-120"/>
              </a:rPr>
              <a:t>Commission Implementing Decision (EU) 2022/757, OJ L 138, 17.5.2022 (MDR citation)</a:t>
            </a:r>
            <a:endParaRPr lang="en-US" sz="900" dirty="0"/>
          </a:p>
          <a:p>
            <a:pPr marL="342900" indent="-342900">
              <a:spcAft>
                <a:spcPts val="200"/>
              </a:spcAft>
              <a:buSzPct val="100000"/>
              <a:buChar char="•"/>
            </a:pPr>
            <a:r>
              <a:rPr lang="en-US" sz="900" dirty="0">
                <a:solidFill>
                  <a:srgbClr val="1F2933"/>
                </a:solidFill>
                <a:latin typeface="Calibri" pitchFamily="34" charset="0"/>
                <a:ea typeface="Calibri" pitchFamily="34" charset="-122"/>
                <a:cs typeface="Calibri" pitchFamily="34" charset="-120"/>
              </a:rPr>
              <a:t>Commission Implementing Decision (EU) 2022/729, OJ L 135, 12.5.2022 (IVDR citation)</a:t>
            </a:r>
            <a:endParaRPr lang="en-US" sz="900" dirty="0"/>
          </a:p>
          <a:p>
            <a:pPr marL="342900" indent="-342900">
              <a:spcAft>
                <a:spcPts val="200"/>
              </a:spcAft>
              <a:buSzPct val="100000"/>
              <a:buChar char="•"/>
            </a:pPr>
            <a:r>
              <a:rPr lang="en-US" sz="900" dirty="0">
                <a:solidFill>
                  <a:srgbClr val="1F2933"/>
                </a:solidFill>
                <a:latin typeface="Calibri" pitchFamily="34" charset="0"/>
                <a:ea typeface="Calibri" pitchFamily="34" charset="-122"/>
                <a:cs typeface="Calibri" pitchFamily="34" charset="-120"/>
              </a:rPr>
              <a:t>Commission summary list for 2017/745, generated 17.6.2026</a:t>
            </a:r>
            <a:endParaRPr lang="en-US" sz="900" dirty="0"/>
          </a:p>
        </p:txBody>
      </p:sp>
      <p:sp>
        <p:nvSpPr>
          <p:cNvPr id="15" name="Shape 12"/>
          <p:cNvSpPr/>
          <p:nvPr/>
        </p:nvSpPr>
        <p:spPr>
          <a:xfrm>
            <a:off x="457200" y="2651760"/>
            <a:ext cx="3977640" cy="1325880"/>
          </a:xfrm>
          <a:prstGeom prst="roundRect">
            <a:avLst>
              <a:gd name="adj" fmla="val 4138"/>
            </a:avLst>
          </a:prstGeom>
          <a:solidFill>
            <a:srgbClr val="F5F8FB"/>
          </a:solidFill>
          <a:ln w="12700">
            <a:solidFill>
              <a:srgbClr val="F5F8FB"/>
            </a:solidFill>
            <a:prstDash val="solid"/>
          </a:ln>
        </p:spPr>
      </p:sp>
      <p:sp>
        <p:nvSpPr>
          <p:cNvPr id="16" name="Text 13"/>
          <p:cNvSpPr txBox="1"/>
          <p:nvPr/>
        </p:nvSpPr>
        <p:spPr>
          <a:xfrm>
            <a:off x="585216" y="2743200"/>
            <a:ext cx="3721608" cy="182880"/>
          </a:xfrm>
          <a:prstGeom prst="rect">
            <a:avLst/>
          </a:prstGeom>
          <a:noFill/>
          <a:ln/>
        </p:spPr>
        <p:txBody>
          <a:bodyPr wrap="square" lIns="0" tIns="0" rIns="0" bIns="0" rtlCol="0" anchor="ctr"/>
          <a:lstStyle/>
          <a:p>
            <a:pPr indent="0" marL="0">
              <a:buNone/>
            </a:pPr>
            <a:r>
              <a:rPr lang="en-US" sz="900" b="1" spc="150" kern="0" dirty="0">
                <a:solidFill>
                  <a:srgbClr val="A8730F"/>
                </a:solidFill>
                <a:latin typeface="Calibri" pitchFamily="34" charset="0"/>
                <a:ea typeface="Calibri" pitchFamily="34" charset="-122"/>
                <a:cs typeface="Calibri" pitchFamily="34" charset="-120"/>
              </a:rPr>
              <a:t>US LAW</a:t>
            </a:r>
            <a:endParaRPr lang="en-US" sz="900" dirty="0"/>
          </a:p>
        </p:txBody>
      </p:sp>
      <p:sp>
        <p:nvSpPr>
          <p:cNvPr id="17" name="Text 14"/>
          <p:cNvSpPr txBox="1"/>
          <p:nvPr/>
        </p:nvSpPr>
        <p:spPr>
          <a:xfrm>
            <a:off x="585216" y="2962656"/>
            <a:ext cx="3721608" cy="237744"/>
          </a:xfrm>
          <a:prstGeom prst="rect">
            <a:avLst/>
          </a:prstGeom>
          <a:noFill/>
          <a:ln/>
        </p:spPr>
        <p:txBody>
          <a:bodyPr wrap="square" lIns="0" tIns="0" rIns="0" bIns="0" rtlCol="0" anchor="ctr"/>
          <a:lstStyle/>
          <a:p>
            <a:pPr indent="0" marL="0">
              <a:buNone/>
            </a:pPr>
            <a:r>
              <a:rPr lang="en-US" sz="1150" b="1" dirty="0">
                <a:solidFill>
                  <a:srgbClr val="0F2A4A"/>
                </a:solidFill>
                <a:latin typeface="Calibri" pitchFamily="34" charset="0"/>
                <a:ea typeface="Calibri" pitchFamily="34" charset="-122"/>
                <a:cs typeface="Calibri" pitchFamily="34" charset="-120"/>
              </a:rPr>
              <a:t>Primary</a:t>
            </a:r>
            <a:endParaRPr lang="en-US" sz="1150" dirty="0"/>
          </a:p>
        </p:txBody>
      </p:sp>
      <p:sp>
        <p:nvSpPr>
          <p:cNvPr id="18" name="Text 15"/>
          <p:cNvSpPr txBox="1"/>
          <p:nvPr/>
        </p:nvSpPr>
        <p:spPr>
          <a:xfrm>
            <a:off x="585216" y="3236976"/>
            <a:ext cx="3721608" cy="649224"/>
          </a:xfrm>
          <a:prstGeom prst="rect">
            <a:avLst/>
          </a:prstGeom>
          <a:noFill/>
          <a:ln/>
        </p:spPr>
        <p:txBody>
          <a:bodyPr wrap="square" lIns="0" tIns="0" rIns="0" bIns="0" rtlCol="0" anchor="t"/>
          <a:lstStyle/>
          <a:p>
            <a:pPr marL="342900" indent="-342900">
              <a:spcAft>
                <a:spcPts val="200"/>
              </a:spcAft>
              <a:buSzPct val="100000"/>
              <a:buChar char="•"/>
            </a:pPr>
            <a:r>
              <a:rPr lang="en-US" sz="900" dirty="0">
                <a:solidFill>
                  <a:srgbClr val="1F2933"/>
                </a:solidFill>
                <a:latin typeface="Calibri" pitchFamily="34" charset="0"/>
                <a:ea typeface="Calibri" pitchFamily="34" charset="-122"/>
                <a:cs typeface="Calibri" pitchFamily="34" charset="-120"/>
              </a:rPr>
              <a:t>21 CFR Part 820 as in force from 2 February 2026, incorporating ISO 13485:2016 at 820.7</a:t>
            </a:r>
            <a:endParaRPr lang="en-US" sz="900" dirty="0"/>
          </a:p>
          <a:p>
            <a:pPr marL="342900" indent="-342900">
              <a:spcAft>
                <a:spcPts val="200"/>
              </a:spcAft>
              <a:buSzPct val="100000"/>
              <a:buChar char="•"/>
            </a:pPr>
            <a:r>
              <a:rPr lang="en-US" sz="900" dirty="0">
                <a:solidFill>
                  <a:srgbClr val="1F2933"/>
                </a:solidFill>
                <a:latin typeface="Calibri" pitchFamily="34" charset="0"/>
                <a:ea typeface="Calibri" pitchFamily="34" charset="-122"/>
                <a:cs typeface="Calibri" pitchFamily="34" charset="-120"/>
              </a:rPr>
              <a:t>QMSR final rule, 89 FR 7496 (2 February 2024)</a:t>
            </a:r>
            <a:endParaRPr lang="en-US" sz="900" dirty="0"/>
          </a:p>
          <a:p>
            <a:pPr marL="342900" indent="-342900">
              <a:spcAft>
                <a:spcPts val="200"/>
              </a:spcAft>
              <a:buSzPct val="100000"/>
              <a:buChar char="•"/>
            </a:pPr>
            <a:r>
              <a:rPr lang="en-US" sz="900" dirty="0">
                <a:solidFill>
                  <a:srgbClr val="1F2933"/>
                </a:solidFill>
                <a:latin typeface="Calibri" pitchFamily="34" charset="0"/>
                <a:ea typeface="Calibri" pitchFamily="34" charset="-122"/>
                <a:cs typeface="Calibri" pitchFamily="34" charset="-120"/>
              </a:rPr>
              <a:t>Compliance Program 7382.850, implementation date 2 February 2026</a:t>
            </a:r>
            <a:endParaRPr lang="en-US" sz="900" dirty="0"/>
          </a:p>
          <a:p>
            <a:pPr marL="342900" indent="-342900">
              <a:spcAft>
                <a:spcPts val="200"/>
              </a:spcAft>
              <a:buSzPct val="100000"/>
              <a:buChar char="•"/>
            </a:pPr>
            <a:r>
              <a:rPr lang="en-US" sz="900" dirty="0">
                <a:solidFill>
                  <a:srgbClr val="1F2933"/>
                </a:solidFill>
                <a:latin typeface="Calibri" pitchFamily="34" charset="0"/>
                <a:ea typeface="Calibri" pitchFamily="34" charset="-122"/>
                <a:cs typeface="Calibri" pitchFamily="34" charset="-120"/>
              </a:rPr>
              <a:t>FDA recognized consensus standards database: ISO 14971 = 5-125</a:t>
            </a:r>
            <a:endParaRPr lang="en-US" sz="900" dirty="0"/>
          </a:p>
        </p:txBody>
      </p:sp>
      <p:sp>
        <p:nvSpPr>
          <p:cNvPr id="19" name="Shape 16"/>
          <p:cNvSpPr/>
          <p:nvPr/>
        </p:nvSpPr>
        <p:spPr>
          <a:xfrm>
            <a:off x="4617720" y="2651760"/>
            <a:ext cx="4069080" cy="1325880"/>
          </a:xfrm>
          <a:prstGeom prst="roundRect">
            <a:avLst>
              <a:gd name="adj" fmla="val 4138"/>
            </a:avLst>
          </a:prstGeom>
          <a:solidFill>
            <a:srgbClr val="F5F8FB"/>
          </a:solidFill>
          <a:ln w="12700">
            <a:solidFill>
              <a:srgbClr val="F5F8FB"/>
            </a:solidFill>
            <a:prstDash val="solid"/>
          </a:ln>
        </p:spPr>
      </p:sp>
      <p:sp>
        <p:nvSpPr>
          <p:cNvPr id="20" name="Text 17"/>
          <p:cNvSpPr txBox="1"/>
          <p:nvPr/>
        </p:nvSpPr>
        <p:spPr>
          <a:xfrm>
            <a:off x="4745736" y="2743200"/>
            <a:ext cx="3813048" cy="182880"/>
          </a:xfrm>
          <a:prstGeom prst="rect">
            <a:avLst/>
          </a:prstGeom>
          <a:noFill/>
          <a:ln/>
        </p:spPr>
        <p:txBody>
          <a:bodyPr wrap="square" lIns="0" tIns="0" rIns="0" bIns="0" rtlCol="0" anchor="ctr"/>
          <a:lstStyle/>
          <a:p>
            <a:pPr indent="0" marL="0">
              <a:buNone/>
            </a:pPr>
            <a:r>
              <a:rPr lang="en-US" sz="900" b="1" spc="150" kern="0" dirty="0">
                <a:solidFill>
                  <a:srgbClr val="A8730F"/>
                </a:solidFill>
                <a:latin typeface="Calibri" pitchFamily="34" charset="0"/>
                <a:ea typeface="Calibri" pitchFamily="34" charset="-122"/>
                <a:cs typeface="Calibri" pitchFamily="34" charset="-120"/>
              </a:rPr>
              <a:t>GUIDANCE AND POSITION PAPERS</a:t>
            </a:r>
            <a:endParaRPr lang="en-US" sz="900" dirty="0"/>
          </a:p>
        </p:txBody>
      </p:sp>
      <p:sp>
        <p:nvSpPr>
          <p:cNvPr id="21" name="Text 18"/>
          <p:cNvSpPr txBox="1"/>
          <p:nvPr/>
        </p:nvSpPr>
        <p:spPr>
          <a:xfrm>
            <a:off x="4745736" y="2962656"/>
            <a:ext cx="3813048" cy="237744"/>
          </a:xfrm>
          <a:prstGeom prst="rect">
            <a:avLst/>
          </a:prstGeom>
          <a:noFill/>
          <a:ln/>
        </p:spPr>
        <p:txBody>
          <a:bodyPr wrap="square" lIns="0" tIns="0" rIns="0" bIns="0" rtlCol="0" anchor="ctr"/>
          <a:lstStyle/>
          <a:p>
            <a:pPr indent="0" marL="0">
              <a:buNone/>
            </a:pPr>
            <a:r>
              <a:rPr lang="en-US" sz="1150" b="1" dirty="0">
                <a:solidFill>
                  <a:srgbClr val="0F2A4A"/>
                </a:solidFill>
                <a:latin typeface="Calibri" pitchFamily="34" charset="0"/>
                <a:ea typeface="Calibri" pitchFamily="34" charset="-122"/>
                <a:cs typeface="Calibri" pitchFamily="34" charset="-120"/>
              </a:rPr>
              <a:t>Secondary, and labelled as such</a:t>
            </a:r>
            <a:endParaRPr lang="en-US" sz="1150" dirty="0"/>
          </a:p>
        </p:txBody>
      </p:sp>
      <p:sp>
        <p:nvSpPr>
          <p:cNvPr id="22" name="Text 19"/>
          <p:cNvSpPr txBox="1"/>
          <p:nvPr/>
        </p:nvSpPr>
        <p:spPr>
          <a:xfrm>
            <a:off x="4745736" y="3236976"/>
            <a:ext cx="3813048" cy="649224"/>
          </a:xfrm>
          <a:prstGeom prst="rect">
            <a:avLst/>
          </a:prstGeom>
          <a:noFill/>
          <a:ln/>
        </p:spPr>
        <p:txBody>
          <a:bodyPr wrap="square" lIns="0" tIns="0" rIns="0" bIns="0" rtlCol="0" anchor="t"/>
          <a:lstStyle/>
          <a:p>
            <a:pPr marL="342900" indent="-342900">
              <a:spcAft>
                <a:spcPts val="200"/>
              </a:spcAft>
              <a:buSzPct val="100000"/>
              <a:buChar char="•"/>
            </a:pPr>
            <a:r>
              <a:rPr lang="en-US" sz="900" dirty="0">
                <a:solidFill>
                  <a:srgbClr val="1F2933"/>
                </a:solidFill>
                <a:latin typeface="Calibri" pitchFamily="34" charset="0"/>
                <a:ea typeface="Calibri" pitchFamily="34" charset="-122"/>
                <a:cs typeface="Calibri" pitchFamily="34" charset="-120"/>
              </a:rPr>
              <a:t>MDCG 2021-5 rev.1 on standardisation (what an Annex Z is)</a:t>
            </a:r>
            <a:endParaRPr lang="en-US" sz="900" dirty="0"/>
          </a:p>
          <a:p>
            <a:pPr marL="342900" indent="-342900">
              <a:spcAft>
                <a:spcPts val="200"/>
              </a:spcAft>
              <a:buSzPct val="100000"/>
              <a:buChar char="•"/>
            </a:pPr>
            <a:r>
              <a:rPr lang="en-US" sz="900" dirty="0">
                <a:solidFill>
                  <a:srgbClr val="1F2933"/>
                </a:solidFill>
                <a:latin typeface="Calibri" pitchFamily="34" charset="0"/>
                <a:ea typeface="Calibri" pitchFamily="34" charset="-122"/>
                <a:cs typeface="Calibri" pitchFamily="34" charset="-120"/>
              </a:rPr>
              <a:t>MDCG 2025-10 on post-market surveillance (December 2025)</a:t>
            </a:r>
            <a:endParaRPr lang="en-US" sz="900" dirty="0"/>
          </a:p>
          <a:p>
            <a:pPr marL="342900" indent="-342900">
              <a:spcAft>
                <a:spcPts val="200"/>
              </a:spcAft>
              <a:buSzPct val="100000"/>
              <a:buChar char="•"/>
            </a:pPr>
            <a:r>
              <a:rPr lang="en-US" sz="900" dirty="0">
                <a:solidFill>
                  <a:srgbClr val="1F2933"/>
                </a:solidFill>
                <a:latin typeface="Calibri" pitchFamily="34" charset="0"/>
                <a:ea typeface="Calibri" pitchFamily="34" charset="-122"/>
                <a:cs typeface="Calibri" pitchFamily="34" charset="-120"/>
              </a:rPr>
              <a:t>MDCG 2019-16 rev.1 on cybersecurity</a:t>
            </a:r>
            <a:endParaRPr lang="en-US" sz="900" dirty="0"/>
          </a:p>
          <a:p>
            <a:pPr marL="342900" indent="-342900">
              <a:spcAft>
                <a:spcPts val="200"/>
              </a:spcAft>
              <a:buSzPct val="100000"/>
              <a:buChar char="•"/>
            </a:pPr>
            <a:r>
              <a:rPr lang="en-US" sz="900" dirty="0">
                <a:solidFill>
                  <a:srgbClr val="1F2933"/>
                </a:solidFill>
                <a:latin typeface="Calibri" pitchFamily="34" charset="0"/>
                <a:ea typeface="Calibri" pitchFamily="34" charset="-122"/>
                <a:cs typeface="Calibri" pitchFamily="34" charset="-120"/>
              </a:rPr>
              <a:t>Team-NB best practice guidance on technical documentation, V4, 21 April 2026 (supersedes V3 of 9 April 2025)</a:t>
            </a:r>
            <a:endParaRPr lang="en-US" sz="900" dirty="0"/>
          </a:p>
        </p:txBody>
      </p:sp>
      <p:sp>
        <p:nvSpPr>
          <p:cNvPr id="23" name="Shape 20"/>
          <p:cNvSpPr/>
          <p:nvPr/>
        </p:nvSpPr>
        <p:spPr>
          <a:xfrm>
            <a:off x="457200" y="4114800"/>
            <a:ext cx="8229600" cy="457200"/>
          </a:xfrm>
          <a:prstGeom prst="roundRect">
            <a:avLst>
              <a:gd name="adj" fmla="val 12000"/>
            </a:avLst>
          </a:prstGeom>
          <a:solidFill>
            <a:srgbClr val="FBF2DE"/>
          </a:solidFill>
          <a:ln w="12700">
            <a:solidFill>
              <a:srgbClr val="FBF2DE"/>
            </a:solidFill>
            <a:prstDash val="solid"/>
          </a:ln>
        </p:spPr>
      </p:sp>
      <p:sp>
        <p:nvSpPr>
          <p:cNvPr id="24" name="Text 21"/>
          <p:cNvSpPr txBox="1"/>
          <p:nvPr/>
        </p:nvSpPr>
        <p:spPr>
          <a:xfrm>
            <a:off x="640080" y="4114800"/>
            <a:ext cx="7863840" cy="457200"/>
          </a:xfrm>
          <a:prstGeom prst="rect">
            <a:avLst/>
          </a:prstGeom>
          <a:noFill/>
          <a:ln/>
        </p:spPr>
        <p:txBody>
          <a:bodyPr wrap="square" lIns="0" tIns="0" rIns="0" bIns="0" rtlCol="0" anchor="ctr"/>
          <a:lstStyle/>
          <a:p>
            <a:pPr indent="0" marL="0">
              <a:buNone/>
            </a:pPr>
            <a:r>
              <a:rPr lang="en-US" sz="1050" dirty="0">
                <a:solidFill>
                  <a:srgbClr val="0F2A4A"/>
                </a:solidFill>
                <a:latin typeface="Calibri" pitchFamily="34" charset="0"/>
                <a:ea typeface="Calibri" pitchFamily="34" charset="-122"/>
                <a:cs typeface="Calibri" pitchFamily="34" charset="-120"/>
              </a:rPr>
              <a:t>Verified September 2026. Harmonised-standard citations, MDCG guidance and FDA recognition entries change. The Facilitator Guide has a pre-delivery accuracy checklist; re-run it before you present this.</a:t>
            </a:r>
            <a:endParaRPr lang="en-US" sz="10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0B1F38"/>
        </a:solidFill>
      </p:bgPr>
    </p:bg>
    <p:spTree>
      <p:nvGrpSpPr>
        <p:cNvPr id="1" name=""/>
        <p:cNvGrpSpPr/>
        <p:nvPr/>
      </p:nvGrpSpPr>
      <p:grpSpPr>
        <a:xfrm>
          <a:off x="0" y="0"/>
          <a:ext cx="0" cy="0"/>
          <a:chOff x="0" y="0"/>
          <a:chExt cx="0" cy="0"/>
        </a:xfrm>
      </p:grpSpPr>
      <p:sp>
        <p:nvSpPr>
          <p:cNvPr id="2" name="Text 0"/>
          <p:cNvSpPr txBox="1"/>
          <p:nvPr/>
        </p:nvSpPr>
        <p:spPr>
          <a:xfrm>
            <a:off x="457200" y="4814316"/>
            <a:ext cx="5943600" cy="201168"/>
          </a:xfrm>
          <a:prstGeom prst="rect">
            <a:avLst/>
          </a:prstGeom>
          <a:noFill/>
          <a:ln/>
        </p:spPr>
        <p:txBody>
          <a:bodyPr wrap="square" lIns="0" tIns="0" rIns="0" bIns="0" rtlCol="0" anchor="ctr"/>
          <a:lstStyle/>
          <a:p>
            <a:pPr indent="0" marL="0">
              <a:buNone/>
            </a:pPr>
            <a:r>
              <a:rPr lang="en-US" sz="900" dirty="0">
                <a:solidFill>
                  <a:srgbClr val="8FA1B5"/>
                </a:solidFill>
                <a:latin typeface="Calibri" pitchFamily="34" charset="0"/>
                <a:ea typeface="Calibri" pitchFamily="34" charset="-122"/>
                <a:cs typeface="Calibri" pitchFamily="34" charset="-120"/>
              </a:rPr>
              <a:t>Risk Management  |  ISO 14971  |  Elder Consulting, LLC</a:t>
            </a:r>
            <a:endParaRPr lang="en-US" sz="900" dirty="0"/>
          </a:p>
        </p:txBody>
      </p:sp>
      <p:sp>
        <p:nvSpPr>
          <p:cNvPr id="3" name="Text 1"/>
          <p:cNvSpPr txBox="1"/>
          <p:nvPr/>
        </p:nvSpPr>
        <p:spPr>
          <a:xfrm>
            <a:off x="8138160" y="4814316"/>
            <a:ext cx="548640" cy="201168"/>
          </a:xfrm>
          <a:prstGeom prst="rect">
            <a:avLst/>
          </a:prstGeom>
          <a:noFill/>
          <a:ln/>
        </p:spPr>
        <p:txBody>
          <a:bodyPr wrap="square" lIns="0" tIns="0" rIns="0" bIns="0" rtlCol="0" anchor="ctr"/>
          <a:lstStyle/>
          <a:p>
            <a:pPr algn="r" indent="0" marL="0">
              <a:buNone/>
            </a:pPr>
            <a:r>
              <a:rPr lang="en-US" sz="900" dirty="0">
                <a:solidFill>
                  <a:srgbClr val="8FA1B5"/>
                </a:solidFill>
                <a:latin typeface="Calibri" pitchFamily="34" charset="0"/>
                <a:ea typeface="Calibri" pitchFamily="34" charset="-122"/>
                <a:cs typeface="Calibri" pitchFamily="34" charset="-120"/>
              </a:rPr>
              <a:t>39</a:t>
            </a:r>
            <a:endParaRPr lang="en-US" sz="900" dirty="0"/>
          </a:p>
        </p:txBody>
      </p:sp>
      <p:sp>
        <p:nvSpPr>
          <p:cNvPr id="4" name="Shape 2"/>
          <p:cNvSpPr/>
          <p:nvPr/>
        </p:nvSpPr>
        <p:spPr>
          <a:xfrm>
            <a:off x="0" y="0"/>
            <a:ext cx="91440" cy="5143500"/>
          </a:xfrm>
          <a:prstGeom prst="rect">
            <a:avLst/>
          </a:prstGeom>
          <a:solidFill>
            <a:srgbClr val="E0A126"/>
          </a:solidFill>
          <a:ln w="12700">
            <a:solidFill>
              <a:srgbClr val="E0A126"/>
            </a:solidFill>
            <a:prstDash val="solid"/>
          </a:ln>
        </p:spPr>
      </p:sp>
      <p:sp>
        <p:nvSpPr>
          <p:cNvPr id="5" name="Text 3"/>
          <p:cNvSpPr txBox="1"/>
          <p:nvPr/>
        </p:nvSpPr>
        <p:spPr>
          <a:xfrm>
            <a:off x="685800" y="1051560"/>
            <a:ext cx="7772400" cy="274320"/>
          </a:xfrm>
          <a:prstGeom prst="rect">
            <a:avLst/>
          </a:prstGeom>
          <a:noFill/>
          <a:ln/>
        </p:spPr>
        <p:txBody>
          <a:bodyPr wrap="square" lIns="0" tIns="0" rIns="0" bIns="0" rtlCol="0" anchor="t"/>
          <a:lstStyle/>
          <a:p>
            <a:pPr indent="0" marL="0">
              <a:buNone/>
            </a:pPr>
            <a:r>
              <a:rPr lang="en-US" sz="1100" b="1" spc="300" kern="0" dirty="0">
                <a:solidFill>
                  <a:srgbClr val="E0A126"/>
                </a:solidFill>
                <a:latin typeface="Calibri" pitchFamily="34" charset="0"/>
                <a:ea typeface="Calibri" pitchFamily="34" charset="-122"/>
                <a:cs typeface="Calibri" pitchFamily="34" charset="-120"/>
              </a:rPr>
              <a:t>THE ONE IDEA</a:t>
            </a:r>
            <a:endParaRPr lang="en-US" sz="1100" dirty="0"/>
          </a:p>
        </p:txBody>
      </p:sp>
      <p:sp>
        <p:nvSpPr>
          <p:cNvPr id="6" name="Text 4"/>
          <p:cNvSpPr txBox="1"/>
          <p:nvPr/>
        </p:nvSpPr>
        <p:spPr>
          <a:xfrm>
            <a:off x="685800" y="1371600"/>
            <a:ext cx="7772400" cy="731520"/>
          </a:xfrm>
          <a:prstGeom prst="rect">
            <a:avLst/>
          </a:prstGeom>
          <a:noFill/>
          <a:ln/>
        </p:spPr>
        <p:txBody>
          <a:bodyPr wrap="square" lIns="0" tIns="0" rIns="0" bIns="0" rtlCol="0" anchor="t"/>
          <a:lstStyle/>
          <a:p>
            <a:pPr indent="0" marL="0">
              <a:buNone/>
            </a:pPr>
            <a:r>
              <a:rPr lang="en-US" sz="3200" b="1" dirty="0">
                <a:solidFill>
                  <a:srgbClr val="FFFFFF"/>
                </a:solidFill>
                <a:latin typeface="Cambria" pitchFamily="34" charset="0"/>
                <a:ea typeface="Cambria" pitchFamily="34" charset="-122"/>
                <a:cs typeface="Cambria" pitchFamily="34" charset="-120"/>
              </a:rPr>
              <a:t>A risk file is an argument, not an archive</a:t>
            </a:r>
            <a:endParaRPr lang="en-US" sz="3200" dirty="0"/>
          </a:p>
        </p:txBody>
      </p:sp>
      <p:sp>
        <p:nvSpPr>
          <p:cNvPr id="7" name="Text 5"/>
          <p:cNvSpPr txBox="1"/>
          <p:nvPr/>
        </p:nvSpPr>
        <p:spPr>
          <a:xfrm>
            <a:off x="685800" y="2240280"/>
            <a:ext cx="7680960" cy="1005840"/>
          </a:xfrm>
          <a:prstGeom prst="rect">
            <a:avLst/>
          </a:prstGeom>
          <a:noFill/>
          <a:ln/>
        </p:spPr>
        <p:txBody>
          <a:bodyPr wrap="square" lIns="0" tIns="0" rIns="0" bIns="0" rtlCol="0" anchor="t"/>
          <a:lstStyle/>
          <a:p>
            <a:pPr indent="0" marL="0">
              <a:buNone/>
            </a:pPr>
            <a:r>
              <a:rPr lang="en-US" sz="1450" dirty="0">
                <a:solidFill>
                  <a:srgbClr val="C9D3DE"/>
                </a:solidFill>
                <a:latin typeface="Calibri" pitchFamily="34" charset="0"/>
                <a:ea typeface="Calibri" pitchFamily="34" charset="-122"/>
                <a:cs typeface="Calibri" pitchFamily="34" charset="-120"/>
              </a:rPr>
              <a:t>Every number has a basis. Every control has two verifications. Every unacceptable residual risk has a benefit-risk record. Every post-market input has a recorded answer to four questions. If any one of those is missing, the file does not hold - and it will be the one a reviewer pulls.</a:t>
            </a:r>
            <a:endParaRPr lang="en-US" sz="1450" dirty="0"/>
          </a:p>
        </p:txBody>
      </p:sp>
      <p:sp>
        <p:nvSpPr>
          <p:cNvPr id="8" name="Shape 6"/>
          <p:cNvSpPr/>
          <p:nvPr/>
        </p:nvSpPr>
        <p:spPr>
          <a:xfrm>
            <a:off x="685800" y="3383280"/>
            <a:ext cx="1463040" cy="27432"/>
          </a:xfrm>
          <a:prstGeom prst="rect">
            <a:avLst/>
          </a:prstGeom>
          <a:solidFill>
            <a:srgbClr val="E0A126"/>
          </a:solidFill>
          <a:ln w="12700">
            <a:solidFill>
              <a:srgbClr val="E0A126"/>
            </a:solidFill>
            <a:prstDash val="solid"/>
          </a:ln>
        </p:spPr>
      </p:sp>
      <p:sp>
        <p:nvSpPr>
          <p:cNvPr id="9" name="Text 7"/>
          <p:cNvSpPr txBox="1"/>
          <p:nvPr/>
        </p:nvSpPr>
        <p:spPr>
          <a:xfrm>
            <a:off x="685800" y="3611880"/>
            <a:ext cx="3657600" cy="320040"/>
          </a:xfrm>
          <a:prstGeom prst="rect">
            <a:avLst/>
          </a:prstGeom>
          <a:noFill/>
          <a:ln/>
        </p:spPr>
        <p:txBody>
          <a:bodyPr wrap="square" lIns="0" tIns="0" rIns="0" bIns="0" rtlCol="0" anchor="t"/>
          <a:lstStyle/>
          <a:p>
            <a:pPr indent="0" marL="0">
              <a:buNone/>
            </a:pPr>
            <a:r>
              <a:rPr lang="en-US" sz="1800" b="1" dirty="0">
                <a:solidFill>
                  <a:srgbClr val="FFFFFF"/>
                </a:solidFill>
                <a:latin typeface="Calibri" pitchFamily="34" charset="0"/>
                <a:ea typeface="Calibri" pitchFamily="34" charset="-122"/>
                <a:cs typeface="Calibri" pitchFamily="34" charset="-120"/>
              </a:rPr>
              <a:t>Questions</a:t>
            </a:r>
            <a:endParaRPr lang="en-US" sz="1800" dirty="0"/>
          </a:p>
        </p:txBody>
      </p:sp>
      <p:sp>
        <p:nvSpPr>
          <p:cNvPr id="10" name="Text 8"/>
          <p:cNvSpPr txBox="1"/>
          <p:nvPr/>
        </p:nvSpPr>
        <p:spPr>
          <a:xfrm>
            <a:off x="685800" y="4160520"/>
            <a:ext cx="7680960" cy="274320"/>
          </a:xfrm>
          <a:prstGeom prst="rect">
            <a:avLst/>
          </a:prstGeom>
          <a:noFill/>
          <a:ln/>
        </p:spPr>
        <p:txBody>
          <a:bodyPr wrap="square" lIns="0" tIns="0" rIns="0" bIns="0" rtlCol="0" anchor="t"/>
          <a:lstStyle/>
          <a:p>
            <a:pPr indent="0" marL="0">
              <a:buNone/>
            </a:pPr>
            <a:r>
              <a:rPr lang="en-US" sz="1100" dirty="0">
                <a:solidFill>
                  <a:srgbClr val="8FA1B5"/>
                </a:solidFill>
                <a:latin typeface="Calibri" pitchFamily="34" charset="0"/>
                <a:ea typeface="Calibri" pitchFamily="34" charset="-122"/>
                <a:cs typeface="Calibri" pitchFamily="34" charset="-120"/>
              </a:rPr>
              <a:t>Elder Consulting, LLC  ·  Workshop material, not legal or regulatory advice</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39</Slides>
  <Notes>39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39</vt:i4>
      </vt:variant>
    </vt:vector>
  </HeadingPairs>
  <TitlesOfParts>
    <vt:vector size="4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vector>
  </TitlesOfParts>
  <Company>Elder Consulting, LLC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Risk Management Workshop (ISO 14971): aligning risk files with EU MDR and FDA expectations</dc:title>
  <dc:subject>Medical Device Seminar - hands-on application of ISO 14971:2019 to EU MDR and FDA expectations</dc:subject>
  <dc:creator>Elder Consulting, LLC</dc:creator>
  <cp:lastModifiedBy>Elder Consulting, LLC</cp:lastModifiedBy>
  <cp:revision>1</cp:revision>
  <dcterms:created xsi:type="dcterms:W3CDTF">2026-09-16T13:50:48Z</dcterms:created>
  <dcterms:modified xsi:type="dcterms:W3CDTF">2026-09-16T13:50:48Z</dcterms:modified>
</cp:coreProperties>
</file>